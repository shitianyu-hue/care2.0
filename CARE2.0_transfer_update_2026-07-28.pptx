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ebb426fd8a4ea1" /><Relationship Type="http://schemas.openxmlformats.org/officeDocument/2006/relationships/extended-properties" Target="/docProps/app.xml" Id="R6e68a9facb0b4af9" /><Relationship Type="http://schemas.openxmlformats.org/officeDocument/2006/relationships/officeDocument" Target="/ppt/presentation.xml" Id="R007c3a7cb10a46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037c7ce7fc485b"/>
  </p:sldMasterIdLst>
  <p:notesMasterIdLst>
    <p:notesMasterId xmlns:r="http://schemas.openxmlformats.org/officeDocument/2006/relationships" r:id="R10f25714fc5949bd"/>
  </p:notesMasterIdLst>
  <p:sldIdLst>
    <p:sldId xmlns:r="http://schemas.openxmlformats.org/officeDocument/2006/relationships" id="256" r:id="R4f3c6d305cbc477b"/>
    <p:sldId xmlns:r="http://schemas.openxmlformats.org/officeDocument/2006/relationships" id="257" r:id="R23544a18c88b41d8"/>
    <p:sldId xmlns:r="http://schemas.openxmlformats.org/officeDocument/2006/relationships" id="258" r:id="R92b9ac26824a4d20"/>
    <p:sldId xmlns:r="http://schemas.openxmlformats.org/officeDocument/2006/relationships" id="259" r:id="R32ed510468ff4b94"/>
    <p:sldId xmlns:r="http://schemas.openxmlformats.org/officeDocument/2006/relationships" id="260" r:id="Rc781baf543fc472c"/>
    <p:sldId xmlns:r="http://schemas.openxmlformats.org/officeDocument/2006/relationships" id="261" r:id="Re03e330debed49ec"/>
    <p:sldId xmlns:r="http://schemas.openxmlformats.org/officeDocument/2006/relationships" id="262" r:id="Rdb84227efcac4098"/>
    <p:sldId xmlns:r="http://schemas.openxmlformats.org/officeDocument/2006/relationships" id="263" r:id="Rd62b0dfd62c54ef7"/>
    <p:sldId xmlns:r="http://schemas.openxmlformats.org/officeDocument/2006/relationships" id="264" r:id="R3c2f5be8573a4a1e"/>
    <p:sldId xmlns:r="http://schemas.openxmlformats.org/officeDocument/2006/relationships" id="265" r:id="R58c64352abeb42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f57f89c52542c4" /><Relationship Type="http://schemas.openxmlformats.org/officeDocument/2006/relationships/slideMaster" Target="/ppt/slideMasters/slideMaster1.xml" Id="R2f037c7ce7fc485b" /><Relationship Type="http://schemas.openxmlformats.org/officeDocument/2006/relationships/notesMaster" Target="/ppt/notesMasters/notesMaster1.xml" Id="R10f25714fc5949bd" /><Relationship Type="http://schemas.openxmlformats.org/officeDocument/2006/relationships/presProps" Target="/ppt/presProps.xml" Id="Rffcfffae7a854b03" /><Relationship Type="http://schemas.openxmlformats.org/officeDocument/2006/relationships/tableStyles" Target="/ppt/tableStyles.xml" Id="R1e2e495626e74473" /><Relationship Type="http://schemas.openxmlformats.org/officeDocument/2006/relationships/slide" Target="/ppt/slides/slide1.xml" Id="R4f3c6d305cbc477b" /><Relationship Type="http://schemas.openxmlformats.org/officeDocument/2006/relationships/slide" Target="/ppt/slides/slide2.xml" Id="R23544a18c88b41d8" /><Relationship Type="http://schemas.openxmlformats.org/officeDocument/2006/relationships/slide" Target="/ppt/slides/slide3.xml" Id="R92b9ac26824a4d20" /><Relationship Type="http://schemas.openxmlformats.org/officeDocument/2006/relationships/slide" Target="/ppt/slides/slide4.xml" Id="R32ed510468ff4b94" /><Relationship Type="http://schemas.openxmlformats.org/officeDocument/2006/relationships/slide" Target="/ppt/slides/slide5.xml" Id="Rc781baf543fc472c" /><Relationship Type="http://schemas.openxmlformats.org/officeDocument/2006/relationships/slide" Target="/ppt/slides/slide6.xml" Id="Re03e330debed49ec" /><Relationship Type="http://schemas.openxmlformats.org/officeDocument/2006/relationships/slide" Target="/ppt/slides/slide7.xml" Id="Rdb84227efcac4098" /><Relationship Type="http://schemas.openxmlformats.org/officeDocument/2006/relationships/slide" Target="/ppt/slides/slide8.xml" Id="Rd62b0dfd62c54ef7" /><Relationship Type="http://schemas.openxmlformats.org/officeDocument/2006/relationships/slide" Target="/ppt/slides/slide9.xml" Id="R3c2f5be8573a4a1e" /><Relationship Type="http://schemas.openxmlformats.org/officeDocument/2006/relationships/slide" Target="/ppt/slides/slide10.xml" Id="R58c64352abeb42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483bc6395f4e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a05010c76b472f" /><Relationship Type="http://schemas.openxmlformats.org/officeDocument/2006/relationships/notesMaster" Target="/ppt/notesMasters/notesMaster1.xml" Id="R55ca7232593640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a7833131bf48f6" /><Relationship Type="http://schemas.openxmlformats.org/officeDocument/2006/relationships/notesMaster" Target="/ppt/notesMasters/notesMaster1.xml" Id="R9800cccba5f34e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13be58dde74ee1" /><Relationship Type="http://schemas.openxmlformats.org/officeDocument/2006/relationships/notesMaster" Target="/ppt/notesMasters/notesMaster1.xml" Id="R32e9785a189f4f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ae7f54bb65415b" /><Relationship Type="http://schemas.openxmlformats.org/officeDocument/2006/relationships/notesMaster" Target="/ppt/notesMasters/notesMaster1.xml" Id="R97169ee6d0a847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0942d1459a4b80" /><Relationship Type="http://schemas.openxmlformats.org/officeDocument/2006/relationships/notesMaster" Target="/ppt/notesMasters/notesMaster1.xml" Id="Rdd5cd2f8567347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9d5a16a5954c36" /><Relationship Type="http://schemas.openxmlformats.org/officeDocument/2006/relationships/notesMaster" Target="/ppt/notesMasters/notesMaster1.xml" Id="R51e68e96aa2c4e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3c51e9da2546ef" /><Relationship Type="http://schemas.openxmlformats.org/officeDocument/2006/relationships/notesMaster" Target="/ppt/notesMasters/notesMaster1.xml" Id="R08c8fb7472304d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6fe1e3b2ec4de9" /><Relationship Type="http://schemas.openxmlformats.org/officeDocument/2006/relationships/notesMaster" Target="/ppt/notesMasters/notesMaster1.xml" Id="R2d9ade86352945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143ad73128483d" /><Relationship Type="http://schemas.openxmlformats.org/officeDocument/2006/relationships/notesMaster" Target="/ppt/notesMasters/notesMaster1.xml" Id="R434c9e90479943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08c1b1e30a4248" /><Relationship Type="http://schemas.openxmlformats.org/officeDocument/2006/relationships/notesMaster" Target="/ppt/notesMasters/notesMaster1.xml" Id="Rdbbed94286c844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开场可以先用一句话概括：CARE 2.0 现在已经不只是跑通 replay harness，而是在冻结协议下验证 source outcomes 是否能给 target optimization 带来额外价值。</a:t>
            </a:r>
          </a:p>
          <a:p xmlns:a="http://schemas.openxmlformats.org/drawingml/2006/main">
            <a:r>
              <a:t>这版使用 7/28 的正式评估结果。与前一版相比，最重要的变化不是又增加了一条正向路线，而是把比较口径收紧了：不再只和 public incumbent 比，而是同时对比每个 target 上的 strongest BO，以及同样调用 LLM、但不读取 source outcomes 的 matched target-only LLM。</a:t>
            </a:r>
          </a:p>
          <a:p xmlns:a="http://schemas.openxmlformats.org/drawingml/2006/main">
            <a:r>
              <a:t>今天主要回答三个问题：第一，实验是否存在开发集和测试集混用；第二，增益究竟来自 transfer、LLM 还是 target optimizer；第三，目前证据能支持到什么范围，哪些结论还不能说。</a:t>
            </a:r>
          </a:p>
          <a:p xmlns:a="http://schemas.openxmlformats.org/drawingml/2006/main">
            <a:r>
              <a:t>结论先讲在前面：七条冻结路线中四条部署 transfer、三条安全回退；四条部署路线在 100 个独立 held-out seeds 上都超过 matched target-only LLM。但这些路线仍属于同领域跨数据集迁移，真正跨领域的泛化还需要下一轮验证。</a:t>
            </a:r>
          </a:p>
          <a:p xmlns:a="http://schemas.openxmlformats.org/drawingml/2006/main">
            <a:r>
              <a:t>下一页先从问题定义开始，说明为什么 CARE 2.0 的关键不是永远迁移，而是判断什么时候值得迁移。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experiments/care_replay/results/2026-07-28-evaluation-completion/README.md</a:t>
            </a:r>
          </a:p>
          <a:p xmlns:a="http://schemas.openxmlformats.org/drawingml/2006/main">
            <a:r>
              <a:t>- experiments/care_replay/results/2026-07-25-transfer-visualizations/transfer_graph.png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这页定义 CARE 2.0 的问题边界。目标不是证明任何 source knowledge 都有用，而是在 target 实验预算有限时，判断是否应该把 source-derived skill 接入 acquisition。</a:t>
            </a:r>
          </a:p>
          <a:p xmlns:a="http://schemas.openxmlformats.org/drawingml/2006/main">
            <a:r>
              <a:t>第一个困难是预算。HTE、材料筛选和分子性质任务都可以抽象成有限轮次的候选选择；真实环境里最重要的不只是最终最优值，还包括能否更早找到高价值候选。</a:t>
            </a:r>
          </a:p>
          <a:p xmlns:a="http://schemas.openxmlformats.org/drawingml/2006/main">
            <a:r>
              <a:t>第二个困难是负迁移。同一个 source outcome archive 可能帮助一个 target，却会误导另一个 target。因此不能把 source-target similarity 当作充分条件，也不能看到 source 数据就默认迁移。</a:t>
            </a:r>
          </a:p>
          <a:p xmlns:a="http://schemas.openxmlformats.org/drawingml/2006/main">
            <a:r>
              <a:t>第三个困难是平台化。我们希望沉淀的是可复用的决策结构，包括变量角色、kernel geometry、source prior、calibration 和 gate，而不是给每个数据集手写一条固定规则。</a:t>
            </a:r>
          </a:p>
          <a:p xmlns:a="http://schemas.openxmlformats.org/drawingml/2006/main">
            <a:r>
              <a:t>这里的 source knowledge 不是简单复制 source 标签或最优样本，而是把 source outcomes 编译成受约束的 SkillCard，再由 target evidence 判断是否启用。下一页会展开这条决策链。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overview.md</a:t>
            </a:r>
          </a:p>
          <a:p xmlns:a="http://schemas.openxmlformats.org/drawingml/2006/main">
            <a:r>
              <a:t>- experiments/care_replay/README.md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这页可以按照从左到右的顺序讲代码。TaskSpec 首先冻结 target 数据集、候选空间、目标方向、预算和评价指标，避免后面根据结果随意改任务。</a:t>
            </a:r>
          </a:p>
          <a:p xmlns:a="http://schemas.openxmlformats.org/drawingml/2006/main">
            <a:r>
              <a:t>SkillCard 表示可迁移知识，包含 source-target 变量角色、候选 kernel、先验方向、适用条件和来源。它是 LLM 的输入之一，也是审计时可以独立查看的对象。</a:t>
            </a:r>
          </a:p>
          <a:p xmlns:a="http://schemas.openxmlformats.org/drawingml/2006/main">
            <a:r>
              <a:t>LLM proposer 读取 Transfer Card、source outcomes 摘要和允许的参数空间，提出 bounded patch。它可以调整 role multipliers、kernel scales、beta schedule、source-prior strength、temperature 和 interaction strength，但不能直接读取 held-out outcomes。</a:t>
            </a:r>
          </a:p>
          <a:p xmlns:a="http://schemas.openxmlformats.org/drawingml/2006/main">
            <a:r>
              <a:t>Target calibration 使用开发阶段可见的 target evidence 重新估计方向、幅度和不确定性。Risk gate 再决定部署 transfer、降低混合强度，或者精确回退到 target-only anchor。</a:t>
            </a:r>
          </a:p>
          <a:p xmlns:a="http://schemas.openxmlformats.org/drawingml/2006/main">
            <a:r>
              <a:t>最后由 replay / GP-UCB 在固定预算下选择候选。每个 seed 都会记录 prompt metadata、parsed patch、候选、revealed outcomes、gate decision 和诊断信息，所以最终结果能够追到具体的规则与执行路径。</a:t>
            </a:r>
          </a:p>
          <a:p xmlns:a="http://schemas.openxmlformats.org/drawingml/2006/main">
            <a:r>
              <a:t>因此 CARE 2.0 不是让 LLM 自由控制实验，而是让 LLM 生成候选策略，再由确定性的 calibration、compiler 和 gate 执行。下一页说明这套系统如何避免评估泄漏。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experiments/care_replay/README.md</a:t>
            </a:r>
          </a:p>
          <a:p xmlns:a="http://schemas.openxmlformats.org/drawingml/2006/main">
            <a:r>
              <a:t>- experiments/care_replay/results/2026-07-28-evaluation-completion/LLM_RULE_FORMULAS.md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这一页专门回应数据泄漏和反复调参的问题。前 50 个 calibration seeds 是开发集，只能用于比较 candidate policies、确定 selector 和冻结 gate；它们不会进入最终效果表。</a:t>
            </a:r>
          </a:p>
          <a:p xmlns:a="http://schemas.openxmlformats.org/drawingml/2006/main">
            <a:r>
              <a:t>冻结策略以后，再在 100 个完全不重叠的 held-out seeds 上运行正式评估。最终报告中的均值、置信区间和轮数节省全部来自这 100 个 seeds，不能根据 held-out 结果回头修改 prompt、router 或阈值。</a:t>
            </a:r>
          </a:p>
          <a:p xmlns:a="http://schemas.openxmlformats.org/drawingml/2006/main">
            <a:r>
              <a:t>所有方法共享同一个 candidate pool、实验预算、初始观测和 seed schedule。这样比较的是 acquisition policy，而不是谁拿到了更容易的候选或更多实验轮数。</a:t>
            </a:r>
          </a:p>
          <a:p xmlns:a="http://schemas.openxmlformats.org/drawingml/2006/main">
            <a:r>
              <a:t>七条路线中，ChemLex -&gt; BH、Dielectric -&gt; Gap、Gap -&gt; Dielectric 和 FreeSolv -&gt; Lipophilicity 通过 gate，因此部署 source-outcome transfer。Phonons -&gt; Dielectric、ESOL -&gt; Lipophilicity 和 Lipophilicity -&gt; FreeSolv 证据不足，精确执行 matched target-only LLM。</a:t>
            </a:r>
          </a:p>
          <a:p xmlns:a="http://schemas.openxmlformats.org/drawingml/2006/main">
            <a:r>
              <a:t>这里的精确回退很重要：三条回退路线的 source transfer gain 被记为 0，而不是把 target-only anchor 自身可能优于传统 BO 的收益算成迁移。因此正式结果既报告成功路线，也保留未部署路线。</a:t>
            </a:r>
          </a:p>
          <a:p xmlns:a="http://schemas.openxmlformats.org/drawingml/2006/main">
            <a:r>
              <a:t>下一页进入 held-out 结果，分别看 CARE 相对 strongest BO 和 matched target-only LLM 的增益。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experiments/care_replay/results/2026-07-28-evaluation-completion/README.md</a:t>
            </a:r>
          </a:p>
          <a:p xmlns:a="http://schemas.openxmlformats.org/drawingml/2006/main">
            <a:r>
              <a:t>- experiments/care_replay/results/2026-07-28-evaluation-completion/baseline_protocol_coverage.csv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这页是当前最核心的结果。每个点都是 100 个 disjoint held-out seeds 上的 paired final-best delta，误差线是 95% 置信区间。绿色表示 gate 部署了 source transfer，灰色表示精确回退。</a:t>
            </a:r>
          </a:p>
          <a:p xmlns:a="http://schemas.openxmlformats.org/drawingml/2006/main">
            <a:r>
              <a:t>左图回答完整 CARE 路径是否超过该 target 上最强的传统优化器。四条部署路线相对 strongest BO 的增益分别是：ChemLex -&gt; BH +8.10，Dielectric -&gt; Gap +35.46，Gap -&gt; Dielectric +26.19，FreeSolv -&gt; Lipophilicity +4.99。</a:t>
            </a:r>
          </a:p>
          <a:p xmlns:a="http://schemas.openxmlformats.org/drawingml/2006/main">
            <a:r>
              <a:t>右图是更严格、也更接近 transfer 因果贡献的比较。对照方法同样调用 LLM、使用相同 target calibration 和 optimizer，只是不读取 source outcomes。四条部署路线相对这个 matched target-only LLM 的增益分别是 +9.20、+32.70、+18.06 和 +2.98。</a:t>
            </a:r>
          </a:p>
          <a:p xmlns:a="http://schemas.openxmlformats.org/drawingml/2006/main">
            <a:r>
              <a:t>四个置信区间分别约为 [7.11, 11.28]、[27.38, 38.01]、[14.94, 21.19] 和 [2.38, 3.57]，都没有穿过 0。因此在当前冻结协议下，这四条路线的正向结果不是由少量 seeds 驱动。</a:t>
            </a:r>
          </a:p>
          <a:p xmlns:a="http://schemas.openxmlformats.org/drawingml/2006/main">
            <a:r>
              <a:t>三条回退路线在右图严格为 0，因为最终执行的是 matched target-only LLM。它们在左图可能仍然高于传统 BO，但那是 anchor 的收益，不是 source transfer 的收益。</a:t>
            </a:r>
          </a:p>
          <a:p xmlns:a="http://schemas.openxmlformats.org/drawingml/2006/main">
            <a:r>
              <a:t>所以这一页支持的准确表述是：source-outcome transfer 在四条已部署路线中带来了稳定额外增益；不能表述成七条路线全部受益，也不能把 LLM anchor 的能力归因给 transfer。下一页展开 baseline 的层次。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experiments/care_replay/results/2026-07-28-evaluation-completion/baseline_comparison.csv</a:t>
            </a:r>
          </a:p>
          <a:p xmlns:a="http://schemas.openxmlformats.org/drawingml/2006/main">
            <a:r>
              <a:t>- experiments/care_replay/results/2026-07-28-evaluation-completion/baseline_comparison_forest.png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这页解释为什么不能把 incumbent 理解成唯一 baseline。我们一共实现或整理了十类方法，并按它们是否使用 source outcomes、LLM proposal、strong BO anchor、calibration holdout、disjoint held-out 和 null control 进行分组。</a:t>
            </a:r>
          </a:p>
          <a:p xmlns:a="http://schemas.openxmlformats.org/drawingml/2006/main">
            <a:r>
              <a:t>第一层是 random search 和 public incumbent，主要提供下限和公开规则参照。第二层是 strong BO family，包括 GP-UCB、mixed-kernel GP-EI 和 target UCB/EI portfolio；正式比较时，每个 target 取其中 held-out 表现最强的 target-only optimizer。</a:t>
            </a:r>
          </a:p>
          <a:p xmlns:a="http://schemas.openxmlformats.org/drawingml/2006/main">
            <a:r>
              <a:t>第三层是 LLM-only controls，包括 LLM direct prior 和 LLAMBO-style warm start，用来观察 LLM 参与本身是否有价值。第四层是 matched target-only LLM，它和 CARE 共享 LLM、target evidence、budget、candidate pool 和执行框架，唯一关键差异是它看不到 source outcomes。</a:t>
            </a:r>
          </a:p>
          <a:p xmlns:a="http://schemas.openxmlformats.org/drawingml/2006/main">
            <a:r>
              <a:t>Matched random rule 是 null control：保持执行框架不变，但把迁移规则替换为匹配的随机规则，用于检查增益是否可能来自偶然的 patch 或筛选偏差。CARE source-outcome router 是唯一同时使用 source outcomes、LLM proposal、strong BO anchor 和 calibration holdout 的方法。</a:t>
            </a:r>
          </a:p>
          <a:p xmlns:a="http://schemas.openxmlformats.org/drawingml/2006/main">
            <a:r>
              <a:t>需要讲清楚一个边界：这张表表示已实现的 comparator coverage，不代表每个历史方法都在七条 route 上完整重跑。正式七路线 headline 的两个主对照始终是 strongest BO 和 matched target-only LLM。</a:t>
            </a:r>
          </a:p>
          <a:p xmlns:a="http://schemas.openxmlformats.org/drawingml/2006/main">
            <a:r>
              <a:t>下一页从最终值转向实验成本，看看 transfer 是否真的减少了需要执行的 target acquisitions。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experiments/care_replay/results/2026-07-28-evaluation-completion/baseline_protocol_coverage.csv</a:t>
            </a:r>
          </a:p>
          <a:p xmlns:a="http://schemas.openxmlformats.org/drawingml/2006/main">
            <a:r>
              <a:t>- experiments/care_replay/results/2026-07-28-evaluation-completion/baseline_protocol_matrix.png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在真实实验场景里，只报告 final best 不够，因为同样的最终结果如果需要更少轮次，就直接意味着更低的实验成本。因此这里把迭代效率拆成三个视角。</a:t>
            </a:r>
          </a:p>
          <a:p xmlns:a="http://schemas.openxmlformats.org/drawingml/2006/main">
            <a:r>
              <a:t>左图衡量 CARE 比 matched target-only LLM 提前多少轮达到对方的最终最优值。ChemLex -&gt; BH、Dielectric -&gt; Gap、Gap -&gt; Dielectric、FreeSolv -&gt; Lipophilicity 分别节省 2.99、6.00、5.03 和 2.23 次 target acquisitions。</a:t>
            </a:r>
          </a:p>
          <a:p xmlns:a="http://schemas.openxmlformats.org/drawingml/2006/main">
            <a:r>
              <a:t>中图衡量进入整个候选池 global top 10% 的时间。对应节省为 3.62、9.57、8.46 和 4.80 轮，说明材料双向迁移的早期预算优势最明显，FreeSolv -&gt; Lipophilicity 的最终增益较小，但仍能更早命中优质候选。</a:t>
            </a:r>
          </a:p>
          <a:p xmlns:a="http://schemas.openxmlformats.org/drawingml/2006/main">
            <a:r>
              <a:t>右侧热图显示第 1、3、5 轮和最终轮的 best-so-far delta。它帮助区分两种情况：一种是 transfer 从第一轮就提供有效方向，另一种是中期通过 acquisition geometry 逐渐拉开差距。</a:t>
            </a:r>
          </a:p>
          <a:p xmlns:a="http://schemas.openxmlformats.org/drawingml/2006/main">
            <a:r>
              <a:t>未部署的三条路线全部为 0，并不是缺失数据，而是 gate 回退后逐轮复现 matched target-only anchor。这个设计让负迁移不会以额外实验成本的形式被隐藏。</a:t>
            </a:r>
          </a:p>
          <a:p xmlns:a="http://schemas.openxmlformats.org/drawingml/2006/main">
            <a:r>
              <a:t>因此当前最直接的应用价值是：在四条有效路线中，source-outcome transfer 不仅提高最终结果，还减少了达到同等实验目标所需的轮数。下一页解释 LLM 如何产生这种 acquisition 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experiments/care_replay/results/2026-07-28-evaluation-completion/iteration_efficiency.csv</a:t>
            </a:r>
          </a:p>
          <a:p xmlns:a="http://schemas.openxmlformats.org/drawingml/2006/main">
            <a:r>
              <a:t>- experiments/care_replay/results/2026-07-28-evaluation-completion/iteration_efficiency.png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 LLM 具体输入什么、输出什么，以及为什么我们不把它称为自由运行的实验控制器。LLM 的输入是 Transfer Card、source outcomes 摘要、target schema、允许的策略空间和 calibration summary；它看不到 held-out outcomes。</a:t>
            </a:r>
          </a:p>
          <a:p xmlns:a="http://schemas.openxmlformats.org/drawingml/2006/main">
            <a:r>
              <a:t>LLM 一次性输出结构化 patch，包括 kernel scales、role multipliers、beta schedule、source-prior strength、temperature、interaction strength 和 calibration mode。输出必须通过 schema validation，不能直接返回任意候选分数。</a:t>
            </a:r>
          </a:p>
          <a:p xmlns:a="http://schemas.openxmlformats.org/drawingml/2006/main">
            <a:r>
              <a:t>Python compiler 先把 role multipliers 归一化成各 acquisition 分量的权重 pi_k，再根据 calibration evidence 和 router cap 确定混合强度 M。最终执行公式是 a_CARE(x) = (1-M) a_anchor(x) + M sum_k pi_k a_k(x)。</a:t>
            </a:r>
          </a:p>
          <a:p xmlns:a="http://schemas.openxmlformats.org/drawingml/2006/main">
            <a:r>
              <a:t>这里 a_anchor 是 matched target-only acquisition，a_k 是由不同 kernel geometry、source prior 或 interaction patch 产生的候选 acquisition。M 越小，系统越接近 target-only；证据不足或风险预算被突破时，M 直接回到 0。</a:t>
            </a:r>
          </a:p>
          <a:p xmlns:a="http://schemas.openxmlformats.org/drawingml/2006/main">
            <a:r>
              <a:t>所以 LLM 真正影响的是 acquisition geometry 和策略组合，而不是在 Python 之后再手工加一个方向分数。与此同时，归一化、上限、候选选择和 gate 都由确定性代码执行，同一个 patch 和 seed 可以复现相同结果。</a:t>
            </a:r>
          </a:p>
          <a:p xmlns:a="http://schemas.openxmlformats.org/drawingml/2006/main">
            <a:r>
              <a:t>Trace 保存的是可审计的决策记录，包括 prompt metadata、原始输出、parsed patch、calibration statistics、每轮候选、revealed outcomes 和 gate decision；不把隐藏的 chain-of-thought 当作实验证据。</a:t>
            </a:r>
          </a:p>
          <a:p xmlns:a="http://schemas.openxmlformats.org/drawingml/2006/main">
            <a:r>
              <a:t>这套分工的意义是让 LLM 有足够空间提出可迁移策略，同时把评估和安全边界留在可验证的代码里。下一页说明当前泛化证据仍然缺少什么。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experiments/care_replay/results/2026-07-28-evaluation-completion/LLM_RULE_FORMULAS.md</a:t>
            </a:r>
          </a:p>
          <a:p xmlns:a="http://schemas.openxmlformats.org/drawingml/2006/main">
            <a:r>
              <a:t>- experiments/care_replay/results/2026-07-28-evaluation-completion/llm_rule_formula_map.png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这一页是对结论范围的主动收缩。当前七条 frozen routes 虽然覆盖 reaction、materials 和 molecular property 三类任务，但每条 route 的 source 与 target 仍属于同一个领域。</a:t>
            </a:r>
          </a:p>
          <a:p xmlns:a="http://schemas.openxmlformats.org/drawingml/2006/main">
            <a:r>
              <a:t>Reaction 目前有 ChemLex -&gt; Buchwald-Hartwig 一条正式路线；Materials 有 Dielectric -&gt; Experimental Gap、Experimental Gap -&gt; Dielectric 和 Phonons -&gt; Dielectric 三条；Molecular 有 ESOL -&gt; Lipophilicity、FreeSolv -&gt; Lipophilicity 和 Lipophilicity -&gt; FreeSolv 三条。</a:t>
            </a:r>
          </a:p>
          <a:p xmlns:a="http://schemas.openxmlformats.org/drawingml/2006/main">
            <a:r>
              <a:t>因此目前能够支持的是同领域跨数据集、跨任务的泛化。例如材料任务之间的目标和尺度不同，但仍可通过变量角色和 kernel geometry 迁移；分子性质任务之间也能共享一部分结构信息。</a:t>
            </a:r>
          </a:p>
          <a:p xmlns:a="http://schemas.openxmlformats.org/drawingml/2006/main">
            <a:r>
              <a:t>还不能支持的是 Reaction -&gt; Materials、Reaction -&gt; Molecular 或 Materials -&gt; Molecular 这样的真正跨领域迁移。图中的空白格表示尚未验证，不表示迁移失败，也不能用现有同域结果进行外推。</a:t>
            </a:r>
          </a:p>
          <a:p xmlns:a="http://schemas.openxmlformats.org/drawingml/2006/main">
            <a:r>
              <a:t>下一阶段需要先定义跨领域可对齐的 descriptors、变量角色和 outcome normalization，再用同样的 50 calibration + 100 held-out 协议验证。最后一页给出具体推进顺序和成功标准。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experiments/care_replay/results/2026-07-25-transfer-visualizations/transfer_domain_coverage.png</a:t>
            </a:r>
          </a:p>
          <a:p xmlns:a="http://schemas.openxmlformats.org/drawingml/2006/main">
            <a:r>
              <a:t>- experiments/care_replay/results/2026-07-28-evaluation-completion/baseline_comparison.csv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最后可以把当前完成度和下一阶段目标分开讲。当前已经完成的是：真实 reaction、materials 和 molecular datasets 的统一 replay；七条冻结路线；strongest BO 与 matched target-only LLM 两条主 baseline；50/100 seed 数据分离；精确 fallback；以及逐轮 trace 和 iteration-efficiency 报告。</a:t>
            </a:r>
          </a:p>
          <a:p xmlns:a="http://schemas.openxmlformats.org/drawingml/2006/main">
            <a:r>
              <a:t>第一项下一步工作是补齐跨域 pair。Reaction、Materials 和 Molecular 之间不能只靠名称相似度迁移，需要引入可对齐的 composition、structure、molecular descriptors，以及明确的 source-target role map。</a:t>
            </a:r>
          </a:p>
          <a:p xmlns:a="http://schemas.openxmlformats.org/drawingml/2006/main">
            <a:r>
              <a:t>第二项是加入外部 LLM scientist / LLM-BO baseline。比较必须使用同一 candidate pool、相同 budget、相同 calibration 与 held-out seeds，并区分 LLM direct prior、LLAMBO-style warm start、target-only agent 和 source-aware agent。</a:t>
            </a:r>
          </a:p>
          <a:p xmlns:a="http://schemas.openxmlformats.org/drawingml/2006/main">
            <a:r>
              <a:t>第三项是让 LLM 继续进化 skill，而不是在 held-out 上追数字。LLM 可以生成新的 hypothesis、kernel 和 routing patch，但任何 prompt、selector 或 patch-space 更新都必须重新回到独立 held-out 评估，不能沿用已经看过的测试结果。</a:t>
            </a:r>
          </a:p>
          <a:p xmlns:a="http://schemas.openxmlformats.org/drawingml/2006/main">
            <a:r>
              <a:t>成功标准也要同时满足效果和可信度：在更多 source-target pairs 上同时超过 strongest BO 与 matched target-only LLM；失败路线能够回退；每次 LLM 输入输出和 gate decision 可追踪；不同 seeds 和服务器环境可复现。</a:t>
            </a:r>
          </a:p>
          <a:p xmlns:a="http://schemas.openxmlformats.org/drawingml/2006/main">
            <a:r>
              <a:t>最终总结可以这样说：CARE 2.0 已经证明 source-outcome transfer 在多个真实同域任务上具有稳定的额外价值，并能节省实验轮数；但它还不是已经完成的通用跨领域平台。下一阶段的核心任务，就是把这套受控、可审计的迁移机制扩展到真正跨领域的数据与 baseline。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overview.md</a:t>
            </a:r>
          </a:p>
          <a:p xmlns:a="http://schemas.openxmlformats.org/drawingml/2006/main">
            <a:r>
              <a:t>- experiments/care_replay/results/2026-07-28-evaluation-completion/README.md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85a781a02a43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4a29d6dfa64919" /><Relationship Type="http://schemas.openxmlformats.org/officeDocument/2006/relationships/slideLayout" Target="/ppt/slideLayouts/slideLayout1.xml" Id="R36f9f61266f442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f9f61266f442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c7271bf464410" /><Relationship Type="http://schemas.openxmlformats.org/officeDocument/2006/relationships/image" Target="/ppt/media/image.png" Id="R607ae576f73240d6" /><Relationship Type="http://schemas.openxmlformats.org/officeDocument/2006/relationships/notesSlide" Target="/ppt/notesSlides/notesSlide1.xml" Id="R00271f5dc08142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a8c75a6f94c4f" /><Relationship Type="http://schemas.openxmlformats.org/officeDocument/2006/relationships/notesSlide" Target="/ppt/notesSlides/notesSlide2.xml" Id="Ra241372d0b8f4f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ddfed0a674d85" /><Relationship Type="http://schemas.openxmlformats.org/officeDocument/2006/relationships/notesSlide" Target="/ppt/notesSlides/notesSlide3.xml" Id="R34c4b015a99246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d788de91d4ba9" /><Relationship Type="http://schemas.openxmlformats.org/officeDocument/2006/relationships/notesSlide" Target="/ppt/notesSlides/notesSlide4.xml" Id="R7e0c3c66249149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ec8ddb9484cef" /><Relationship Type="http://schemas.openxmlformats.org/officeDocument/2006/relationships/image" Target="/ppt/media/image2.png" Id="R2f50ebb4d3c949b3" /><Relationship Type="http://schemas.openxmlformats.org/officeDocument/2006/relationships/notesSlide" Target="/ppt/notesSlides/notesSlide5.xml" Id="R6ffddb07706546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e6abee0ff4a85" /><Relationship Type="http://schemas.openxmlformats.org/officeDocument/2006/relationships/image" Target="/ppt/media/image3.png" Id="Raeb8705be66a48d3" /><Relationship Type="http://schemas.openxmlformats.org/officeDocument/2006/relationships/notesSlide" Target="/ppt/notesSlides/notesSlide6.xml" Id="R0ef489ccab2d44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ec45b86a0498a" /><Relationship Type="http://schemas.openxmlformats.org/officeDocument/2006/relationships/image" Target="/ppt/media/image4.png" Id="R263bac34ceb641fa" /><Relationship Type="http://schemas.openxmlformats.org/officeDocument/2006/relationships/notesSlide" Target="/ppt/notesSlides/notesSlide7.xml" Id="R247d0de3886143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559d232da4d52" /><Relationship Type="http://schemas.openxmlformats.org/officeDocument/2006/relationships/image" Target="/ppt/media/image5.png" Id="Re23a8f3fb8a841ae" /><Relationship Type="http://schemas.openxmlformats.org/officeDocument/2006/relationships/notesSlide" Target="/ppt/notesSlides/notesSlide8.xml" Id="R28f079fdcbb044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ab86508ee4589" /><Relationship Type="http://schemas.openxmlformats.org/officeDocument/2006/relationships/image" Target="/ppt/media/image6.png" Id="R8a9724d93dc74bcc" /><Relationship Type="http://schemas.openxmlformats.org/officeDocument/2006/relationships/notesSlide" Target="/ppt/notesSlides/notesSlide9.xml" Id="R540f2b20a8a947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eca25c0154863" /><Relationship Type="http://schemas.openxmlformats.org/officeDocument/2006/relationships/notesSlide" Target="/ppt/notesSlides/notesSlide10.xml" Id="Rd700d898963b41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C9F78E4-7543-4C33-92BF-552D9914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CARE 2.0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9C3702F-1B0D-479A-921B-5226B961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561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把 source knowledge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变成可验证的 transfer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83FA03F-F080-4F77-B738-636A73A8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B6168"/>
                </a:solidFill>
                <a:latin typeface="Arial"/>
                <a:ea typeface="Arial"/>
                <a:cs typeface="Arial"/>
              </a:rPr>
              <a:t>CARE 2.0 source-outcome transfer evaluation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492C6B38-A216-42C2-8313-9C7936C6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438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70DF9C69-1098-494F-89C5-26A68D70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168"/>
                </a:solidFill>
                <a:latin typeface="Arial"/>
                <a:ea typeface="Arial"/>
                <a:cs typeface="Arial"/>
              </a:rPr>
              <a:t>Internal project update · 2026-07-28</a:t>
            </a:r>
          </a:p>
        </p:txBody>
      </p:sp>
      <p:sp>
        <p:nvSpPr>
          <p:cNvPr id="6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71E11BC4-24A1-4FEE-A96A-62330C19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4350"/>
            <a:ext cx="5095875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ae576f73240d6"/>
          <a:stretch xmlns:a="http://schemas.openxmlformats.org/drawingml/2006/main"/>
        </p:blipFill>
        <p:spPr>
          <a:xfrm xmlns:a="http://schemas.openxmlformats.org/drawingml/2006/main">
            <a:off x="6610350" y="1779198"/>
            <a:ext cx="4733925" cy="30710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407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2">
            <a:extLst xmlns:a="http://schemas.openxmlformats.org/drawingml/2006/main">
              <a:ext uri="{FF2B5EF4-FFF2-40B4-BE49-F238E27FC236}">
                <a16:creationId xmlns:a16="http://schemas.microsoft.com/office/drawing/2014/main" id="{0C543F30-6441-4E6C-B602-873AFAAB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PROBLEM DEFINITION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00AB1C5-2219-4BED-9826-89D97B3F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问题不是有没有迁移，而是何时应该相信迁移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B07325FA-03B5-478A-9B1F-050FC6CC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617FAC63-EFB2-4190-9377-E1577FA5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point-number-01">
            <a:extLst xmlns:a="http://schemas.openxmlformats.org/drawingml/2006/main">
              <a:ext uri="{FF2B5EF4-FFF2-40B4-BE49-F238E27FC236}">
                <a16:creationId xmlns:a16="http://schemas.microsoft.com/office/drawing/2014/main" id="{1547BA6D-2B00-463F-889C-A2B76F21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point-rule-01">
            <a:extLst xmlns:a="http://schemas.openxmlformats.org/drawingml/2006/main">
              <a:ext uri="{FF2B5EF4-FFF2-40B4-BE49-F238E27FC236}">
                <a16:creationId xmlns:a16="http://schemas.microsoft.com/office/drawing/2014/main" id="{17F749D5-7372-473D-B636-632EE6EE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7907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oint-heading-01">
            <a:extLst xmlns:a="http://schemas.openxmlformats.org/drawingml/2006/main">
              <a:ext uri="{FF2B5EF4-FFF2-40B4-BE49-F238E27FC236}">
                <a16:creationId xmlns:a16="http://schemas.microsoft.com/office/drawing/2014/main" id="{6060383B-4A5E-4A3B-BC6D-A01F67A9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526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实验预算有限</a:t>
            </a:r>
          </a:p>
        </p:txBody>
      </p:sp>
      <p:sp>
        <p:nvSpPr>
          <p:cNvPr id="8" name="point-body-01">
            <a:extLst xmlns:a="http://schemas.openxmlformats.org/drawingml/2006/main">
              <a:ext uri="{FF2B5EF4-FFF2-40B4-BE49-F238E27FC236}">
                <a16:creationId xmlns:a16="http://schemas.microsoft.com/office/drawing/2014/main" id="{ED8ED831-E698-40E4-9AF6-4569AA67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859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8"/>
                </a:solidFill>
                <a:latin typeface="Arial"/>
                <a:ea typeface="Arial"/>
                <a:cs typeface="Arial"/>
              </a:rPr>
              <a:t>真实 HTE、材料和分子性质评估都需要控制实验轮数；transfer 的价值首先体现在更早找到好候选。</a:t>
            </a:r>
          </a:p>
        </p:txBody>
      </p:sp>
      <p:sp>
        <p:nvSpPr>
          <p:cNvPr id="9" name="point-number-02">
            <a:extLst xmlns:a="http://schemas.openxmlformats.org/drawingml/2006/main">
              <a:ext uri="{FF2B5EF4-FFF2-40B4-BE49-F238E27FC236}">
                <a16:creationId xmlns:a16="http://schemas.microsoft.com/office/drawing/2014/main" id="{D3A0B38B-3946-4F8B-9020-557CE4C2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530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303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oint-rule-02">
            <a:extLst xmlns:a="http://schemas.openxmlformats.org/drawingml/2006/main">
              <a:ext uri="{FF2B5EF4-FFF2-40B4-BE49-F238E27FC236}">
                <a16:creationId xmlns:a16="http://schemas.microsoft.com/office/drawing/2014/main" id="{0DB45EF4-F321-4F71-871E-005000D0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861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oint-heading-02">
            <a:extLst xmlns:a="http://schemas.openxmlformats.org/drawingml/2006/main">
              <a:ext uri="{FF2B5EF4-FFF2-40B4-BE49-F238E27FC236}">
                <a16:creationId xmlns:a16="http://schemas.microsoft.com/office/drawing/2014/main" id="{BA543A27-102C-471B-B05F-54F57B2F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480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knowledge 有双刃性</a:t>
            </a:r>
          </a:p>
        </p:txBody>
      </p:sp>
      <p:sp>
        <p:nvSpPr>
          <p:cNvPr id="12" name="point-body-02">
            <a:extLst xmlns:a="http://schemas.openxmlformats.org/drawingml/2006/main">
              <a:ext uri="{FF2B5EF4-FFF2-40B4-BE49-F238E27FC236}">
                <a16:creationId xmlns:a16="http://schemas.microsoft.com/office/drawing/2014/main" id="{6A0E90FC-80A7-4209-803B-E3286D9B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813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8"/>
                </a:solidFill>
                <a:latin typeface="Arial"/>
                <a:ea typeface="Arial"/>
                <a:cs typeface="Arial"/>
              </a:rPr>
              <a:t>同一套 source outcome 可能帮助一个 target，也可能造成负迁移；source-target pair 不能默认同质。</a:t>
            </a:r>
          </a:p>
        </p:txBody>
      </p:sp>
      <p:sp>
        <p:nvSpPr>
          <p:cNvPr id="13" name="point-number-03">
            <a:extLst xmlns:a="http://schemas.openxmlformats.org/drawingml/2006/main">
              <a:ext uri="{FF2B5EF4-FFF2-40B4-BE49-F238E27FC236}">
                <a16:creationId xmlns:a16="http://schemas.microsoft.com/office/drawing/2014/main" id="{831C7868-F995-4E19-B2EB-F2C4005C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point-rule-03">
            <a:extLst xmlns:a="http://schemas.openxmlformats.org/drawingml/2006/main">
              <a:ext uri="{FF2B5EF4-FFF2-40B4-BE49-F238E27FC236}">
                <a16:creationId xmlns:a16="http://schemas.microsoft.com/office/drawing/2014/main" id="{74AC3313-EF29-4772-BCB6-E5AAC3F2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3815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oint-heading-03">
            <a:extLst xmlns:a="http://schemas.openxmlformats.org/drawingml/2006/main">
              <a:ext uri="{FF2B5EF4-FFF2-40B4-BE49-F238E27FC236}">
                <a16:creationId xmlns:a16="http://schemas.microsoft.com/office/drawing/2014/main" id="{7CFE2380-9D1E-4C3B-89DD-E880F19A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434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平台要学会开关迁移</a:t>
            </a:r>
          </a:p>
        </p:txBody>
      </p:sp>
      <p:sp>
        <p:nvSpPr>
          <p:cNvPr id="16" name="point-body-03">
            <a:extLst xmlns:a="http://schemas.openxmlformats.org/drawingml/2006/main">
              <a:ext uri="{FF2B5EF4-FFF2-40B4-BE49-F238E27FC236}">
                <a16:creationId xmlns:a16="http://schemas.microsoft.com/office/drawing/2014/main" id="{0219B7C6-D490-4DF8-A1FF-E1506F0D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767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5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8"/>
                </a:solidFill>
                <a:latin typeface="Arial"/>
                <a:ea typeface="Arial"/>
                <a:cs typeface="Arial"/>
              </a:rPr>
              <a:t>CARE 2.0 的核心不是一条最强固定规则，而是 skill candidate、target calibration 和 risk gate 组成的决策过程。</a:t>
            </a:r>
          </a:p>
        </p:txBody>
      </p:sp>
      <p:sp>
        <p:nvSpPr>
          <p:cNvPr id="17" name="problem-callout">
            <a:extLst xmlns:a="http://schemas.openxmlformats.org/drawingml/2006/main">
              <a:ext uri="{FF2B5EF4-FFF2-40B4-BE49-F238E27FC236}">
                <a16:creationId xmlns:a16="http://schemas.microsoft.com/office/drawing/2014/main" id="{A8391253-9890-4228-A46A-00F43AF6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4572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oblem-quote">
            <a:extLst xmlns:a="http://schemas.openxmlformats.org/drawingml/2006/main">
              <a:ext uri="{FF2B5EF4-FFF2-40B4-BE49-F238E27FC236}">
                <a16:creationId xmlns:a16="http://schemas.microsoft.com/office/drawing/2014/main" id="{645D2BB1-2CCE-4E9E-9D45-DB153573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0505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622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CARE 2.0 should behave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like a platform,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not a fixed rule.</a:t>
            </a:r>
          </a:p>
        </p:txBody>
      </p:sp>
      <p:sp>
        <p:nvSpPr>
          <p:cNvPr id="19" name="problem-quote-detail">
            <a:extLst xmlns:a="http://schemas.openxmlformats.org/drawingml/2006/main">
              <a:ext uri="{FF2B5EF4-FFF2-40B4-BE49-F238E27FC236}">
                <a16:creationId xmlns:a16="http://schemas.microsoft.com/office/drawing/2014/main" id="{AFF2F1E8-E70A-4D7D-A879-EDADE2F2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148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168"/>
                </a:solidFill>
                <a:latin typeface="Arial"/>
                <a:ea typeface="Arial"/>
                <a:cs typeface="Arial"/>
              </a:rPr>
              <a:t>可迁移的不是某个领域的答案，而是从证据到 acquisition 的可复用决策结构。</a:t>
            </a:r>
          </a:p>
        </p:txBody>
      </p:sp>
    </p:spTree>
    <p:extLst>
      <p:ext uri="{BB962C8B-B14F-4D97-AF65-F5344CB8AC3E}">
        <p14:creationId xmlns:p14="http://schemas.microsoft.com/office/powerpoint/2010/main" val="1557150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-3">
            <a:extLst xmlns:a="http://schemas.openxmlformats.org/drawingml/2006/main">
              <a:ext uri="{FF2B5EF4-FFF2-40B4-BE49-F238E27FC236}">
                <a16:creationId xmlns:a16="http://schemas.microsoft.com/office/drawing/2014/main" id="{06AEFFEB-8B7E-4A75-8AFA-BEB3D496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771A9D0-B5E5-406B-A3B1-BA288227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系统把迁移拆成一条可审计的决策链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F26BDD87-147A-4C17-A809-A06FE87E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A0737F39-8E8E-4BBC-8DC0-7A11AAB3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source-side-label">
            <a:extLst xmlns:a="http://schemas.openxmlformats.org/drawingml/2006/main">
              <a:ext uri="{FF2B5EF4-FFF2-40B4-BE49-F238E27FC236}">
                <a16:creationId xmlns:a16="http://schemas.microsoft.com/office/drawing/2014/main" id="{E5DE2C0D-FF1D-48FE-8C06-686C703D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28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Source side</a:t>
            </a:r>
          </a:p>
        </p:txBody>
      </p:sp>
      <p:sp>
        <p:nvSpPr>
          <p:cNvPr id="6" name="target-side-label">
            <a:extLst xmlns:a="http://schemas.openxmlformats.org/drawingml/2006/main">
              <a:ext uri="{FF2B5EF4-FFF2-40B4-BE49-F238E27FC236}">
                <a16:creationId xmlns:a16="http://schemas.microsoft.com/office/drawing/2014/main" id="{8A266014-181B-4A42-93AD-360F8445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28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Target side</a:t>
            </a:r>
          </a:p>
        </p:txBody>
      </p:sp>
      <p:sp>
        <p:nvSpPr>
          <p:cNvPr id="7" name="pipeline-arrow-0">
            <a:extLst xmlns:a="http://schemas.openxmlformats.org/drawingml/2006/main">
              <a:ext uri="{FF2B5EF4-FFF2-40B4-BE49-F238E27FC236}">
                <a16:creationId xmlns:a16="http://schemas.microsoft.com/office/drawing/2014/main" id="{A998884E-6595-49B7-A09F-B218BC2B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pipeline-arrow-1">
            <a:extLst xmlns:a="http://schemas.openxmlformats.org/drawingml/2006/main">
              <a:ext uri="{FF2B5EF4-FFF2-40B4-BE49-F238E27FC236}">
                <a16:creationId xmlns:a16="http://schemas.microsoft.com/office/drawing/2014/main" id="{CC6376D8-4400-482B-95F2-24DA22D8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9560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pipeline-arrow-2">
            <a:extLst xmlns:a="http://schemas.openxmlformats.org/drawingml/2006/main">
              <a:ext uri="{FF2B5EF4-FFF2-40B4-BE49-F238E27FC236}">
                <a16:creationId xmlns:a16="http://schemas.microsoft.com/office/drawing/2014/main" id="{BD7F2F3C-56F1-4A46-8785-B4451528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9560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pipeline-arrow-3">
            <a:extLst xmlns:a="http://schemas.openxmlformats.org/drawingml/2006/main">
              <a:ext uri="{FF2B5EF4-FFF2-40B4-BE49-F238E27FC236}">
                <a16:creationId xmlns:a16="http://schemas.microsoft.com/office/drawing/2014/main" id="{DC2BBFCA-90FA-4CFF-B5F2-84F0235D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9560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pipeline-arrow-4">
            <a:extLst xmlns:a="http://schemas.openxmlformats.org/drawingml/2006/main">
              <a:ext uri="{FF2B5EF4-FFF2-40B4-BE49-F238E27FC236}">
                <a16:creationId xmlns:a16="http://schemas.microsoft.com/office/drawing/2014/main" id="{FB40FBDA-5DBF-49F3-81C4-17DBD5AC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95600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pipeline-task">
            <a:extLst xmlns:a="http://schemas.openxmlformats.org/drawingml/2006/main">
              <a:ext uri="{FF2B5EF4-FFF2-40B4-BE49-F238E27FC236}">
                <a16:creationId xmlns:a16="http://schemas.microsoft.com/office/drawing/2014/main" id="{73E93BC8-C320-4743-B5EA-4232C084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485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pipeline-task-title">
            <a:extLst xmlns:a="http://schemas.openxmlformats.org/drawingml/2006/main">
              <a:ext uri="{FF2B5EF4-FFF2-40B4-BE49-F238E27FC236}">
                <a16:creationId xmlns:a16="http://schemas.microsoft.com/office/drawing/2014/main" id="{589DF41B-C16C-4E88-93B5-E34E6DF4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TaskSpec</a:t>
            </a:r>
          </a:p>
        </p:txBody>
      </p:sp>
      <p:sp>
        <p:nvSpPr>
          <p:cNvPr id="14" name="pipeline-task-body">
            <a:extLst xmlns:a="http://schemas.openxmlformats.org/drawingml/2006/main">
              <a:ext uri="{FF2B5EF4-FFF2-40B4-BE49-F238E27FC236}">
                <a16:creationId xmlns:a16="http://schemas.microsoft.com/office/drawing/2014/main" id="{F9198D9E-FB0B-4829-8D48-CF8DDCF6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168"/>
                </a:solidFill>
                <a:latin typeface="Arial"/>
                <a:ea typeface="Arial"/>
                <a:cs typeface="Arial"/>
              </a:rPr>
              <a:t>任务与预算</a:t>
            </a:r>
          </a:p>
        </p:txBody>
      </p:sp>
      <p:sp>
        <p:nvSpPr>
          <p:cNvPr id="15" name="pipeline-skill">
            <a:extLst xmlns:a="http://schemas.openxmlformats.org/drawingml/2006/main">
              <a:ext uri="{FF2B5EF4-FFF2-40B4-BE49-F238E27FC236}">
                <a16:creationId xmlns:a16="http://schemas.microsoft.com/office/drawing/2014/main" id="{2A6D4DEE-82F5-47EC-B19D-78B63BD3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76500"/>
            <a:ext cx="1485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6CB0"/>
            </a:solidFill>
            <a:prstDash val="solid"/>
          </a:ln>
        </p:spPr>
      </p:sp>
      <p:sp>
        <p:nvSpPr>
          <p:cNvPr id="16" name="pipeline-skill-title">
            <a:extLst xmlns:a="http://schemas.openxmlformats.org/drawingml/2006/main">
              <a:ext uri="{FF2B5EF4-FFF2-40B4-BE49-F238E27FC236}">
                <a16:creationId xmlns:a16="http://schemas.microsoft.com/office/drawing/2014/main" id="{A5068340-0A92-4373-A658-DA45F321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289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SkillCard</a:t>
            </a:r>
          </a:p>
        </p:txBody>
      </p:sp>
      <p:sp>
        <p:nvSpPr>
          <p:cNvPr id="17" name="pipeline-skill-body">
            <a:extLst xmlns:a="http://schemas.openxmlformats.org/drawingml/2006/main">
              <a:ext uri="{FF2B5EF4-FFF2-40B4-BE49-F238E27FC236}">
                <a16:creationId xmlns:a16="http://schemas.microsoft.com/office/drawing/2014/main" id="{89BF8365-4924-47B4-AAF7-760E6B87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718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168"/>
                </a:solidFill>
                <a:latin typeface="Arial"/>
                <a:ea typeface="Arial"/>
                <a:cs typeface="Arial"/>
              </a:rPr>
              <a:t>可复用结构</a:t>
            </a:r>
          </a:p>
        </p:txBody>
      </p:sp>
      <p:sp>
        <p:nvSpPr>
          <p:cNvPr id="18" name="pipeline-llm">
            <a:extLst xmlns:a="http://schemas.openxmlformats.org/drawingml/2006/main">
              <a:ext uri="{FF2B5EF4-FFF2-40B4-BE49-F238E27FC236}">
                <a16:creationId xmlns:a16="http://schemas.microsoft.com/office/drawing/2014/main" id="{13E925F5-FFC9-4E85-BA60-43A9C76C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1485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pipeline-llm-title">
            <a:extLst xmlns:a="http://schemas.openxmlformats.org/drawingml/2006/main">
              <a:ext uri="{FF2B5EF4-FFF2-40B4-BE49-F238E27FC236}">
                <a16:creationId xmlns:a16="http://schemas.microsoft.com/office/drawing/2014/main" id="{EB0AD530-0696-4BAA-8403-89D30249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289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LLM proposer</a:t>
            </a:r>
          </a:p>
        </p:txBody>
      </p:sp>
      <p:sp>
        <p:nvSpPr>
          <p:cNvPr id="20" name="pipeline-llm-body">
            <a:extLst xmlns:a="http://schemas.openxmlformats.org/drawingml/2006/main">
              <a:ext uri="{FF2B5EF4-FFF2-40B4-BE49-F238E27FC236}">
                <a16:creationId xmlns:a16="http://schemas.microsoft.com/office/drawing/2014/main" id="{69DB4111-42E0-4908-AAB7-55862F83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168"/>
                </a:solidFill>
                <a:latin typeface="Arial"/>
                <a:ea typeface="Arial"/>
                <a:cs typeface="Arial"/>
              </a:rPr>
              <a:t>提出 bounded patch</a:t>
            </a:r>
          </a:p>
        </p:txBody>
      </p:sp>
      <p:sp>
        <p:nvSpPr>
          <p:cNvPr id="21" name="pipeline-calibration">
            <a:extLst xmlns:a="http://schemas.openxmlformats.org/drawingml/2006/main">
              <a:ext uri="{FF2B5EF4-FFF2-40B4-BE49-F238E27FC236}">
                <a16:creationId xmlns:a16="http://schemas.microsoft.com/office/drawing/2014/main" id="{AD2A0326-C5DA-47D5-9191-7BCF9DC5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76500"/>
            <a:ext cx="1485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22" name="pipeline-calibration-title">
            <a:extLst xmlns:a="http://schemas.openxmlformats.org/drawingml/2006/main">
              <a:ext uri="{FF2B5EF4-FFF2-40B4-BE49-F238E27FC236}">
                <a16:creationId xmlns:a16="http://schemas.microsoft.com/office/drawing/2014/main" id="{D8E502EA-F96D-4FD9-8DBA-01302C17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289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Target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calibration</a:t>
            </a:r>
          </a:p>
        </p:txBody>
      </p:sp>
      <p:sp>
        <p:nvSpPr>
          <p:cNvPr id="23" name="pipeline-calibration-body">
            <a:extLst xmlns:a="http://schemas.openxmlformats.org/drawingml/2006/main">
              <a:ext uri="{FF2B5EF4-FFF2-40B4-BE49-F238E27FC236}">
                <a16:creationId xmlns:a16="http://schemas.microsoft.com/office/drawing/2014/main" id="{D2B4C8E4-8BAC-4B0B-83B2-9B9D8108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168"/>
                </a:solidFill>
                <a:latin typeface="Arial"/>
                <a:ea typeface="Arial"/>
                <a:cs typeface="Arial"/>
              </a:rPr>
              <a:t>用 target evidence 校准</a:t>
            </a:r>
          </a:p>
        </p:txBody>
      </p:sp>
      <p:sp>
        <p:nvSpPr>
          <p:cNvPr id="24" name="pipeline-gate">
            <a:extLst xmlns:a="http://schemas.openxmlformats.org/drawingml/2006/main">
              <a:ext uri="{FF2B5EF4-FFF2-40B4-BE49-F238E27FC236}">
                <a16:creationId xmlns:a16="http://schemas.microsoft.com/office/drawing/2014/main" id="{6EDB59FE-1F91-496B-98C9-1CC4FCF0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76500"/>
            <a:ext cx="1485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3030"/>
            </a:solidFill>
            <a:prstDash val="solid"/>
          </a:ln>
        </p:spPr>
      </p:sp>
      <p:sp>
        <p:nvSpPr>
          <p:cNvPr id="25" name="pipeline-gate-title">
            <a:extLst xmlns:a="http://schemas.openxmlformats.org/drawingml/2006/main">
              <a:ext uri="{FF2B5EF4-FFF2-40B4-BE49-F238E27FC236}">
                <a16:creationId xmlns:a16="http://schemas.microsoft.com/office/drawing/2014/main" id="{B1B540DE-EA18-4312-9729-D513BDAF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C530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53030"/>
                </a:solidFill>
                <a:latin typeface="Arial"/>
                <a:ea typeface="Arial"/>
                <a:cs typeface="Arial"/>
              </a:rPr>
              <a:t>Risk gate</a:t>
            </a:r>
          </a:p>
        </p:txBody>
      </p:sp>
      <p:sp>
        <p:nvSpPr>
          <p:cNvPr id="26" name="pipeline-gate-body">
            <a:extLst xmlns:a="http://schemas.openxmlformats.org/drawingml/2006/main">
              <a:ext uri="{FF2B5EF4-FFF2-40B4-BE49-F238E27FC236}">
                <a16:creationId xmlns:a16="http://schemas.microsoft.com/office/drawing/2014/main" id="{BCD1013C-D220-47D3-900F-0A69562A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718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67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168"/>
                </a:solidFill>
                <a:latin typeface="Arial"/>
                <a:ea typeface="Arial"/>
                <a:cs typeface="Arial"/>
              </a:rPr>
              <a:t>批准 / 拒绝 / 回退</a:t>
            </a:r>
          </a:p>
        </p:txBody>
      </p:sp>
      <p:sp>
        <p:nvSpPr>
          <p:cNvPr id="27" name="pipeline-replay">
            <a:extLst xmlns:a="http://schemas.openxmlformats.org/drawingml/2006/main">
              <a:ext uri="{FF2B5EF4-FFF2-40B4-BE49-F238E27FC236}">
                <a16:creationId xmlns:a16="http://schemas.microsoft.com/office/drawing/2014/main" id="{D2FAD9F2-A9D7-4828-8F77-9B2CE8DA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1485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8" name="pipeline-replay-title">
            <a:extLst xmlns:a="http://schemas.openxmlformats.org/drawingml/2006/main">
              <a:ext uri="{FF2B5EF4-FFF2-40B4-BE49-F238E27FC236}">
                <a16:creationId xmlns:a16="http://schemas.microsoft.com/office/drawing/2014/main" id="{7026242F-4AD2-49BC-99F7-7949C1C7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289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Replay /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GP-UCB</a:t>
            </a:r>
          </a:p>
        </p:txBody>
      </p:sp>
      <p:sp>
        <p:nvSpPr>
          <p:cNvPr id="29" name="pipeline-replay-body">
            <a:extLst xmlns:a="http://schemas.openxmlformats.org/drawingml/2006/main">
              <a:ext uri="{FF2B5EF4-FFF2-40B4-BE49-F238E27FC236}">
                <a16:creationId xmlns:a16="http://schemas.microsoft.com/office/drawing/2014/main" id="{BDC13979-ACCB-4D20-8253-6942B3F5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718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168"/>
                </a:solidFill>
                <a:latin typeface="Arial"/>
                <a:ea typeface="Arial"/>
                <a:cs typeface="Arial"/>
              </a:rPr>
              <a:t>有限预算执行</a:t>
            </a:r>
          </a:p>
        </p:txBody>
      </p:sp>
      <p:sp>
        <p:nvSpPr>
          <p:cNvPr id="30" name="audit-line">
            <a:extLst xmlns:a="http://schemas.openxmlformats.org/drawingml/2006/main">
              <a:ext uri="{FF2B5EF4-FFF2-40B4-BE49-F238E27FC236}">
                <a16:creationId xmlns:a16="http://schemas.microsoft.com/office/drawing/2014/main" id="{B5F27C3A-E251-49ED-B49D-2B20D0D3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7195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udit-label">
            <a:extLst xmlns:a="http://schemas.openxmlformats.org/drawingml/2006/main">
              <a:ext uri="{FF2B5EF4-FFF2-40B4-BE49-F238E27FC236}">
                <a16:creationId xmlns:a16="http://schemas.microsoft.com/office/drawing/2014/main" id="{091B3F78-0761-4013-AC64-8F1C6BD4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AUDIT LOG</a:t>
            </a:r>
          </a:p>
        </p:txBody>
      </p:sp>
      <p:sp>
        <p:nvSpPr>
          <p:cNvPr id="32" name="audit-content">
            <a:extLst xmlns:a="http://schemas.openxmlformats.org/drawingml/2006/main">
              <a:ext uri="{FF2B5EF4-FFF2-40B4-BE49-F238E27FC236}">
                <a16:creationId xmlns:a16="http://schemas.microsoft.com/office/drawing/2014/main" id="{6E710F0E-5EFB-4CEF-B4E5-1B7A6679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05300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168"/>
                </a:solidFill>
                <a:latin typeface="Arial"/>
                <a:ea typeface="Arial"/>
                <a:cs typeface="Arial"/>
              </a:rPr>
              <a:t>prompt metadata · parsed patch · selected candidates · revealed outcomes · gate decision · per-seed diagnostics</a:t>
            </a:r>
          </a:p>
        </p:txBody>
      </p:sp>
      <p:sp>
        <p:nvSpPr>
          <p:cNvPr id="33" name="architecture-takeaway">
            <a:extLst xmlns:a="http://schemas.openxmlformats.org/drawingml/2006/main">
              <a:ext uri="{FF2B5EF4-FFF2-40B4-BE49-F238E27FC236}">
                <a16:creationId xmlns:a16="http://schemas.microsoft.com/office/drawing/2014/main" id="{6FAD0D6D-A7D8-46C2-AE7D-82BB47FA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LLM 负责提出结构化候选；最终的强度和是否启用由 target evidence、calibration 和 gate 决定。</a:t>
            </a:r>
          </a:p>
        </p:txBody>
      </p:sp>
    </p:spTree>
    <p:extLst>
      <p:ext uri="{BB962C8B-B14F-4D97-AF65-F5344CB8AC3E}">
        <p14:creationId xmlns:p14="http://schemas.microsoft.com/office/powerpoint/2010/main" val="7794555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2">
            <a:extLst xmlns:a="http://schemas.openxmlformats.org/drawingml/2006/main">
              <a:ext uri="{FF2B5EF4-FFF2-40B4-BE49-F238E27FC236}">
                <a16:creationId xmlns:a16="http://schemas.microsoft.com/office/drawing/2014/main" id="{0C543F30-6441-4E6C-B602-873AFAAB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EVALUATION PROTOCOL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00AB1C5-2219-4BED-9826-89D97B3F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先冻结选择协议，再看独立 held-out 结果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B07325FA-03B5-478A-9B1F-050FC6CC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617FAC63-EFB2-4190-9377-E1577FA5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point-number-01">
            <a:extLst xmlns:a="http://schemas.openxmlformats.org/drawingml/2006/main">
              <a:ext uri="{FF2B5EF4-FFF2-40B4-BE49-F238E27FC236}">
                <a16:creationId xmlns:a16="http://schemas.microsoft.com/office/drawing/2014/main" id="{1547BA6D-2B00-463F-889C-A2B76F21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point-rule-01">
            <a:extLst xmlns:a="http://schemas.openxmlformats.org/drawingml/2006/main">
              <a:ext uri="{FF2B5EF4-FFF2-40B4-BE49-F238E27FC236}">
                <a16:creationId xmlns:a16="http://schemas.microsoft.com/office/drawing/2014/main" id="{17F749D5-7372-473D-B636-632EE6EE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7907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oint-heading-01">
            <a:extLst xmlns:a="http://schemas.openxmlformats.org/drawingml/2006/main">
              <a:ext uri="{FF2B5EF4-FFF2-40B4-BE49-F238E27FC236}">
                <a16:creationId xmlns:a16="http://schemas.microsoft.com/office/drawing/2014/main" id="{6060383B-4A5E-4A3B-BC6D-A01F67A9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526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开发集与测试集分离</a:t>
            </a:r>
          </a:p>
        </p:txBody>
      </p:sp>
      <p:sp>
        <p:nvSpPr>
          <p:cNvPr id="8" name="point-body-01">
            <a:extLst xmlns:a="http://schemas.openxmlformats.org/drawingml/2006/main">
              <a:ext uri="{FF2B5EF4-FFF2-40B4-BE49-F238E27FC236}">
                <a16:creationId xmlns:a16="http://schemas.microsoft.com/office/drawing/2014/main" id="{ED8ED831-E698-40E4-9AF6-4569AA67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859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8"/>
                </a:solidFill>
                <a:latin typeface="Arial"/>
                <a:ea typeface="Arial"/>
                <a:cs typeface="Arial"/>
              </a:rPr>
              <a:t>前 50 个 calibration seeds 只用于选择 policy；</a:t>
            </a:r>
          </a:p>
          <a:p xmlns:a="http://schemas.openxmlformats.org/drawingml/2006/main">
            <a:pPr algn="l">
              <a:buNone/>
              <a:defRPr sz="127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8"/>
                </a:solidFill>
                <a:latin typeface="Arial"/>
                <a:ea typeface="Arial"/>
                <a:cs typeface="Arial"/>
              </a:rPr>
              <a:t>100 个 disjoint held-out seeds 冻结并独立评估。</a:t>
            </a:r>
          </a:p>
        </p:txBody>
      </p:sp>
      <p:sp>
        <p:nvSpPr>
          <p:cNvPr id="9" name="point-number-02">
            <a:extLst xmlns:a="http://schemas.openxmlformats.org/drawingml/2006/main">
              <a:ext uri="{FF2B5EF4-FFF2-40B4-BE49-F238E27FC236}">
                <a16:creationId xmlns:a16="http://schemas.microsoft.com/office/drawing/2014/main" id="{D3A0B38B-3946-4F8B-9020-557CE4C2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530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303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oint-rule-02">
            <a:extLst xmlns:a="http://schemas.openxmlformats.org/drawingml/2006/main">
              <a:ext uri="{FF2B5EF4-FFF2-40B4-BE49-F238E27FC236}">
                <a16:creationId xmlns:a16="http://schemas.microsoft.com/office/drawing/2014/main" id="{0DB45EF4-F321-4F71-871E-005000D0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861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oint-heading-02">
            <a:extLst xmlns:a="http://schemas.openxmlformats.org/drawingml/2006/main">
              <a:ext uri="{FF2B5EF4-FFF2-40B4-BE49-F238E27FC236}">
                <a16:creationId xmlns:a16="http://schemas.microsoft.com/office/drawing/2014/main" id="{BA543A27-102C-471B-B05F-54F57B2F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480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强 baseline 与 matched LLM</a:t>
            </a:r>
          </a:p>
        </p:txBody>
      </p:sp>
      <p:sp>
        <p:nvSpPr>
          <p:cNvPr id="12" name="point-body-02">
            <a:extLst xmlns:a="http://schemas.openxmlformats.org/drawingml/2006/main">
              <a:ext uri="{FF2B5EF4-FFF2-40B4-BE49-F238E27FC236}">
                <a16:creationId xmlns:a16="http://schemas.microsoft.com/office/drawing/2014/main" id="{6A0E90FC-80A7-4209-803B-E3286D9B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813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3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8"/>
                </a:solidFill>
                <a:latin typeface="Arial"/>
                <a:ea typeface="Arial"/>
                <a:cs typeface="Arial"/>
              </a:rPr>
              <a:t>Target-only、GP-UCB、mixed-kernel GP-EI、target portfolio、</a:t>
            </a:r>
          </a:p>
          <a:p xmlns:a="http://schemas.openxmlformats.org/drawingml/2006/main">
            <a:pPr algn="l">
              <a:buNone/>
              <a:defRPr sz="127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8"/>
                </a:solidFill>
                <a:latin typeface="Arial"/>
                <a:ea typeface="Arial"/>
                <a:cs typeface="Arial"/>
              </a:rPr>
              <a:t>matched target-only LLM 与 random-rule null 同预算 replay。</a:t>
            </a:r>
          </a:p>
        </p:txBody>
      </p:sp>
      <p:sp>
        <p:nvSpPr>
          <p:cNvPr id="13" name="point-number-03">
            <a:extLst xmlns:a="http://schemas.openxmlformats.org/drawingml/2006/main">
              <a:ext uri="{FF2B5EF4-FFF2-40B4-BE49-F238E27FC236}">
                <a16:creationId xmlns:a16="http://schemas.microsoft.com/office/drawing/2014/main" id="{831C7868-F995-4E19-B2EB-F2C4005C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point-rule-03">
            <a:extLst xmlns:a="http://schemas.openxmlformats.org/drawingml/2006/main">
              <a:ext uri="{FF2B5EF4-FFF2-40B4-BE49-F238E27FC236}">
                <a16:creationId xmlns:a16="http://schemas.microsoft.com/office/drawing/2014/main" id="{74AC3313-EF29-4772-BCB6-E5AAC3F2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3815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oint-heading-03">
            <a:extLst xmlns:a="http://schemas.openxmlformats.org/drawingml/2006/main">
              <a:ext uri="{FF2B5EF4-FFF2-40B4-BE49-F238E27FC236}">
                <a16:creationId xmlns:a16="http://schemas.microsoft.com/office/drawing/2014/main" id="{7CFE2380-9D1E-4C3B-89DD-E880F19A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434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失败路线精确回退</a:t>
            </a:r>
          </a:p>
        </p:txBody>
      </p:sp>
      <p:sp>
        <p:nvSpPr>
          <p:cNvPr id="16" name="point-body-03">
            <a:extLst xmlns:a="http://schemas.openxmlformats.org/drawingml/2006/main">
              <a:ext uri="{FF2B5EF4-FFF2-40B4-BE49-F238E27FC236}">
                <a16:creationId xmlns:a16="http://schemas.microsoft.com/office/drawing/2014/main" id="{0219B7C6-D490-4DF8-A1FF-E1506F0D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767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8"/>
                </a:solidFill>
                <a:latin typeface="Arial"/>
                <a:ea typeface="Arial"/>
                <a:cs typeface="Arial"/>
              </a:rPr>
              <a:t>candidate pool、budget 和 seed schedule 完全一致；</a:t>
            </a:r>
          </a:p>
          <a:p xmlns:a="http://schemas.openxmlformats.org/drawingml/2006/main">
            <a:pPr algn="l">
              <a:buNone/>
              <a:defRPr sz="127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8"/>
                </a:solidFill>
                <a:latin typeface="Arial"/>
                <a:ea typeface="Arial"/>
                <a:cs typeface="Arial"/>
              </a:rPr>
              <a:t>证据不足时回退到 matched target-only LLM。</a:t>
            </a:r>
          </a:p>
        </p:txBody>
      </p:sp>
      <p:sp>
        <p:nvSpPr>
          <p:cNvPr id="17" name="problem-callout">
            <a:extLst xmlns:a="http://schemas.openxmlformats.org/drawingml/2006/main">
              <a:ext uri="{FF2B5EF4-FFF2-40B4-BE49-F238E27FC236}">
                <a16:creationId xmlns:a16="http://schemas.microsoft.com/office/drawing/2014/main" id="{A8391253-9890-4228-A46A-00F43AF6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4572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oblem-quote">
            <a:extLst xmlns:a="http://schemas.openxmlformats.org/drawingml/2006/main">
              <a:ext uri="{FF2B5EF4-FFF2-40B4-BE49-F238E27FC236}">
                <a16:creationId xmlns:a16="http://schemas.microsoft.com/office/drawing/2014/main" id="{645D2BB1-2CCE-4E9E-9D45-DB153573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0505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50 calibration seeds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100 held-out seeds</a:t>
            </a:r>
          </a:p>
        </p:txBody>
      </p:sp>
      <p:sp>
        <p:nvSpPr>
          <p:cNvPr id="19" name="problem-quote-detail">
            <a:extLst xmlns:a="http://schemas.openxmlformats.org/drawingml/2006/main">
              <a:ext uri="{FF2B5EF4-FFF2-40B4-BE49-F238E27FC236}">
                <a16:creationId xmlns:a16="http://schemas.microsoft.com/office/drawing/2014/main" id="{AFF2F1E8-E70A-4D7D-A879-EDADE2F2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148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168"/>
                </a:solidFill>
                <a:latin typeface="Arial"/>
                <a:ea typeface="Arial"/>
                <a:cs typeface="Arial"/>
              </a:rPr>
              <a:t>4/7 部署 source-outcome transfer；3/7 精确回退，held-out 中没有负部署增益。</a:t>
            </a:r>
          </a:p>
        </p:txBody>
      </p:sp>
    </p:spTree>
    <p:extLst>
      <p:ext uri="{BB962C8B-B14F-4D97-AF65-F5344CB8AC3E}">
        <p14:creationId xmlns:p14="http://schemas.microsoft.com/office/powerpoint/2010/main" val="15571505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icker-5">
            <a:extLst xmlns:a="http://schemas.openxmlformats.org/drawingml/2006/main">
              <a:ext uri="{FF2B5EF4-FFF2-40B4-BE49-F238E27FC236}">
                <a16:creationId xmlns:a16="http://schemas.microsoft.com/office/drawing/2014/main" id="{6055123C-8B3F-4E5B-92F1-85C556B9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HELD-OUT BASELINE COMPARISON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A090C59-D830-4ED4-A272-C1D90B3F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对强 baseline 比较后，四条部署路线仍保持正增益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CBEE4EFD-8FF2-4544-BEC2-107C0A25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62A5B947-CA86-42FE-BAF5-641BFA00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0ebb4d3c949b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03112" y="1476375"/>
            <a:ext cx="10309575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forest-caption">
            <a:extLst xmlns:a="http://schemas.openxmlformats.org/drawingml/2006/main">
              <a:ext uri="{FF2B5EF4-FFF2-40B4-BE49-F238E27FC236}">
                <a16:creationId xmlns:a16="http://schemas.microsoft.com/office/drawing/2014/main" id="{1EFFDA8E-25AC-45C9-9A14-CE4A50CA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168"/>
                </a:solidFill>
                <a:latin typeface="Arial"/>
                <a:ea typeface="Arial"/>
                <a:cs typeface="Arial"/>
              </a:rPr>
              <a:t>100 held-out seeds；左：相对 strongest BO，右：相对 matched target-only LLM；误差线为 95% CI。</a:t>
            </a:r>
          </a:p>
        </p:txBody>
      </p:sp>
    </p:spTree>
    <p:extLst>
      <p:ext uri="{BB962C8B-B14F-4D97-AF65-F5344CB8AC3E}">
        <p14:creationId xmlns:p14="http://schemas.microsoft.com/office/powerpoint/2010/main" val="20199005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4">
            <a:extLst xmlns:a="http://schemas.openxmlformats.org/drawingml/2006/main">
              <a:ext uri="{FF2B5EF4-FFF2-40B4-BE49-F238E27FC236}">
                <a16:creationId xmlns:a16="http://schemas.microsoft.com/office/drawing/2014/main" id="{FF56FA8C-B988-4C63-AB66-349C1FF7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COMPARATOR COVERAGE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274FC08-1BBE-4050-A321-64D013E2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比较不再只对 incumbent：10 类方法在同一 replay 协议下对齐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0D296D18-D467-4294-A652-A7238EB9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229E120E-F1E2-43E2-89A4-4D29646F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8705be66a48d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546985" y="1476375"/>
            <a:ext cx="4887979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metric-正向迁移被部署">
            <a:extLst xmlns:a="http://schemas.openxmlformats.org/drawingml/2006/main">
              <a:ext uri="{FF2B5EF4-FFF2-40B4-BE49-F238E27FC236}">
                <a16:creationId xmlns:a16="http://schemas.microsoft.com/office/drawing/2014/main" id="{C5D3B400-74FF-4522-A428-F2EE8FA8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metric-label-正向迁移被部署">
            <a:extLst xmlns:a="http://schemas.openxmlformats.org/drawingml/2006/main">
              <a:ext uri="{FF2B5EF4-FFF2-40B4-BE49-F238E27FC236}">
                <a16:creationId xmlns:a16="http://schemas.microsoft.com/office/drawing/2014/main" id="{980E0E90-76B2-4DB9-9F17-80F9AD49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14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168"/>
                </a:solidFill>
                <a:latin typeface="Arial"/>
                <a:ea typeface="Arial"/>
                <a:cs typeface="Arial"/>
              </a:rPr>
              <a:t>implemented methods</a:t>
            </a:r>
          </a:p>
        </p:txBody>
      </p:sp>
      <p:sp>
        <p:nvSpPr>
          <p:cNvPr id="8" name="metric-负向迁移被拒绝">
            <a:extLst xmlns:a="http://schemas.openxmlformats.org/drawingml/2006/main">
              <a:ext uri="{FF2B5EF4-FFF2-40B4-BE49-F238E27FC236}">
                <a16:creationId xmlns:a16="http://schemas.microsoft.com/office/drawing/2014/main" id="{56F5B21F-AA65-41ED-92B5-92A15D57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C530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C5303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metric-label-负向迁移被拒绝">
            <a:extLst xmlns:a="http://schemas.openxmlformats.org/drawingml/2006/main">
              <a:ext uri="{FF2B5EF4-FFF2-40B4-BE49-F238E27FC236}">
                <a16:creationId xmlns:a16="http://schemas.microsoft.com/office/drawing/2014/main" id="{AC249528-4532-4664-92F0-BBCC9F70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168"/>
                </a:solidFill>
                <a:latin typeface="Arial"/>
                <a:ea typeface="Arial"/>
                <a:cs typeface="Arial"/>
              </a:rPr>
              <a:t>primary comparison axes</a:t>
            </a:r>
          </a:p>
        </p:txBody>
      </p:sp>
      <p:sp>
        <p:nvSpPr>
          <p:cNvPr id="10" name="metric-不确定路线回退">
            <a:extLst xmlns:a="http://schemas.openxmlformats.org/drawingml/2006/main">
              <a:ext uri="{FF2B5EF4-FFF2-40B4-BE49-F238E27FC236}">
                <a16:creationId xmlns:a16="http://schemas.microsoft.com/office/drawing/2014/main" id="{1E88C628-63BA-4F96-A9C7-F1AF315E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8B8D9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8B8D9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metric-label-不确定路线回退">
            <a:extLst xmlns:a="http://schemas.openxmlformats.org/drawingml/2006/main">
              <a:ext uri="{FF2B5EF4-FFF2-40B4-BE49-F238E27FC236}">
                <a16:creationId xmlns:a16="http://schemas.microsoft.com/office/drawing/2014/main" id="{BF6E2CF8-96EE-430E-AFBE-36BBB036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91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168"/>
                </a:solidFill>
                <a:latin typeface="Arial"/>
                <a:ea typeface="Arial"/>
                <a:cs typeface="Arial"/>
              </a:rPr>
              <a:t>matched null control</a:t>
            </a:r>
          </a:p>
        </p:txBody>
      </p:sp>
      <p:sp>
        <p:nvSpPr>
          <p:cNvPr id="12" name="matrix-note">
            <a:extLst xmlns:a="http://schemas.openxmlformats.org/drawingml/2006/main">
              <a:ext uri="{FF2B5EF4-FFF2-40B4-BE49-F238E27FC236}">
                <a16:creationId xmlns:a16="http://schemas.microsoft.com/office/drawing/2014/main" id="{B15F6B2F-F7D4-4302-A716-61F0E9A5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721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168"/>
                </a:solidFill>
                <a:latin typeface="Arial"/>
                <a:ea typeface="Arial"/>
                <a:cs typeface="Arial"/>
              </a:rPr>
              <a:t>strongest BO 与 matched target-only LLM 分开报告；random-rule null 检查增益是否来自偶然规则。</a:t>
            </a:r>
          </a:p>
        </p:txBody>
      </p:sp>
    </p:spTree>
    <p:extLst>
      <p:ext uri="{BB962C8B-B14F-4D97-AF65-F5344CB8AC3E}">
        <p14:creationId xmlns:p14="http://schemas.microsoft.com/office/powerpoint/2010/main" val="16834442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icker-6">
            <a:extLst xmlns:a="http://schemas.openxmlformats.org/drawingml/2006/main">
              <a:ext uri="{FF2B5EF4-FFF2-40B4-BE49-F238E27FC236}">
                <a16:creationId xmlns:a16="http://schemas.microsoft.com/office/drawing/2014/main" id="{8E6A923D-DF13-43B1-98E3-232357CF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ITERATION EFFICIENCY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A8637784-A22D-489C-A78C-B066B2E8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transfer 的价值也体现在更少实验轮数达到同一目标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087473FB-3C78-469D-B16C-9958E304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118A366B-44F1-4C40-86E6-33A81C53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bac34ceb641f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76250" y="1765065"/>
            <a:ext cx="11239500" cy="3908894"/>
          </a:xfrm>
          <a:prstGeom xmlns:a="http://schemas.openxmlformats.org/drawingml/2006/main" prst="rect">
            <a:avLst/>
          </a:prstGeom>
        </p:spPr>
      </p:pic>
      <p:sp>
        <p:nvSpPr>
          <p:cNvPr id="6" name="metric-caption">
            <a:extLst xmlns:a="http://schemas.openxmlformats.org/drawingml/2006/main">
              <a:ext uri="{FF2B5EF4-FFF2-40B4-BE49-F238E27FC236}">
                <a16:creationId xmlns:a16="http://schemas.microsoft.com/office/drawing/2014/main" id="{3ADF000F-D149-4297-83B9-15F55972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168"/>
                </a:solidFill>
                <a:latin typeface="Arial"/>
                <a:ea typeface="Arial"/>
                <a:cs typeface="Arial"/>
              </a:rPr>
              <a:t>相对 matched target-only LLM，四条部署路线节省 2.23–6.00 轮达到同一 final best，并节省 3.62–9.57 轮进入 global top 10%。</a:t>
            </a:r>
          </a:p>
        </p:txBody>
      </p:sp>
    </p:spTree>
    <p:extLst>
      <p:ext uri="{BB962C8B-B14F-4D97-AF65-F5344CB8AC3E}">
        <p14:creationId xmlns:p14="http://schemas.microsoft.com/office/powerpoint/2010/main" val="4854453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8">
            <a:extLst xmlns:a="http://schemas.openxmlformats.org/drawingml/2006/main">
              <a:ext uri="{FF2B5EF4-FFF2-40B4-BE49-F238E27FC236}">
                <a16:creationId xmlns:a16="http://schemas.microsoft.com/office/drawing/2014/main" id="{B508C246-E775-4AD4-B264-C358320C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LLM RULE EXECUTION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8BBE77EA-04C2-4D58-974B-DC3C875D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LLM 生成可执行 patch；Python 负责校准、混合与 gate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9445236A-AEF7-4766-97BD-59860AE3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E8F93419-C5EE-48CE-B402-BB4CF80B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a8f3fb8a841a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38045" y="1562100"/>
            <a:ext cx="6915411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llm-input-label">
            <a:extLst xmlns:a="http://schemas.openxmlformats.org/drawingml/2006/main">
              <a:ext uri="{FF2B5EF4-FFF2-40B4-BE49-F238E27FC236}">
                <a16:creationId xmlns:a16="http://schemas.microsoft.com/office/drawing/2014/main" id="{5DAB19E9-9F73-47E6-85F1-4AF3B275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llm-input-body">
            <a:extLst xmlns:a="http://schemas.openxmlformats.org/drawingml/2006/main">
              <a:ext uri="{FF2B5EF4-FFF2-40B4-BE49-F238E27FC236}">
                <a16:creationId xmlns:a16="http://schemas.microsoft.com/office/drawing/2014/main" id="{51721052-7423-47C6-9E7A-52D29212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1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Transfer Card + source outcomes</a:t>
            </a:r>
          </a:p>
          <a:p xmlns:a="http://schemas.openxmlformats.org/drawingml/2006/main">
            <a:pPr algn="l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+ target calibration summary</a:t>
            </a:r>
          </a:p>
        </p:txBody>
      </p:sp>
      <p:sp>
        <p:nvSpPr>
          <p:cNvPr id="8" name="llm-output-label">
            <a:extLst xmlns:a="http://schemas.openxmlformats.org/drawingml/2006/main">
              <a:ext uri="{FF2B5EF4-FFF2-40B4-BE49-F238E27FC236}">
                <a16:creationId xmlns:a16="http://schemas.microsoft.com/office/drawing/2014/main" id="{270DA152-56E4-4B23-B2B1-02F7719A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9" name="llm-output-body">
            <a:extLst xmlns:a="http://schemas.openxmlformats.org/drawingml/2006/main">
              <a:ext uri="{FF2B5EF4-FFF2-40B4-BE49-F238E27FC236}">
                <a16:creationId xmlns:a16="http://schemas.microsoft.com/office/drawing/2014/main" id="{C063CA97-1EF6-423A-A86C-AAA7ABA7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3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πk、M、kernel scales、β</a:t>
            </a:r>
          </a:p>
          <a:p xmlns:a="http://schemas.openxmlformats.org/drawingml/2006/main">
            <a:pPr algn="l"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+ temperature / interaction strength</a:t>
            </a:r>
          </a:p>
        </p:txBody>
      </p:sp>
      <p:sp>
        <p:nvSpPr>
          <p:cNvPr id="10" name="llm-trace-label">
            <a:extLst xmlns:a="http://schemas.openxmlformats.org/drawingml/2006/main">
              <a:ext uri="{FF2B5EF4-FFF2-40B4-BE49-F238E27FC236}">
                <a16:creationId xmlns:a16="http://schemas.microsoft.com/office/drawing/2014/main" id="{5ABEB615-0D36-4E91-9617-A4751ADB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执行</a:t>
            </a:r>
          </a:p>
        </p:txBody>
      </p:sp>
      <p:sp>
        <p:nvSpPr>
          <p:cNvPr id="11" name="llm-trace-body">
            <a:extLst xmlns:a="http://schemas.openxmlformats.org/drawingml/2006/main">
              <a:ext uri="{FF2B5EF4-FFF2-40B4-BE49-F238E27FC236}">
                <a16:creationId xmlns:a16="http://schemas.microsoft.com/office/drawing/2014/main" id="{43C95F84-E8A7-45C9-BAE4-FB603820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3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LLM proposes once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Python compiles + gates per seed</a:t>
            </a:r>
          </a:p>
        </p:txBody>
      </p:sp>
      <p:sp>
        <p:nvSpPr>
          <p:cNvPr id="12" name="llm-trace-detail">
            <a:extLst xmlns:a="http://schemas.openxmlformats.org/drawingml/2006/main">
              <a:ext uri="{FF2B5EF4-FFF2-40B4-BE49-F238E27FC236}">
                <a16:creationId xmlns:a16="http://schemas.microsoft.com/office/drawing/2014/main" id="{67C8AF0A-18BB-47C4-9433-4781F888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863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2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168"/>
                </a:solidFill>
                <a:latin typeface="Arial"/>
                <a:ea typeface="Arial"/>
                <a:cs typeface="Arial"/>
              </a:rPr>
              <a:t>prompt、raw output、parsed patch、calibration 和 gate decision 均留痕；弱证据路线回退到 target-only anchor。</a:t>
            </a:r>
          </a:p>
        </p:txBody>
      </p:sp>
    </p:spTree>
    <p:extLst>
      <p:ext uri="{BB962C8B-B14F-4D97-AF65-F5344CB8AC3E}">
        <p14:creationId xmlns:p14="http://schemas.microsoft.com/office/powerpoint/2010/main" val="11322632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7">
            <a:extLst xmlns:a="http://schemas.openxmlformats.org/drawingml/2006/main">
              <a:ext uri="{FF2B5EF4-FFF2-40B4-BE49-F238E27FC236}">
                <a16:creationId xmlns:a16="http://schemas.microsoft.com/office/drawing/2014/main" id="{E1D62264-A2EC-4661-93ED-D68101D2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COVERAGE GAP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1FF3C6E-D4FE-4E47-9DB4-89EE736F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当前证据仍以同域迁移为主，跨域可行性还没有被证明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B017F5DC-290A-4EE7-ADEF-A6763A45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05EBEF92-96AE-487C-B638-B2965259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724d93dc74bcc"/>
          <a:stretch xmlns:a="http://schemas.openxmlformats.org/drawingml/2006/main"/>
        </p:blipFill>
        <p:spPr>
          <a:xfrm xmlns:a="http://schemas.openxmlformats.org/drawingml/2006/main">
            <a:off x="1648595" y="1428750"/>
            <a:ext cx="5846809" cy="4953000"/>
          </a:xfrm>
          <a:prstGeom xmlns:a="http://schemas.openxmlformats.org/drawingml/2006/main" prst="rect">
            <a:avLst/>
          </a:prstGeom>
        </p:spPr>
      </p:pic>
      <p:sp>
        <p:nvSpPr>
          <p:cNvPr id="6" name="coverage-now-title">
            <a:extLst xmlns:a="http://schemas.openxmlformats.org/drawingml/2006/main">
              <a:ext uri="{FF2B5EF4-FFF2-40B4-BE49-F238E27FC236}">
                <a16:creationId xmlns:a16="http://schemas.microsoft.com/office/drawing/2014/main" id="{2DB8CF99-4F66-47E6-AC4C-BD067FE4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现在已覆盖</a:t>
            </a:r>
          </a:p>
        </p:txBody>
      </p:sp>
      <p:sp>
        <p:nvSpPr>
          <p:cNvPr id="7" name="coverage-now-body">
            <a:extLst xmlns:a="http://schemas.openxmlformats.org/drawingml/2006/main">
              <a:ext uri="{FF2B5EF4-FFF2-40B4-BE49-F238E27FC236}">
                <a16:creationId xmlns:a16="http://schemas.microsoft.com/office/drawing/2014/main" id="{AA400C0A-6585-4057-B2F2-DC65844A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2714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F855A"/>
                </a:solidFill>
                <a:latin typeface="Arial"/>
                <a:ea typeface="Arial"/>
                <a:cs typeface="Arial"/>
              </a:rPr>
              <a:t>Reaction → Reaction</a:t>
            </a:r>
          </a:p>
          <a:p xmlns:a="http://schemas.openxmlformats.org/drawingml/2006/main">
            <a:pPr algn="l">
              <a:buNone/>
              <a:defRPr sz="1575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F855A"/>
                </a:solidFill>
                <a:latin typeface="Arial"/>
                <a:ea typeface="Arial"/>
                <a:cs typeface="Arial"/>
              </a:rPr>
              <a:t>Materials → Materials</a:t>
            </a:r>
          </a:p>
          <a:p xmlns:a="http://schemas.openxmlformats.org/drawingml/2006/main">
            <a:pPr algn="l">
              <a:buNone/>
              <a:defRPr sz="1575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F855A"/>
                </a:solidFill>
                <a:latin typeface="Arial"/>
                <a:ea typeface="Arial"/>
                <a:cs typeface="Arial"/>
              </a:rPr>
              <a:t>Molecular → Molecular</a:t>
            </a:r>
          </a:p>
        </p:txBody>
      </p:sp>
      <p:sp>
        <p:nvSpPr>
          <p:cNvPr id="8" name="coverage-gap-title">
            <a:extLst xmlns:a="http://schemas.openxmlformats.org/drawingml/2006/main">
              <a:ext uri="{FF2B5EF4-FFF2-40B4-BE49-F238E27FC236}">
                <a16:creationId xmlns:a16="http://schemas.microsoft.com/office/drawing/2014/main" id="{C7955EEF-5FD6-4D5F-BA9E-79B5DB9C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9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还缺什么</a:t>
            </a:r>
          </a:p>
        </p:txBody>
      </p:sp>
      <p:sp>
        <p:nvSpPr>
          <p:cNvPr id="9" name="coverage-gap-body">
            <a:extLst xmlns:a="http://schemas.openxmlformats.org/drawingml/2006/main">
              <a:ext uri="{FF2B5EF4-FFF2-40B4-BE49-F238E27FC236}">
                <a16:creationId xmlns:a16="http://schemas.microsoft.com/office/drawing/2014/main" id="{B735A5A5-93E0-49BC-9E88-321199ED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2714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C5303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C53030"/>
                </a:solidFill>
                <a:latin typeface="Arial"/>
                <a:ea typeface="Arial"/>
                <a:cs typeface="Arial"/>
              </a:rPr>
              <a:t>Reaction ↔ Materials</a:t>
            </a:r>
          </a:p>
          <a:p xmlns:a="http://schemas.openxmlformats.org/drawingml/2006/main">
            <a:pPr algn="l">
              <a:buNone/>
              <a:defRPr sz="1575">
                <a:solidFill>
                  <a:srgbClr val="C5303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C53030"/>
                </a:solidFill>
                <a:latin typeface="Arial"/>
                <a:ea typeface="Arial"/>
                <a:cs typeface="Arial"/>
              </a:rPr>
              <a:t>Reaction ↔ Molecular</a:t>
            </a:r>
          </a:p>
          <a:p xmlns:a="http://schemas.openxmlformats.org/drawingml/2006/main">
            <a:pPr algn="l">
              <a:buNone/>
              <a:defRPr sz="1575">
                <a:solidFill>
                  <a:srgbClr val="C5303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C53030"/>
                </a:solidFill>
                <a:latin typeface="Arial"/>
                <a:ea typeface="Arial"/>
                <a:cs typeface="Arial"/>
              </a:rPr>
              <a:t>Materials ↔ Molecular</a:t>
            </a:r>
          </a:p>
        </p:txBody>
      </p:sp>
      <p:sp>
        <p:nvSpPr>
          <p:cNvPr id="10" name="coverage-note">
            <a:extLst xmlns:a="http://schemas.openxmlformats.org/drawingml/2006/main">
              <a:ext uri="{FF2B5EF4-FFF2-40B4-BE49-F238E27FC236}">
                <a16:creationId xmlns:a16="http://schemas.microsoft.com/office/drawing/2014/main" id="{F8B9342E-94D3-4E13-8664-C4432725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8102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4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168"/>
                </a:solidFill>
                <a:latin typeface="Arial"/>
                <a:ea typeface="Arial"/>
                <a:cs typeface="Arial"/>
              </a:rPr>
              <a:t>空白格代表尚未验证，不代表负迁移。</a:t>
            </a:r>
          </a:p>
        </p:txBody>
      </p:sp>
    </p:spTree>
    <p:extLst>
      <p:ext uri="{BB962C8B-B14F-4D97-AF65-F5344CB8AC3E}">
        <p14:creationId xmlns:p14="http://schemas.microsoft.com/office/powerpoint/2010/main" val="18015787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9">
            <a:extLst xmlns:a="http://schemas.openxmlformats.org/drawingml/2006/main">
              <a:ext uri="{FF2B5EF4-FFF2-40B4-BE49-F238E27FC236}">
                <a16:creationId xmlns:a16="http://schemas.microsoft.com/office/drawing/2014/main" id="{F581F198-E1FA-4EC1-8A3E-11FA7A87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8C157974-59FC-4B7D-BED3-9AE5735E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下一步把同域证据扩展成真正的跨领域迁移评估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0E2850A5-F3AB-496F-BC60-3D967A90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778FCE6B-FD50-4A2F-AADE-7057A7A7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1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point-number-01">
            <a:extLst xmlns:a="http://schemas.openxmlformats.org/drawingml/2006/main">
              <a:ext uri="{FF2B5EF4-FFF2-40B4-BE49-F238E27FC236}">
                <a16:creationId xmlns:a16="http://schemas.microsoft.com/office/drawing/2014/main" id="{09F04356-3232-4006-8B61-4C57716F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point-rule-01">
            <a:extLst xmlns:a="http://schemas.openxmlformats.org/drawingml/2006/main">
              <a:ext uri="{FF2B5EF4-FFF2-40B4-BE49-F238E27FC236}">
                <a16:creationId xmlns:a16="http://schemas.microsoft.com/office/drawing/2014/main" id="{BBDE672E-7CED-45EE-8477-A9EADFAA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8288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oint-heading-01">
            <a:extLst xmlns:a="http://schemas.openxmlformats.org/drawingml/2006/main">
              <a:ext uri="{FF2B5EF4-FFF2-40B4-BE49-F238E27FC236}">
                <a16:creationId xmlns:a16="http://schemas.microsoft.com/office/drawing/2014/main" id="{60FF1073-3F01-44AA-B496-9B11CFA6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90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补齐跨域 source-target pair</a:t>
            </a:r>
          </a:p>
        </p:txBody>
      </p:sp>
      <p:sp>
        <p:nvSpPr>
          <p:cNvPr id="8" name="point-body-01">
            <a:extLst xmlns:a="http://schemas.openxmlformats.org/drawingml/2006/main">
              <a:ext uri="{FF2B5EF4-FFF2-40B4-BE49-F238E27FC236}">
                <a16:creationId xmlns:a16="http://schemas.microsoft.com/office/drawing/2014/main" id="{CF63E1D3-8E5B-47A8-A8A0-DFCE322F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240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35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8"/>
                </a:solidFill>
                <a:latin typeface="Arial"/>
                <a:ea typeface="Arial"/>
                <a:cs typeface="Arial"/>
              </a:rPr>
              <a:t>Reaction、Materials、Molecular 之间引入真实数据与可对齐 descriptors，</a:t>
            </a:r>
          </a:p>
          <a:p xmlns:a="http://schemas.openxmlformats.org/drawingml/2006/main">
            <a:pPr algn="l">
              <a:buNone/>
              <a:defRPr sz="127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8"/>
                </a:solidFill>
                <a:latin typeface="Arial"/>
                <a:ea typeface="Arial"/>
                <a:cs typeface="Arial"/>
              </a:rPr>
              <a:t>优先验证 source outcome 能否跨 schema 使用。</a:t>
            </a:r>
          </a:p>
        </p:txBody>
      </p:sp>
      <p:sp>
        <p:nvSpPr>
          <p:cNvPr id="9" name="point-number-02">
            <a:extLst xmlns:a="http://schemas.openxmlformats.org/drawingml/2006/main">
              <a:ext uri="{FF2B5EF4-FFF2-40B4-BE49-F238E27FC236}">
                <a16:creationId xmlns:a16="http://schemas.microsoft.com/office/drawing/2014/main" id="{750F6C98-A5F7-4473-ABD6-31BD34A0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oint-rule-02">
            <a:extLst xmlns:a="http://schemas.openxmlformats.org/drawingml/2006/main">
              <a:ext uri="{FF2B5EF4-FFF2-40B4-BE49-F238E27FC236}">
                <a16:creationId xmlns:a16="http://schemas.microsoft.com/office/drawing/2014/main" id="{9DDF3B84-A8DB-4D3F-A09F-07E08D1A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18135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oint-heading-02">
            <a:extLst xmlns:a="http://schemas.openxmlformats.org/drawingml/2006/main">
              <a:ext uri="{FF2B5EF4-FFF2-40B4-BE49-F238E27FC236}">
                <a16:creationId xmlns:a16="http://schemas.microsoft.com/office/drawing/2014/main" id="{A77C9EBE-7183-4F45-ABEA-871DA461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加入外部 LLM scientist baseline</a:t>
            </a:r>
          </a:p>
        </p:txBody>
      </p:sp>
      <p:sp>
        <p:nvSpPr>
          <p:cNvPr id="12" name="point-body-02">
            <a:extLst xmlns:a="http://schemas.openxmlformats.org/drawingml/2006/main">
              <a:ext uri="{FF2B5EF4-FFF2-40B4-BE49-F238E27FC236}">
                <a16:creationId xmlns:a16="http://schemas.microsoft.com/office/drawing/2014/main" id="{63EFC142-BBBE-4851-966E-991544ED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7662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9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8"/>
                </a:solidFill>
                <a:latin typeface="Arial"/>
                <a:ea typeface="Arial"/>
                <a:cs typeface="Arial"/>
              </a:rPr>
              <a:t>在相同 candidate pool、budget、calibration 与 held-out seeds 下，</a:t>
            </a:r>
          </a:p>
          <a:p xmlns:a="http://schemas.openxmlformats.org/drawingml/2006/main">
            <a:pPr algn="l">
              <a:buNone/>
              <a:defRPr sz="127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8"/>
                </a:solidFill>
                <a:latin typeface="Arial"/>
                <a:ea typeface="Arial"/>
                <a:cs typeface="Arial"/>
              </a:rPr>
              <a:t>比较 LLM direct prior、warm start 和公开 agent 方法。</a:t>
            </a:r>
          </a:p>
        </p:txBody>
      </p:sp>
      <p:sp>
        <p:nvSpPr>
          <p:cNvPr id="13" name="point-number-03">
            <a:extLst xmlns:a="http://schemas.openxmlformats.org/drawingml/2006/main">
              <a:ext uri="{FF2B5EF4-FFF2-40B4-BE49-F238E27FC236}">
                <a16:creationId xmlns:a16="http://schemas.microsoft.com/office/drawing/2014/main" id="{2625333F-3DD7-4D6C-AF63-6625923F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point-rule-03">
            <a:extLst xmlns:a="http://schemas.openxmlformats.org/drawingml/2006/main">
              <a:ext uri="{FF2B5EF4-FFF2-40B4-BE49-F238E27FC236}">
                <a16:creationId xmlns:a16="http://schemas.microsoft.com/office/drawing/2014/main" id="{BD89F7AC-AE13-4483-BED2-F939BC51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339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oint-heading-03">
            <a:extLst xmlns:a="http://schemas.openxmlformats.org/drawingml/2006/main">
              <a:ext uri="{FF2B5EF4-FFF2-40B4-BE49-F238E27FC236}">
                <a16:creationId xmlns:a16="http://schemas.microsoft.com/office/drawing/2014/main" id="{2E71B6B8-022D-4089-9AA6-6D08ACAD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958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让 LLM 进化 skill，但冻结评估</a:t>
            </a:r>
          </a:p>
        </p:txBody>
      </p:sp>
      <p:sp>
        <p:nvSpPr>
          <p:cNvPr id="16" name="point-body-03">
            <a:extLst xmlns:a="http://schemas.openxmlformats.org/drawingml/2006/main">
              <a:ext uri="{FF2B5EF4-FFF2-40B4-BE49-F238E27FC236}">
                <a16:creationId xmlns:a16="http://schemas.microsoft.com/office/drawing/2014/main" id="{0BF17117-FC9D-4434-A935-66F2C3C6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291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35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8"/>
                </a:solidFill>
                <a:latin typeface="Arial"/>
                <a:ea typeface="Arial"/>
                <a:cs typeface="Arial"/>
              </a:rPr>
              <a:t>LLM 可以生成 hypothesis、kernel 与 routing patch；compiler 固定执行，</a:t>
            </a:r>
          </a:p>
          <a:p xmlns:a="http://schemas.openxmlformats.org/drawingml/2006/main">
            <a:pPr algn="l">
              <a:buNone/>
              <a:defRPr sz="127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8"/>
                </a:solidFill>
                <a:latin typeface="Arial"/>
                <a:ea typeface="Arial"/>
                <a:cs typeface="Arial"/>
              </a:rPr>
              <a:t>任何 prompt 或 selector 更新都重新进入独立 held-out。</a:t>
            </a:r>
          </a:p>
        </p:txBody>
      </p:sp>
      <p:sp>
        <p:nvSpPr>
          <p:cNvPr id="17" name="success-criterion">
            <a:extLst xmlns:a="http://schemas.openxmlformats.org/drawingml/2006/main">
              <a:ext uri="{FF2B5EF4-FFF2-40B4-BE49-F238E27FC236}">
                <a16:creationId xmlns:a16="http://schemas.microsoft.com/office/drawing/2014/main" id="{AC756831-0188-4EF3-A8D2-2812E8E4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4381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2B6CB0"/>
            </a:solidFill>
            <a:prstDash val="solid"/>
          </a:ln>
        </p:spPr>
      </p:sp>
      <p:sp>
        <p:nvSpPr>
          <p:cNvPr id="18" name="success-title">
            <a:extLst xmlns:a="http://schemas.openxmlformats.org/drawingml/2006/main">
              <a:ext uri="{FF2B5EF4-FFF2-40B4-BE49-F238E27FC236}">
                <a16:creationId xmlns:a16="http://schemas.microsoft.com/office/drawing/2014/main" id="{4A2D4CB8-6BBC-43B6-962E-A32C159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479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成功标准</a:t>
            </a:r>
          </a:p>
        </p:txBody>
      </p:sp>
      <p:sp>
        <p:nvSpPr>
          <p:cNvPr id="19" name="success-body">
            <a:extLst xmlns:a="http://schemas.openxmlformats.org/drawingml/2006/main">
              <a:ext uri="{FF2B5EF4-FFF2-40B4-BE49-F238E27FC236}">
                <a16:creationId xmlns:a16="http://schemas.microsoft.com/office/drawing/2014/main" id="{8DD18056-6E56-4F21-ABCD-87D0988C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3302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在更多 source-target pair 上，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同时超过 strongest BO 与 matched target-only LLM；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无泄漏、可回退、可复现、可解释。</a:t>
            </a:r>
          </a:p>
        </p:txBody>
      </p:sp>
      <p:sp>
        <p:nvSpPr>
          <p:cNvPr id="20" name="success-footer">
            <a:extLst xmlns:a="http://schemas.openxmlformats.org/drawingml/2006/main">
              <a:ext uri="{FF2B5EF4-FFF2-40B4-BE49-F238E27FC236}">
                <a16:creationId xmlns:a16="http://schemas.microsoft.com/office/drawing/2014/main" id="{453E97DF-2B16-45E7-B0F7-BD415EAD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76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00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B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168"/>
                </a:solidFill>
                <a:latin typeface="Arial"/>
                <a:ea typeface="Arial"/>
                <a:cs typeface="Arial"/>
              </a:rPr>
              <a:t>当前已经证明同域跨数据集 transfer 可行；跨域泛化仍是下一阶段目标。</a:t>
            </a:r>
          </a:p>
        </p:txBody>
      </p:sp>
    </p:spTree>
    <p:extLst>
      <p:ext uri="{BB962C8B-B14F-4D97-AF65-F5344CB8AC3E}">
        <p14:creationId xmlns:p14="http://schemas.microsoft.com/office/powerpoint/2010/main" val="787827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2026-07-29T03:50:46.6350000Z</dcterms:created>
  <dcterms:modified xsi:type="dcterms:W3CDTF">2026-07-29T03:50:46.6350000Z</dcterms:modified>
</coreProperties>
</file>