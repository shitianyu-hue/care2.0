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588669139c457f" /><Relationship Type="http://schemas.openxmlformats.org/officeDocument/2006/relationships/extended-properties" Target="/docProps/app.xml" Id="Re625bd2e70e2412b" /><Relationship Type="http://schemas.openxmlformats.org/officeDocument/2006/relationships/officeDocument" Target="/ppt/presentation.xml" Id="R4786fbf14b9342d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89bafe34cb46cf"/>
  </p:sldMasterIdLst>
  <p:notesMasterIdLst>
    <p:notesMasterId xmlns:r="http://schemas.openxmlformats.org/officeDocument/2006/relationships" r:id="Rac231b282b444fea"/>
  </p:notesMasterIdLst>
  <p:sldIdLst>
    <p:sldId xmlns:r="http://schemas.openxmlformats.org/officeDocument/2006/relationships" id="256" r:id="R8bbcfc39d4044078"/>
    <p:sldId xmlns:r="http://schemas.openxmlformats.org/officeDocument/2006/relationships" id="257" r:id="Rf7d454d29dea4191"/>
    <p:sldId xmlns:r="http://schemas.openxmlformats.org/officeDocument/2006/relationships" id="258" r:id="R081aba56997a48b7"/>
    <p:sldId xmlns:r="http://schemas.openxmlformats.org/officeDocument/2006/relationships" id="259" r:id="R72fdfb9076a34ab5"/>
    <p:sldId xmlns:r="http://schemas.openxmlformats.org/officeDocument/2006/relationships" id="260" r:id="Rde2ea746bba74a76"/>
    <p:sldId xmlns:r="http://schemas.openxmlformats.org/officeDocument/2006/relationships" id="261" r:id="Rb598bccd8bb34448"/>
    <p:sldId xmlns:r="http://schemas.openxmlformats.org/officeDocument/2006/relationships" id="262" r:id="R06890e2cf98e4b6b"/>
    <p:sldId xmlns:r="http://schemas.openxmlformats.org/officeDocument/2006/relationships" id="263" r:id="R422125a5407b4f96"/>
    <p:sldId xmlns:r="http://schemas.openxmlformats.org/officeDocument/2006/relationships" id="264" r:id="R6f0f0deb8c5c4bcd"/>
    <p:sldId xmlns:r="http://schemas.openxmlformats.org/officeDocument/2006/relationships" id="265" r:id="R619a512afb374d39"/>
    <p:sldId xmlns:r="http://schemas.openxmlformats.org/officeDocument/2006/relationships" id="266" r:id="R7a6371f15b19406f"/>
    <p:sldId xmlns:r="http://schemas.openxmlformats.org/officeDocument/2006/relationships" id="267" r:id="R8afaee00027742e7"/>
    <p:sldId xmlns:r="http://schemas.openxmlformats.org/officeDocument/2006/relationships" id="268" r:id="Re1900d1b2fea4cdc"/>
    <p:sldId xmlns:r="http://schemas.openxmlformats.org/officeDocument/2006/relationships" id="269" r:id="R080d183e982345e8"/>
    <p:sldId xmlns:r="http://schemas.openxmlformats.org/officeDocument/2006/relationships" id="270" r:id="Rcf68790b992a497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199781495f44b60" /><Relationship Type="http://schemas.openxmlformats.org/officeDocument/2006/relationships/slideMaster" Target="/ppt/slideMasters/slideMaster1.xml" Id="R5e89bafe34cb46cf" /><Relationship Type="http://schemas.openxmlformats.org/officeDocument/2006/relationships/notesMaster" Target="/ppt/notesMasters/notesMaster1.xml" Id="Rac231b282b444fea" /><Relationship Type="http://schemas.openxmlformats.org/officeDocument/2006/relationships/presProps" Target="/ppt/presProps.xml" Id="R0c576b5adad545f7" /><Relationship Type="http://schemas.openxmlformats.org/officeDocument/2006/relationships/tableStyles" Target="/ppt/tableStyles.xml" Id="R2f76275c9cf34bf2" /><Relationship Type="http://schemas.openxmlformats.org/officeDocument/2006/relationships/slide" Target="/ppt/slides/slide1.xml" Id="R8bbcfc39d4044078" /><Relationship Type="http://schemas.openxmlformats.org/officeDocument/2006/relationships/slide" Target="/ppt/slides/slide2.xml" Id="Rf7d454d29dea4191" /><Relationship Type="http://schemas.openxmlformats.org/officeDocument/2006/relationships/slide" Target="/ppt/slides/slide3.xml" Id="R081aba56997a48b7" /><Relationship Type="http://schemas.openxmlformats.org/officeDocument/2006/relationships/slide" Target="/ppt/slides/slide4.xml" Id="R72fdfb9076a34ab5" /><Relationship Type="http://schemas.openxmlformats.org/officeDocument/2006/relationships/slide" Target="/ppt/slides/slide5.xml" Id="Rde2ea746bba74a76" /><Relationship Type="http://schemas.openxmlformats.org/officeDocument/2006/relationships/slide" Target="/ppt/slides/slide6.xml" Id="Rb598bccd8bb34448" /><Relationship Type="http://schemas.openxmlformats.org/officeDocument/2006/relationships/slide" Target="/ppt/slides/slide7.xml" Id="R06890e2cf98e4b6b" /><Relationship Type="http://schemas.openxmlformats.org/officeDocument/2006/relationships/slide" Target="/ppt/slides/slide8.xml" Id="R422125a5407b4f96" /><Relationship Type="http://schemas.openxmlformats.org/officeDocument/2006/relationships/slide" Target="/ppt/slides/slide9.xml" Id="R6f0f0deb8c5c4bcd" /><Relationship Type="http://schemas.openxmlformats.org/officeDocument/2006/relationships/slide" Target="/ppt/slides/slide10.xml" Id="R619a512afb374d39" /><Relationship Type="http://schemas.openxmlformats.org/officeDocument/2006/relationships/slide" Target="/ppt/slides/slide11.xml" Id="R7a6371f15b19406f" /><Relationship Type="http://schemas.openxmlformats.org/officeDocument/2006/relationships/slide" Target="/ppt/slides/slide12.xml" Id="R8afaee00027742e7" /><Relationship Type="http://schemas.openxmlformats.org/officeDocument/2006/relationships/slide" Target="/ppt/slides/slide13.xml" Id="Re1900d1b2fea4cdc" /><Relationship Type="http://schemas.openxmlformats.org/officeDocument/2006/relationships/slide" Target="/ppt/slides/slide14.xml" Id="R080d183e982345e8" /><Relationship Type="http://schemas.openxmlformats.org/officeDocument/2006/relationships/slide" Target="/ppt/slides/slide15.xml" Id="Rcf68790b992a49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e70fe7ae444e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92651533d0405d" /><Relationship Type="http://schemas.openxmlformats.org/officeDocument/2006/relationships/notesMaster" Target="/ppt/notesMasters/notesMaster1.xml" Id="R4562953267c64f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446bd37da540d9" /><Relationship Type="http://schemas.openxmlformats.org/officeDocument/2006/relationships/notesMaster" Target="/ppt/notesMasters/notesMaster1.xml" Id="Ra481c90f1e3b40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fabbe92b974b6f" /><Relationship Type="http://schemas.openxmlformats.org/officeDocument/2006/relationships/notesMaster" Target="/ppt/notesMasters/notesMaster1.xml" Id="Rd7a9c636585843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183a1d32839459b" /><Relationship Type="http://schemas.openxmlformats.org/officeDocument/2006/relationships/notesMaster" Target="/ppt/notesMasters/notesMaster1.xml" Id="R8f62a5e82b714a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3ff3ba1ec9a4c0a" /><Relationship Type="http://schemas.openxmlformats.org/officeDocument/2006/relationships/notesMaster" Target="/ppt/notesMasters/notesMaster1.xml" Id="R2380f0a6c5ae4e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03b9bd634e4949" /><Relationship Type="http://schemas.openxmlformats.org/officeDocument/2006/relationships/notesMaster" Target="/ppt/notesMasters/notesMaster1.xml" Id="Rda845acdcc834cf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a22202a72234bd6" /><Relationship Type="http://schemas.openxmlformats.org/officeDocument/2006/relationships/notesMaster" Target="/ppt/notesMasters/notesMaster1.xml" Id="R47b59fd5f52b4eb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73f5821a44c4d06" /><Relationship Type="http://schemas.openxmlformats.org/officeDocument/2006/relationships/notesMaster" Target="/ppt/notesMasters/notesMaster1.xml" Id="R13296bf87dd346f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e59c1e35364137" /><Relationship Type="http://schemas.openxmlformats.org/officeDocument/2006/relationships/notesMaster" Target="/ppt/notesMasters/notesMaster1.xml" Id="Re9a01f5ffe344d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e0eeec3e3f4562" /><Relationship Type="http://schemas.openxmlformats.org/officeDocument/2006/relationships/notesMaster" Target="/ppt/notesMasters/notesMaster1.xml" Id="Ra959cc3fe849462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6a81fabeafc4644" /><Relationship Type="http://schemas.openxmlformats.org/officeDocument/2006/relationships/notesMaster" Target="/ppt/notesMasters/notesMaster1.xml" Id="R145660fa9fa7459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5d6a4b085504201" /><Relationship Type="http://schemas.openxmlformats.org/officeDocument/2006/relationships/notesMaster" Target="/ppt/notesMasters/notesMaster1.xml" Id="R0950ddbcfc024cf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29ec73ad72a4e11" /><Relationship Type="http://schemas.openxmlformats.org/officeDocument/2006/relationships/notesMaster" Target="/ppt/notesMasters/notesMaster1.xml" Id="Ra918fc183ad44d0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cfa088daf944d76" /><Relationship Type="http://schemas.openxmlformats.org/officeDocument/2006/relationships/notesMaster" Target="/ppt/notesMasters/notesMaster1.xml" Id="R8470fe185054473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8e2281f1f664507" /><Relationship Type="http://schemas.openxmlformats.org/officeDocument/2006/relationships/notesMaster" Target="/ppt/notesMasters/notesMaster1.xml" Id="R64614986f4824e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CARE 2.0 的主线不是让大模型持续接管数值优化，而是让它把 source evidence 编译成可检查、可执行、可拒绝的迁移 skill。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LLM 读取旧任务证据和新任务的公开 schema，提出规则特征、先验方向和搜索策略。Strict compiler 先检查字段和值是否存在，calibration split 再决定 skill 是否值得部署；冻结后由 target optimizer 在真实预算内执行。这样，LLM 提供语义和假设，GP 提供稳定的数值优化，失败 skill 可以被拒绝并保留审计记录。在线 proposer/critic 仍然存在，但首批真实 pilot 没有改变 GP rank 1，因此目前是探索模块，不是论文主贡献。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experiments/care_replay/results/2026-07-21-cross-domain-semantic-skills/README.md</a:t>
            </a:r>
          </a:p>
          <a:p xmlns:a="http://schemas.openxmlformats.org/drawingml/2006/main">
            <a:r>
              <a:t>- experiments/care_replay/scripts/generate_llm_semantic_skills.py</a:t>
            </a:r>
          </a:p>
          <a:p xmlns:a="http://schemas.openxmlformats.org/drawingml/2006/main">
            <a:r>
              <a:t>- experiments/care_replay/scripts/run_calibrated_llm_semantic_selector.py</a:t>
            </a:r>
          </a:p>
          <a:p xmlns:a="http://schemas.openxmlformats.org/drawingml/2006/main">
            <a:r>
              <a:t>- docs/NATURE_SUBMISSION_READINESS.md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冻结 11 路线中，在线 LLM 相对同开局 target-only GP 的平均 best-so-far AUC 增益为 +1.753，6 胜、2 平、3 负；完整 17 路线盘点后均值降为 +0.762。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11 路线的 route-bootstrap 区间为 [+0.415,+3.315]，但符号检验 p=0.5078，而且每条路线只有一条在线轨迹。纳入仓库中 6 条更早的负向或持平路线后，17 路线区间为 [-0.501,+2.091]，再次跨过 0。因此我们把“冻结子集上的平均正向信号”和“所有历史路线尚未确认普遍提升”同时展示，避免路线选择偏差。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experiments/care_replay/results/2026-08-24-online-llm-predeclared-baseline-portfolio-v1/aggregate.json</a:t>
            </a:r>
          </a:p>
          <a:p xmlns:a="http://schemas.openxmlformats.org/drawingml/2006/main">
            <a:r>
              <a:t>- experiments/care_replay/results/2026-08-24-online-llm-predeclared-baseline-portfolio-v2/aggregate.json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问题被定义成一个严格的 sequential decision problem：同起点、同候选、同预算，比较谁更早找到高值条件。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target 中未执行候选的结果始终隐藏。系统只知道 source 历史、target 的变量结构、已经揭示的 target 结果和剩余预算。评价重点不是大模型解释得是否好听，而是它的选择是否让 best-so-far 曲线更早上升。这个定义也让方法能在化学、分子性质和材料任务中使用同一套接口。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experiments/care_replay/CARE2_METHOD.md</a:t>
            </a:r>
          </a:p>
          <a:p xmlns:a="http://schemas.openxmlformats.org/drawingml/2006/main">
            <a:r>
              <a:t>- experiments/care_replay/replay.py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这页展示在线 proposer/critic 控制器，但它现在是被审计的探索模块，不是已确认的主方法。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候选菜单包含 target GP 高分点、source prior 支持点、共识点和覆盖点。Proposer 更新可证伪假设并提议一个实验；Critic 可以接受、退回 GP rank 1 或改选。历史完整在线版本允许 LLM 在十轮都有最终选择权，但分离路线表现不稳。Bounded pilot 因此只允许第一轮 LLM 决策，后九轮交回 target GP。首批六条真实调用中，LLM 六次都选择 GP rank 1，说明它输出了结构化判断，却没有产生 action change。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experiments/care_replay/scripts/run_online_llm_scientist.py</a:t>
            </a:r>
          </a:p>
          <a:p xmlns:a="http://schemas.openxmlformats.org/drawingml/2006/main">
            <a:r>
              <a:t>- experiments/care_replay/results/2026-08-24-online-llm-bounded-authority-route-disjoint-confirmation-v1/pilot_audit/decision_impact_audit.json</a:t>
            </a:r>
          </a:p>
          <a:p xmlns:a="http://schemas.openxmlformats.org/drawingml/2006/main">
            <a:r>
              <a:t>- docs/NATURE_SUBMISSION_READINESS.md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Replay harness 用完整历史数据模拟“每做一个实验才知道一个结果”的过程。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虽然数据表里保存了所有真实结果，但控制器在第 t 轮只能读取此前执行过的 target 结果。未选择候选的标签不会进入 prompt、GP 训练或候选评分。在线 LLM 和对照组从相同的三个 target 观测开始，各有 10 次揭示机会，因此预算严格匹配。每一轮选择、响应、模型和揭示结果都会写入审计文件。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experiments/care_replay/replay.py</a:t>
            </a:r>
          </a:p>
          <a:p xmlns:a="http://schemas.openxmlformats.org/drawingml/2006/main">
            <a:r>
              <a:t>- 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Reward 是 best-so-far 曲线下面积，不是强化学习的训练奖励。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第 t 轮结果记为 y_t，当前最好值 b_t=max(y_1,...,y_t)。一条长度为 T 的轨迹得分 R=(1/T)Σb_t。好结果越早出现，它会在更多后续轮次中贡献高 best，因此 R 更高。每轮新结果会更新 target 历史、GP 后验、候选排序和科学假设；它不会更新 Claude 的模型权重，也不会自动把本轮经验蒸馏成永久 skill。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experiments/care_replay/replay.py</a:t>
            </a:r>
          </a:p>
          <a:p xmlns:a="http://schemas.openxmlformats.org/drawingml/2006/main">
            <a:r>
              <a:t>- 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主比较用同开局 target-only GP 隔离在线 LLM 增量，并把 RGPE 与 multitask GP 扩展到冻结的全部 11 条路线。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所有方法使用完全相同的三个初始 target 观测、候选空间和 10 轮预算。固定 comparator 规则为：单 source 用 RGPE，多 source 用 multisource RGPE。在线 LLM 相对 target GP 平均 +1.753，相对固定 RGPE 平均 +3.229，但后者区间跨 0。若在每条路线看完结果后选最强 baseline，LLM 平均为 -0.550，只取得 3 胜、1 平、7 负。这个 oracle 诊断不是公平的预先选型主结果，但它清楚说明当前 LLM 还不是多数路线上的最强优化器。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experiments/care_replay/configs/online_llm_predeclared_baseline_portfolio_v1.json</a:t>
            </a:r>
          </a:p>
          <a:p xmlns:a="http://schemas.openxmlformats.org/drawingml/2006/main">
            <a:r>
              <a:t>- experiments/care_replay/results/2026-08-24-online-llm-predeclared-baseline-portfolio-v1/aggregate.json</a:t>
            </a:r>
          </a:p>
          <a:p xmlns:a="http://schemas.openxmlformats.org/drawingml/2006/main">
            <a:r>
              <a:t>- experiments/care_replay/results/2026-08-24-online-llm-predeclared-baseline-portfolio-v1/route_comparisons.csv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的输入和输出都是结构化、可审计并能直接执行的。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每一轮输入包括已揭示 target 历史、当前 best、source evidence、冻结初始假设、GP posterior mean/std/EI 和一个合格候选菜单。输出必须包含 hypothesis_status、更新后的假设、一个 candidate_id、预期结果、改善概率、支持和反对证据、是否继续 source transfer，以及与 GP rank 1 的比较。Critic 对 proposer 的输出做第二次审查。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experiments/care_replay/scripts/run_online_llm_scientist.py</a:t>
            </a:r>
          </a:p>
          <a:p xmlns:a="http://schemas.openxmlformats.org/drawingml/2006/main">
            <a:r>
              <a:t>- experiments/care_replay/results/2026-08-16-opus48-bounded-ei-development-v2/molecular_freesolv_to_lipophilicity/llm_trace.jsonl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这是保存下来的真实 trace，不是为了讲解而编的例子。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 FreeSolv 到 Lipophilicity 路线上，初始 best 为 67.25。第 0 轮的 GP rank 1 是 lipo_2256，但 proposer 和 critic 选择了 GP rank 4 的 lipo_0635：它的 expected improvement 略高，而且“卤素丰富、低极性的芳香酰胺”与已观测的高 lipophilicity 分子一致。该候选真正揭示后得到 86.875，使 best 一轮提高 19.625。整个路线相对同开局 target-only GP 的 AUC 增益为 +6.325。需要提醒：这是成功案例，用来展示机制和 trace，不代表所有路线。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experiments/care_replay/results/2026-08-16-opus48-bounded-ei-development-v2/molecular_freesolv_to_lipophilicity/llm_trace.jsonl</a:t>
            </a:r>
          </a:p>
          <a:p xmlns:a="http://schemas.openxmlformats.org/drawingml/2006/main">
            <a:r>
              <a:t>- experiments/care_replay/results/2026-08-16-opus48-bounded-ei-development-v2/molecular_freesolv_to_lipophilicity/summary.json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真实路线结果高度异质，LLM 相对 no-transfer 更有优势，但没有稳定压过经典 transfer BO。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圆点表示在线 LLM 相对同开局 target-only GP-UCB 的 best-so-far AUC 差值；方块表示相对固定 RGPE 规则的差值。正值表示 LLM 更早找到好条件，负值表示更慢。11 条路线中，相对 target GP 为 6 胜、2 平、3 负；相对固定 RGPE 为 6 胜、1 平、4 负。最大的正向包括 expt gap→dielectric 和 FreeSolv→Lipophilicity，但若每条路线事后选择最强 baseline，LLM 只取得 3 胜、1 平、7 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experiments/care_replay/results/2026-08-24-online-llm-predeclared-baseline-portfolio-v1/route_comparisons.csv</a:t>
            </a:r>
          </a:p>
          <a:p xmlns:a="http://schemas.openxmlformats.org/drawingml/2006/main">
            <a:r>
              <a:t>- experiments/care_replay/results/2026-08-24-online-llm-predeclared-baseline-portfolio-v1/aggregate.json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两批调用的总体胜平负都为 6 / 2 / 3，但 11 条配对路线中有 4 条严格翻转正负号。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空心点是早期审计调用，蓝绿色点是第一次冻结重复，橙色菱形是 Suzuki 的第二次冻结重复。材料 expt gap→mp gap、两条 phenethylamine 路线和 aniline→benzamide 路线发生了严格符号翻转。Suzuki 三次观察为 +0.28、+1.38 和 +0.32，方向一致但幅度仍有波动。早期调用发生在确认协议冻结前，因此本页只是 stochasticity audit，不是正式重复检验；它证明了为什么不能用单次 LLM 结果给路线贴上“可迁移/不可迁移”的稳定标签。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experiments/care_replay/results/2026-08-23-llm-trajectory-stability-audit/paired_route_stability.csv</a:t>
            </a:r>
          </a:p>
          <a:p xmlns:a="http://schemas.openxmlformats.org/drawingml/2006/main">
            <a:r>
              <a:t>- experiments/care_replay/results/2026-08-23-llm-trajectory-stability-audit/paired_route_stability.svg</a:t>
            </a:r>
          </a:p>
          <a:p xmlns:a="http://schemas.openxmlformats.org/drawingml/2006/main">
            <a:r>
              <a:t>- experiments/care_replay/results/2026-08-23-llm-trajectory-stability-audit/stability_audit.json</a:t>
            </a:r>
          </a:p>
          <a:p xmlns:a="http://schemas.openxmlformats.org/drawingml/2006/main">
            <a:r>
              <a:t>- https://arxiv.org/abs/2410.03492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材料案例说明 LLM 的价值也包括识别“不应该直接迁移”，并且 trace 能暴露和修复解释错误。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 phonons→bulk modulus 路线上，LLM 十轮都关闭 direct source transfer，因为 target 证据不支持把声子峰排名直接搬到体模量。但它仍根据材料组成语义和已揭示 target 结果，在 4/10 轮选择了非 GP rank 1 候选。CARE 最终找到 normalized score 77.6127 的 O8Pt6；同开局 GP 最终为 73.2886。AUC 增益 +3.240，final 增益 +4.324。这里应讲成“负迁移识别 + target 自适应”，不能讲成 phonon outcome 正向迁移。早期 trace 有 5 次把无量纲 replay score 写成 GPa；加入 outcome-scale contract 后，新轨迹 20 个 proposer/critic 响应中该错误为 0。新轨迹的 AUC 增益为 +3.083，但它与旧轨迹不是配对调用，因此只用于验证语义修复，不用于声称性能提升。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experiments/care_replay/results/2026-08-24-online-llm-transport-context-robustness-v3/materials_phonons_to_bulk_modulus/trajectory_5000/summary.json</a:t>
            </a:r>
          </a:p>
          <a:p xmlns:a="http://schemas.openxmlformats.org/drawingml/2006/main">
            <a:r>
              <a:t>- experiments/care_replay/results/2026-08-24-online-llm-transport-context-robustness-v3/materials_phonons_to_bulk_modulus/trajectory_5000/llm_trace.jsonl</a:t>
            </a:r>
          </a:p>
          <a:p xmlns:a="http://schemas.openxmlformats.org/drawingml/2006/main">
            <a:r>
              <a:t>- experiments/care_replay/results/2026-08-24-online-llm-transport-context-robustness-v3/materials_phonons_to_bulk_modulus/trajectory_5000/audit/materials_online_trace_audit.json</a:t>
            </a:r>
          </a:p>
          <a:p xmlns:a="http://schemas.openxmlformats.org/drawingml/2006/main">
            <a:r>
              <a:t>- experiments/care_replay/results/2026-08-24-online-llm-outcome-semantics-robustness-v1/materials_phonons_to_bulk_modulus/trajectory_6000/summary.json</a:t>
            </a:r>
          </a:p>
          <a:p xmlns:a="http://schemas.openxmlformats.org/drawingml/2006/main">
            <a:r>
              <a:t>- experiments/care_replay/results/2026-08-24-online-llm-outcome-semantics-robustness-v1/materials_phonons_to_bulk_modulus/trajectory_6000/audit/outcome_semantics_audit.json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并不是在所有任务上都有效。现有消融表明，增益出现需要三个条件：语义表示与目标性质对齐，LLM 的输出实际改变实验动作，并且目标数据可以重新校准权重。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第一类增益来自 representation。Matbench experimental band gap 中，LLM 提出的 high_element_count 分组相对 target portfolio 提高 AUC 6.167，95% 配对区间为 [4.361, 7.972]；Lipophilicity 中，high_aromatic_content 相对 GP-UCB 提高 AUC 1.261，区间为 [0.891, 1.630]。两项实验都没有向 LLM 提供 source outcomes，而且 no-prior 版本表现更好，说明 LLM 的贡献主要是选对语义特征，具体方向与强度仍应由目标数据和 GP 学习。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第二类增益来自 early coverage。机制消融中，ChemLex 到 Buchwald–Hartwig、dielectric 到 experimental band gap 的主要收益在 source-informed initial design。固定相同开局后，连续 source-outcome term 和 LLM patch 都没有额外增益。因此不能把这两条结果解释成 LLM 每轮自由重排更强，而应解释为 source knowledge 帮助系统更早覆盖了有价值的实验区域。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第三，推理只有改变动作才可能产生因果增量。最新六条真实 bounded-authority pilot 全部选择 GP-UCB rank 1，在线 AUC 增量为 0。虽然三条 trace 文字上保留了 source hypothesis，但并未改变实验选择。相反，Lipophilicity 到 FreeSolv 的 matched transfer AUC 为 -29.902，表明共享分子描述符不足以保证目标方向可迁移。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所以论文不声称“LLM 总能提高优化”。更准确的结论是：LLM 在语义表示对齐、能改变早期采样并允许目标数据重新校准时最可能有效；表示不匹配、目标符号不一致或动作与 GP 重合时，系统应该拒绝或回退。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experiments/care_replay/results/2026-07-21-llm-evidence-causality/README.md</a:t>
            </a:r>
          </a:p>
          <a:p xmlns:a="http://schemas.openxmlformats.org/drawingml/2006/main">
            <a:r>
              <a:t>- experiments/care_replay/results/2026-07-23-source-evidence-extension/README.md</a:t>
            </a:r>
          </a:p>
          <a:p xmlns:a="http://schemas.openxmlformats.org/drawingml/2006/main">
            <a:r>
              <a:t>- experiments/care_replay/results/2026-08-07-mechanism-controls/README.md</a:t>
            </a:r>
          </a:p>
          <a:p xmlns:a="http://schemas.openxmlformats.org/drawingml/2006/main">
            <a:r>
              <a:t>- experiments/care_replay/results/2026-08-24-online-llm-bounded-authority-route-disjoint-confirmation-v1/pilot_audit/decision_impact_audit.json</a:t>
            </a:r>
          </a:p>
          <a:p xmlns:a="http://schemas.openxmlformats.org/drawingml/2006/main">
            <a:r>
              <a:t>- docs/OVERLEAF_CASE_STUDIES_DRAFT.tex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这项检验把两个容易混在一起的问题拆开：source-informed 开局是否优于 target-only，以及“正确的 source 特征—outcome 对应关系”是否真的提供额外信息。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实验冻结了三条路线。每条路线使用 100 个 held-out target seeds 和 19 个 source-outcome 置换；source features、LLM 编译的 role map 与 patches、target 初始化规则、优化器和预算全部保持一致，只打乱 measured source outcomes 与 source candidates 的对应关系。sequential transfer mass 固定为 0，因此这里检验的是 source-informed initial design，而不是后续连续迁移。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左图回答“真实 source outcomes 相比 target-only 是否改善有限预算搜索”。ChemLex 到 Buchwald–Hartwig 的 AUC 提升 +9.672，95% CI 为 [+7.405, +11.939]；dielectric 到 experimental gap 提升 +48.954，区间为 [+44.050, +53.857]；Lipophilicity 到 FreeSolv 为 -1.027，区间为 [-1.228, -0.826]。所以 reaction 和 materials 的 source-informed starts 确实更早找到好候选，但 molecular 路线仍有负迁移。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右图回答更严格的问题：正确 outcome 绑定是否优于随机绑定。真实绑定相对 19 个置换均值分别为 +20.347、+47.766 和 +0.451，但 one-sided empirical p 值是 0.15、0.10 和 0.20，均未达到 0.05。这里不能因为 paired-seed CI 在零以上就说随机化检验显著：CI 衡量固定置换集合下跨 target seeds 的稳定性，p 值衡量正确绑定在 outcome-assignment null 中是否足够极端，后者才对应因果问题。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因此，这一页支持“source-informed initial design 在两条路线有效”，不支持“正确 source feature–outcome association 已被验证”。论文应把 source-outcome learning 降为待确认机制，把 LLM-compiled semantic skill、可执行 compiler、falsification 和安全拒绝作为更稳的主贡献。下一步应在新路线和前瞻任务上预先冻结相同检验，而不是继续从这三条已知路线调规则。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experiments/care_replay/configs/source_outcome_falsification_v1.json</a:t>
            </a:r>
          </a:p>
          <a:p xmlns:a="http://schemas.openxmlformats.org/drawingml/2006/main">
            <a:r>
              <a:t>- experiments/care_replay/results/2026-08-24-source-outcome-falsification-v1/falsification_report.json</a:t>
            </a:r>
          </a:p>
          <a:p xmlns:a="http://schemas.openxmlformats.org/drawingml/2006/main">
            <a:r>
              <a:t>- experiments/care_replay/results/2026-08-24-source-outcome-falsification-v1/trajectory_metrics.csv</a:t>
            </a:r>
          </a:p>
          <a:p xmlns:a="http://schemas.openxmlformats.org/drawingml/2006/main">
            <a:r>
              <a:t>- experiments/care_replay/scripts/plot_source_outcome_falsification.py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这页回答一个更基本的问题：在线 LLM 真实调用后，是否改变了实验选择。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左图的橙色刻线表示在线 LLM 相对同开局 target-only GP 的 AUC 差值，六条路线全部为 0；蓝色条表示包含 LLM initial design 的 complete system 相对固定 initial design，三条正向、一条持平、两条负向，平均 -0.0087。右图直接检查行为：6 次都选择 GP rank 1，非 GP override 为 0，critic 改选为 0；其中 3 次文字上保留 source transfer，但并没有改变候选。六条成功轨迹共使用 99,243 tokens，单轮 authority limit 避免了 108 次后续名义调用。这证明 bounded authority 能省调用，却还不能证明在线 LLM 提高性能。当前需要优化的是 decision mechanism，不是继续增加相同调用次数。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experiments/care_replay/scripts/build_online_llm_decision_impact_audit.py</a:t>
            </a:r>
          </a:p>
          <a:p xmlns:a="http://schemas.openxmlformats.org/drawingml/2006/main">
            <a:r>
              <a:t>- experiments/care_replay/results/2026-08-24-online-llm-bounded-authority-route-disjoint-confirmation-v1/pilot_audit/decision_impact_audit.json</a:t>
            </a:r>
          </a:p>
          <a:p xmlns:a="http://schemas.openxmlformats.org/drawingml/2006/main">
            <a:r>
              <a:t>- experiments/care_replay/results/2026-08-24-online-llm-bounded-authority-route-disjoint-confirmation-v1/pilot_audit/route_decision_metrics.csv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e4bcd996124b2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f5c10e7a214880" /><Relationship Type="http://schemas.openxmlformats.org/officeDocument/2006/relationships/slideLayout" Target="/ppt/slideLayouts/slideLayout1.xml" Id="Rafbee299bcbe48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bee299bcbe48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ea9fe9792746c9" /><Relationship Type="http://schemas.openxmlformats.org/officeDocument/2006/relationships/notesSlide" Target="/ppt/notesSlides/notesSlide1.xml" Id="R444c5d78d553449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007d57692a40d0" /><Relationship Type="http://schemas.openxmlformats.org/officeDocument/2006/relationships/notesSlide" Target="/ppt/notesSlides/notesSlide2.xml" Id="Rcdc06a4cd60e40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8e2d293511464c" /><Relationship Type="http://schemas.openxmlformats.org/officeDocument/2006/relationships/notesSlide" Target="/ppt/notesSlides/notesSlide3.xml" Id="Rdb8f5348aab54e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0f2f3ae6614f2f" /><Relationship Type="http://schemas.openxmlformats.org/officeDocument/2006/relationships/notesSlide" Target="/ppt/notesSlides/notesSlide4.xml" Id="R9935e01f5d5648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86ba14831041ad" /><Relationship Type="http://schemas.openxmlformats.org/officeDocument/2006/relationships/notesSlide" Target="/ppt/notesSlides/notesSlide5.xml" Id="R833c1c77985d455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7e7287bceb43fa" /><Relationship Type="http://schemas.openxmlformats.org/officeDocument/2006/relationships/notesSlide" Target="/ppt/notesSlides/notesSlide6.xml" Id="R561103937f7b4a9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e9b402978b47be" /><Relationship Type="http://schemas.openxmlformats.org/officeDocument/2006/relationships/notesSlide" Target="/ppt/notesSlides/notesSlide7.xml" Id="R653714afa5014e5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9d6e02d3ff4ba9" /><Relationship Type="http://schemas.openxmlformats.org/officeDocument/2006/relationships/notesSlide" Target="/ppt/notesSlides/notesSlide8.xml" Id="R9cd2fdb56e03410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7fbe16979429b" /><Relationship Type="http://schemas.openxmlformats.org/officeDocument/2006/relationships/notesSlide" Target="/ppt/notesSlides/notesSlide9.xml" Id="R46173e689de3432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94f27adb0d482d" /><Relationship Type="http://schemas.openxmlformats.org/officeDocument/2006/relationships/image" Target="/ppt/media/image.png" Id="R43f4d6dbdd3c41c1" /><Relationship Type="http://schemas.openxmlformats.org/officeDocument/2006/relationships/image" Target="/ppt/media/image2.png" Id="Rcbfbef0c5dfc4aa4" /><Relationship Type="http://schemas.openxmlformats.org/officeDocument/2006/relationships/notesSlide" Target="/ppt/notesSlides/notesSlide10.xml" Id="R635ce64dbd9c4f4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dde14769744a34" /><Relationship Type="http://schemas.openxmlformats.org/officeDocument/2006/relationships/image" Target="/ppt/media/image.png" Id="Rd22b087722894200" /><Relationship Type="http://schemas.openxmlformats.org/officeDocument/2006/relationships/image" Target="/ppt/media/image3.png" Id="Radca84bfed994180" /><Relationship Type="http://schemas.openxmlformats.org/officeDocument/2006/relationships/notesSlide" Target="/ppt/notesSlides/notesSlide11.xml" Id="Rbd8f80ea2d0d4e0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bda990b48a4cd4" /><Relationship Type="http://schemas.openxmlformats.org/officeDocument/2006/relationships/image" Target="/ppt/media/image.png" Id="R3d94ff59a4814dd5" /><Relationship Type="http://schemas.openxmlformats.org/officeDocument/2006/relationships/image" Target="/ppt/media/image4.png" Id="R894e94a571f344e6" /><Relationship Type="http://schemas.openxmlformats.org/officeDocument/2006/relationships/notesSlide" Target="/ppt/notesSlides/notesSlide12.xml" Id="R49f85079bb2a45d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3e87d8b1b846cf" /><Relationship Type="http://schemas.openxmlformats.org/officeDocument/2006/relationships/notesSlide" Target="/ppt/notesSlides/notesSlide13.xml" Id="Rdfd311ef1fce4ca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26c5ffc0b94db1" /><Relationship Type="http://schemas.openxmlformats.org/officeDocument/2006/relationships/image" Target="/ppt/media/image5.png" Id="R32ddcc38557e49d4" /><Relationship Type="http://schemas.openxmlformats.org/officeDocument/2006/relationships/notesSlide" Target="/ppt/notesSlides/notesSlide14.xml" Id="Rc9d9a41e44fc481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26fbea4f9942ee" /><Relationship Type="http://schemas.openxmlformats.org/officeDocument/2006/relationships/image" Target="/ppt/media/image.png" Id="R07aade6b7b8e4049" /><Relationship Type="http://schemas.openxmlformats.org/officeDocument/2006/relationships/image" Target="/ppt/media/image6.png" Id="R39bf30468acb403f" /><Relationship Type="http://schemas.openxmlformats.org/officeDocument/2006/relationships/notesSlide" Target="/ppt/notesSlides/notesSlide15.xml" Id="Rad00b920663049e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E2C15-6ABA-42B1-B457-E524007C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CARE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9C9C7-C4E3-4DD7-951D-59BDBFDE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762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让 LLM 把历史经验编译成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可验证的迁移 skill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3DFA49-E869-4316-82E0-AE7932D8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先编译、再校准，冻结后交给目标优化器执行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28DD5B-E903-4D1B-AC27-C8E2DE49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9B407-CB14-42D1-BD2A-C68115EE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00550"/>
            <a:ext cx="609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LLM-generated skills · 真实数据与在线审计 · 2026-08-24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0DA70-6A3F-4935-B39E-B5A0F407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A793F9-1E81-4BBA-906C-76088DA9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2001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历史证据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75CE5F-8B09-4518-852C-BA0377A5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4307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6E7B0A-73F5-49FF-BA20-6558F1CD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336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LLM 编 skill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7E8628-C659-424B-BC29-2C7A7FD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876550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9DB5D6-297E-4D79-9009-DCAFFE63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671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校准 / 拒绝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A37260-74A6-423C-B523-29AA57BA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01002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5FB91B-0953-4F09-A37F-D7065E70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5910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目标优化</a:t>
            </a:r>
          </a:p>
        </p:txBody>
      </p:sp>
    </p:spTree>
    <p:extLst>
      <p:ext uri="{BB962C8B-B14F-4D97-AF65-F5344CB8AC3E}">
        <p14:creationId xmlns:p14="http://schemas.microsoft.com/office/powerpoint/2010/main" val="12095946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D09C1D-BC24-4D97-B373-8187A6B8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最新证据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E7B76D-3714-4077-9E5A-5434E3D1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313817-9B8F-4473-95A8-03DE6568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 11 路线有平均正向信号；完整 17 路线仍未确认普遍提升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430172-89CA-4BEE-99B9-7ADFB772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5EDF4B-1E23-407A-8648-DB6CE2E9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2362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+1.75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321D6-D098-45E3-B508-A6973577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平均搜索效率变化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9EB89-3EE1-453C-9061-76076E9C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194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 条路线 · 同预算对照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B03CB-DD3D-45D2-A755-F331C5B8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6 / 2 / 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BA55B1-D00B-440C-A77B-46BBCE14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胜 / 平 / 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37F159-6D89-4813-ADEE-6519E85B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相对 target-only GP-UCB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A0859-E9DD-4993-BE56-F8C1226B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100%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96B0A9-9811-41FC-AF0C-EE2B2D79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逐轮参与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580269-F7AD-4ED9-B495-B8D3DA26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每条路线 10 轮在线决策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D5F63A-31DA-446D-BA11-3C45B128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95% CI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E66E54-348A-405C-82CB-B016762B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[+0.41, +3.31]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0BF330-35A5-482E-B532-B6A2BD23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符号检验不显著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9E76F5-A7CC-4337-A863-FA3176F8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108966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A129EB-5840-4AA8-85DE-F1F6CB5B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05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目前最准确的结论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36D7B4-429C-468B-B182-19849074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267200"/>
            <a:ext cx="7562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完整历史盘点扩到 17 条路线后，平均增益降为 +0.76，区间 [-0.50,+2.09]。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因此当前结论是路线特异的正向信号，而不是普遍跨领域提升。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D202BF-2C18-4A93-AFFA-C3484446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6213188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041906-50A8-4C88-8F91-09AB2CDC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为什么要做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6C5AC5-2A53-41C7-9FB9-51BF2602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321F2-78BB-49E9-939C-B85FF9A5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真正的问题不是让 LLM 会说，而是让它在有限预算里做对实验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67C0D-AE39-49BA-B9EF-35AB06AA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EEC39-F19B-4FCD-8A2B-6AF1EF5A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0F7DB6-67B7-44E2-A912-46847EFB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C7772-0453-4652-AEF5-9755DDEF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迁移前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E4F1-3A93-4BE3-83DB-14527C94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source 任务的历史证据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target 的变量和候选空间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固定的实验预算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target 未执行条件的答案隐藏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678EA-112E-4AA7-985C-3730B222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0F5D5-9E09-45F3-A766-0353F71D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2C4442-D55B-4631-B209-517CE9A6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每一轮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C5AD0A-FD2A-44C7-AF68-070F74C1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生成候选菜单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Proposer 提案，Critic 复核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只执行并揭示一个条件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更新 GP、假设和下一轮选择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610776-5923-4272-B87F-28B3DA7A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F4966F-7C0E-41A6-A23B-DDBC0A39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6E0208-808E-4259-B9EE-C18402E1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判断标准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01106B-F8A9-40CC-BA2B-F18C9B35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好结果是否更早出现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起点、候选和预算完全匹配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全过程无 target 泄漏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正迁移和负迁移都保留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D30987-0E9D-42AB-92EE-A91CE84F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0F8D78-8BF7-4E24-A37B-A65ACB73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911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问题定义：同起点、同预算下，LLM 能否利用旧证据，比 target-only GP 更早找到高值条件？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E0C2BC-16C0-4CA7-B0A6-F9F9D0C4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788105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4EA91A-0C71-41B5-9F6A-1371C641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系统怎么工作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EFAA52-3472-4747-8A66-6E3D8CDE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40953B-3723-4283-AD49-59F47D3D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完整在线版每轮选择；最新 pilot 只保留第一轮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A64387-B85D-499F-8906-42356A93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C7EDE-8671-4F76-8570-F70C5A7B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047A4F-522A-4D8C-83A4-D9355C37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DDA645-3FC2-4444-9C7B-0613294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3BBB91-1B98-478D-9736-86358928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整理证据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3D7F38-69FD-4B19-B2EE-0CE56FF2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读取 source 规律与 target 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61BA78-D401-4D2D-A379-96D4F076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4CABB9-96DA-493C-8EED-00D34FF3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56B480-FFAB-4DEE-B978-30020CE7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B456A2-CFE4-4979-8267-C9DBF45C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建立候选菜单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000609-21B6-49A6-AADB-CAEF0B4E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GP 估计 + source prior + 覆盖点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F2CEEE-06FE-435E-B6F8-7A5CFF0B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5F4E04-C00D-42E1-AFA8-612F0F59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40D6DE-6CF6-4EE1-8982-12A67D8B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7F43F0-A0D4-4037-B559-2ADC9C65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提案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E9ECE-5994-40A1-A4EA-A5190A58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提出可证伪假设并选一个候选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4CD9CB-10D5-4BEB-88A5-BF397A64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22BD03-C3CB-44E5-A60E-A4531D86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A621A9-5112-4621-BE71-6F6DF2E2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E29FBD-CE46-4DB3-A51B-3B99AAE6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Critic 复核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D6AD94-2B65-4A35-97D0-236D414A5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接受、退回 GP 或改选候选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0CF36D-1E5E-47CE-A928-CF0E31CD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E8C420-CC90-413E-A20E-8D367B04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6F3CA4-6C91-4BA4-B71E-81A551E2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执行并更新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77FBD1-5656-44D6-8E58-A9EC0384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揭示一个结果，刷新状态和下一轮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A00B26-63E8-4C48-9F6A-CB62AFD3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10896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9450D6-FB40-4501-AC39-0DDEFBBC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权限在实验中受限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11D509-589E-478E-B7D5-C39EE06E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05350"/>
            <a:ext cx="842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历史完整在线版：10 / 10；bounded pilot：1 / 10，后续交回 GP。首批 6 次均未 override GP rank 1。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7E802E-DEBB-4C8D-98AA-0F502308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9049526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CE7EB9-9CB2-40F0-8056-440E5CCF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实验模拟器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93C756-59DF-4E29-B5F4-D9784B1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A8AE39-D587-440D-9353-10948A24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未选择条件的答案始终隐藏，直到该轮真正执行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9A8F62-1AA7-4F31-BC8D-24651C2C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514EB0-C1EE-4141-9AC0-891636B4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79D7ED-1BAA-451A-930C-4B042667B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35900-0BDB-4147-8D0E-726D314A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固定 source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和 target 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1ED183-DA66-4D66-BEE6-06A022AD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F1249-A40C-4C5D-B560-8421D09E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D8D6F9-15A9-4483-81BD-B2B26771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相同初始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 个观测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19BF9-11A5-4576-867D-8912604E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DF4A9-CFB9-4AE8-8D31-FE3A5700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DE32EB-587C-485A-B45D-97708090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各自选择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下一个候选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DC8EB4-A599-4EF6-9B31-10369B95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BE2984-AEEA-4195-94FB-94F51920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F0B10-56BE-4E44-8428-4583F12AA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只揭示该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候选真实值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A1974B-E987-446B-BF26-EA871FCB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34EF49-2600-44CB-9F8E-195C2C43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保存选择、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结果和 trace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ECD50E-F61C-4375-A3AD-E5F9B1A6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10896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E224A4-7D1A-4FB5-B12A-677523D3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匹配条件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1379F2-B5F6-4C37-B1ED-10276BEF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171950"/>
            <a:ext cx="849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相同 target 初始观测 · 相同候选空间 · 相同 10 轮预算 · 对照组不使用 source transfer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B554A0-6388-4FB3-B979-12C11104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62600"/>
            <a:ext cx="10896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Replay harness 不能替代湿实验，但能无泄漏地比较搜索效率，并复现每一次决策。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885C35-75DB-412A-BBD2-4B7D7562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20426485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116A57-FCEB-41A4-BF66-70A2F385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Reward 和更新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7BD812-A2FD-424A-B8A5-26A885D3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E7BF9-60DA-407B-9735-F12F0501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Reward 衡量“多快找到好结果”，不会训练 LLM 权重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B4E107-1CB8-4C6E-85A8-C3DE7C34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74E46-562C-4F15-995F-BE24C1AE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当轮状态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871AA0-787F-42E7-A526-7A1F28CD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1D52E-47C4-4CF6-9D22-687ADCDF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第 t 轮揭示结果 yₜ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当前最好 bₜ=max(y₁…yₜ)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越早提高 bₜ，后续轮次受益越多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最终 best 相同，AUC 仍可能不同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255CD-25CF-431D-8006-C9121BB8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184C89-E296-420E-AE9B-C01752CB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Reward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302063-7693-42AD-B79E-C84D57E3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99A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F34CA-94DA-4C15-9938-65854985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R=(1/T) Σ bₜ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R 越高，搜索效率越好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只在相同 T 和起点下比较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报告 ΔAUC、CI 和胜/平/负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7D1DC-80CE-4B56-8FF6-77691319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3F9133-806F-4BBD-B562-5135189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更新了什么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0375BC-FED0-4128-880B-4DDF0774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76450"/>
            <a:ext cx="24193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2C8A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CC88A4-3A37-4069-859C-41308623A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00300"/>
            <a:ext cx="19621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1. target 观测历史和当前 best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2. GP 后验与候选排序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3. 假设和是否继续迁移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4. trace；不更新 LLM 参数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51388B-2F5E-4262-86FA-3EB06976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89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475CFB-B2DF-4C19-BBDA-88CFA1F1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新结果更新实验状态和下一轮决策，不做梯度训练，也不会自动写成永久 skill。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8FF976-9DA9-4AE9-AB3D-F19F5FF0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6009740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9316DA5-6090-4013-9E1C-55245BC3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主对照怎么做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5FA57B-2012-4D8D-A9A6-B636070F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7D01F-D80B-4FC3-A304-E1829017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主比较固定相同开局和预算，只改变后续是否使用 LLM + source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5A7CD-4ECA-4779-BCF5-62C0DD17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F7A94-B933-4CFC-BA8E-C2D7083A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2A6B82-64C2-4098-B592-523210E4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43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比较内容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D105C2-D714-4BA9-91EA-CAD35269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1676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3812E-89B6-42FD-8819-946FC68D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1743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在线 LLM Scientist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B9698-69C9-4EA3-8000-E8A4277C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601350-CBDA-4D7A-8AEF-C76845D4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同开局 target-only GP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7F56C2-34D3-484E-9CE5-8487CCED0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7E64EF-4279-4716-A7B4-764ECB77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传统 transfer BO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EC3E96-FE5C-4181-A8D5-D339165D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426E05-04C5-4A84-A924-06F907C8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526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初始 3 个观测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B0BB42-C90A-41EB-9039-75D5CCE6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2860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217B52-38A7-4423-B476-C9ABF36B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3526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相同 LLM compiled initial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83A7EA-47AE-4E30-A719-96B4B12C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2ECE8-7BBC-49C7-8235-2496B1700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与在线 LLM 完全相同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1355DB-0151-4D18-B87F-8443CC8D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48FD73-F62F-4623-8534-478C08EF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与主对照匹配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595F24-3E15-4235-9EEF-0295939A5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948AEE-63E8-464C-84A4-E1825F42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622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后续候选选择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004391-874D-4A52-A05A-DEDA3619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8956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54744B-1E00-459B-B730-27DEA40B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9622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72A0F7-4990-460A-9BA3-7396609E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03FBDD-D77C-4E3D-9926-821AE31C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EA819F-BA07-4E1A-8FF0-E0CCBB67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5217BD-A7BA-4AC8-BDA9-2835F686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RGPE / multitask GP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D5A29E-B109-45EC-98D2-61B18727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052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72FFF0-6F09-4CD3-A2B1-347C8648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在线揭示轮数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BDD43B-087A-4D1C-B0DE-3CDE4F3C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35052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2CD380-8FCC-4148-905F-D4321EE3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35718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0DC822-AAE4-456A-A447-C854A7654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954C3D-6A16-4248-9F4A-EC5DA6DE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0AB038-13AC-41DF-84D8-30405B28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E011AF6-A466-4959-980D-6BFBE991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A422C5-BCBB-4FC3-AB7C-DC526522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81277C-D279-4462-A04E-9661536E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未执行 target 标签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6BDFB9-AD9B-4964-BB1A-BB985F2B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1148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394CEE-0819-452B-86B6-32E68594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1814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FDB1DA-43BB-4D51-9C6D-8D962898F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5FABCD-6DC4-4ADD-8965-99E84266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3B9BB95-2DA2-49AC-A570-371821CA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28D59B-4907-4D09-B4FB-E8D9E8C2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CF7C17D-F6DF-43BF-9246-271B21BD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24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E3F91E-1087-45EE-83B1-4DF2B20D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91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用途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8810AD-8977-4B37-A95A-952A7692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724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45D6699-05A5-4ABD-BC91-EC551282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791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主方法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67305D-A5C0-479A-A0F0-A8E72D78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2001F28-DA98-4FBB-AEC6-A2612331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主对照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B6D4199-91DD-4AE0-9FD4-34F86062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7E424F5-85B0-4F49-8D1A-E489DC1D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传统 transfer 对照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51F7BA0-D474-4259-B40B-EB003CE7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81650"/>
            <a:ext cx="10896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5FE808-E011-4276-A9AF-0C176B1D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05475"/>
            <a:ext cx="10553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11 路线审计：相对 target GP 平均 +1.75；面对每条路线事后最强 baseline 为 3 胜、1 平、7 负。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364DE0A-44DA-4D23-BDF7-4D1909BD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6133556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B0C712-9166-4268-BF7C-A7EE819B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LLM 每轮看什么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FAE2C-83B5-4A9B-A9ED-BFC9030C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A01709-35DF-4429-8B29-E56234D1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是在线策略专家：读证据、提出假设、选择下一次实验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BCD916-EC9A-457D-8E9F-23F6A27D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AFBC8-29CF-4F75-A347-7DDD591D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07F0B4-8F9E-47E6-AC51-6E62A124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285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08E008-983E-4DD6-881B-288E5B63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4003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已揭示 target 历史与当前 best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 证据和冻结初始假设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GP 均值、不确定性和 EI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候选菜单；隐藏真实答案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839534-B171-4647-B0C6-EE8060FC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0DC9BC-EE20-4D00-B848-C56686B0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811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B2257-FBFD-496D-9AE0-CC0A0DA1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19300"/>
            <a:ext cx="3162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14DB55-8B6F-431B-A43D-AFD32681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86000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Opus 4.8 / GLM 5.3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5A1C2B-99C9-4CFF-BD8F-1491D0B6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33675"/>
            <a:ext cx="2400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E06BE8-EF7E-4E4C-BF44-F11C50C3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90850"/>
            <a:ext cx="27051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更新一个可证伪假设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选择一个候选并说明理由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列出支持和反对证据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决定继续迁移或回退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C09F23-5885-4F70-AE41-C3D17A3A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51F37C-BD49-4A82-A36B-EBAD84C0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81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执行与反馈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2C1B29-AC8F-4AE1-8721-5CE7207A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19300"/>
            <a:ext cx="29718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0F128A-D26B-4F6D-B031-2E4C23FE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050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6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执行一个候选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130E07-6AAB-4406-B614-254C0139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479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只揭示该候选的真实 target 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53578-1FCA-495E-B628-99C384C9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43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更新下一轮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527D9D-ABE8-4362-89A5-2559C29A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486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重训 GP，刷新菜单与当前 best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C5C985-AD09-46DB-98D8-712D4893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229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保存完整 trace；进入下一轮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C508B0-F200-4EA0-BB37-A68F266E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075B3E-6DCF-46F9-AA6D-1CB84E11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完整保存：prompt、原始回答、模型、token 用量、选择者、候选条件、揭示结果和文件哈希。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API 密钥不会写入代码、PPT 或实验结果。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AE7681-229E-47D3-BAFE-C24840D7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1264190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CFDDDBF-D3E5-46A9-B61A-783EB606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真实推理案例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B8BDA2-AC0D-422E-A5A0-0A7DE1B1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FA2215-0D8E-4BB8-8291-73445664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没照搬 GP rank 1，第一轮把 best 从 67.25 提到 86.875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F2DAF-4BD5-4C32-A84C-A21A1F66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85EEB-98CA-443B-BC8B-EC2DCE9F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896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3249D-42FE-4F5E-8608-52EFE3E9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冻结假设 · FreeSolv → Lipophilicity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DC657-F311-4C2B-ACFA-3FE9EDED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00200"/>
            <a:ext cx="697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2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溶剂化偏好与脂溶性沿相反轴变化：卤素丰富、低极性的芳香分子可能在 target 中更好。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7CD4E2-F8A6-4271-AC8F-5AC39C33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E6A499-BF02-4D70-A65B-DED61221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阶段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9A0BB8-821E-4D1C-B5A5-68308216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26479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46089-5773-485E-AB8E-068F02C2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27146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选择 / 判断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995DE2-F2D8-482E-91FF-17A8CDE6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D7EAC0-D2D5-4489-BF99-308E097A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模型信息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43A55A-890E-48BC-B00A-F3FDB6DF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253BC-A893-425B-9CD8-DD494BF7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真实揭示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47A0BD-EDAD-4B2D-854A-EE91CF0D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26479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E20673-AD04-4B2F-B49D-4957855C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27146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best 变化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336950-35E5-4FC3-8E3D-3EAEB0E5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A8598A-725F-4CD2-BE42-1E622130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670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初始状态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3C6D57-105C-4306-8786-3A149861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2004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752B35-F759-4C55-BC80-3880C6A5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2670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best = lipo_3444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576DA0-1F43-489F-BE7B-A6617595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188630-0795-44A3-B452-BE323E50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67.25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385655-BAD0-43C3-99BD-26CA8858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BB38B5-3B8D-47A0-B419-8ABE7C4B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67.25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40F474-95BA-4671-8A4D-B58315D7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2004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8E5C62-5247-490A-9B4D-4E04C07A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2670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7E8AE5-AA1A-4355-8969-C6C8D26E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B66D6D-2AE5-4D12-B1B3-C7581378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AE50F0-4366-4669-ABC7-3B7EE89F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7528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D000B9-8EA7-44B5-833B-F1D7BB19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8195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选择 lipo_0635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10E465-A185-4D56-AC5A-3A8B43A8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242CD3-8552-4F70-BFC1-A9FFF65F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GP rank 4 · EI 3.90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9C250B-7140-4B0D-9265-8469312D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0800D8-CADC-4A37-8293-0B5A57AA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隐藏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829D04-E72E-4FF0-8435-5BF31453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7528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9C689B-12CA-46A2-974B-AE450172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8195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待执行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A52B3C-4CBE-49E8-AE0E-073D0446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C59420-8ADB-4B61-BC88-7FCA893E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719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第 1 轮执行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679A9D-809A-4C46-B0C7-C098FABA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43053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50D8B81-7292-4DE3-B6D7-436934ED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43719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揭示 lipo_0635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9D98D3-181D-4E88-9598-E561FF7D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8BD18E7-E281-45FE-AB11-C9EE9CCA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模型预期 62.0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15223B-F11A-4853-9870-7CDCA006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89BF138-860B-4BCF-A804-4EBDCE96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86.875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73B347-F3C6-4AC1-8659-0D0B7260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43053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B5C1201-B5FC-4E88-8DC5-806D3D1B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43719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+19.625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CF5338A-D782-4284-B7E6-E5A849CF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67056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2983001-81CC-4F9C-BE72-F0BD4F41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625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为什么不选 GP rank 1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7537A2C-F437-41D9-9C4B-812F9442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该候选 EI 略高，且卤素丰富、低极性结构与已观测赢家一致。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283B97-0EE6-4324-9513-2A14833B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991100"/>
            <a:ext cx="39624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7470470-BEA1-438C-8F4E-76E67B8F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625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证据边界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96A6D4D-E6A8-4015-9A15-DB5FE44C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486400"/>
            <a:ext cx="346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这是保存的单条真实 trace，不代表所有路线都会成功。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64EB465-4DD9-4272-9812-883B25E1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1639012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逐路线结果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同开局下：相对 target GP 为 6 胜 2 平 3 负；固定 RGPE 为 6 胜 1 平 4 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4d6dbdd3c41c1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fbef0c5dfc4aa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证据强度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两次调用总体同为 6 / 2 / 3，但 4 条路线翻转正负号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2b087722894200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ca84bfed994180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材料迁移案例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拒绝不可靠迁移后仍更早找到高值材料；单位语义错误 5 → 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94ff59a4814dd5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4e94a571f344e6"/>
          <a:srcRect xmlns:a="http://schemas.openxmlformats.org/drawingml/2006/main" l="0" t="1200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3116EE-10E9-42CB-87E9-9FFCF69E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为什么有些 case 有增益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93BB4F-687E-41EA-880C-DA077418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C42BAC-7B39-48DE-98FE-F217E9DA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有效的前提：表示对齐，并真正改变实验动作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036B3D-8368-4946-B1A4-22E1178B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D85720-6F57-4F74-A324-0BFA22D5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什么时候有效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C3C5FB-A495-4A31-9A88-FA2DD403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A04F9C-2AAB-439F-AAAB-57819E2FB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语义特征与目标性质对齐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Matbench 元素数分组：AUC +6.17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Lipophilicity 芳香性分组：AUC +1.26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目标数据负责重新学习权重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871CA-3863-4F0F-AD47-D7F77233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增益来自哪里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3EDA0F-719B-4FB6-8EF4-3EE305D0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D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41F36-5B20-49DF-BA94-2CB3D6E6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 主要改善初始实验覆盖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ChemLex → BH 开局收益最明显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固定开局后，连续 source 增量为 0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LLM patch 也没有额外增益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4E01B4-FF74-43B9-836C-86622751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什么时候失效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C90A63-4DAD-4827-B80E-F6F73DC5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E6C171-175C-4A68-B81C-6F3601CB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目标方向不一致：Lipo → FreeSolv -29.90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决策冗余：6 / 6 仍选 GP rank 1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outcome summary 未优于 schema-only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合理解释不等于性能证据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5B1B0-A476-4A17-870B-B30AB152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7E0A7A-9D50-4462-9357-1E2DF160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12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判断标准：semantic alignment + action change + target recalibration；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缺少其中一项，迁移通常持平或转负。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BEB5A-896B-489B-8B8A-474FCA6E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9015786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Source-outcome 因果检验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两条路线优于 target-only，但正确 outcome 绑定未通过置换检验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source-outcome audit · 2026-08-24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ddcc38557e49d4"/>
          <a:stretch xmlns:a="http://schemas.openxmlformats.org/drawingml/2006/main"/>
        </p:blipFill>
        <p:spPr>
          <a:xfrm xmlns:a="http://schemas.openxmlformats.org/drawingml/2006/main">
            <a:off x="1462686" y="1258058"/>
            <a:ext cx="9266627" cy="510388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在线 LLM 首批真实调用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 / 6 选择 GP rank 1；在线 AUC 增量 0；共使用 99,243 tokens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aade6b7b8e4049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bf30468acb403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2026-08-24T21:20:46.8840000Z</dcterms:created>
  <dcterms:modified xsi:type="dcterms:W3CDTF">2026-08-24T21:20:46.8840000Z</dcterms:modified>
</coreProperties>
</file>