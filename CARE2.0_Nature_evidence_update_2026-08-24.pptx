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3592aea84c64ead" /><Relationship Type="http://schemas.openxmlformats.org/officeDocument/2006/relationships/extended-properties" Target="/docProps/app.xml" Id="R60f6cc7031ca4a85" /><Relationship Type="http://schemas.openxmlformats.org/officeDocument/2006/relationships/officeDocument" Target="/ppt/presentation.xml" Id="R8109cb469b47411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65b50bd810e41e9"/>
  </p:sldMasterIdLst>
  <p:notesMasterIdLst>
    <p:notesMasterId xmlns:r="http://schemas.openxmlformats.org/officeDocument/2006/relationships" r:id="Rfc79cc0014984431"/>
  </p:notesMasterIdLst>
  <p:sldIdLst>
    <p:sldId xmlns:r="http://schemas.openxmlformats.org/officeDocument/2006/relationships" id="256" r:id="R10b43517cde74ac5"/>
    <p:sldId xmlns:r="http://schemas.openxmlformats.org/officeDocument/2006/relationships" id="257" r:id="Re7c01254980246e5"/>
    <p:sldId xmlns:r="http://schemas.openxmlformats.org/officeDocument/2006/relationships" id="258" r:id="R619595296e0c49a6"/>
    <p:sldId xmlns:r="http://schemas.openxmlformats.org/officeDocument/2006/relationships" id="259" r:id="R22e09889822745c4"/>
    <p:sldId xmlns:r="http://schemas.openxmlformats.org/officeDocument/2006/relationships" id="260" r:id="Rc3f9c739df0c4a79"/>
    <p:sldId xmlns:r="http://schemas.openxmlformats.org/officeDocument/2006/relationships" id="261" r:id="R3162f215fe024a12"/>
    <p:sldId xmlns:r="http://schemas.openxmlformats.org/officeDocument/2006/relationships" id="262" r:id="R8cf4e3a44d424aa8"/>
    <p:sldId xmlns:r="http://schemas.openxmlformats.org/officeDocument/2006/relationships" id="263" r:id="R0a2cdde02e7347a3"/>
    <p:sldId xmlns:r="http://schemas.openxmlformats.org/officeDocument/2006/relationships" id="264" r:id="R8ccb2a027ac344f1"/>
    <p:sldId xmlns:r="http://schemas.openxmlformats.org/officeDocument/2006/relationships" id="265" r:id="R648b309a21b54cbe"/>
    <p:sldId xmlns:r="http://schemas.openxmlformats.org/officeDocument/2006/relationships" id="266" r:id="R663c00ce916344a4"/>
    <p:sldId xmlns:r="http://schemas.openxmlformats.org/officeDocument/2006/relationships" id="267" r:id="R47deffe29dd54e77"/>
    <p:sldId xmlns:r="http://schemas.openxmlformats.org/officeDocument/2006/relationships" id="268" r:id="Rbbad0310e9134853"/>
    <p:sldId xmlns:r="http://schemas.openxmlformats.org/officeDocument/2006/relationships" id="269" r:id="R7a2aecaa02034872"/>
    <p:sldId xmlns:r="http://schemas.openxmlformats.org/officeDocument/2006/relationships" id="270" r:id="R2a49740e7591499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2c881cd4e5f45b0" /><Relationship Type="http://schemas.openxmlformats.org/officeDocument/2006/relationships/slideMaster" Target="/ppt/slideMasters/slideMaster1.xml" Id="R965b50bd810e41e9" /><Relationship Type="http://schemas.openxmlformats.org/officeDocument/2006/relationships/notesMaster" Target="/ppt/notesMasters/notesMaster1.xml" Id="Rfc79cc0014984431" /><Relationship Type="http://schemas.openxmlformats.org/officeDocument/2006/relationships/presProps" Target="/ppt/presProps.xml" Id="Rf604cdaf5e1a47bc" /><Relationship Type="http://schemas.openxmlformats.org/officeDocument/2006/relationships/tableStyles" Target="/ppt/tableStyles.xml" Id="R003fb88144ee4545" /><Relationship Type="http://schemas.openxmlformats.org/officeDocument/2006/relationships/slide" Target="/ppt/slides/slide1.xml" Id="R10b43517cde74ac5" /><Relationship Type="http://schemas.openxmlformats.org/officeDocument/2006/relationships/slide" Target="/ppt/slides/slide2.xml" Id="Re7c01254980246e5" /><Relationship Type="http://schemas.openxmlformats.org/officeDocument/2006/relationships/slide" Target="/ppt/slides/slide3.xml" Id="R619595296e0c49a6" /><Relationship Type="http://schemas.openxmlformats.org/officeDocument/2006/relationships/slide" Target="/ppt/slides/slide4.xml" Id="R22e09889822745c4" /><Relationship Type="http://schemas.openxmlformats.org/officeDocument/2006/relationships/slide" Target="/ppt/slides/slide5.xml" Id="Rc3f9c739df0c4a79" /><Relationship Type="http://schemas.openxmlformats.org/officeDocument/2006/relationships/slide" Target="/ppt/slides/slide6.xml" Id="R3162f215fe024a12" /><Relationship Type="http://schemas.openxmlformats.org/officeDocument/2006/relationships/slide" Target="/ppt/slides/slide7.xml" Id="R8cf4e3a44d424aa8" /><Relationship Type="http://schemas.openxmlformats.org/officeDocument/2006/relationships/slide" Target="/ppt/slides/slide8.xml" Id="R0a2cdde02e7347a3" /><Relationship Type="http://schemas.openxmlformats.org/officeDocument/2006/relationships/slide" Target="/ppt/slides/slide9.xml" Id="R8ccb2a027ac344f1" /><Relationship Type="http://schemas.openxmlformats.org/officeDocument/2006/relationships/slide" Target="/ppt/slides/slide10.xml" Id="R648b309a21b54cbe" /><Relationship Type="http://schemas.openxmlformats.org/officeDocument/2006/relationships/slide" Target="/ppt/slides/slide11.xml" Id="R663c00ce916344a4" /><Relationship Type="http://schemas.openxmlformats.org/officeDocument/2006/relationships/slide" Target="/ppt/slides/slide12.xml" Id="R47deffe29dd54e77" /><Relationship Type="http://schemas.openxmlformats.org/officeDocument/2006/relationships/slide" Target="/ppt/slides/slide13.xml" Id="Rbbad0310e9134853" /><Relationship Type="http://schemas.openxmlformats.org/officeDocument/2006/relationships/slide" Target="/ppt/slides/slide14.xml" Id="R7a2aecaa02034872" /><Relationship Type="http://schemas.openxmlformats.org/officeDocument/2006/relationships/slide" Target="/ppt/slides/slide15.xml" Id="R2a49740e7591499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ca0b8666c694d2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e6cb7c54a394d3b" /><Relationship Type="http://schemas.openxmlformats.org/officeDocument/2006/relationships/notesMaster" Target="/ppt/notesMasters/notesMaster1.xml" Id="Rd5336dc531ca4cb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8c7febd0a53423e" /><Relationship Type="http://schemas.openxmlformats.org/officeDocument/2006/relationships/notesMaster" Target="/ppt/notesMasters/notesMaster1.xml" Id="R3b042bd6e5134b6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8eefb96007f4135" /><Relationship Type="http://schemas.openxmlformats.org/officeDocument/2006/relationships/notesMaster" Target="/ppt/notesMasters/notesMaster1.xml" Id="R9f5a4a10c3a845f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a91e51452294783" /><Relationship Type="http://schemas.openxmlformats.org/officeDocument/2006/relationships/notesMaster" Target="/ppt/notesMasters/notesMaster1.xml" Id="Rc4aa3527d6dc4f3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26257db5b1247d9" /><Relationship Type="http://schemas.openxmlformats.org/officeDocument/2006/relationships/notesMaster" Target="/ppt/notesMasters/notesMaster1.xml" Id="R2467bd10ba8147a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c7a5f44ddfe42e0" /><Relationship Type="http://schemas.openxmlformats.org/officeDocument/2006/relationships/notesMaster" Target="/ppt/notesMasters/notesMaster1.xml" Id="R58438a2b47b848e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35b4af8a06c430b" /><Relationship Type="http://schemas.openxmlformats.org/officeDocument/2006/relationships/notesMaster" Target="/ppt/notesMasters/notesMaster1.xml" Id="R01bced45999e467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ba20c35a34a45f4" /><Relationship Type="http://schemas.openxmlformats.org/officeDocument/2006/relationships/notesMaster" Target="/ppt/notesMasters/notesMaster1.xml" Id="R5fb8f5f4b9da4fc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a2cdc9769f24b93" /><Relationship Type="http://schemas.openxmlformats.org/officeDocument/2006/relationships/notesMaster" Target="/ppt/notesMasters/notesMaster1.xml" Id="R6e3ebb973ac246a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e3de4d62b6b47fe" /><Relationship Type="http://schemas.openxmlformats.org/officeDocument/2006/relationships/notesMaster" Target="/ppt/notesMasters/notesMaster1.xml" Id="R9d7fa2c7af7a481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02ee3a8580242f1" /><Relationship Type="http://schemas.openxmlformats.org/officeDocument/2006/relationships/notesMaster" Target="/ppt/notesMasters/notesMaster1.xml" Id="Re1b8ed2e1f8140d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a7b53b04ffd4ad2" /><Relationship Type="http://schemas.openxmlformats.org/officeDocument/2006/relationships/notesMaster" Target="/ppt/notesMasters/notesMaster1.xml" Id="R24c98bd8b149423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6daafedf2bb49a0" /><Relationship Type="http://schemas.openxmlformats.org/officeDocument/2006/relationships/notesMaster" Target="/ppt/notesMasters/notesMaster1.xml" Id="Rc54ee9351497432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14c3c68315d47b0" /><Relationship Type="http://schemas.openxmlformats.org/officeDocument/2006/relationships/notesMaster" Target="/ppt/notesMasters/notesMaster1.xml" Id="Rc39fd353ddb6485b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fda31a41385498c" /><Relationship Type="http://schemas.openxmlformats.org/officeDocument/2006/relationships/notesMaster" Target="/ppt/notesMasters/notesMaster1.xml" Id="Ra6ae579b31284f9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CARE 2.0 的主线不是让大模型持续接管数值优化，而是让它把 source evidence 编译成可检查、可执行、可拒绝的迁移 skill。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LLM 读取旧任务证据和新任务的公开 schema，提出规则特征、先验方向和搜索策略。Strict compiler 先检查字段和值是否存在，calibration split 再决定 skill 是否值得部署；冻结后由 target optimizer 在真实预算内执行。这样，LLM 提供语义和假设，GP 提供稳定的数值优化，失败 skill 可以被拒绝并保留审计记录。在线 proposer/critic 仍然存在，但首批真实 pilot 没有改变 GP rank 1，因此目前是探索模块，不是论文主贡献。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experiments/care_replay/results/2026-07-21-cross-domain-semantic-skills/README.md</a:t>
            </a:r>
          </a:p>
          <a:p xmlns:a="http://schemas.openxmlformats.org/drawingml/2006/main">
            <a:r>
              <a:t>- experiments/care_replay/scripts/generate_llm_semantic_skills.py</a:t>
            </a:r>
          </a:p>
          <a:p xmlns:a="http://schemas.openxmlformats.org/drawingml/2006/main">
            <a:r>
              <a:t>- experiments/care_replay/scripts/run_calibrated_llm_semantic_selector.py</a:t>
            </a:r>
          </a:p>
          <a:p xmlns:a="http://schemas.openxmlformats.org/drawingml/2006/main">
            <a:r>
              <a:t>- docs/NATURE_SUBMISSION_READINESS.md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冻结 11 路线中，在线 LLM 相对同开局 target-only GP 的平均 best-so-far AUC 增益为 +1.753，6 胜、2 平、3 负；完整 17 路线盘点后均值降为 +0.762。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11 路线的 route-bootstrap 区间为 [+0.415,+3.315]，但符号检验 p=0.5078，而且每条路线只有一条在线轨迹。纳入仓库中 6 条更早的负向或持平路线后，17 路线区间为 [-0.501,+2.091]，再次跨过 0。因此我们把“冻结子集上的平均正向信号”和“所有历史路线尚未确认普遍提升”同时展示，避免路线选择偏差。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experiments/care_replay/results/2026-08-24-online-llm-predeclared-baseline-portfolio-v1/aggregate.json</a:t>
            </a:r>
          </a:p>
          <a:p xmlns:a="http://schemas.openxmlformats.org/drawingml/2006/main">
            <a:r>
              <a:t>- experiments/care_replay/results/2026-08-24-online-llm-predeclared-baseline-portfolio-v2/aggregate.json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问题被定义成一个严格的 sequential decision problem：同起点、同候选、同预算，比较谁更早找到高值条件。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target 中未执行候选的结果始终隐藏。系统只知道 source 历史、target 的变量结构、已经揭示的 target 结果和剩余预算。评价重点不是大模型解释得是否好听，而是它的选择是否让 best-so-far 曲线更早上升。这个定义也让方法能在化学、分子性质和材料任务中使用同一套接口。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experiments/care_replay/CARE2_METHOD.md</a:t>
            </a:r>
          </a:p>
          <a:p xmlns:a="http://schemas.openxmlformats.org/drawingml/2006/main">
            <a:r>
              <a:t>- experiments/care_replay/replay.py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这页展示在线 proposer/critic 控制器，但它现在是被审计的探索模块，不是已确认的主方法。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候选菜单包含 target GP 高分点、source prior 支持点、共识点和覆盖点。Proposer 更新可证伪假设并提议一个实验；Critic 可以接受、退回 GP rank 1 或改选。历史完整在线版本允许 LLM 在十轮都有最终选择权，但分离路线表现不稳。Bounded pilot 因此只允许第一轮 LLM 决策，后九轮交回 target GP。首批六条真实调用中，LLM 六次都选择 GP rank 1，说明它输出了结构化判断，却没有产生 action change。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experiments/care_replay/scripts/run_online_llm_scientist.py</a:t>
            </a:r>
          </a:p>
          <a:p xmlns:a="http://schemas.openxmlformats.org/drawingml/2006/main">
            <a:r>
              <a:t>- experiments/care_replay/results/2026-08-24-online-llm-bounded-authority-route-disjoint-confirmation-v1/pilot_audit/decision_impact_audit.json</a:t>
            </a:r>
          </a:p>
          <a:p xmlns:a="http://schemas.openxmlformats.org/drawingml/2006/main">
            <a:r>
              <a:t>- docs/NATURE_SUBMISSION_READINESS.md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Replay harness 用完整历史数据模拟“每做一个实验才知道一个结果”的过程。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虽然数据表里保存了所有真实结果，但控制器在第 t 轮只能读取此前执行过的 target 结果。未选择候选的标签不会进入 prompt、GP 训练或候选评分。在线 LLM 和对照组从相同的三个 target 观测开始，各有 10 次揭示机会，因此预算严格匹配。每一轮选择、响应、模型和揭示结果都会写入审计文件。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experiments/care_replay/replay.py</a:t>
            </a:r>
          </a:p>
          <a:p xmlns:a="http://schemas.openxmlformats.org/drawingml/2006/main">
            <a:r>
              <a:t>- experiments/care_replay/scripts/run_online_llm_scientist.py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Reward 是 best-so-far 曲线下面积，不是强化学习的训练奖励。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第 t 轮结果记为 y_t，当前最好值 b_t=max(y_1,...,y_t)。一条长度为 T 的轨迹得分 R=(1/T)Σb_t。好结果越早出现，它会在更多后续轮次中贡献高 best，因此 R 更高。每轮新结果会更新 target 历史、GP 后验、候选排序和科学假设；它不会更新 Claude 的模型权重，也不会自动把本轮经验蒸馏成永久 skill。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experiments/care_replay/replay.py</a:t>
            </a:r>
          </a:p>
          <a:p xmlns:a="http://schemas.openxmlformats.org/drawingml/2006/main">
            <a:r>
              <a:t>- experiments/care_replay/scripts/run_online_llm_scientist.py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主比较用同开局 target-only GP 隔离在线 LLM 增量，并把 RGPE 与 multitask GP 扩展到冻结的全部 11 条路线。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所有方法使用完全相同的三个初始 target 观测、候选空间和 10 轮预算。固定 comparator 规则为：单 source 用 RGPE，多 source 用 multisource RGPE。在线 LLM 相对 target GP 平均 +1.753，相对固定 RGPE 平均 +3.229，但后者区间跨 0。若在每条路线看完结果后选最强 baseline，LLM 平均为 -0.550，只取得 3 胜、1 平、7 负。这个 oracle 诊断不是公平的预先选型主结果，但它清楚说明当前 LLM 还不是多数路线上的最强优化器。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experiments/care_replay/configs/online_llm_predeclared_baseline_portfolio_v1.json</a:t>
            </a:r>
          </a:p>
          <a:p xmlns:a="http://schemas.openxmlformats.org/drawingml/2006/main">
            <a:r>
              <a:t>- experiments/care_replay/results/2026-08-24-online-llm-predeclared-baseline-portfolio-v1/aggregate.json</a:t>
            </a:r>
          </a:p>
          <a:p xmlns:a="http://schemas.openxmlformats.org/drawingml/2006/main">
            <a:r>
              <a:t>- experiments/care_replay/results/2026-08-24-online-llm-predeclared-baseline-portfolio-v1/route_comparisons.csv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LLM 的输入和输出都是结构化、可审计并能直接执行的。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每一轮输入包括已揭示 target 历史、当前 best、source evidence、冻结初始假设、GP posterior mean/std/EI 和一个合格候选菜单。输出必须包含 hypothesis_status、更新后的假设、一个 candidate_id、预期结果、改善概率、支持和反对证据、是否继续 source transfer，以及与 GP rank 1 的比较。Critic 对 proposer 的输出做第二次审查。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experiments/care_replay/scripts/run_online_llm_scientist.py</a:t>
            </a:r>
          </a:p>
          <a:p xmlns:a="http://schemas.openxmlformats.org/drawingml/2006/main">
            <a:r>
              <a:t>- experiments/care_replay/results/2026-08-16-opus48-bounded-ei-development-v2/molecular_freesolv_to_lipophilicity/llm_trace.jsonl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这是保存下来的真实 trace，不是为了讲解而编的例子。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在 FreeSolv 到 Lipophilicity 路线上，初始 best 为 67.25。第 0 轮的 GP rank 1 是 lipo_2256，但 proposer 和 critic 选择了 GP rank 4 的 lipo_0635：它的 expected improvement 略高，而且“卤素丰富、低极性的芳香酰胺”与已观测的高 lipophilicity 分子一致。该候选真正揭示后得到 86.875，使 best 一轮提高 19.625。整个路线相对同开局 target-only GP 的 AUC 增益为 +6.325。需要提醒：这是成功案例，用来展示机制和 trace，不代表所有路线。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experiments/care_replay/results/2026-08-16-opus48-bounded-ei-development-v2/molecular_freesolv_to_lipophilicity/llm_trace.jsonl</a:t>
            </a:r>
          </a:p>
          <a:p xmlns:a="http://schemas.openxmlformats.org/drawingml/2006/main">
            <a:r>
              <a:t>- experiments/care_replay/results/2026-08-16-opus48-bounded-ei-development-v2/molecular_freesolv_to_lipophilicity/summary.json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真实路线结果高度异质，LLM 相对 no-transfer 更有优势，但没有稳定压过经典 transfer BO。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圆点表示在线 LLM 相对同开局 target-only GP-UCB 的 best-so-far AUC 差值；方块表示相对固定 RGPE 规则的差值。正值表示 LLM 更早找到好条件，负值表示更慢。11 条路线中，相对 target GP 为 6 胜、2 平、3 负；相对固定 RGPE 为 6 胜、1 平、4 负。最大的正向包括 expt gap→dielectric 和 FreeSolv→Lipophilicity，但若每条路线事后选择最强 baseline，LLM 只取得 3 胜、1 平、7 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experiments/care_replay/results/2026-08-24-online-llm-predeclared-baseline-portfolio-v1/route_comparisons.csv</a:t>
            </a:r>
          </a:p>
          <a:p xmlns:a="http://schemas.openxmlformats.org/drawingml/2006/main">
            <a:r>
              <a:t>- experiments/care_replay/results/2026-08-24-online-llm-predeclared-baseline-portfolio-v1/aggregate.json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两批调用的总体胜平负都为 6 / 2 / 3，但 11 条配对路线中有 4 条严格翻转正负号。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空心点是早期审计调用，蓝绿色点是第一次冻结重复，橙色菱形是 Suzuki 的第二次冻结重复。材料 expt gap→mp gap、两条 phenethylamine 路线和 aniline→benzamide 路线发生了严格符号翻转。Suzuki 三次观察为 +0.28、+1.38 和 +0.32，方向一致但幅度仍有波动。早期调用发生在确认协议冻结前，因此本页只是 stochasticity audit，不是正式重复检验；它证明了为什么不能用单次 LLM 结果给路线贴上“可迁移/不可迁移”的稳定标签。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experiments/care_replay/results/2026-08-23-llm-trajectory-stability-audit/paired_route_stability.csv</a:t>
            </a:r>
          </a:p>
          <a:p xmlns:a="http://schemas.openxmlformats.org/drawingml/2006/main">
            <a:r>
              <a:t>- experiments/care_replay/results/2026-08-23-llm-trajectory-stability-audit/paired_route_stability.svg</a:t>
            </a:r>
          </a:p>
          <a:p xmlns:a="http://schemas.openxmlformats.org/drawingml/2006/main">
            <a:r>
              <a:t>- experiments/care_replay/results/2026-08-23-llm-trajectory-stability-audit/stability_audit.json</a:t>
            </a:r>
          </a:p>
          <a:p xmlns:a="http://schemas.openxmlformats.org/drawingml/2006/main">
            <a:r>
              <a:t>- https://arxiv.org/abs/2410.03492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材料案例说明 LLM 的价值也包括识别“不应该直接迁移”，并且 trace 能暴露和修复解释错误。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在 phonons→bulk modulus 路线上，LLM 十轮都关闭 direct source transfer，因为 target 证据不支持把声子峰排名直接搬到体模量。但它仍根据材料组成语义和已揭示 target 结果，在 4/10 轮选择了非 GP rank 1 候选。CARE 最终找到 normalized score 77.6127 的 O8Pt6；同开局 GP 最终为 73.2886。AUC 增益 +3.240，final 增益 +4.324。这里应讲成“负迁移识别 + target 自适应”，不能讲成 phonon outcome 正向迁移。早期 trace 有 5 次把无量纲 replay score 写成 GPa；加入 outcome-scale contract 后，新轨迹 20 个 proposer/critic 响应中该错误为 0。新轨迹的 AUC 增益为 +3.083，但它与旧轨迹不是配对调用，因此只用于验证语义修复，不用于声称性能提升。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experiments/care_replay/results/2026-08-24-online-llm-transport-context-robustness-v3/materials_phonons_to_bulk_modulus/trajectory_5000/summary.json</a:t>
            </a:r>
          </a:p>
          <a:p xmlns:a="http://schemas.openxmlformats.org/drawingml/2006/main">
            <a:r>
              <a:t>- experiments/care_replay/results/2026-08-24-online-llm-transport-context-robustness-v3/materials_phonons_to_bulk_modulus/trajectory_5000/llm_trace.jsonl</a:t>
            </a:r>
          </a:p>
          <a:p xmlns:a="http://schemas.openxmlformats.org/drawingml/2006/main">
            <a:r>
              <a:t>- experiments/care_replay/results/2026-08-24-online-llm-transport-context-robustness-v3/materials_phonons_to_bulk_modulus/trajectory_5000/audit/materials_online_trace_audit.json</a:t>
            </a:r>
          </a:p>
          <a:p xmlns:a="http://schemas.openxmlformats.org/drawingml/2006/main">
            <a:r>
              <a:t>- experiments/care_replay/results/2026-08-24-online-llm-outcome-semantics-robustness-v1/materials_phonons_to_bulk_modulus/trajectory_6000/summary.json</a:t>
            </a:r>
          </a:p>
          <a:p xmlns:a="http://schemas.openxmlformats.org/drawingml/2006/main">
            <a:r>
              <a:t>- experiments/care_replay/results/2026-08-24-online-llm-outcome-semantics-robustness-v1/materials_phonons_to_bulk_modulus/trajectory_6000/audit/outcome_semantics_audit.json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LLM 并不是在所有任务上都有效。现有消融表明，增益出现需要三个条件：语义表示与目标性质对齐，LLM 的输出实际改变实验动作，并且目标数据可以重新校准权重。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第一类增益来自 representation。Matbench experimental band gap 中，LLM 提出的 high_element_count 分组相对 target portfolio 提高 AUC 6.167，95% 配对区间为 [4.361, 7.972]；Lipophilicity 中，high_aromatic_content 相对 GP-UCB 提高 AUC 1.261，区间为 [0.891, 1.630]。两项实验都没有向 LLM 提供 source outcomes，而且 no-prior 版本表现更好，说明 LLM 的贡献主要是选对语义特征，具体方向与强度仍应由目标数据和 GP 学习。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第二类增益来自 early coverage。机制消融中，ChemLex 到 Buchwald–Hartwig、dielectric 到 experimental band gap 的主要收益在 source-informed initial design。固定相同开局后，连续 source-outcome term 和 LLM patch 都没有额外增益。因此不能把这两条结果解释成 LLM 每轮自由重排更强，而应解释为 source knowledge 帮助系统更早覆盖了有价值的实验区域。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第三，推理只有改变动作才可能产生因果增量。最新六条真实 bounded-authority pilot 全部选择 GP-UCB rank 1，在线 AUC 增量为 0。虽然三条 trace 文字上保留了 source hypothesis，但并未改变实验选择。相反，Lipophilicity 到 FreeSolv 的 matched transfer AUC 为 -29.902，表明共享分子描述符不足以保证目标方向可迁移。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所以论文不声称“LLM 总能提高优化”。更准确的结论是：LLM 在语义表示对齐、能改变早期采样并允许目标数据重新校准时最可能有效；表示不匹配、目标符号不一致或动作与 GP 重合时，系统应该拒绝或回退。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experiments/care_replay/results/2026-07-21-llm-evidence-causality/README.md</a:t>
            </a:r>
          </a:p>
          <a:p xmlns:a="http://schemas.openxmlformats.org/drawingml/2006/main">
            <a:r>
              <a:t>- experiments/care_replay/results/2026-07-23-source-evidence-extension/README.md</a:t>
            </a:r>
          </a:p>
          <a:p xmlns:a="http://schemas.openxmlformats.org/drawingml/2006/main">
            <a:r>
              <a:t>- experiments/care_replay/results/2026-08-07-mechanism-controls/README.md</a:t>
            </a:r>
          </a:p>
          <a:p xmlns:a="http://schemas.openxmlformats.org/drawingml/2006/main">
            <a:r>
              <a:t>- experiments/care_replay/results/2026-08-24-online-llm-bounded-authority-route-disjoint-confirmation-v1/pilot_audit/decision_impact_audit.json</a:t>
            </a:r>
          </a:p>
          <a:p xmlns:a="http://schemas.openxmlformats.org/drawingml/2006/main">
            <a:r>
              <a:t>- docs/OVERLEAF_CASE_STUDIES_DRAFT.tex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下一步不是继续堆在线调用，而是先证明 LLM 的输出确实改变动作，并把 semantic skill 放到新任务上做冻结验证。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在线 pilot 的 6 个成功调用共消耗 99,243 tokens，但 6 次都选择 GP rank 1，说明直接扩成 180 次只会高成本重复无决策影响的策略。该启动还保留了一次 inactive-key 的 pre-response 失败，按冻结 retry semantics 已经无法满足原来的完整确认条件。下一步先只在 development routes 上开发 challenger 或 semantic skill policy，要求出现非零且有益的 action change；随后在新任务上冻结 skill、compiler、数据 split、baseline 和统计口径，再开始 disjoint evaluation。与此同时必须补 RGPE、multitask GP 等同预算强 baseline、source evidence / semantic rule / prior / critic 的同 seed 消融，以及至少一条 prospective wet-lab campaign。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docs/NATURE_SUBMISSION_READINESS.md</a:t>
            </a:r>
          </a:p>
          <a:p xmlns:a="http://schemas.openxmlformats.org/drawingml/2006/main">
            <a:r>
              <a:t>- experiments/care_replay/results/2026-08-24-online-llm-bounded-authority-route-disjoint-confirmation-v1/pilot_audit/PILOT_RESULTS.md</a:t>
            </a:r>
          </a:p>
          <a:p xmlns:a="http://schemas.openxmlformats.org/drawingml/2006/main">
            <a:r>
              <a:t>- experiments/care_replay/results/2026-07-21-cross-domain-semantic-skills/README.md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这页回答一个更基本的问题：在线 LLM 真实调用后，是否改变了实验选择。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左图的橙色刻线表示在线 LLM 相对同开局 target-only GP 的 AUC 差值，六条路线全部为 0；蓝色条表示包含 LLM initial design 的 complete system 相对固定 initial design，三条正向、一条持平、两条负向，平均 -0.0087。右图直接检查行为：6 次都选择 GP rank 1，非 GP override 为 0，critic 改选为 0；其中 3 次文字上保留 source transfer，但并没有改变候选。六条成功轨迹共使用 99,243 tokens，单轮 authority limit 避免了 108 次后续名义调用。这证明 bounded authority 能省调用，却还不能证明在线 LLM 提高性能。当前需要优化的是 decision mechanism，不是继续增加相同调用次数。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experiments/care_replay/scripts/build_online_llm_decision_impact_audit.py</a:t>
            </a:r>
          </a:p>
          <a:p xmlns:a="http://schemas.openxmlformats.org/drawingml/2006/main">
            <a:r>
              <a:t>- experiments/care_replay/results/2026-08-24-online-llm-bounded-authority-route-disjoint-confirmation-v1/pilot_audit/decision_impact_audit.json</a:t>
            </a:r>
          </a:p>
          <a:p xmlns:a="http://schemas.openxmlformats.org/drawingml/2006/main">
            <a:r>
              <a:t>- experiments/care_replay/results/2026-08-24-online-llm-bounded-authority-route-disjoint-confirmation-v1/pilot_audit/route_decision_metrics.csv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5a23bd620484e1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6e209f7d90f44c4" /><Relationship Type="http://schemas.openxmlformats.org/officeDocument/2006/relationships/slideLayout" Target="/ppt/slideLayouts/slideLayout1.xml" Id="R2b84081a008c4ac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b84081a008c4ac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bea825cbcb40a5" /><Relationship Type="http://schemas.openxmlformats.org/officeDocument/2006/relationships/notesSlide" Target="/ppt/notesSlides/notesSlide1.xml" Id="R0e34bb80f5074b4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812ec651c94cc1" /><Relationship Type="http://schemas.openxmlformats.org/officeDocument/2006/relationships/notesSlide" Target="/ppt/notesSlides/notesSlide2.xml" Id="R0661a58fc9c249a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d626c4513a4556" /><Relationship Type="http://schemas.openxmlformats.org/officeDocument/2006/relationships/notesSlide" Target="/ppt/notesSlides/notesSlide3.xml" Id="Rca0f2be5e253428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e01a87e45c474d" /><Relationship Type="http://schemas.openxmlformats.org/officeDocument/2006/relationships/notesSlide" Target="/ppt/notesSlides/notesSlide4.xml" Id="R67a152373c2545b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3e7265fa9b4c0e" /><Relationship Type="http://schemas.openxmlformats.org/officeDocument/2006/relationships/notesSlide" Target="/ppt/notesSlides/notesSlide5.xml" Id="R5cda11c34837483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48fbc68c5149c9" /><Relationship Type="http://schemas.openxmlformats.org/officeDocument/2006/relationships/notesSlide" Target="/ppt/notesSlides/notesSlide6.xml" Id="R02501433b02a420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b896d03bbe4b00" /><Relationship Type="http://schemas.openxmlformats.org/officeDocument/2006/relationships/notesSlide" Target="/ppt/notesSlides/notesSlide7.xml" Id="Rec7c4ff7b6c844d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cf983e9c1d4be2" /><Relationship Type="http://schemas.openxmlformats.org/officeDocument/2006/relationships/notesSlide" Target="/ppt/notesSlides/notesSlide8.xml" Id="R52c99da40216459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366522c53345ad" /><Relationship Type="http://schemas.openxmlformats.org/officeDocument/2006/relationships/notesSlide" Target="/ppt/notesSlides/notesSlide9.xml" Id="Re761cce1700c496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1484a1a4684b4a" /><Relationship Type="http://schemas.openxmlformats.org/officeDocument/2006/relationships/image" Target="/ppt/media/image.png" Id="R7eceb6c6ac094735" /><Relationship Type="http://schemas.openxmlformats.org/officeDocument/2006/relationships/image" Target="/ppt/media/image2.png" Id="R067786cd73f6481a" /><Relationship Type="http://schemas.openxmlformats.org/officeDocument/2006/relationships/notesSlide" Target="/ppt/notesSlides/notesSlide10.xml" Id="R67a0009e6369445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35a1f0b2034504" /><Relationship Type="http://schemas.openxmlformats.org/officeDocument/2006/relationships/image" Target="/ppt/media/image.png" Id="R6d3936ac54024449" /><Relationship Type="http://schemas.openxmlformats.org/officeDocument/2006/relationships/image" Target="/ppt/media/image3.png" Id="R7e5dc6bd9f624d53" /><Relationship Type="http://schemas.openxmlformats.org/officeDocument/2006/relationships/notesSlide" Target="/ppt/notesSlides/notesSlide11.xml" Id="R0cf962e8eb86416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47f0da83ca42d8" /><Relationship Type="http://schemas.openxmlformats.org/officeDocument/2006/relationships/image" Target="/ppt/media/image.png" Id="R6bdaf5a27d384779" /><Relationship Type="http://schemas.openxmlformats.org/officeDocument/2006/relationships/image" Target="/ppt/media/image4.png" Id="Rfdce951216bb4b57" /><Relationship Type="http://schemas.openxmlformats.org/officeDocument/2006/relationships/notesSlide" Target="/ppt/notesSlides/notesSlide12.xml" Id="R9fcaf7d0cafb4aa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1d7913b3594bb1" /><Relationship Type="http://schemas.openxmlformats.org/officeDocument/2006/relationships/notesSlide" Target="/ppt/notesSlides/notesSlide13.xml" Id="R49c2ae93f359477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b366be95f749f1" /><Relationship Type="http://schemas.openxmlformats.org/officeDocument/2006/relationships/notesSlide" Target="/ppt/notesSlides/notesSlide14.xml" Id="R70e4fc03561a4da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9f911a6e1c4129" /><Relationship Type="http://schemas.openxmlformats.org/officeDocument/2006/relationships/image" Target="/ppt/media/image.png" Id="Ra09c94facd8c44eb" /><Relationship Type="http://schemas.openxmlformats.org/officeDocument/2006/relationships/image" Target="/ppt/media/image5.png" Id="R4dd583d997f04e1a" /><Relationship Type="http://schemas.openxmlformats.org/officeDocument/2006/relationships/notesSlide" Target="/ppt/notesSlides/notesSlide15.xml" Id="R80d23f2e1da5435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8E2C15-6ABA-42B1-B457-E524007CF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CARE 2.0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19C9C7-C4E3-4DD7-951D-59BDBFDE0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47800"/>
            <a:ext cx="6762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4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4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让 LLM 把历史经验编译成</a:t>
            </a:r>
          </a:p>
          <a:p xmlns:a="http://schemas.openxmlformats.org/drawingml/2006/main">
            <a:pPr algn="l">
              <a:lnSpc>
                <a:spcPct val="92000"/>
              </a:lnSpc>
              <a:buNone/>
              <a:defRPr sz="4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4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可验证的迁移 skill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3DFA49-E869-4316-82E0-AE7932D8D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9565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先编译、再校准，冻结后交给目标优化器执行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28DD5B-E903-4D1B-AC27-C8E2DE491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38600"/>
            <a:ext cx="571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B9B407-CB14-42D1-BD2A-C68115EE9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400550"/>
            <a:ext cx="609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LLM-generated skills · 真实数据与在线审计 · 2026-08-24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30DA70-6A3F-4935-B39E-B5A0F4072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0"/>
            <a:ext cx="3619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A793F9-1E81-4BBA-906C-76088DA9B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120015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rPr>
              <a:t>历史证据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75CE5F-8B09-4518-852C-BA0377A5F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1743075"/>
            <a:ext cx="857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5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6E7B0A-73F5-49FF-BA20-6558F1CD9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333625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LLM 编 skill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7E8628-C659-424B-BC29-2C7A7FD27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2876550"/>
            <a:ext cx="857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5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9DB5D6-297E-4D79-9009-DCAFFE63A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46710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校准 / 拒绝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A37260-74A6-423C-B523-29AA57BA5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4010025"/>
            <a:ext cx="857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5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↓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5FB91B-0953-4F09-A37F-D7065E700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59105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rPr>
              <a:t>目标优化</a:t>
            </a:r>
          </a:p>
        </p:txBody>
      </p:sp>
    </p:spTree>
    <p:extLst>
      <p:ext uri="{BB962C8B-B14F-4D97-AF65-F5344CB8AC3E}">
        <p14:creationId xmlns:p14="http://schemas.microsoft.com/office/powerpoint/2010/main" val="120959469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0D09C1D-BC24-4D97-B373-8187A6B87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最新证据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E7B76D-3714-4077-9E5A-5434E3D1C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313817-9B8F-4473-95A8-03DE65683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5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冻结 11 路线有平均正向信号；完整 17 路线仍未确认普遍提升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430172-89CA-4BEE-99B9-7ADFB7725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5EDF4B-1E23-407A-8648-DB6CE2E92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90700"/>
            <a:ext cx="2362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34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4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+1.75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7321D6-D098-45E3-B508-A69735778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19350"/>
            <a:ext cx="2362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平均搜索效率变化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59EB89-3EE1-453C-9061-76076E9C9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19400"/>
            <a:ext cx="2362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11 条路线 · 同预算对照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1B03CB-DD3D-45D2-A755-F331C5B84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790700"/>
            <a:ext cx="2190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34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4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6 / 2 / 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BA55B1-D00B-440C-A77B-46BBCE141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41935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胜 / 平 / 负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37F159-6D89-4813-ADEE-6519E85B3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81940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相对 target-only GP-UCB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CA0859-E9DD-4993-BE56-F8C1226B7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1790700"/>
            <a:ext cx="2190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34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4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100%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96B0A9-9811-41FC-AF0C-EE2B2D791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41935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LLM 逐轮参与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580269-F7AD-4ED9-B495-B8D3DA260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81940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每条路线 10 轮在线决策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D5F63A-31DA-446D-BA11-3C45B1283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6325" y="1790700"/>
            <a:ext cx="2190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345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45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95% CI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E66E54-348A-405C-82CB-B016762B3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6325" y="241935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[+0.41, +3.31]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C0BF330-35A5-482E-B532-B6A2BD231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6325" y="281940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符号检验不显著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09E76F5-A7CC-4337-A863-FA3176F86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95750"/>
            <a:ext cx="108966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A129EB-5840-4AA8-85DE-F1F6CB5BA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30530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rPr>
              <a:t>目前最准确的结论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636D7B4-429C-468B-B182-198490743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267200"/>
            <a:ext cx="75628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完整历史盘点扩到 17 条路线后，平均增益降为 +0.76，区间 [-0.50,+2.09]。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因此当前结论是路线特异的正向信号，而不是普遍跨领域提升。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9D202BF-2C18-4A93-AFFA-C34844462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online LLM evidence update · 2026-08-24</a:t>
            </a:r>
          </a:p>
        </p:txBody>
      </p:sp>
    </p:spTree>
    <p:extLst>
      <p:ext uri="{BB962C8B-B14F-4D97-AF65-F5344CB8AC3E}">
        <p14:creationId xmlns:p14="http://schemas.microsoft.com/office/powerpoint/2010/main" val="62131887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2041906-50A8-4C88-8F91-09AB2CDCB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为什么要做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6C5AC5-2A53-41C7-9FB9-51BF26020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E321F2-78BB-49E9-939C-B85FF9A56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真正的问题不是让 LLM 会说，而是让它在有限预算里做对实验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367C0D-AE39-49BA-B9EF-35AB06AAD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9EEC39-F19B-4FCD-8A2B-6AF1EF5AF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95450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0F7DB6-67B7-44E2-A912-46847EFB1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342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BC7772-0453-4652-AEF5-9755DDEF0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28850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迁移前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27E4F1-3A93-4BE3-83DB-14527C946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05100"/>
            <a:ext cx="2857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source 任务的历史证据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target 的变量和候选空间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固定的实验预算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target 未执行条件的答案隐藏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7678EA-112E-4AA7-985C-3730B2229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1695450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10F5D5-9E09-45F3-A766-0353F71D8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095500"/>
            <a:ext cx="342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A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2C4442-D55B-4631-B209-517CE9A61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228850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每一轮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C5AD0A-FD2A-44C7-AF68-070F74C1B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705100"/>
            <a:ext cx="2857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生成候选菜单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Proposer 提案，Critic 复核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只执行并揭示一个条件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更新 GP、假设和下一轮选择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610776-5923-4272-B87F-28B3DA7A3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695450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F4966F-7C0E-41A6-A23B-DDBC0A39F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095500"/>
            <a:ext cx="342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8A6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6E0208-808E-4259-B9EE-C18402E14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228850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判断标准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01106B-F8A9-40CC-BA2B-F18C9B35D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705100"/>
            <a:ext cx="2857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好结果是否更早出现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起点、候选和预算完全匹配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全过程无 target 泄漏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正迁移和负迁移都保留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6D30987-0E9D-42AB-92EE-A91CE84FF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00650"/>
            <a:ext cx="108966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0F8D78-8BF7-4E24-A37B-A65ACB738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91150"/>
            <a:ext cx="1043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问题定义：同起点、同预算下，LLM 能否利用旧证据，比 target-only GP 更早找到高值条件？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BE0C2BC-16C0-4CA7-B0A6-F9F9D0C4D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online LLM evidence update · 2026-08-24</a:t>
            </a:r>
          </a:p>
        </p:txBody>
      </p:sp>
    </p:spTree>
    <p:extLst>
      <p:ext uri="{BB962C8B-B14F-4D97-AF65-F5344CB8AC3E}">
        <p14:creationId xmlns:p14="http://schemas.microsoft.com/office/powerpoint/2010/main" val="78810560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C4EA91A-0C71-41B5-9F6A-1371C6419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系统怎么工作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EFAA52-3472-4747-8A66-6E3D8CDEE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40953B-3723-4283-AD49-59F47D3DA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完整在线版每轮选择；最新 pilot 只保留第一轮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A64387-B85D-499F-8906-42356A933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2C7EDE-8671-4F76-8570-F70C5A7B1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781300"/>
            <a:ext cx="361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047A4F-522A-4D8C-83A4-D9355C375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90750"/>
            <a:ext cx="18097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B"/>
          </a:solidFill>
          <a:ln xmlns:a="http://schemas.openxmlformats.org/drawingml/2006/main" w="9525">
            <a:solidFill>
              <a:srgbClr val="C9D0D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DDA645-3FC2-4444-9C7B-0613294C6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62200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3BBB91-1B98-478D-9736-863589287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4320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整理证据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3D7F38-69FD-4B19-B2EE-0CE56FF28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19450"/>
            <a:ext cx="1466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读取 source 规律与 target 结果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61BA78-D401-4D2D-A379-96D4F0765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781300"/>
            <a:ext cx="361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4CABB9-96DA-493C-8EED-00D34FF3E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190750"/>
            <a:ext cx="18097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C9D0D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56B480-FFAB-4DEE-B978-30020CE71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362200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B456A2-CFE4-4979-8267-C9DBF45C3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74320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建立候选菜单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000609-21B6-49A6-AADB-CAEF0B4EB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219450"/>
            <a:ext cx="1466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GP 估计 + source prior + 覆盖点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F2CEEE-06FE-435E-B6F8-7A5CFF0BB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781300"/>
            <a:ext cx="361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45F4E04-C00D-42E1-AFA8-612F0F590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190750"/>
            <a:ext cx="18097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C9D0D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40D6DE-6CF6-4EE1-8982-12A67D8B3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362200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D7F43F0-A0D4-4037-B559-2ADC9C65A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74320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Proposer 提案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89E9ECE-5994-40A1-A4EA-A5190A582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219450"/>
            <a:ext cx="1466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提出可证伪假设并选一个候选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C4CD9CB-10D5-4BEB-88A5-BF397A64B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781300"/>
            <a:ext cx="361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A22BD03-C3CB-44E5-A60E-A4531D86D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190750"/>
            <a:ext cx="18097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0"/>
          </a:solidFill>
          <a:ln xmlns:a="http://schemas.openxmlformats.org/drawingml/2006/main" w="9525">
            <a:solidFill>
              <a:srgbClr val="C9D0D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0A621A9-5112-4621-BE71-6F6DF2E2C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362200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5E29FBD-CE46-4DB3-A51B-3B99AAE68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74320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Critic 复核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CD6AD94-2B65-4A35-97D0-236D414A5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219450"/>
            <a:ext cx="1466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接受、退回 GP 或改选候选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20CF36D-1E5E-47CE-A928-CF0E31CD8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190750"/>
            <a:ext cx="18097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B"/>
          </a:solidFill>
          <a:ln xmlns:a="http://schemas.openxmlformats.org/drawingml/2006/main" w="9525">
            <a:solidFill>
              <a:srgbClr val="C9D0D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BE8C420-CC90-413E-A20E-8D367B045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362200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16F3CA4-6C91-4BA4-B71E-81A551E25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74320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执行并更新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277FBD1-5656-44D6-8E58-A9EC03845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219450"/>
            <a:ext cx="1466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揭示一个结果，刷新状态和下一轮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4A00B26-63E8-4C48-9F6A-CB62AFD3B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91050"/>
            <a:ext cx="108966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89450D6-FB40-4501-AC39-0DDEFBBC8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006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1">
                <a:solidFill>
                  <a:srgbClr val="6DCBF4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6DCBF4"/>
                </a:solidFill>
                <a:latin typeface="Arial Unicode MS"/>
                <a:ea typeface="Arial Unicode MS"/>
                <a:cs typeface="Arial Unicode MS"/>
              </a:rPr>
              <a:t>权限在实验中受限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811D509-589E-478E-B7D5-C39EE06EC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705350"/>
            <a:ext cx="8420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历史完整在线版：10 / 10；bounded pilot：1 / 10，后续交回 GP。首批 6 次均未 override GP rank 1。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07E802E-DEBB-4C8D-98AA-0F502308C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online LLM evidence update · 2026-08-24</a:t>
            </a:r>
          </a:p>
        </p:txBody>
      </p:sp>
    </p:spTree>
    <p:extLst>
      <p:ext uri="{BB962C8B-B14F-4D97-AF65-F5344CB8AC3E}">
        <p14:creationId xmlns:p14="http://schemas.microsoft.com/office/powerpoint/2010/main" val="90495269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6CE7EB9-9CB2-40F0-8056-440E5CCF2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实验模拟器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93C756-59DF-4E29-B5F4-D9784B1C2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A8AE39-D587-440D-9353-10948A242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未选择条件的答案始终隐藏，直到该轮真正执行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9A8F62-1AA7-4F31-BC8D-24651C2CD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514EB0-C1EE-4141-9AC0-891636B4E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552700"/>
            <a:ext cx="3619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79D7ED-1BAA-451A-930C-4B042667B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52650"/>
            <a:ext cx="18097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C9D0D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035900-0BDB-4147-8D0E-726D314AC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28875"/>
            <a:ext cx="15430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固定 source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和 target 表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1ED183-DA66-4D66-BEE6-06A022ADC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552700"/>
            <a:ext cx="3619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7F1249-A40C-4C5D-B560-8421D09E2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152650"/>
            <a:ext cx="18097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B"/>
          </a:solidFill>
          <a:ln xmlns:a="http://schemas.openxmlformats.org/drawingml/2006/main" w="9525">
            <a:solidFill>
              <a:srgbClr val="C9D0D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D8D6F9-15A9-4483-81BD-B2B26771E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428875"/>
            <a:ext cx="15430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相同初始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3 个观测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419BF9-11A5-4576-867D-8912604E8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552700"/>
            <a:ext cx="3619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EDF4A9-CFB9-4AE8-8D31-FE3A5700E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152650"/>
            <a:ext cx="18097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C9D0D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DE32EB-587C-485A-B45D-977080901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428875"/>
            <a:ext cx="15430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各自选择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下一个候选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DC8EB4-A599-4EF6-9B31-10369B95B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552700"/>
            <a:ext cx="3619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BE2984-AEEA-4195-94FB-94F519208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152650"/>
            <a:ext cx="18097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0"/>
          </a:solidFill>
          <a:ln xmlns:a="http://schemas.openxmlformats.org/drawingml/2006/main" w="9525">
            <a:solidFill>
              <a:srgbClr val="C9D0D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AF0B10-56BE-4E44-8428-4583F12AA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428875"/>
            <a:ext cx="15430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只揭示该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候选真实值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CA1974B-E987-446B-BF26-EA871FCBD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152650"/>
            <a:ext cx="18097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C9D0D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34EF49-2600-44CB-9F8E-195C2C43C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2428875"/>
            <a:ext cx="15430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保存选择、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结果和 trace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CECD50E-F61C-4375-A3AD-E5F9B1A69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0"/>
            <a:ext cx="108966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3E224A4-7D1A-4FB5-B12A-677523D32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29100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6DCBF4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6DCBF4"/>
                </a:solidFill>
                <a:latin typeface="Arial Unicode MS"/>
                <a:ea typeface="Arial Unicode MS"/>
                <a:cs typeface="Arial Unicode MS"/>
              </a:rPr>
              <a:t>匹配条件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1379F2-B5F6-4C37-B1ED-10276BEF6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171950"/>
            <a:ext cx="8496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相同 target 初始观测 · 相同候选空间 · 相同 10 轮预算 · 对照组不使用 source transfer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EB554A0-6388-4FB3-B979-12C111046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62600"/>
            <a:ext cx="10896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Replay harness 不能替代湿实验，但能无泄漏地比较搜索效率，并复现每一次决策。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9885C35-75DB-412A-BBD2-4B7D75629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online LLM evidence update · 2026-08-24</a:t>
            </a:r>
          </a:p>
        </p:txBody>
      </p:sp>
    </p:spTree>
    <p:extLst>
      <p:ext uri="{BB962C8B-B14F-4D97-AF65-F5344CB8AC3E}">
        <p14:creationId xmlns:p14="http://schemas.microsoft.com/office/powerpoint/2010/main" val="204264851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D116A57-FCEB-41A4-BF66-70A2F385E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Reward 和更新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7BD812-A2FD-424A-B8A5-26A885D3A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5E7BF9-60DA-407B-9735-F12F0501F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4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Reward 衡量“多快找到好结果”，不会训练 LLM 权重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B4E107-1CB8-4C6E-85A8-C3DE7C34F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874E46-562C-4F15-995F-BE24C1AEC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192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当轮状态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871AA0-787F-42E7-A526-7A1F28CDE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76450"/>
            <a:ext cx="31432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F1D52E-47C4-4CF6-9D22-687ADCDFC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00300"/>
            <a:ext cx="26479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• 第 t 轮揭示结果 yₜ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• 当前最好 bₜ=max(y₁…yₜ)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• 越早提高 bₜ，后续轮次受益越多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• 最终 best 相同，AUC 仍可能不同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C255CD-25CF-431D-8006-C9121BB8C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143250"/>
            <a:ext cx="514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30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8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8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184C89-E296-420E-AE9B-C01752CBA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16192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Reward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302063-7693-42AD-B79E-C84D57E39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076450"/>
            <a:ext cx="31432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99A3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AF34CA-94DA-4C15-9938-658549855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400300"/>
            <a:ext cx="26479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R=(1/T) Σ bₜ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R 越高，搜索效率越好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只在相同 T 和起点下比较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报告 ΔAUC、CI 和胜/平/负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67D1DC-80CE-4B56-8FF6-77691319D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143250"/>
            <a:ext cx="514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30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8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8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3F9133-806F-4BBD-B562-51351899F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6192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更新了什么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0375BC-FED0-4128-880B-4DDF0774C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076450"/>
            <a:ext cx="24193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0"/>
          </a:solidFill>
          <a:ln xmlns:a="http://schemas.openxmlformats.org/drawingml/2006/main" w="9525">
            <a:solidFill>
              <a:srgbClr val="2C8A6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CC88A4-3A37-4069-859C-41308623A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400300"/>
            <a:ext cx="19621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1. target 观测历史和当前 best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2. GP 后验与候选排序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3. 假设和是否继续迁移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4. trace；不更新 LLM 参数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51388B-2F5E-4262-86FA-3EB069767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14950"/>
            <a:ext cx="108966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5475CFB-B2DF-4C19-BBDA-88CFA1F13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476875"/>
            <a:ext cx="10553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新结果更新实验状态和下一轮决策，不做梯度训练，也不会自动写成永久 skill。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18FF976-9DA9-4AE9-AB3D-F19F5FF01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online LLM evidence update · 2026-08-24</a:t>
            </a:r>
          </a:p>
        </p:txBody>
      </p:sp>
    </p:spTree>
    <p:extLst>
      <p:ext uri="{BB962C8B-B14F-4D97-AF65-F5344CB8AC3E}">
        <p14:creationId xmlns:p14="http://schemas.microsoft.com/office/powerpoint/2010/main" val="60097404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9316DA5-6090-4013-9E1C-55245BC39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主对照怎么做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5FA57B-2012-4D8D-A9A6-B636070F6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E7D01F-D80B-4FC3-A304-E1829017C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主比较固定相同开局和预算，只改变后续是否使用 LLM + source evidence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05A7CD-4ECA-4779-BCF5-62C0DD179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3F7A94-B933-4CFC-BA8E-C2D7083A6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76400"/>
            <a:ext cx="2031569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2A6B82-64C2-4098-B592-523210E44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43075"/>
            <a:ext cx="1879169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比较内容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D105C2-D714-4BA9-91EA-CAD352691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9269" y="1676400"/>
            <a:ext cx="2585634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F3812E-89B6-42FD-8819-946FC68D6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5469" y="1743075"/>
            <a:ext cx="2433234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在线 LLM Scientist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CB9698-69C9-4EA3-8000-E8A4277C2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4903" y="16764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601350-CBDA-4D7A-8AEF-C76845D41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1103" y="17430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同开局 target-only GP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7F56C2-34D3-484E-9CE5-8487CCED0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4602" y="16764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7E64EF-4279-4716-A7B4-764ECB77A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0802" y="17430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传统 transfer BO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EC3E96-FE5C-4181-A8D5-D339165D3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86000"/>
            <a:ext cx="2031569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426E05-04C5-4A84-A924-06F907C8F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52675"/>
            <a:ext cx="1879169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初始 3 个观测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1B0BB42-C90A-41EB-9039-75D5CCE69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9269" y="2286000"/>
            <a:ext cx="2585634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217B52-38A7-4423-B476-C9ABF36BA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5469" y="2352675"/>
            <a:ext cx="2433234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相同 LLM compiled initial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383A7EA-47AE-4E30-A719-96B4B12CD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4903" y="22860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42ECE8-7BBC-49C7-8235-2496B1700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1103" y="23526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与在线 LLM 完全相同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F1355DB-0151-4D18-B87F-8443CC8DB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4602" y="22860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A48FD73-F62F-4623-8534-478C08EF7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0802" y="23526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与主对照匹配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F595F24-3E15-4235-9EEF-0295939A5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95600"/>
            <a:ext cx="2031569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2948AEE-63E8-464C-84A4-E1825F42F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62275"/>
            <a:ext cx="1879169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后续候选选择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F004391-874D-4A52-A05A-DEDA3619C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9269" y="2895600"/>
            <a:ext cx="2585634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154744B-1E00-459B-B730-27DEA40BA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5469" y="2962275"/>
            <a:ext cx="2433234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Proposer + Critic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972A0F7-4990-460A-9BA3-7396609EF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4903" y="28956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303FBDD-D77C-4E3D-9926-821AE31C3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1103" y="29622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target-only GP-UCB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CEA819F-BA07-4E1A-8FF0-E0CCBB67B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4602" y="28956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35217BD-A7BA-4AC8-BDA9-2835F6866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0802" y="29622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RGPE / multitask GP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4D5A29E-B109-45EC-98D2-61B187275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05200"/>
            <a:ext cx="2031569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272FFF0-6F09-4CD3-A2B1-347C86485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71875"/>
            <a:ext cx="1879169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在线揭示轮数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5BDD43B-087A-4D1C-B0DE-3CDE4F3C9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9269" y="3505200"/>
            <a:ext cx="2585634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52CD380-8FCC-4148-905F-D4321EE3F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5469" y="3571875"/>
            <a:ext cx="2433234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50DC822-AAE4-456A-A447-C854A7654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4903" y="35052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F954C3D-6A16-4248-9F4A-EC5DA6DE4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1103" y="35718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50AB038-13AC-41DF-84D8-30405B286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4602" y="35052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E011AF6-A466-4959-980D-6BFBE991A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0802" y="35718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9A422C5-BCBB-4FC3-AB7C-DC5265221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14800"/>
            <a:ext cx="2031569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281277C-D279-4462-A04E-9661536E0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81475"/>
            <a:ext cx="1879169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未执行 target 标签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66BDFB9-AD9B-4964-BB1A-BB985F2B0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9269" y="4114800"/>
            <a:ext cx="2585634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2394CEE-0819-452B-86B6-32E685944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5469" y="4181475"/>
            <a:ext cx="2433234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否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7FDB1DA-43BB-4D51-9C6D-8D962898F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4903" y="41148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95FABCD-6DC4-4ADD-8965-99E842660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1103" y="41814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否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3B9BB95-2DA2-49AC-A570-371821CAF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4602" y="41148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928D59B-4907-4D09-B4FB-E8D9E8C2A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0802" y="41814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否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CF7C17D-F6DF-43BF-9246-271B21BDA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724400"/>
            <a:ext cx="2031569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EE3F91E-1087-45EE-83B1-4DF2B20DD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91075"/>
            <a:ext cx="1879169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用途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C8810AD-8977-4B37-A95A-952A7692E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9269" y="4724400"/>
            <a:ext cx="2585634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45D6699-05A5-4ABD-BC91-EC5512821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5469" y="4791075"/>
            <a:ext cx="2433234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主方法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D67305D-A5C0-479A-A0F0-A8E72D78D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4903" y="47244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2001F28-DA98-4FBB-AEC6-A2612331A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1103" y="47910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主对照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B6D4199-91DD-4AE0-9FD4-34F86062A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4602" y="47244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7E424F5-85B0-4F49-8D1A-E489DC1D9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0802" y="47910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传统 transfer 对照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51F7BA0-D474-4259-B40B-EB003CE75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81650"/>
            <a:ext cx="108966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C5FE808-E011-4276-A9AF-0C176B1D9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705475"/>
            <a:ext cx="10553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11 路线审计：相对 target GP 平均 +1.75；面对每条路线事后最强 baseline 为 3 胜、1 平、7 负。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364DE0A-44DA-4D23-BDF7-4D1909BD3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online LLM evidence update · 2026-08-24</a:t>
            </a:r>
          </a:p>
        </p:txBody>
      </p:sp>
    </p:spTree>
    <p:extLst>
      <p:ext uri="{BB962C8B-B14F-4D97-AF65-F5344CB8AC3E}">
        <p14:creationId xmlns:p14="http://schemas.microsoft.com/office/powerpoint/2010/main" val="161335563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6B0C712-9166-4268-BF7C-A7EE819BE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LLM 每轮看什么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4FAE2C-83B5-4A9B-A9ED-BFC9030CB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A01709-35DF-4429-8B29-E56234D10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LLM 是在线策略专家：读证据、提出假设、选择下一次实验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BCD916-EC9A-457D-8E9F-23F6A27D2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3AFBC8-29CF-4F75-A347-7DDD591DE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811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输入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07F0B4-8F9E-47E6-AC51-6E62A124E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19300"/>
            <a:ext cx="28575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08E008-983E-4DD6-881B-288E5B633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24100"/>
            <a:ext cx="24003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42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已揭示 target 历史与当前 best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42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source 证据和冻结初始假设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42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GP 均值、不确定性和 EI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42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候选菜单；隐藏真实答案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839534-B171-4647-B0C6-EE8060FC8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124200"/>
            <a:ext cx="514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55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0DC9BC-EE20-4D00-B848-C56686B0C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581150"/>
            <a:ext cx="3162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Proposer + Critic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5B2257-FBFD-496D-9AE0-CC0A0DA12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019300"/>
            <a:ext cx="31623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3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14DB55-8B6F-431B-A43D-AFD32681C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286000"/>
            <a:ext cx="2705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Opus 4.8 / GLM 5.3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5A1C2B-99C9-4CFF-BD8F-1491D0B63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733675"/>
            <a:ext cx="2400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A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E06BE8-EF7E-4E4C-BF44-F11C50C30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990850"/>
            <a:ext cx="270510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更新一个可证伪假设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选择一个候选并说明理由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列出支持和反对证据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决定继续迁移或回退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C09F23-5885-4F70-AE41-C3D17A3A9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124200"/>
            <a:ext cx="514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5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51F37C-BD49-4A82-A36B-EBAD84C05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581150"/>
            <a:ext cx="2971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执行与反馈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2C1B29-AC8F-4AE1-8721-5CE7207A8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019300"/>
            <a:ext cx="29718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0F128A-D26B-4F6D-B031-2E4C23FE4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305050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564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执行一个候选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130E07-6AAB-4406-B614-254C01395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647950"/>
            <a:ext cx="2400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只揭示该候选的真实 target 值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F253578-1FCA-495E-B628-99C384C91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1432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更新下一轮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527D9D-ABE8-4362-89A5-2559C29A2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486150"/>
            <a:ext cx="2400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重训 GP，刷新菜单与当前 best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C5C985-AD09-46DB-98D8-712D48938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229100"/>
            <a:ext cx="2400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rPr>
              <a:t>保存完整 trace；进入下一轮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1C508B0-F200-4EA0-BB37-A68F266E1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00650"/>
            <a:ext cx="108966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E075B3E-6DCF-46F9-AA6D-1CB84E115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334000"/>
            <a:ext cx="10401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完整保存：prompt、原始回答、模型、token 用量、选择者、候选条件、揭示结果和文件哈希。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API 密钥不会写入代码、PPT 或实验结果。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2AE7681-229E-47D3-BAFE-C24840D70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online LLM evidence update · 2026-08-24</a:t>
            </a:r>
          </a:p>
        </p:txBody>
      </p:sp>
    </p:spTree>
    <p:extLst>
      <p:ext uri="{BB962C8B-B14F-4D97-AF65-F5344CB8AC3E}">
        <p14:creationId xmlns:p14="http://schemas.microsoft.com/office/powerpoint/2010/main" val="112641903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CFDDDBF-D3E5-46A9-B61A-783EB606A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真实推理案例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B8BDA2-AC0D-422E-A5A0-0A7DE1B15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FA2215-0D8E-4BB8-8291-73445664F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LLM 没照搬 GP rank 1，第一轮把 best 从 67.25 提到 86.875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7F2DAF-4BD5-4C32-A84C-A21A1F665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385EEB-98CA-443B-BC8B-EC2DCE9F9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66850"/>
            <a:ext cx="108966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53249D-42FE-4F5E-8608-52EFE3E99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383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冻结假设 · FreeSolv → Lipophilicity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6DC657-F311-4C2B-ACFA-3FE9EDED4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600200"/>
            <a:ext cx="697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827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溶剂化偏好与脂溶性沿相反轴变化：卤素丰富、低极性的芳香分子可能在 target 中更好。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7CD4E2-F8A6-4271-AC8F-5AC39C33F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47950"/>
            <a:ext cx="2372647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E6A499-BF02-4D70-A65B-DED612212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14625"/>
            <a:ext cx="2220247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阶段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9A0BB8-821E-4D1C-B5A5-68308216F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0347" y="2647950"/>
            <a:ext cx="2899902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646089-5773-485E-AB8E-068F02C24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6547" y="2714625"/>
            <a:ext cx="2747502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选择 / 判断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995DE2-F2D8-482E-91FF-17A8CDE69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0248" y="2647950"/>
            <a:ext cx="1757516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D7EAC0-D2D5-4489-BF99-308E097AA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6448" y="2714625"/>
            <a:ext cx="1605116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模型信息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43A55A-890E-48BC-B00A-F3FDB6DFB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765" y="2647950"/>
            <a:ext cx="1757516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D253BC-A893-425B-9CD8-DD494BF73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965" y="2714625"/>
            <a:ext cx="1605116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真实揭示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47A0BD-EDAD-4B2D-854A-EE91CF0D1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5281" y="2647950"/>
            <a:ext cx="2109019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E20673-AD04-4B2F-B49D-4957855C8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1481" y="2714625"/>
            <a:ext cx="1956619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best 变化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3336950-35E5-4FC3-8E3D-3EAEB0E59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00400"/>
            <a:ext cx="2372647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A8598A-725F-4CD2-BE42-1E6221303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67075"/>
            <a:ext cx="2220247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初始状态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43C6D57-105C-4306-8786-3A1498619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0347" y="3200400"/>
            <a:ext cx="2899902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3752B35-F759-4C55-BC80-3880C6A5B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6547" y="3267075"/>
            <a:ext cx="2747502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best = lipo_3444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576DA0-1F43-489F-BE7B-A6617595F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0248" y="3200400"/>
            <a:ext cx="1757516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F188630-0795-44A3-B452-BE323E50F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6448" y="3267075"/>
            <a:ext cx="1605116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67.25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A385655-BAD0-43C3-99BD-26CA88585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765" y="3200400"/>
            <a:ext cx="1757516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7BB38B5-3B8D-47A0-B419-8ABE7C4BD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965" y="3267075"/>
            <a:ext cx="1605116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67.25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140F474-95BA-4671-8A4D-B58315D78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5281" y="3200400"/>
            <a:ext cx="2109019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D8E5C62-5247-490A-9B4D-4E04C07A2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1481" y="3267075"/>
            <a:ext cx="1956619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rPr>
              <a:t>—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97E8AE5-AA1A-4355-8969-C6C8D26E5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52850"/>
            <a:ext cx="2372647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BB66D6D-2AE5-4D12-B1B3-C7581378D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19525"/>
            <a:ext cx="2220247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Proposer + Critic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3AE50F0-4366-4669-ABC7-3B7EE89F0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0347" y="3752850"/>
            <a:ext cx="2899902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AD000B9-8EA7-44B5-833B-F1D7BB19B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6547" y="3819525"/>
            <a:ext cx="2747502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选择 lipo_0635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510E465-A185-4D56-AC5A-3A8B43A8F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0248" y="3752850"/>
            <a:ext cx="1757516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C242CD3-8552-4F70-BFC1-A9FFF65F9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6448" y="3819525"/>
            <a:ext cx="1605116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GP rank 4 · EI 3.90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79C250B-7140-4B0D-9265-8469312D3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765" y="3752850"/>
            <a:ext cx="1757516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20800D8-CADC-4A37-8293-0B5A57AA4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965" y="3819525"/>
            <a:ext cx="1605116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隐藏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3829D04-E72E-4FF0-8435-5BF31453F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5281" y="3752850"/>
            <a:ext cx="2109019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09C689B-12CA-46A2-974B-AE4501723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1481" y="3819525"/>
            <a:ext cx="1956619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待执行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BA52B3C-4CBE-49E8-AE0E-073D04463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05300"/>
            <a:ext cx="2372647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9C59420-8ADB-4B61-BC88-7FCA893E0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71975"/>
            <a:ext cx="2220247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第 1 轮执行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0679A9D-809A-4C46-B0C7-C098FABA0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0347" y="4305300"/>
            <a:ext cx="2899902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50D8B81-7292-4DE3-B6D7-436934ED6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6547" y="4371975"/>
            <a:ext cx="2747502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揭示 lipo_0635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39D98D3-181D-4E88-9598-E561FF7DC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0248" y="4305300"/>
            <a:ext cx="1757516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8BD18E7-E281-45FE-AB11-C9EE9CCA9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6448" y="4371975"/>
            <a:ext cx="1605116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模型预期 62.0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615223B-F11A-4853-9870-7CDCA0069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765" y="4305300"/>
            <a:ext cx="1757516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89BF138-860B-4BCF-A804-4EBDCE968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965" y="4371975"/>
            <a:ext cx="1605116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86.875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173B347-F3C6-4AC1-8659-0D0B72607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5281" y="4305300"/>
            <a:ext cx="2109019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B5C1201-B5FC-4E88-8DC5-806D3D1BB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1481" y="4371975"/>
            <a:ext cx="1956619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+19.625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CF5338A-D782-4284-B7E6-E5A849CF8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91100"/>
            <a:ext cx="67056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2983001-81CC-4F9C-BE72-F0BD4F413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1625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为什么不选 GP rank 1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7537A2C-F437-41D9-9C4B-812F9442E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05450"/>
            <a:ext cx="628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该候选 EI 略高，且卤素丰富、低极性结构与已观测赢家一致。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0283B97-0EE6-4324-9513-2A14833BA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4991100"/>
            <a:ext cx="39624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C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E7470470-BEA1-438C-8F4E-76E67B8FF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162550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rPr>
              <a:t>证据边界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96A6D4D-E6A8-4015-9A15-DB5FE44C2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486400"/>
            <a:ext cx="3467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11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这是保存的单条真实 trace，不代表所有路线都会成功。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64EB465-4DD9-4272-9812-883B25E11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online LLM evidence update · 2026-08-24</a:t>
            </a:r>
          </a:p>
        </p:txBody>
      </p:sp>
    </p:spTree>
    <p:extLst>
      <p:ext uri="{BB962C8B-B14F-4D97-AF65-F5344CB8AC3E}">
        <p14:creationId xmlns:p14="http://schemas.microsoft.com/office/powerpoint/2010/main" val="116390120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311705-E0EB-402F-B1A7-C288385A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逐路线结果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43A56E-44FC-448E-B95A-42B221102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589F62-8A06-48D2-A906-6E23C1D2A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同开局下：相对 target GP 为 6 胜 2 平 3 负；固定 RGPE 为 6 胜 1 平 4 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ECEF1D-351C-443E-8CF8-6F33B7463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ceb6c6ac094735"/>
          <a:stretch xmlns:a="http://schemas.openxmlformats.org/drawingml/2006/main"/>
        </p:blipFill>
        <p:spPr>
          <a:xfrm xmlns:a="http://schemas.openxmlformats.org/drawingml/2006/main">
            <a:off x="1462686" y="1257300"/>
            <a:ext cx="9266627" cy="51054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B4F285-B5EF-4E37-9F30-02CAC87F6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online LLM evidence update · 2026-08-24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7786cd73f6481a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flipH="0" flipV="0">
            <a:off x="1462686" y="1257300"/>
            <a:ext cx="9266627" cy="51054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17551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311705-E0EB-402F-B1A7-C288385A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证据强度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43A56E-44FC-448E-B95A-42B221102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589F62-8A06-48D2-A906-6E23C1D2A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两次调用总体同为 6 / 2 / 3，但 4 条路线翻转正负号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ECEF1D-351C-443E-8CF8-6F33B7463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3936ac54024449"/>
          <a:stretch xmlns:a="http://schemas.openxmlformats.org/drawingml/2006/main"/>
        </p:blipFill>
        <p:spPr>
          <a:xfrm xmlns:a="http://schemas.openxmlformats.org/drawingml/2006/main">
            <a:off x="1462686" y="1257300"/>
            <a:ext cx="9266627" cy="51054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B4F285-B5EF-4E37-9F30-02CAC87F6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online LLM evidence update · 2026-08-24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5dc6bd9f624d53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flipH="0" flipV="0">
            <a:off x="1462686" y="1257300"/>
            <a:ext cx="9266627" cy="51054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17551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311705-E0EB-402F-B1A7-C288385A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材料迁移案例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43A56E-44FC-448E-B95A-42B221102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589F62-8A06-48D2-A906-6E23C1D2A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拒绝不可靠迁移后仍更早找到高值材料；单位语义错误 5 → 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ECEF1D-351C-443E-8CF8-6F33B7463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daf5a27d384779"/>
          <a:stretch xmlns:a="http://schemas.openxmlformats.org/drawingml/2006/main"/>
        </p:blipFill>
        <p:spPr>
          <a:xfrm xmlns:a="http://schemas.openxmlformats.org/drawingml/2006/main">
            <a:off x="1462686" y="1257300"/>
            <a:ext cx="9266627" cy="51054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B4F285-B5EF-4E37-9F30-02CAC87F6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online LLM evidence update · 2026-08-24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ce951216bb4b57"/>
          <a:srcRect xmlns:a="http://schemas.openxmlformats.org/drawingml/2006/main" l="0" t="12000" r="0" b="0"/>
          <a:stretch xmlns:a="http://schemas.openxmlformats.org/drawingml/2006/main"/>
        </p:blipFill>
        <p:spPr>
          <a:xfrm xmlns:a="http://schemas.openxmlformats.org/drawingml/2006/main" flipH="0" flipV="0">
            <a:off x="1462686" y="1257300"/>
            <a:ext cx="9266627" cy="51054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17551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13116EE-10E9-42CB-87E9-9FFCF69EA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为什么有些 case 有增益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93BB4F-687E-41EA-880C-DA077418C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6670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C42BAC-7B39-48DE-98FE-F217E9DA9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LLM 有效的前提：表示对齐，并真正改变实验动作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036B3D-8368-4946-B1A4-22E1178B0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D85720-6F57-4F74-A324-0BFA22D53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1450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什么时候有效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C3C5FB-A495-4A31-9A88-FA2DD4032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71700"/>
            <a:ext cx="3143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8A6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A04F9C-2AAB-439F-AAAB-57819E2FB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57450"/>
            <a:ext cx="314325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语义特征与目标性质对齐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Matbench 元素数分组：AUC +6.17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Lipophilicity 芳香性分组：AUC +1.26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目标数据负责重新学习权重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E871CA-3863-4F0F-AD47-D7F772330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71450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rPr>
              <a:t>增益来自哪里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3EDA0F-719B-4FB6-8EF4-3EE305D01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171700"/>
            <a:ext cx="3143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4D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841F36-5B20-49DF-BA94-2CB3D6E69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457450"/>
            <a:ext cx="314325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source 主要改善初始实验覆盖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ChemLex → BH 开局收益最明显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固定开局后，连续 source 增量为 0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LLM patch 也没有额外增益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4E01B4-FF74-43B9-836C-866227510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71450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什么时候失效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C90A63-4DAD-4827-B80E-F6F73DC57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171700"/>
            <a:ext cx="3143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E6C171-175C-4A68-B81C-6F3601CBF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457450"/>
            <a:ext cx="314325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目标方向不一致：Lipo → FreeSolv -29.90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决策冗余：6 / 6 仍选 GP rank 1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outcome summary 未优于 schema-only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合理解释不等于性能证据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A5B1B0-A476-4A17-870B-B30AB152A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19700"/>
            <a:ext cx="108966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7E0A7A-9D50-4462-9357-1E2DF1605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35305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912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判断标准：semantic alignment + action change + target recalibration；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缺少其中一项，迁移通常持平或转负。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3BEB5A-896B-489B-8B8A-474FCA6E0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online LLM evidence update · 2026-08-24</a:t>
            </a:r>
          </a:p>
        </p:txBody>
      </p:sp>
    </p:spTree>
    <p:extLst>
      <p:ext uri="{BB962C8B-B14F-4D97-AF65-F5344CB8AC3E}">
        <p14:creationId xmlns:p14="http://schemas.microsoft.com/office/powerpoint/2010/main" val="190157867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F7F2D13-8B4E-4B7B-942E-F0FA2569E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下一步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1C6B19-68E6-44C5-A6F5-4D3CDD25A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0DFCA5-FB0C-4D8C-BF5E-A41CE4647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5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先证明 LLM 改变了决策，再做大规模重复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4400FA-5A0E-4659-B4E5-4C74DFCCB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D7FD66-9A24-4FB5-87EB-78C973CCD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62100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rPr>
              <a:t>P0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578B60-C303-4A01-91CE-F4D4DCA96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5430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重做在线策略开发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AAB801-3801-4E2F-AE79-F1F758E6A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154305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当前 6 / 6 选择 GP rank 1；先在开发路线证明 override 有效。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505906-98D1-4B85-BCFA-0F82B224F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114550"/>
            <a:ext cx="10172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0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E8B28E-72F0-4690-AFB0-49ED13510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19350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rPr>
              <a:t>P0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A1CE00-BFA8-46C9-8F32-DCA9E4239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40030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冻结 semantic skill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CBB517-456F-4165-946E-A92E5395A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40030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新任务上锁定 skill、compiler、split 与 baseline 后再看结果。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B76C62-0456-403B-92BC-5458F97BA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971800"/>
            <a:ext cx="10172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0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166283-39F4-451C-ADD9-AF6C52682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76600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P0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FDF158-CAA5-4D3F-8CC4-6B6B8C524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2575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前瞻实验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D931FF-9BA2-45C1-9F7B-E8B41903B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25755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完成至少一条真实 wet-lab / prospective campaign，直接比较样本效率。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7788CB-DFEF-4297-A231-3BE4E36F0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829050"/>
            <a:ext cx="10172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0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DC6F96D-97D8-44DB-9E90-E4814818F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33850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P1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7C505A-A3F2-429F-BC0A-B56CE684D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11480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贡献归因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863410-6840-4F49-83CD-46D28A3E0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411480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移除 source evidence、semantic rule、prior 与 critic，做同 seed 消融。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5901B31-7FA9-4847-B366-CCF2995B1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686300"/>
            <a:ext cx="10172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0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A2C0634-FE0A-4D42-8FDA-CDF1A31B8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91100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P2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221302-B7E0-4545-B48B-D4BDC88A6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9720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开放复现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55FA084-C0BF-4D28-B234-B18299B6C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497205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公开代码、数据、完整 trace、模型版本、失败记录和精确统计口径。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F50E354-0DEC-4E1D-B4DA-0E5B094C1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543550"/>
            <a:ext cx="10172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0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FFB2D73-A445-4401-9B98-BF6FC9E8A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online LLM evidence update · 2026-08-24</a:t>
            </a:r>
          </a:p>
        </p:txBody>
      </p:sp>
    </p:spTree>
    <p:extLst>
      <p:ext uri="{BB962C8B-B14F-4D97-AF65-F5344CB8AC3E}">
        <p14:creationId xmlns:p14="http://schemas.microsoft.com/office/powerpoint/2010/main" val="202850247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311705-E0EB-402F-B1A7-C288385A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在线 LLM 首批真实调用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43A56E-44FC-448E-B95A-42B221102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589F62-8A06-48D2-A906-6E23C1D2A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6 / 6 选择 GP rank 1；在线 AUC 增量 0；共使用 99,243 tokens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ECEF1D-351C-443E-8CF8-6F33B7463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9c94facd8c44eb"/>
          <a:stretch xmlns:a="http://schemas.openxmlformats.org/drawingml/2006/main"/>
        </p:blipFill>
        <p:spPr>
          <a:xfrm xmlns:a="http://schemas.openxmlformats.org/drawingml/2006/main">
            <a:off x="1462686" y="1257300"/>
            <a:ext cx="9266627" cy="51054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B4F285-B5EF-4E37-9F30-02CAC87F6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online LLM evidence update · 2026-08-24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d583d997f04e1a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flipH="0" flipV="0">
            <a:off x="1462686" y="1257300"/>
            <a:ext cx="9266627" cy="51054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17551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2026-08-24T19:13:43.1620000Z</dcterms:created>
  <dcterms:modified xsi:type="dcterms:W3CDTF">2026-08-24T19:13:43.1620000Z</dcterms:modified>
</coreProperties>
</file>