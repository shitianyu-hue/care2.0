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045be04e2493b" /><Relationship Type="http://schemas.openxmlformats.org/officeDocument/2006/relationships/extended-properties" Target="/docProps/app.xml" Id="R2b02dfff4a084e52" /><Relationship Type="http://schemas.openxmlformats.org/officeDocument/2006/relationships/officeDocument" Target="/ppt/presentation.xml" Id="R4e563893ce10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8a032e3904ecf"/>
  </p:sldMasterIdLst>
  <p:notesMasterIdLst>
    <p:notesMasterId xmlns:r="http://schemas.openxmlformats.org/officeDocument/2006/relationships" r:id="R8a99df7887cc460e"/>
  </p:notesMasterIdLst>
  <p:sldIdLst>
    <p:sldId xmlns:r="http://schemas.openxmlformats.org/officeDocument/2006/relationships" id="256" r:id="R6fd05ef664014e0b"/>
    <p:sldId xmlns:r="http://schemas.openxmlformats.org/officeDocument/2006/relationships" id="257" r:id="Rc1730916ba5f4149"/>
    <p:sldId xmlns:r="http://schemas.openxmlformats.org/officeDocument/2006/relationships" id="258" r:id="R38749d8434d04cab"/>
    <p:sldId xmlns:r="http://schemas.openxmlformats.org/officeDocument/2006/relationships" id="259" r:id="R577d9978f4ee48e1"/>
    <p:sldId xmlns:r="http://schemas.openxmlformats.org/officeDocument/2006/relationships" id="260" r:id="R51ebeec786bc4326"/>
    <p:sldId xmlns:r="http://schemas.openxmlformats.org/officeDocument/2006/relationships" id="261" r:id="Ra10ddad4b104400e"/>
    <p:sldId xmlns:r="http://schemas.openxmlformats.org/officeDocument/2006/relationships" id="262" r:id="R7dd1ce6f06544948"/>
    <p:sldId xmlns:r="http://schemas.openxmlformats.org/officeDocument/2006/relationships" id="263" r:id="R91dda5e8c4c342bf"/>
    <p:sldId xmlns:r="http://schemas.openxmlformats.org/officeDocument/2006/relationships" id="264" r:id="R422bbd1626204102"/>
    <p:sldId xmlns:r="http://schemas.openxmlformats.org/officeDocument/2006/relationships" id="265" r:id="R7118978f05334a73"/>
    <p:sldId xmlns:r="http://schemas.openxmlformats.org/officeDocument/2006/relationships" id="266" r:id="R25743a8148564a71"/>
    <p:sldId xmlns:r="http://schemas.openxmlformats.org/officeDocument/2006/relationships" id="267" r:id="R1f17218673ff4193"/>
    <p:sldId xmlns:r="http://schemas.openxmlformats.org/officeDocument/2006/relationships" id="268" r:id="R6d9a4187187e4491"/>
    <p:sldId xmlns:r="http://schemas.openxmlformats.org/officeDocument/2006/relationships" id="269" r:id="R9c4e5941f9ba49e9"/>
    <p:sldId xmlns:r="http://schemas.openxmlformats.org/officeDocument/2006/relationships" id="270" r:id="Rc12d6e47405c41dd"/>
    <p:sldId xmlns:r="http://schemas.openxmlformats.org/officeDocument/2006/relationships" id="271" r:id="Rf958daec1b5e4d22"/>
    <p:sldId xmlns:r="http://schemas.openxmlformats.org/officeDocument/2006/relationships" id="272" r:id="R4018bbe7461c45b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05dcb1f1964c27" /><Relationship Type="http://schemas.openxmlformats.org/officeDocument/2006/relationships/slideMaster" Target="/ppt/slideMasters/slideMaster1.xml" Id="Rf498a032e3904ecf" /><Relationship Type="http://schemas.openxmlformats.org/officeDocument/2006/relationships/notesMaster" Target="/ppt/notesMasters/notesMaster1.xml" Id="R8a99df7887cc460e" /><Relationship Type="http://schemas.openxmlformats.org/officeDocument/2006/relationships/presProps" Target="/ppt/presProps.xml" Id="Rd1db8300b157492a" /><Relationship Type="http://schemas.openxmlformats.org/officeDocument/2006/relationships/viewProps" Target="/ppt/viewProps.xml" Id="R824b9d98c198430e" /><Relationship Type="http://schemas.openxmlformats.org/officeDocument/2006/relationships/tableStyles" Target="/ppt/tableStyles.xml" Id="Re80baf5002154680" /><Relationship Type="http://schemas.openxmlformats.org/officeDocument/2006/relationships/slide" Target="/ppt/slides/slide1.xml" Id="R6fd05ef664014e0b" /><Relationship Type="http://schemas.openxmlformats.org/officeDocument/2006/relationships/slide" Target="/ppt/slides/slide2.xml" Id="Rc1730916ba5f4149" /><Relationship Type="http://schemas.openxmlformats.org/officeDocument/2006/relationships/slide" Target="/ppt/slides/slide3.xml" Id="R38749d8434d04cab" /><Relationship Type="http://schemas.openxmlformats.org/officeDocument/2006/relationships/slide" Target="/ppt/slides/slide4.xml" Id="R577d9978f4ee48e1" /><Relationship Type="http://schemas.openxmlformats.org/officeDocument/2006/relationships/slide" Target="/ppt/slides/slide5.xml" Id="R51ebeec786bc4326" /><Relationship Type="http://schemas.openxmlformats.org/officeDocument/2006/relationships/slide" Target="/ppt/slides/slide6.xml" Id="Ra10ddad4b104400e" /><Relationship Type="http://schemas.openxmlformats.org/officeDocument/2006/relationships/slide" Target="/ppt/slides/slide7.xml" Id="R7dd1ce6f06544948" /><Relationship Type="http://schemas.openxmlformats.org/officeDocument/2006/relationships/slide" Target="/ppt/slides/slide8.xml" Id="R91dda5e8c4c342bf" /><Relationship Type="http://schemas.openxmlformats.org/officeDocument/2006/relationships/slide" Target="/ppt/slides/slide9.xml" Id="R422bbd1626204102" /><Relationship Type="http://schemas.openxmlformats.org/officeDocument/2006/relationships/slide" Target="/ppt/slides/slide10.xml" Id="R7118978f05334a73" /><Relationship Type="http://schemas.openxmlformats.org/officeDocument/2006/relationships/slide" Target="/ppt/slides/slide11.xml" Id="R25743a8148564a71" /><Relationship Type="http://schemas.openxmlformats.org/officeDocument/2006/relationships/slide" Target="/ppt/slides/slide12.xml" Id="R1f17218673ff4193" /><Relationship Type="http://schemas.openxmlformats.org/officeDocument/2006/relationships/slide" Target="/ppt/slides/slide13.xml" Id="R6d9a4187187e4491" /><Relationship Type="http://schemas.openxmlformats.org/officeDocument/2006/relationships/slide" Target="/ppt/slides/slide14.xml" Id="R9c4e5941f9ba49e9" /><Relationship Type="http://schemas.openxmlformats.org/officeDocument/2006/relationships/slide" Target="/ppt/slides/slide15.xml" Id="Rc12d6e47405c41dd" /><Relationship Type="http://schemas.openxmlformats.org/officeDocument/2006/relationships/slide" Target="/ppt/slides/slide16.xml" Id="Rf958daec1b5e4d22" /><Relationship Type="http://schemas.openxmlformats.org/officeDocument/2006/relationships/slide" Target="/ppt/slides/slide17.xml" Id="R4018bbe7461c45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9b4a38c07e46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1a8b8385c34868" /><Relationship Type="http://schemas.openxmlformats.org/officeDocument/2006/relationships/notesMaster" Target="/ppt/notesMasters/notesMaster1.xml" Id="R1d567c3fd39d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ef1edf736541f9" /><Relationship Type="http://schemas.openxmlformats.org/officeDocument/2006/relationships/notesMaster" Target="/ppt/notesMasters/notesMaster1.xml" Id="R056f0b7efd964e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85a19634643e2" /><Relationship Type="http://schemas.openxmlformats.org/officeDocument/2006/relationships/notesMaster" Target="/ppt/notesMasters/notesMaster1.xml" Id="R8b54274a63f046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d1217683e418b" /><Relationship Type="http://schemas.openxmlformats.org/officeDocument/2006/relationships/notesMaster" Target="/ppt/notesMasters/notesMaster1.xml" Id="R79b1d66db04b4f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3447d8f334dd2" /><Relationship Type="http://schemas.openxmlformats.org/officeDocument/2006/relationships/notesMaster" Target="/ppt/notesMasters/notesMaster1.xml" Id="Rae04443031ed47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ffcdf0fa9a47be" /><Relationship Type="http://schemas.openxmlformats.org/officeDocument/2006/relationships/notesMaster" Target="/ppt/notesMasters/notesMaster1.xml" Id="R0ad4354230734b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f6805f773e40a7" /><Relationship Type="http://schemas.openxmlformats.org/officeDocument/2006/relationships/notesMaster" Target="/ppt/notesMasters/notesMaster1.xml" Id="R09944a20f36e4e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5329eed72543e8" /><Relationship Type="http://schemas.openxmlformats.org/officeDocument/2006/relationships/notesMaster" Target="/ppt/notesMasters/notesMaster1.xml" Id="Rd54ffc5a6d454a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e727f9a09e4568" /><Relationship Type="http://schemas.openxmlformats.org/officeDocument/2006/relationships/notesMaster" Target="/ppt/notesMasters/notesMaster1.xml" Id="Rb598c5bb5e044a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7e459430a1414c" /><Relationship Type="http://schemas.openxmlformats.org/officeDocument/2006/relationships/notesMaster" Target="/ppt/notesMasters/notesMaster1.xml" Id="R4a66ffc6007241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a14846a5da4be5" /><Relationship Type="http://schemas.openxmlformats.org/officeDocument/2006/relationships/notesMaster" Target="/ppt/notesMasters/notesMaster1.xml" Id="R06fb9aba765949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606fc0c12b4cd3" /><Relationship Type="http://schemas.openxmlformats.org/officeDocument/2006/relationships/notesMaster" Target="/ppt/notesMasters/notesMaster1.xml" Id="R8fb94b5370e641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398be0d6e54bca" /><Relationship Type="http://schemas.openxmlformats.org/officeDocument/2006/relationships/notesMaster" Target="/ppt/notesMasters/notesMaster1.xml" Id="R1b29e4b51a1a4d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b09a51bdc44e1d" /><Relationship Type="http://schemas.openxmlformats.org/officeDocument/2006/relationships/notesMaster" Target="/ppt/notesMasters/notesMaster1.xml" Id="Ra7695c53949a4e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7e1fb78a9a4445" /><Relationship Type="http://schemas.openxmlformats.org/officeDocument/2006/relationships/notesMaster" Target="/ppt/notesMasters/notesMaster1.xml" Id="R54345622282448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a28588b7404994" /><Relationship Type="http://schemas.openxmlformats.org/officeDocument/2006/relationships/notesMaster" Target="/ppt/notesMasters/notesMaster1.xml" Id="R69aca8c3af0649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234e385912460f" /><Relationship Type="http://schemas.openxmlformats.org/officeDocument/2006/relationships/notesMaster" Target="/ppt/notesMasters/notesMaster1.xml" Id="Rd00624178a1949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 2.0：可信赖的跨任务科学知识迁移框架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建议时间：1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今天汇报 CARE 2.0 的最新进展。我们这一阶段没有把重点放在再做一条针对某个数据集的最优规则，而是在回答一个更一般的问题：一个 AI Scientist 如何把历史实验经验转成可以在新任务中执行的策略，同时能够判断这条经验不该迁移。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所以标题里用了“可信赖”三个字。这里的可信赖不是说系统永远正确，而是指每一次迁移都有明确的 source evidence、结构化 Hypothesis、受约束的执行 patch、独立的 calibration 决策和 held-out 验证。如果证据不足，系统必须回到 target-only，而不是为了追求正结果强行迁移。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整套方法可以概括为三个动作：第一，生成可解释的迁移 Hypothesis；第二，把 Hypothesis 编译成真正能影响实验选择的 acquisition patch；第三，用独立证据决定部署还是回退。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【本页要强调】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贡献对象是一套迁移与拒绝协议，不是单条人工规则。</a:t>
            </a:r>
          </a:p>
          <a:p xmlns:a="http://schemas.openxmlformats.org/drawingml/2006/main">
            <a:r>
              <a:t>• 当前 PPT 汇报的是 8 月 2 日冻结版本对应的结果。</a:t>
            </a:r>
          </a:p>
          <a:p xmlns:a="http://schemas.openxmlformats.org/drawingml/2006/main">
            <a:r>
              <a:t>• 当前“跨任务”主要是同领域中的跨数据集，不是任意学科之间的迁移。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【不要这样讲】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不要说“我们已经实现通用跨领域 AI Scientist”。</a:t>
            </a:r>
          </a:p>
          <a:p xmlns:a="http://schemas.openxmlformats.org/drawingml/2006/main">
            <a:r>
              <a:t>• 不要说“LLM 可以自动发现所有可迁移规律”。</a:t>
            </a:r>
          </a:p>
          <a:p xmlns:a="http://schemas.openxmlformats.org/drawingml/2006/main">
            <a:r>
              <a:t>• 不要把 replay 结果说成新做了数百轮湿实验。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在介绍系统之前，先明确我们对“具备迁移能力的 AI Scientist”到底如何定义。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核心研究问题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建议时间：2-3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我们把研究问题定义为一个固定预算下的顺序决策问题。给定一个 source task 的历史实验和 outcome、一个 target task 的公开 schema、固定的候选池和 target 实验预算，系统需要回答四个问题：迁移什么、迁移多少、何时拒绝，以及下一轮在 target 中选择哪个候选。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这里的“通用”不是指 LLM 能谈论很多学科，而是指同一套接口和决策协议可以处理不同类型的科学任务。反应任务的变量可能是底物、催化剂和溶剂；材料任务可能是组成与性质描述符；分子任务可能是结构描述符。只要它们能够被整理成统一的 TaskSpec、变量角色、候选池和目标函数，后面的 Hypothesis、patch、Gate 和 audit 流程就可以复用。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我们的核心贡献分成两层。第一层是 LLM 生成可执行 Hypothesis，并将它落到 acquisition geometry 上，而不是只输出自然语言建议。第二层是 Calibration Gate 使用独立开发 seeds 决定是否部署。也就是说，LLM 可以提出迁移方案，但不能凭一句解释直接控制正式实验。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证据边界需要在这一页讲清楚。目前实验覆盖反应、材料和分子三个领域，证明了框架能在多个领域中运行，也观察到了各领域内部的跨数据集正向迁移。但是化学到材料、材料到分子等 off-diagonal 路线还没有形成正式证据，所以现在不能宣称远距离跨领域迁移已经建立。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【补充解释：实验是怎样运行的】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 target 数据集先被冻结为有限候选池。算法只看到 initial observations，之后每轮提出一个候选，系统再从真实数据中揭示它的 outcome。所有方法使用相同 seed、初始点、预算和候选池，因此比较的是算法利用有限实验预算的效率，而不是谁看到了更多数据。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为什么不把 random search 作为主 baseline？</a:t>
            </a:r>
          </a:p>
          <a:p xmlns:a="http://schemas.openxmlformats.org/drawingml/2006/main">
            <a:r>
              <a:t>Random search 可以保留作最低基准，但它太弱，不能支撑论文的核心结论。主 baseline 必须是 strongest target-only BO 和 matched target-only 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这里的泛化到底是什么？</a:t>
            </a:r>
          </a:p>
          <a:p xmlns:a="http://schemas.openxmlformats.org/drawingml/2006/main">
            <a:r>
              <a:t>目前的泛化是同一套协议跨多个预先固定的 source-target pair 工作，而不是在同一个 pair 上换几个 seed。远距离跨领域泛化还没有验证。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下一页从左到右看一次完整的迁移是如何产生、执行和被审计的。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从历史实验到可验证迁移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[指向左侧] 流程从 Historical Experiments 开始。历史实验不是直接作为一张表丢给 LLM，而是先整理成 TaskSpec、观测结果和 audit。TaskSpec 描述任务目标、变量类型、字段角色、优化方向、约束和预算。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下一步是 Feature and Evidence Extraction。这里提取的不只是字段名，还包括变量角色、descriptor、source outcome 的效应摘要、不确定性和失败记录。这一步的目的，是把某个数据集中的具体列转换成可比较的科学角色。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[指向中间] LLM 在这些证据上生成多个有边界的 Hypothesis。系统随后估计 source-target 的 schema 是否兼容、source 证据是否稳定，并把自然语言假设编译为受约束 patch。LLM 不是直接给出“做第 37 个实验”，而是提出应该改变哪些角色权重、先验或探索参数。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[指向三条分支] Calibration Gate 有三种概念状态：Transfer、Hold 和 Freeze/Reject。当前代码真正实现的是 Transfer 与 Freeze/Fallback。通过 Gate 的路线进入 target replay；未通过的路线精确回退。Hold 目前只是下一版本的设计，用于表示方向合理但证据不够、需要追加 calibration。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[指向下方] 正式 target replay 使用固定预算。统计模块按相同 seeds 计算配对增益、置信区间和稳定性。最后，Hypothesis、patch、Gate decision、held-out outcome、成功案例和失败案例都会写入 memory。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这张图对应三项贡献：LLM 回答“迁移什么”，Calibration Gate 回答“什么时候允许迁移”，held-out 与 memory 回答“结果怎样被复核并沉淀”。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【需要特别说明】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Calibration 与 held-out 使用不重叠 seeds。</a:t>
            </a:r>
          </a:p>
          <a:p xmlns:a="http://schemas.openxmlformats.org/drawingml/2006/main">
            <a:r>
              <a:t>• Held-out 期间不重新选择路线，也不根据结果修改 threshold。</a:t>
            </a:r>
          </a:p>
          <a:p xmlns:a="http://schemas.openxmlformats.org/drawingml/2006/main">
            <a:r>
              <a:t>• Memory 中保留 rejected case，不只保留成功路线，否则知识库会形成幸存者偏差。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为什么需要 Gate，LLM 自己给置信度不行吗？</a:t>
            </a:r>
          </a:p>
          <a:p xmlns:a="http://schemas.openxmlformats.org/drawingml/2006/main">
            <a:r>
              <a:t>LLM 的语言置信度没有经过当前任务的数值校准。Gate 使用实际 replay 证据比较 transfer 与 matched anchors，承担的是部署层的统计决策，不能由自然语言自信程度替代。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下面分别展开最关键的两个环节：Hypothesis 是如何生成的，以及它如何真正影响 target acquisition。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这一页最重要的是说明 LLM 看到了什么、没有看到什么，以及最终输出是什么。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[指向左侧] Target 侧只给公开元数据，包括 schema、变量角色、优化方向和预算。Source 侧给已经合法观测到的历史 outcomes、effect summaries 和 uncertainty。Memory 提供经过审计的 SkillCard、失败路线、约束和历史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看不到 target held-out outcome。这里的 held-out outcome 是预先保留给最终评估的 target 结果。在 replay 中，某个 target 候选只有被算法选择后，其 outcome 才会揭示给在线模型。未选择候选的结果不能进入 prompt、patch 生成或 calibration 以外的路线调参。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[指向右侧] 当前 Hypothesis 主要分为三类。第一类是 role mapping，例如 source 与 target 中哪些字段都承担底物、溶剂、组成或分子描述符的角色。第二类是 value prior，即 source outcome 是否能作为一个有上限的弱先验。第三类是 exploration hypothesis，即在不确定性较高时是否提高 GP-UCB 的探索程度。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这些候选还要经过 schema compatibility、source evidence stability 和 calibration improvement 三层筛选。最终输出不是一段散文，而是 KernelSkillPatch。它包含 role weight、kernel scale、gp_beta 和 source-prior strength 等结构化字段，原始输出与解析结果都会保存。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【LLM 在系统中的准确角色】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更接近“策略假设生成器”和“科学角色映射器”，不是 outcome predictor，也不是最终候选打分器。数值 prior 来自真实 source outcomes，target posterior 来自 GP，候选排序和边界约束由确定性代码完成。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是否每一轮都调用？</a:t>
            </a:r>
          </a:p>
          <a:p xmlns:a="http://schemas.openxmlformats.org/drawingml/2006/main">
            <a:r>
              <a:t>当前冻结实验不是每个 held-out seed、每一轮重新请求 API。LLM 先生成并冻结候选 patch，随后 replay 重复执行同一结构化策略。这样可以避免 API 波动，也防止 held-out 反馈进入 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这还算 LLM 方法吗？</a:t>
            </a:r>
          </a:p>
          <a:p xmlns:a="http://schemas.openxmlformats.org/drawingml/2006/main">
            <a:r>
              <a:t>算，但需要准确表述。LLM 的贡献是生成可复用的策略结构，数值执行由可复现代码完成。论文中的 ablation 仍需证明 LLM Hypothesis 优于 similarity-only 或 random patch。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有了 Hypothesis 以后，下一步是把它编译成可以改变 Bayesian optimization 行为的 patch。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Hypothesis 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Hypothesis 首先被保存为 HypothesisEntry，其中包含 claim、mechanism、证据来源和适用边界。Patch Compiler 再把它翻译成有上下限的数值参数。这样做的目的，是让同一个 Hypothesis 可以被执行、比较和复现，而不是停留在自然语言层面。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Target-only GP 始终是执行锚点。它根据当前已经揭示的 target observations 计算 posterior mean 和 uncertainty，再通过 UCB、EI 或 portfolio 给候选打分。迁移 patch 可以改变四类内容：变量角色对应的 kernel scale、GP 的探索计划、source prior 的强度，以及 target anchor 与 transfer expert 的混合权重。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可以用一个简化表达帮助听众理解：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CARE acquisition = (1 - M) × target-only acquisition + M × source-informed acquisition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其中 M 是 transfer mass。证据强时，M 可以大于零；证据弱时，它会被限制或直接降为零。这个公式只是解释结构，正式代码还包含不同 prior expert、role weight 和边界约束。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本页右下角列出的内容始终冻结：target 数据集、优化方向、candidate pool、initial observations、总预算、held-out seeds、baseline 身份和评价指标。迁移只能改变允许的 patch 参数，不能偷偷增加实验次数，也不能更换更容易的候选池。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 calibration 后，Gate 冻结选中的 route identity。Held-out 阶段只能执行冻结路线，不能重新在多个候选中挑最好结果。每轮 candidate、已揭示 outcome、acquisition diagnostics、Gate decision 和最终指标都会进入 audit。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【需要诚实说明的归因问题】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有些 patch 会影响 initial design，有些会持续影响后续 acquisition。两者都属于知识迁移，但科学解释不同。汇报完整系统结果时，可以说 route 有效；若要声称“持续 source prior 在每轮都产生独立贡献”，必须增加 warm-start-only control。现有报告已经开始做这类归因，但统一七路线 ablation 仍需补齐。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为什么还要硬编码边界？</a:t>
            </a:r>
          </a:p>
          <a:p xmlns:a="http://schemas.openxmlformats.org/drawingml/2006/main">
            <a:r>
              <a:t>因为 target 实验协议、预算和数值安全约束需要可复现。LLM 提出策略，代码负责把策略限制在合法范围内。这不是削弱 LLM，而是把模型输出变成可以审计的实验干预。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下面先不看抽象模块，直接看反应、材料和分子三类真实路线的结果。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Reward / Objective 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这页先澄清一个容易混淆的问题：CARE 2.0 当前不是强化学习系统，因此没有一个由 LLM 学习或优化的单一 reward function。代码里实际分成三层：真实实验反馈、每轮候选选择分数，以及 calibration 阶段的迁移准入效用。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第一层是真实反馈。系统在第 t 轮选中候选 x_t 后，才从 target 数据集中揭示真实 objective value，也就是 y_t = f_target(x_t)。对于反应任务可以理解成产率，对于材料或分子性质任务则是经过方向统一后的目标值。这个真实值不是 LLM 编出来的，也不是 source 数据替代的。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第二层是选点分数。Target-only anchor 使用 GP-UCB、GP-EI 或二者的 rank portfolio。UCB 的简化形式是 posterior mean 加 beta 乘 posterior uncertainty。CARE 在此基础上加入 source-informed acquisition：a_CARE 等于一减 transfer mass 乘 target acquisition，再加 transfer mass 乘多个 transfer experts 的加权分数。M 越小，策略越接近 target-only；证据不足时 M 可以降到零。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的角色是生成 bounded acquisition patch，例如变量角色权重、kernel scale、探索强度、source-prior strength 和 expert 权重。LLM 不直接看到 held-out outcomes，也不直接决定哪个候选得分最高；最终数值由 Python 和 GP 按冻结协议计算。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第三层是 calibration utility。对每个 calibration seed，我们同时计算相对 baseline 的 final-best 增益和 best-so-far AUC 增益，再相加得到 composite C。final-best 关心最后找到的最好结果，AUC 关心是否更早找到好结果。风险调整值使用 mean(C) 减去 standard 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 Gate 不是简单最大化这个 composite。候选路线必须同时满足 final-best 和 AUC 平均不下降、seed non-loss rate 至少 60%、五折 positive fold rate 至少 80%、风险调整增益至少 0.25、95% CI 下界不小于零，并且要同时通过 matched target-only LLM 和 strongest target-only BO 两个 anchor 的检查。任何一项不满足，都精确回退到 target-only 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这样设计的原因，是避免一个很大的早期 AUC 增益掩盖最终结果下降，也避免少量特别好的 seeds 把平均值抬高。系统宁愿少迁移，也不把证据不稳定的路线部署到 held-out。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rounds saved 目前作为独立的预算效率指标报告，没有塞进 Gate composite。这样可以避免和 AUC 重复计数。未来如果要把实验成本显式纳入优化，可以预注册一个多目标 utility，或者使用 Pareto frontier，而不是在看到 held-out 结果后临时改变权重。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【一句话总结】</a:t>
            </a:r>
          </a:p>
          <a:p xmlns:a="http://schemas.openxmlformats.org/drawingml/2006/main">
            <a:r>
              <a:t>真实 outcome 决定实验好不好，acquisition 决定下一轮做什么，calibration utility 和安全约束决定 source transfer 能不能上线。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experiments/care_replay/scripts/run_surrogate_baselines.py:113-180</a:t>
            </a:r>
          </a:p>
          <a:p xmlns:a="http://schemas.openxmlformats.org/drawingml/2006/main">
            <a:r>
              <a:t>- experiments/care_replay/scripts/run_llm_transfer_router.py:926-971</a:t>
            </a:r>
          </a:p>
          <a:p xmlns:a="http://schemas.openxmlformats.org/drawingml/2006/main">
            <a:r>
              <a:t>- experiments/care_replay/scripts/run_llm_transfer_router.py:1389-1404</a:t>
            </a:r>
          </a:p>
          <a:p xmlns:a="http://schemas.openxmlformats.org/drawingml/2006/main">
            <a:r>
              <a:t>- experiments/care_replay/scripts/run_llm_transfer_router.py:1470-1478</a:t>
            </a:r>
          </a:p>
          <a:p xmlns:a="http://schemas.openxmlformats.org/drawingml/2006/main">
            <a:r>
              <a:t>- experiments/care_replay/scripts/run_calibrated_source_outcome_portfolio.py:309-348</a:t>
            </a:r>
          </a:p>
          <a:p xmlns:a="http://schemas.openxmlformats.org/drawingml/2006/main">
            <a:r>
              <a:t>- experiments/care_replay/scripts/run_calibrated_source_outcome_portfolio.py:514-517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三条代表性链条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这页选了三条代表性路线，分别对应反应、材料和分子任务。它们不是把同一条规则机械复制到三个数据集，而是使用不同的 source evidence 和迁移机制。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第一条是 ChemLex Acid-Amine -&gt; Buchwald-Hartwig。ChemLex 是真实 acid-amine wetlab outcome 数据，target 是 Buchwald-Hartwig 反应 HTE。Hypothesis 是两类反应任务中的反应物角色和 outcome interaction 可以提供迁移信号。完整部署相对 matched LLM 的 final-best 提升 9.20，相对 strongest BO 提升 8.10，达到 matched LLM 最终质量平均节省 2.99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第二条是 Matbench dielectric -&gt; experimental band gap。这不是把介电常数的高值直接当作带隙高值，而是假设两个材料任务共享 composition/property representation，source 可以改变 kernel geometry 和候选排序。相对 matched LLM 提升 32.70，相对 strongest BO 提升 35.46，节省 6.00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第三条是 FreeSolv -&gt; Lipophilicity。FreeSolv 的目标是水合自由能，Lipophilicity 反映分子在不同相中的分配倾向。两者并不等价，但共享分子结构描述符，而且溶剂化信号可能帮助排序。系统只允许 bounded outcome prior，不允许 source outcome 覆盖 target observation。结果相对 matched LLM 提升 2.98，相对 strongest BO 提升 4.99，节省 2.23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【三个数据集族的简要解释】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ChemLex/BH：真实反应组合与条件优化数据。</a:t>
            </a:r>
          </a:p>
          <a:p xmlns:a="http://schemas.openxmlformats.org/drawingml/2006/main">
            <a:r>
              <a:t>• Matbench dielectric、expt_gap、phonons：材料组成到性质的有限池任务。</a:t>
            </a:r>
          </a:p>
          <a:p xmlns:a="http://schemas.openxmlformats.org/drawingml/2006/main">
            <a:r>
              <a:t>• ESOL、FreeSolv、Lipophilicity：共享分子结构表示、但目标性质不同的 MoleculeNet 类任务。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我们已经证明同一套框架能够承载三类不同的科学任务。数字说明正向迁移存在，但不能代替领域机理审查。特别是材料和分子路线中“共享 representation 导致可迁移”的解释，目前仍是待验证 Hypothesis，不是因果结论。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下一页把三条路线拆开，说明 source evidence 到底被翻译成了什么 patch。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逐路线解释 source evidence、Hypothesis 与 patch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建议时间：2-3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这一页与上一页的区别是：上一页强调结果，这一页强调每条路线“具体迁移了什么”。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ChemLex 到 BH，source evidence 是 acid、amine 等角色和 outcome interaction。LLM 的 Hypothesis 是共享反应角色可以迁移，但 source outcome 只能作为弱 prior。执行层因此使用 role multipliers、kernel scale 和 bounded prior strength。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dielectric 到 gap，source evidence 是材料 composition/property observations。Hypothesis 不是两个物性相同，而是同一个组成描述空间可能包含可复用的局部几何。执行时主要改变 role-weighted kernel，并加入受约束 prior。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 FreeSolv 到 Lipophilicity，source evidence 是共享 molecular descriptor 和 solvation outcome。Hypothesis 是溶剂化相关信号可以帮助候选排序。执行时使用 bounded outcome prior，并始终保留 target acquisition 作为 anchor。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三条路线都遵循同一冻结协议：target held-out outcome 不进入 Hypothesis 生成；calibration 只使用独立开发 seeds；路线冻结后才运行 100 个 held-out seeds。结果不是从多个 held-out patch 中选出来的最好一个。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【建议现场说法】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“我们迁移的不是一个答案，也不是 source 中的最优样本本身，而是对 target 搜索空间的结构化偏置。这个偏置必须能被编译、限制和独立验证。”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 Hypothesis 是不是人工写出来的？</a:t>
            </a:r>
          </a:p>
          <a:p xmlns:a="http://schemas.openxmlformats.org/drawingml/2006/main">
            <a:r>
              <a:t>当前系统中，LLM 基于 source/target card 生成结构化候选，代码负责解析和约束。部分候选集合、参数范围和字段 vocabulary 是工程上预先定义的。正式论文需要用保存的 model record、prompt hash 和 similarity-only ablation 证明 LLM 生成部分的独立价值。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下面以 ChemLex 到 BH 为例，把证据链完整走一遍。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ChemLex → BH 完整案例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[指向左栏] Source 是 ChemLex Acid-Amine 的真实 wetlab outcomes。系统提取 acid、amine 等角色以及它们与 outcome 的 interaction。Target 是 BH 数据集。在 Hypothesis 阶段，系统知道 BH 的字段角色、优化方向、预算和候选池结构，但不知道 held-out outcome。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[指向中栏] LLM 给出的核心 Hypothesis 有两点。第一，共享反应角色可能具有可迁移结构；第二，source outcome 只能作为弱 prior，不能替代 target observation。Compiler 把它翻译成 role multiplier、kernel scale、gp_beta 和 source_prior_strength。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[指向右栏] 先在 50 个 calibration seeds 上与 matched target-only LLM 和 strongest BO 比较。只有同时满足 Gate 条件，route 才被冻结为 transfer。随后使用 100 个不重叠的 held-out seeds 评估。最终 final-best 相对 matched LLM 为 +9.20，相对 strongest BO 为 +8.10；达到 matched LLM 最终质量平均节省 2.99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这里需要提醒听众：本页证明的是完整 frozen route 有效，不应仅凭这张图断言所有增益都来自每轮连续 prior adjustment。反应路线中的 initial design、role kernel 和持续 prior 分别贡献多少，需要通过 warm-start-only、without-prior 和 without-kernel ablation 进一步拆分。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【领域专家需要审查的问题】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Acid-Amine 与 BH 的角色对齐是否有反应机理依据？</a:t>
            </a:r>
          </a:p>
          <a:p xmlns:a="http://schemas.openxmlformats.org/drawingml/2006/main">
            <a:r>
              <a:t>• Source interaction 是否可能只是数据集采样偏差？</a:t>
            </a:r>
          </a:p>
          <a:p xmlns:a="http://schemas.openxmlformats.org/drawingml/2006/main">
            <a:r>
              <a:t>• 哪些角色应该允许迁移，哪些条件应保持 target-specific？</a:t>
            </a:r>
          </a:p>
          <a:p xmlns:a="http://schemas.openxmlformats.org/drawingml/2006/main">
            <a:r>
              <a:t>• 是否需要加入反应指纹、官能团或催化剂 descriptor，替代纯 schema 对齐？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一个案例只能说明可行性，下一页看七条预先固定路线的整体 held-out 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experiments/care_replay/results/2026-07-24-source-outcome-transfer/headline_results.csv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四条路线同时超过 matched LLM 与 strongest BO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这页有左右两个 forest plot，必须分别解释。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[指向左图] 左图比较的是 CARE 完整部署与每个 target 的 strongest target-only BO。绿色表示部署 transfer 的路线，灰色表示 Gate 拒绝后部署 matched target-only LLM 的 fallback。七条完整部署路线相对 strongest BO 都为正，但这里包含 fallback 的贡献，所以不能解释成七条 source transfer 都成功。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[指向右图] 右图比较 source transfer deployment 与 matched target-only LLM，目的是隔离 source outcome 的净贡献。四条绿色路线的配对 final-best 置信区间在零以上；三条灰色路线因为 exact fallback，与 matched LLM 的差值严格为零。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七条路线的最终部署情况是：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Transfer：ChemLex -&gt; BH、Dielectric -&gt; Gap、Gap -&gt; Dielectric、FreeSolv -&gt; Lipophilicity。</a:t>
            </a:r>
          </a:p>
          <a:p xmlns:a="http://schemas.openxmlformats.org/drawingml/2006/main">
            <a:r>
              <a:t>• Exact fallback：Phonons -&gt; Dielectric、ESOL -&gt; Lipophilicity、Lipophilicity -&gt; FreeSolv。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实验协议是 50 个 calibration seeds 冻结路线，100 个不重叠 held-out seeds 做最终评估。结果可以表述为：4/7 获得 source transfer 净增益，3/7 精确打平，正式部署中 0/7 负向。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【一定要说明的统计边界】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当前主图使用配对 held-out delta 与 95% CI。论文级 confirm run 还应补 paired permutation test、BH-FDR 和预先定义的 MDE。因此现在可以说“区间稳定高于零”或“在当前冻结 replay 中稳定为正”，但不要把所有结果直接称为已经通过最终多重比较校正的统计显著。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 fallback 路线在左图仍然超过 BO？</a:t>
            </a:r>
          </a:p>
          <a:p xmlns:a="http://schemas.openxmlformats.org/drawingml/2006/main">
            <a:r>
              <a:t>因为 fallback 是 matched target-only LLM，而 matched LLM 本身可能优于 GP-UCB 或 GP-EI。左图评价完整部署性能；右图才评价 source transfer 的额外贡献。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Gate 是不是看完 held-out 才决定的？</a:t>
            </a:r>
          </a:p>
          <a:p xmlns:a="http://schemas.openxmlformats.org/drawingml/2006/main">
            <a:r>
              <a:t>不是。Route 在 calibration 上决定并冻结，held-out 只执行冻结策略。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把这些结果放进 source-target 矩阵后，可以更直观看到哪些迁移关系已有证据，哪些仍是空白。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experiments/care_replay/results/2026-07-28-evaluation-completion/baseline_comparison.csv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迁移矩阵与证据边界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矩阵纵轴是 source task，横轴是 target task。绿色表示 raw route 通过 Gate，并在 held-out 上部署正向迁移；红色表示 raw source route 出现负向信号，被 Gate 拒绝；灰色表示证据不稳定或没有实验覆盖。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当前四个正例全部在领域内部：一个 Reaction -&gt; Reaction，两个 Materials -&gt; Materials，一个 Molecular -&gt; Molecular。三个 fallback 包括一个材料路线和两个分子路线。ESOL -&gt; Lipophilicity 与 Lipophilicity -&gt; FreeSolv 的 raw transfer 是负向，Phonons -&gt; Dielectric 的 raw signal 略正但区间跨零，因此都没有部署。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矩阵中的空白不能解释成迁移失败，它只表示还没有按冻结协议运行。Reaction -&gt; Materials、Reaction -&gt; Molecular、Materials -&gt; Molecular 等 off-diagonal 路线仍未验证。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右下角给出了一个机制 Hypothesis：材料和分子任务可能因为共享 representation、相近 objective 或参数空间重叠而更容易迁移。但这只是解释候选。要验证它，需要增加 representation ablation、descriptor overlap 指标和不同 task-distance 分层实验。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【这页应得出的结论】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可以说：“CARE 2.0 已经在三个科学领域中得到同领域跨数据集证据。”  </a:t>
            </a:r>
          </a:p>
          <a:p xmlns:a="http://schemas.openxmlformats.org/drawingml/2006/main">
            <a:r>
              <a:t>不能说：“CARE 2.0 已经证明跨学科知识可以普遍迁移。”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为什么叫通用框架，但还没有跨领域结果？</a:t>
            </a:r>
          </a:p>
          <a:p xmlns:a="http://schemas.openxmlformats.org/drawingml/2006/main">
            <a:r>
              <a:t>“通用”首先指统一接口、统一验证协议和跨任务复用能力。远距离跨领域是这个框架要检验的下一层问题，而不是由框架名称自动成立的结论。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有了正负路线之后，下一步需要明确我们用什么指标判断提升、稳定性和实际意义。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experiments/care_replay/results/2026-07-25-transfer-visualizations/transfer_matrix.png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评价指标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我们不只看最终提升百分比，而是从性能、过程、稳定性和实际成本四个方面评价。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第一，paired final-best delta 衡量预算结束时最好结果的差值。第二，best-so-far AUC 衡量整个搜索过程，能够区分“最后一轮偶然找到好点”和“前几轮就持续找到好点”。第三，non-loss rate 和五个 seed block 检查正向结果是否只由少数 seeds 拉高。第四，rounds saved 把算法增益转换成少做多少次 target 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为什么使用 paired comparison？因为 CARE 与 baseline 在同一个 seed 下共享 initial observations、candidate pool 和预算。先做逐 seed 差值，再对差值做统计，可以消除很多由初始化难度带来的方差。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当前报告使用 paired bootstrap 95% CI。置信区间跨过零，表示方向仍不稳定。对于论文 confirm run，我们计划使用 paired permutation test，并对多条路线做 Benjamini-Hochberg FDR 校正。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还需要区分统计显著和实际有意义。样本量很大时，极小差异也可能得到很小的 p 值。因此每个任务应在运行前定义 task-specific MDE，也就是对真实实验有意义的最低效果。最终报告应同时给 effect、95% CI、q-value 和 MDE。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【如何解释 2%、17% 和 100% 提升】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2% 可能很稳定，也可能完全被方差淹没，不能只看百分比。</a:t>
            </a:r>
          </a:p>
          <a:p xmlns:a="http://schemas.openxmlformats.org/drawingml/2006/main">
            <a:r>
              <a:t>• 17% 如果在独立 seeds 上区间稳定，通常比 2% 更有实际意义，但仍需检验。</a:t>
            </a:r>
          </a:p>
          <a:p xmlns:a="http://schemas.openxmlformats.org/drawingml/2006/main">
            <a:r>
              <a:t>• 100% 如果 baseline 很小、重复次数很少或由极端值驱动，也可能不稳定。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【当前完成与下一步的区别】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当前已经完成 paired delta、AUC、bootstrap CI、non-loss 和 block stability。Permutation test、BH-FDR 和 task-specific MDE 应作为冻结 confirm protocol 的正式组成部分，不要在汇报中误说成所有路线已经完成最终论文统计。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评价指标告诉我们结果是否稳定，Calibration Gate 则决定一条迁移路线是否允许部署。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Efron &amp; Tibshirani (1993), An Introduction to the Bootstrap.</a:t>
            </a:r>
          </a:p>
          <a:p xmlns:a="http://schemas.openxmlformats.org/drawingml/2006/main">
            <a:r>
              <a:t>Benjamini &amp; Hochberg (1995), Controlling the False Discovery Rate.</a:t>
            </a:r>
          </a:p>
          <a:p xmlns:a="http://schemas.openxmlformats.org/drawingml/2006/main">
            <a:r>
              <a:t>Lakens (2013), Calculating and reporting effect sizes.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什么时候该迁移：Calibration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建议时间：3-4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Gate 的作用可以概括为一句话：证据够强才迁移，否则回到 target-only。它不是用来把负结果隐藏掉，而是一个预先定义的部署安全层。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一条候选 route 要同时与两个 anchor 比较：matched target-only LLM 和 strongest target-only BO。当前规则要求六项全部通过：final mean 不亏、AUC mean 不亏、final non-loss rate 至少 0.60、五个 blocks 中至少四个为正、composite mean - standard error 至少 0.25，以及 composite 95% CI 下界不低于零。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只要任一条件失败，系统就 Freeze 并部署 exact target-only fallback。当前版本没有“差不多就迁移”的灰色策略，因此正式 held-out 中不会把一个 calibration 证据不足的 raw route 强行上线。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参数来源也要坦诚说明。Paired comparison、confidence interval、强 baseline anchor 是通用统计原则；0.60、0.80 和 0.25 是在开发阶段固定的 calibrated defaults，不是某篇文献规定的普适阈值。它们必须在 held-out 前冻结，并接受 sensitivity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下一轮应对 final/AUC 权重、block 数量、non-loss threshold 和 risk-adjusted threshold 做 grid 或 bootstrap sweep。更严格的做法是 leave-one-route-out calibration：用其他路线确定 threshold，再看被留出的路线，以减少 pair-specific 调参嫌疑。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【Gate 与统计检验的区别】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Gate 是部署规则，回答“要不要使用 source route”。统计检验是结果报告，回答“冻结后的效果有多确定”。二者相关，但不能把 Gate 通过直接等同于论文统计显著。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这是不是在挑正结果？</a:t>
            </a:r>
          </a:p>
          <a:p xmlns:a="http://schemas.openxmlformats.org/drawingml/2006/main">
            <a:r>
              <a:t>模型部署本来就需要 validation。只要 calibration 与 held-out 严格分离、threshold 与 route list 在 held-out 前冻结，这属于合法的模型选择。真正不允许的是看完 held-out 后不断改 Gate，再把同一 held-out 当成最终测试。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为什么当前没有 Hold？</a:t>
            </a:r>
          </a:p>
          <a:p xmlns:a="http://schemas.openxmlformats.org/drawingml/2006/main">
            <a:r>
              <a:t>为了让当前证据链清楚，代码只实现 Transfer 与 Freeze。Hold 可以在下一版表示“需要额外 calibration 数据”，但不能把它写成已经完成的功能。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有了 Gate 以后，还需要通过 baseline 和 ablation 证明增益究竟来自哪个模块。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experiments/care_replay/scripts/run_calibrated_source_outcome_portfolio.py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与贡献验证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建议时间：4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这一页是回答“我们的提升到底来自哪里”。目前证据最完整的是两类强 baseline。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第一类是 matched target-only LLM。它与 CARE 使用相同 target 预算和 seeds，但拿不到 source outcome。四条路线相对它提升，三条 exact fallback，因此 source transfer 的净结果是 4/7 正向、3/7 打平。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第二类是 strongest target-only BO，包括 GP-UCB、GP-EI 或 target acquisition portfolio。完整 CARE deployment 在七条路线中都超过对应的 strongest BO。但再次强调，其中三条依靠的是 target-only LLM fallback，不是 source transfer 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第三类是 raw transfer/no Gate。它强制部署 source route，用于衡量 Gate 的安全贡献。结果出现两条明确负迁移和一条不确定路线，说明 Gate 不是装饰模块；它确实阻止了不可靠 prior 进入正式部署。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Random-transfer 用随机 source 或随机 patch，目的是排除“只要增加一种 prior 形式就会变好”。Similarity-only 只使用 schema 或 descriptor overlap，目的是判断浅层相似度能否替代 LLM Hypothesis。当前这两类只完成了局部路线或历史控制，尚未在同一七路线、同一 split、同一预算下全部完成，所以状态必须写 PARTIAL。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CARE 2.0 包括 Hypothesis、patch 和 Gate。当前可以证明完整系统有可审计部署和 exact fallback，但还不能说 LLM Hypothesis 的独立贡献已经被完整消融证明。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【两个代表性结果】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ChemLex -&gt; BH：+9.20 vs matched LLM，+8.10 vs strongest BO。</a:t>
            </a:r>
          </a:p>
          <a:p xmlns:a="http://schemas.openxmlformats.org/drawingml/2006/main">
            <a:r>
              <a:t>• FreeSolv -&gt; Lipophilicity：+2.98 vs matched LLM，+4.99 vs strongest BO。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【这页最重要的诚实口径】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“我们已经证明完整系统在当前冻结套件中有效，并证明 Gate 能阻止负迁移；但 Random-transfer、Similarity-only 和 Without-validation 还需要统一 confirm run，才能完成每个模块的因果归因。”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有没有打过确定性规则？</a:t>
            </a:r>
          </a:p>
          <a:p xmlns:a="http://schemas.openxmlformats.org/drawingml/2006/main">
            <a:r>
              <a:t>在当前四条部署路线中，完整 source-informed route 超过 matched target-only LLM；但 LLM Hypothesis 是否优于同结构的人工或 similarity-only patch，还没有在统一协议下完全证明。不要回避这一点，这正是下一轮 ablation 的核心。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7/7 是否说明 CARE 总能变好？</a:t>
            </a:r>
          </a:p>
          <a:p xmlns:a="http://schemas.openxmlformats.org/drawingml/2006/main">
            <a:r>
              <a:t>不说明。它说明“带安全回退的完整部署”在这七条预设路线中不低于 matched LLM，并高于 strongest BO。原始 source route 仍然会失败。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除了最终质量，我们还关心同样的实验目标能不能用更少轮数达到。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experiments/care_replay/results/2026-07-28-evaluation-completion/baseline_protocol_coverage.csv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预算效率与节省实验轮数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在真实科学任务中，最终最优值只是一个方面。更实际的问题是：达到同样质量需要做多少次 target 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 A 计算达到 matched target-only LLM 最终质量时节省的轮数。四条部署路线分别节省：ChemLex -&gt; BH 2.99 轮，95% CI [2.05, 3.93]；Dielectric -&gt; Gap 6.00 轮，区间 [5.14, 6.86]；Gap -&gt; Dielectric 5.03 轮，区间 [4.27, 5.79]；FreeSolv -&gt; Lipophilicity 2.23 轮，区间 [1.37, 3.09]。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 B 看更严格的 global top-10 候选，四条路线分别节省 3.62、9.57、8.46 和 4.80 轮。左图 C 展示不同 round 的 best-so-far delta，可以看出迁移价值发生在早期还是主要出现在预算末端。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Round 0 是 initial observations，不计作 acquisition round。如果某条轨迹在预算内没有达到比较阈值，按 budget + 1 做右删失。Fallback 路线与 matched LLM 完全一致，因此 rounds saved 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这页目前可以支持的结论是：四条通过 Gate 的路线更早达到 matched baseline 的最终质量，说明 source experience 有潜力减少 target 实验成本。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【不要过度解释边际收益递减】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一张按 round 展示的热图不能直接证明“历史经验越多，边际收益越低”。要证明边际收益递减，需要控制 source-history size，例如使用 10%、25%、50%、100% 历史数据分别重跑，再比较线性模型和饱和模型。当前只能说增益在不同轮次分布不均。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【可能追问】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为什么用达到 baseline 最终质量，而不是全局最优？</a:t>
            </a:r>
          </a:p>
          <a:p xmlns:a="http://schemas.openxmlformats.org/drawingml/2006/main">
            <a:r>
              <a:t>Matched-final 对应一个现实问题：要达到不迁移方法最终能达到的质量，CARE 少做多少实验。Global top-10 是补充指标，两者一起报告比只看某一个阈值更稳妥。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当前结果说明框架值得继续，但论文级结论还需要一轮冻结协议下的完整模块归因。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[Internal evidence]</a:t>
            </a:r>
          </a:p>
          <a:p xmlns:a="http://schemas.openxmlformats.org/drawingml/2006/main">
            <a:r>
              <a:t>experiments/care_replay/results/2026-07-28-evaluation-completion/iteration_efficiency.csv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下一轮统一协议与消融实验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建议时间：3-4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下一轮不应该继续根据结果临时挑 pair 或改规则，而是先冻结 Confirmation Protocol。Confirm run 开始前需要固定 route list、calibration/held-out split、candidate pool、initial observations、预算、Gate thresholds、primary metric 和各任务 MDE。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表格中的每一行回答一个不同问题。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transfer 给出完全不使用 source 的 target-only 表现。Random transfer 排除“只是多加一个 prior 就会变好”。Similarity-only 检查 schema 或 descriptor 相似度是否已经足够，不需要 LLM。Without Gate 量化强制迁移造成的负迁移。Without validation 检查独立 calibration 是否必要。最后用 Full CARE 2.0 得到完整系统的净效果。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所有方法必须共享同样的 target budget、initial observations、candidate pool 和 held-out seeds；除了被消融的模块，其余代码路径应保持一致。否则结果可能来自不同预算或不同初始难度，而不是模块贡献。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Confirm run 开始后，不能根据 held-out 结果修改 prompt、threshold 或 route。若发现协议问题，需要生成新的开发版本和新的独立 confirm split，并保留旧结果，不能覆盖。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【这一轮最终要回答的五个问题】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LLM Hypothesis 是否优于 similarity-only？</a:t>
            </a:r>
          </a:p>
          <a:p xmlns:a="http://schemas.openxmlformats.org/drawingml/2006/main">
            <a:r>
              <a:t>2. Source outcome 是否提供超出 schema 的信息？</a:t>
            </a:r>
          </a:p>
          <a:p xmlns:a="http://schemas.openxmlformats.org/drawingml/2006/main">
            <a:r>
              <a:t>3. Gate 是否显著降低负迁移率？</a:t>
            </a:r>
          </a:p>
          <a:p xmlns:a="http://schemas.openxmlformats.org/drawingml/2006/main">
            <a:r>
              <a:t>4. 增益来自 warm start、kernel geometry 还是持续 prior？</a:t>
            </a:r>
          </a:p>
          <a:p xmlns:a="http://schemas.openxmlformats.org/drawingml/2006/main">
            <a:r>
              <a:t>5. 同一协议能否在未参与开发的新 source-target pair 上复现？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【还需要补的跨领域实验】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应把领域内路线与 off-diagonal 路线分层报告。先根据表示重叠程度构造近距离跨领域路线，再测试远距离路线。无论结果正负都保留，用 task distance、descriptor overlap 和 route outcome 分析迁移边界。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【过渡】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最后总结当前已经成立的三条结论，以及我们暂时不能越过的边界。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建议时间：2 分钟</a:t>
            </a:r>
          </a:p>
          <a:p xmlns:a="http://schemas.openxmlformats.org/drawingml/2006/main">
            <a:r>
              <a:t>【建议讲稿】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目前可以给出三条结论。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第一，同领域迁移已经得到初步且可复核的支持。反应、材料和分子三个领域内都出现了跨数据集正向路线。七条冻结路线中四条部署了 transfer，并在 100 个 held-out seeds 上超过 matched target-only 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第二，Gate 在当前套件中阻止了负迁移。其余三条 raw route 中，两条明确负向、一条不稳定；它们都被拒绝并精确回退。正式 held-out 部署没有把这些已知不可靠路线上线。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第三，远距离跨领域迁移还没有验证。下一轮需要冻结统一协议，补齐 Random、Similarity-only、Without Gate、Without validation 等消融，并扩展 Reaction、Materials、Molecular 之间的 off-diagonal pairs。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CARE 2.0 当前最扎实的贡献不是“LLM 总能给出更好的实验”，而是建立了一条完整的可信迁移链：LLM 生成可解释 Hypothesis，Compiler 把它变成可执行 patch，Gate 用独立证据决定是否部署，held-out 验证效果，最后把成功路线、失败路线和审计记录沉淀进知识库。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【建议收尾】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“我们希望 CARE 2.0 最终回答的不是某一条经验能不能迁移，而是科学智能体如何系统地提出迁移假设、验证假设、拒绝不可靠迁移，并把这些结果变成下一项任务可复用的知识。”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daf5e36e2469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80c84bc26402f" /><Relationship Type="http://schemas.openxmlformats.org/officeDocument/2006/relationships/slideLayout" Target="/ppt/slideLayouts/slideLayout1.xml" Id="R85909593450a4ed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909593450a4ed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e167a2b12424b" /><Relationship Type="http://schemas.openxmlformats.org/officeDocument/2006/relationships/image" Target="/ppt/media/image.jpeg" Id="Rd4222eb1cbce49bc" /><Relationship Type="http://schemas.openxmlformats.org/officeDocument/2006/relationships/notesSlide" Target="/ppt/notesSlides/notesSlide1.xml" Id="Rcdcd14ab600e47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a8221159f4dd9" /><Relationship Type="http://schemas.openxmlformats.org/officeDocument/2006/relationships/image" Target="/ppt/media/image2.jpeg" Id="Ra036504740404d4e" /><Relationship Type="http://schemas.openxmlformats.org/officeDocument/2006/relationships/notesSlide" Target="/ppt/notesSlides/notesSlide2.xml" Id="R2aa68b43e8d749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b5db167854880" /><Relationship Type="http://schemas.openxmlformats.org/officeDocument/2006/relationships/image" Target="/ppt/media/image3.jpeg" Id="Rf5b8937514f84658" /><Relationship Type="http://schemas.openxmlformats.org/officeDocument/2006/relationships/image" Target="/ppt/media/image.png" Id="R1fcad7759858484a" /><Relationship Type="http://schemas.openxmlformats.org/officeDocument/2006/relationships/image" Target="/ppt/media/image2.png" Id="R0944d1d4e7154ebb" /><Relationship Type="http://schemas.openxmlformats.org/officeDocument/2006/relationships/notesSlide" Target="/ppt/notesSlides/notesSlide3.xml" Id="Rbfee3ac1889344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2791b27d543de" /><Relationship Type="http://schemas.openxmlformats.org/officeDocument/2006/relationships/image" Target="/ppt/media/image3.jpeg" Id="R84957ed75ef94813" /><Relationship Type="http://schemas.openxmlformats.org/officeDocument/2006/relationships/image" Target="/ppt/media/image3.png" Id="R3e012e21fa9d4b7e" /><Relationship Type="http://schemas.openxmlformats.org/officeDocument/2006/relationships/image" Target="/ppt/media/image4.png" Id="R3c3e8a40575b44d9" /><Relationship Type="http://schemas.openxmlformats.org/officeDocument/2006/relationships/notesSlide" Target="/ppt/notesSlides/notesSlide4.xml" Id="R55db33dcfa1f46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47cee6653496c" /><Relationship Type="http://schemas.openxmlformats.org/officeDocument/2006/relationships/image" Target="/ppt/media/image3.jpeg" Id="R6d1151a9cf404774" /><Relationship Type="http://schemas.openxmlformats.org/officeDocument/2006/relationships/image" Target="/ppt/media/image3.png" Id="R0b587e42deb141cb" /><Relationship Type="http://schemas.openxmlformats.org/officeDocument/2006/relationships/image" Target="/ppt/media/image4.png" Id="R973317091b924b5a" /><Relationship Type="http://schemas.openxmlformats.org/officeDocument/2006/relationships/notesSlide" Target="/ppt/notesSlides/notesSlide5.xml" Id="R0e27316a84e848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d1e01df764128" /><Relationship Type="http://schemas.openxmlformats.org/officeDocument/2006/relationships/image" Target="/ppt/media/image3.jpeg" Id="Rb9472a52359040ba" /><Relationship Type="http://schemas.openxmlformats.org/officeDocument/2006/relationships/image" Target="/ppt/media/image3.png" Id="Rcff6f10d36c34d90" /><Relationship Type="http://schemas.openxmlformats.org/officeDocument/2006/relationships/image" Target="/ppt/media/image4.png" Id="R973ee820b5d24fd0" /><Relationship Type="http://schemas.openxmlformats.org/officeDocument/2006/relationships/notesSlide" Target="/ppt/notesSlides/notesSlide6.xml" Id="Rd14289b900ca4b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fcbfa84764f67" /><Relationship Type="http://schemas.openxmlformats.org/officeDocument/2006/relationships/image" Target="/ppt/media/image2.jpeg" Id="Rc9157c7b0acf404b" /><Relationship Type="http://schemas.openxmlformats.org/officeDocument/2006/relationships/notesSlide" Target="/ppt/notesSlides/notesSlide7.xml" Id="Rf52a23efe1cd46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65fbd45564eba" /><Relationship Type="http://schemas.openxmlformats.org/officeDocument/2006/relationships/notesSlide" Target="/ppt/notesSlides/notesSlide8.xml" Id="R0e689ab797914b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77576b7994580" /><Relationship Type="http://schemas.openxmlformats.org/officeDocument/2006/relationships/image" Target="/ppt/media/image2.jpeg" Id="Raee576bff5214fe5" /><Relationship Type="http://schemas.openxmlformats.org/officeDocument/2006/relationships/notesSlide" Target="/ppt/notesSlides/notesSlide9.xml" Id="Rfc2e7631480848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4e0eef8934c39" /><Relationship Type="http://schemas.openxmlformats.org/officeDocument/2006/relationships/image" Target="/ppt/media/image4.jpeg" Id="R1c1ae87f10404179" /><Relationship Type="http://schemas.openxmlformats.org/officeDocument/2006/relationships/image" Target="/ppt/media/image5.png" Id="R3f3b39a9eebc4459" /><Relationship Type="http://schemas.openxmlformats.org/officeDocument/2006/relationships/image" Target="/ppt/media/image6.png" Id="R2783204babbd4bf6" /><Relationship Type="http://schemas.openxmlformats.org/officeDocument/2006/relationships/notesSlide" Target="/ppt/notesSlides/notesSlide10.xml" Id="R1ed34ddb5a2b4d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3c657a4c3426a" /><Relationship Type="http://schemas.openxmlformats.org/officeDocument/2006/relationships/image" Target="/ppt/media/image3.jpeg" Id="Rafab4c2cb2454f79" /><Relationship Type="http://schemas.openxmlformats.org/officeDocument/2006/relationships/image" Target="/ppt/media/image7.png" Id="R2101863f59cf4240" /><Relationship Type="http://schemas.openxmlformats.org/officeDocument/2006/relationships/image" Target="/ppt/media/image8.png" Id="Rd93282f4f3d54baf" /><Relationship Type="http://schemas.openxmlformats.org/officeDocument/2006/relationships/image" Target="/ppt/media/image9.png" Id="Rd61d0ee5f833490e" /><Relationship Type="http://schemas.openxmlformats.org/officeDocument/2006/relationships/image" Target="/ppt/media/image10.png" Id="R9a781e772fd04ded" /><Relationship Type="http://schemas.openxmlformats.org/officeDocument/2006/relationships/image" Target="/ppt/media/image11.png" Id="Rf4461d27a2f34e25" /><Relationship Type="http://schemas.openxmlformats.org/officeDocument/2006/relationships/image" Target="/ppt/media/image12.png" Id="R61d926a7df124b57" /><Relationship Type="http://schemas.openxmlformats.org/officeDocument/2006/relationships/notesSlide" Target="/ppt/notesSlides/notesSlide11.xml" Id="R8e9dd21d015448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da4afcd634976" /><Relationship Type="http://schemas.openxmlformats.org/officeDocument/2006/relationships/image" Target="/ppt/media/image5.jpeg" Id="Rf4cca18434784366" /><Relationship Type="http://schemas.openxmlformats.org/officeDocument/2006/relationships/image" Target="/ppt/media/image13.png" Id="Rc99d4787d1c840ac" /><Relationship Type="http://schemas.openxmlformats.org/officeDocument/2006/relationships/image" Target="/ppt/media/image14.png" Id="Rc8296bbc09794b23" /><Relationship Type="http://schemas.openxmlformats.org/officeDocument/2006/relationships/notesSlide" Target="/ppt/notesSlides/notesSlide12.xml" Id="Ra42492b021aa44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10d188a0f4d39" /><Relationship Type="http://schemas.openxmlformats.org/officeDocument/2006/relationships/image" Target="/ppt/media/image3.jpeg" Id="R437e16d3a2524038" /><Relationship Type="http://schemas.openxmlformats.org/officeDocument/2006/relationships/image" Target="/ppt/media/image7.png" Id="Ra0bb3f8c8b084365" /><Relationship Type="http://schemas.openxmlformats.org/officeDocument/2006/relationships/image" Target="/ppt/media/image8.png" Id="R1c374a3b624d4f4a" /><Relationship Type="http://schemas.openxmlformats.org/officeDocument/2006/relationships/image" Target="/ppt/media/image9.png" Id="R9e2fc1542bc34dae" /><Relationship Type="http://schemas.openxmlformats.org/officeDocument/2006/relationships/image" Target="/ppt/media/image10.png" Id="R4b31a46581e44976" /><Relationship Type="http://schemas.openxmlformats.org/officeDocument/2006/relationships/image" Target="/ppt/media/image11.png" Id="Rb6c088a9cb5b4f92" /><Relationship Type="http://schemas.openxmlformats.org/officeDocument/2006/relationships/notesSlide" Target="/ppt/notesSlides/notesSlide13.xml" Id="Rc0c17f96d30b4e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3cd1d8eab4f84" /><Relationship Type="http://schemas.openxmlformats.org/officeDocument/2006/relationships/image" Target="/ppt/media/image15.png" Id="R1cbcc1d961f74955" /><Relationship Type="http://schemas.openxmlformats.org/officeDocument/2006/relationships/image" Target="/ppt/media/image16.png" Id="Rbf50bdc147c04890" /><Relationship Type="http://schemas.openxmlformats.org/officeDocument/2006/relationships/image" Target="/ppt/media/image17.png" Id="Rd42d94b4e0264a68" /><Relationship Type="http://schemas.openxmlformats.org/officeDocument/2006/relationships/image" Target="/ppt/media/image18.png" Id="R82255dbf637d4057" /><Relationship Type="http://schemas.openxmlformats.org/officeDocument/2006/relationships/notesSlide" Target="/ppt/notesSlides/notesSlide14.xml" Id="R3aec3818419344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39c92468b4df4" /><Relationship Type="http://schemas.openxmlformats.org/officeDocument/2006/relationships/image" Target="/ppt/media/image6.jpeg" Id="R7e53bb1c7f12462f" /><Relationship Type="http://schemas.openxmlformats.org/officeDocument/2006/relationships/image" Target="/ppt/media/image19.png" Id="R9c71d98ccaf944b1" /><Relationship Type="http://schemas.openxmlformats.org/officeDocument/2006/relationships/image" Target="/ppt/media/image20.png" Id="R3eb89577f7364142" /><Relationship Type="http://schemas.openxmlformats.org/officeDocument/2006/relationships/image" Target="/ppt/media/image21.png" Id="Rf6969fc8bd8644fb" /><Relationship Type="http://schemas.openxmlformats.org/officeDocument/2006/relationships/notesSlide" Target="/ppt/notesSlides/notesSlide15.xml" Id="Re5249ed0aac746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61b5706714c42" /><Relationship Type="http://schemas.openxmlformats.org/officeDocument/2006/relationships/image" Target="/ppt/media/image7.jpeg" Id="R811f28fc9f4a4e2a" /><Relationship Type="http://schemas.openxmlformats.org/officeDocument/2006/relationships/notesSlide" Target="/ppt/notesSlides/notesSlide16.xml" Id="Rb5f8681ef0884b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77c111e3d4f06" /><Relationship Type="http://schemas.openxmlformats.org/officeDocument/2006/relationships/image" Target="/ppt/media/image7.jpeg" Id="R9d5122f44ed5403d" /><Relationship Type="http://schemas.openxmlformats.org/officeDocument/2006/relationships/notesSlide" Target="/ppt/notesSlides/notesSlide17.xml" Id="Rf92a9b94b2d44d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22eb1cbce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85680AA-4A9A-4519-9220-17D731C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71240"/>
            <a:ext cx="7429500" cy="196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CARE 2.0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67367A8-FAE6-4538-836D-143F4B8D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39143"/>
            <a:ext cx="7429500" cy="4136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</a:pPr>
            <a:r>
              <a:rPr sz="2800" b="1"/>
              <a:t>CARE 2.0: 可信赖的跨任务科学知识迁移框架</a:t>
            </a:r>
            <a:r>
              <a:rPr sz="2800"/>
              <a:t> 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5EF4FA-D446-4D74-BC9A-2C871226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4979"/>
            <a:ext cx="7429500" cy="2321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Hypothesis generation · calibrated routing · held-out verification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D69048D-1199-46C1-B7D0-B83AA92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1525"/>
            <a:ext cx="7429500" cy="1607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Project update · 2026-07-29</a:t>
            </a:r>
          </a:p>
        </p:txBody>
      </p:sp>
    </p:spTree>
    <p:extLst>
      <p:ext uri="{BB962C8B-B14F-4D97-AF65-F5344CB8AC3E}">
        <p14:creationId xmlns:p14="http://schemas.microsoft.com/office/powerpoint/2010/main" val="16417681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6504740404d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CORE QUESTION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7882414" cy="3446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核心研究问题：如何定义一个具备迁移能力的通用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 AI Scientist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A5E1FF53-E9BD-453D-88F4-104E1B5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B329625F-BA44-47A2-99A2-259D548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决策对象</a:t>
            </a:r>
          </a:p>
        </p:txBody>
      </p:sp>
      <p:sp>
        <p:nvSpPr>
          <p:cNvPr id="22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76D74621-7DB7-49A0-8D30-3C8CA4E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给定 source task、历史 outcome、target schema 与固定实验预算，决定：迁移什么、迁移多少、何时拒绝，以及下一轮测哪个候选。</a:t>
            </a:r>
          </a:p>
        </p:txBody>
      </p:sp>
      <p:sp>
        <p:nvSpPr>
          <p:cNvPr id="23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432B3F22-FF9D-4378-8759-302E9F52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8CFCFF2A-D603-4EA1-9244-EDF1E96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核心贡献</a:t>
            </a:r>
          </a:p>
        </p:txBody>
      </p:sp>
      <p:sp>
        <p:nvSpPr>
          <p:cNvPr id="25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E42EA507-BE68-4148-A558-93A9B83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LLM 生成可执行 Hypothesis；编译器把它映射到 acquisition geometry；Calibration Gate 用独立开发种子决定部署或回退。</a:t>
            </a:r>
          </a:p>
        </p:txBody>
      </p:sp>
      <p:sp>
        <p:nvSpPr>
          <p:cNvPr id="26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A88681A7-FCD8-4BC6-95A0-41CC38F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20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33144959-3080-4B74-B91C-3648A1DD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证据边界</a:t>
            </a:r>
          </a:p>
        </p:txBody>
      </p:sp>
      <p:sp>
        <p:nvSpPr>
          <p:cNvPr id="2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528E1232-54A4-436B-8146-85259B9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目前支持反应、材料、分子三个领域内的跨数据集迁移。真正的跨领域迁移仍是探索性目标，不能写成已验证结论。</a:t>
            </a:r>
          </a:p>
        </p:txBody>
      </p:sp>
      <p:sp>
        <p:nvSpPr>
          <p:cNvPr id="29" name="problem-synthesis">
            <a:extLst xmlns:a="http://schemas.openxmlformats.org/drawingml/2006/main">
              <a:ext uri="{FF2B5EF4-FFF2-40B4-BE49-F238E27FC236}">
                <a16:creationId xmlns:a16="http://schemas.microsoft.com/office/drawing/2014/main" id="{5316D94F-D815-441A-9A3B-378B0BC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80010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266700" tIns="171450" rIns="266700" bIns="171450" anchor="ctr">
            <a:normAutofit fontScale="961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6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可信赖 = 能迁移，也能拒绝迁移。每一个决定都要有冻结协议、可复核证据和完整 audit trace。</a:t>
            </a:r>
          </a:p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937514f8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D159CAF-DEFD-4A90-B3A6-8C4861D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TRUSTED TRANSFER FRAMEWORK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8D1C7CB-4264-4D23-B79D-0C8EC63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从历史实验到可验证迁移：生成、路由、执行、反馈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44AC5FD-3E59-47CD-9DC3-388527D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pic>
        <p:nvPicPr>
          <p:cNvPr id="8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ad775985848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A1CDB0A6-8A00-496E-AC96-3C97B253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FAD6D10A-B59E-4475-8830-FCA8E26D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EB599F2-CDC0-4D2B-B327-A59A5663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C060327-AD03-46C1-8952-74EDF78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9947125-96A3-43AC-A2EF-AB50DB5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813327B-8B4A-4B3F-B5FF-0AA94AD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FA164F3-1146-4F34-9E89-4DFDA2A4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1CA4ADB-E170-41C8-AFC1-91EE059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18ED45C-D3A9-4071-ACB9-3EAD00F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BA6554A-B665-49B7-B74D-21441A82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76DD86E-BE23-42B4-8EB7-F275E72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12372C0-D106-4AE6-BB44-35568C1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CF42E4F-4E48-467A-AA7A-CF726BC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F58D38D8-FF21-40B6-8B75-D79C1B4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171C747-B284-4603-B671-0714043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A8F48CE-1E82-441D-9A26-6357287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36C86F4-32D1-4044-AC08-AFFE868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4B4F55E-9B27-4EB0-9255-DA7EF44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F03BD79-E080-4BF9-8242-60850B5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36017" tIns="136017" rIns="136017" bIns="136017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94D3691-F503-4873-A0F0-6ACA93F2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09A70CA4-E3AF-43CB-B301-D1CF97A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C6C55C1-FE95-419E-BCE6-00CAB33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4d1d4e7154e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D9AF64B3-494E-4D42-943B-3BF9076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E9A09C44-CD48-41C4-8BF9-9E720F8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2C7F3DC7-AA66-46BD-AB20-26804F7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7F89D4D-92A8-42EB-9020-376664C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3E80345B-BB36-4224-B8A3-A23C18F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8CDC7844-EF08-4EBA-8113-32C6853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0148626B-1502-4426-A907-4E007EF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E5F903FE-3AFD-45EE-88FF-073B718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972633EC-CD93-4B24-97C4-4441096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7BD4F2F7-30D6-4033-92EB-E2523601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D50E1449-A437-4659-BF82-706D1B7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8DDA31BA-119E-4EE4-A986-BB6A84C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BC9EF208-1A7B-42AB-94DB-248EF0C6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04CD6DBA-D284-4185-8CF3-6334BCE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39">
            <a:extLst xmlns:a="http://schemas.openxmlformats.org/drawingml/2006/main">
              <a:ext uri="{FF2B5EF4-FFF2-40B4-BE49-F238E27FC236}">
                <a16:creationId xmlns:a16="http://schemas.microsoft.com/office/drawing/2014/main" id="{512DE1FA-276A-4144-8159-481128D9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FF65D1E9-97D0-4275-9052-3EA5623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276AB000-21A1-4042-9788-B1914AB6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651271A4-F2B3-4DCA-892F-2BC7451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676CB99D-BB24-4717-9283-E1A399F2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9" name="Shape 44">
            <a:extLst xmlns:a="http://schemas.openxmlformats.org/drawingml/2006/main">
              <a:ext uri="{FF2B5EF4-FFF2-40B4-BE49-F238E27FC236}">
                <a16:creationId xmlns:a16="http://schemas.microsoft.com/office/drawing/2014/main" id="{2C1FEAC1-41A2-43E5-AC9E-620057CC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0CDA5014-435C-426E-9145-51FEDB6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Shape 46">
            <a:extLst xmlns:a="http://schemas.openxmlformats.org/drawingml/2006/main">
              <a:ext uri="{FF2B5EF4-FFF2-40B4-BE49-F238E27FC236}">
                <a16:creationId xmlns:a16="http://schemas.microsoft.com/office/drawing/2014/main" id="{68AE135F-2F6E-4B97-A6BE-88AF8BA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AAE18213-0645-4595-8EF2-63AF042F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48">
            <a:extLst xmlns:a="http://schemas.openxmlformats.org/drawingml/2006/main">
              <a:ext uri="{FF2B5EF4-FFF2-40B4-BE49-F238E27FC236}">
                <a16:creationId xmlns:a16="http://schemas.microsoft.com/office/drawing/2014/main" id="{DF1160AB-F6B4-4AD6-BA6E-0198BFA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49">
            <a:extLst xmlns:a="http://schemas.openxmlformats.org/drawingml/2006/main">
              <a:ext uri="{FF2B5EF4-FFF2-40B4-BE49-F238E27FC236}">
                <a16:creationId xmlns:a16="http://schemas.microsoft.com/office/drawing/2014/main" id="{79B351AA-0D58-463E-B5A7-50271939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5" name="Text 50">
            <a:extLst xmlns:a="http://schemas.openxmlformats.org/drawingml/2006/main">
              <a:ext uri="{FF2B5EF4-FFF2-40B4-BE49-F238E27FC236}">
                <a16:creationId xmlns:a16="http://schemas.microsoft.com/office/drawing/2014/main" id="{1B8CAC1E-B898-4D59-A824-34E64F00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6" name="Text 51">
            <a:extLst xmlns:a="http://schemas.openxmlformats.org/drawingml/2006/main">
              <a:ext uri="{FF2B5EF4-FFF2-40B4-BE49-F238E27FC236}">
                <a16:creationId xmlns:a16="http://schemas.microsoft.com/office/drawing/2014/main" id="{7BD35B93-48F2-4BEE-B10F-0579C9BB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7" name="Text 52">
            <a:extLst xmlns:a="http://schemas.openxmlformats.org/drawingml/2006/main">
              <a:ext uri="{FF2B5EF4-FFF2-40B4-BE49-F238E27FC236}">
                <a16:creationId xmlns:a16="http://schemas.microsoft.com/office/drawing/2014/main" id="{E6D0943E-074D-4183-B3AD-405784F3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58" name="Shape 53">
            <a:extLst xmlns:a="http://schemas.openxmlformats.org/drawingml/2006/main">
              <a:ext uri="{FF2B5EF4-FFF2-40B4-BE49-F238E27FC236}">
                <a16:creationId xmlns:a16="http://schemas.microsoft.com/office/drawing/2014/main" id="{8DEACAE0-FEB3-494C-8147-A2765D7B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Shape 54">
            <a:extLst xmlns:a="http://schemas.openxmlformats.org/drawingml/2006/main">
              <a:ext uri="{FF2B5EF4-FFF2-40B4-BE49-F238E27FC236}">
                <a16:creationId xmlns:a16="http://schemas.microsoft.com/office/drawing/2014/main" id="{E9F399B8-EB96-4D34-8715-68D9852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Shape 55">
            <a:extLst xmlns:a="http://schemas.openxmlformats.org/drawingml/2006/main">
              <a:ext uri="{FF2B5EF4-FFF2-40B4-BE49-F238E27FC236}">
                <a16:creationId xmlns:a16="http://schemas.microsoft.com/office/drawing/2014/main" id="{8A8998D1-9844-4D00-8C74-A2359F8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Shape 56">
            <a:extLst xmlns:a="http://schemas.openxmlformats.org/drawingml/2006/main">
              <a:ext uri="{FF2B5EF4-FFF2-40B4-BE49-F238E27FC236}">
                <a16:creationId xmlns:a16="http://schemas.microsoft.com/office/drawing/2014/main" id="{EA40FD4D-7C27-48BE-9530-E542B9AC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Shape 57">
            <a:extLst xmlns:a="http://schemas.openxmlformats.org/drawingml/2006/main">
              <a:ext uri="{FF2B5EF4-FFF2-40B4-BE49-F238E27FC236}">
                <a16:creationId xmlns:a16="http://schemas.microsoft.com/office/drawing/2014/main" id="{F30F8F54-0F2A-4C1E-8418-C086151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58">
            <a:extLst xmlns:a="http://schemas.openxmlformats.org/drawingml/2006/main">
              <a:ext uri="{FF2B5EF4-FFF2-40B4-BE49-F238E27FC236}">
                <a16:creationId xmlns:a16="http://schemas.microsoft.com/office/drawing/2014/main" id="{86A39385-085F-477E-A795-7FEA3C9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4" name="Text 59">
            <a:extLst xmlns:a="http://schemas.openxmlformats.org/drawingml/2006/main">
              <a:ext uri="{FF2B5EF4-FFF2-40B4-BE49-F238E27FC236}">
                <a16:creationId xmlns:a16="http://schemas.microsoft.com/office/drawing/2014/main" id="{EF68050B-0333-4254-B695-0DE3B05D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5" name="Text 60">
            <a:extLst xmlns:a="http://schemas.openxmlformats.org/drawingml/2006/main">
              <a:ext uri="{FF2B5EF4-FFF2-40B4-BE49-F238E27FC236}">
                <a16:creationId xmlns:a16="http://schemas.microsoft.com/office/drawing/2014/main" id="{C3DB49D4-0605-4E33-A19F-78C2128A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66" name="Text 61">
            <a:extLst xmlns:a="http://schemas.openxmlformats.org/drawingml/2006/main">
              <a:ext uri="{FF2B5EF4-FFF2-40B4-BE49-F238E27FC236}">
                <a16:creationId xmlns:a16="http://schemas.microsoft.com/office/drawing/2014/main" id="{B50052EF-9060-499B-9036-0062AA3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0" name="framework-top-0">
            <a:extLst xmlns:a="http://schemas.openxmlformats.org/drawingml/2006/main">
              <a:ext uri="{FF2B5EF4-FFF2-40B4-BE49-F238E27FC236}">
                <a16:creationId xmlns:a16="http://schemas.microsoft.com/office/drawing/2014/main" id="{199B6E16-A1E0-46E8-80C6-41F89390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94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Historical Experiments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TaskSpec · outcomes · audit</a:t>
            </a:r>
          </a:p>
        </p:txBody>
      </p:sp>
      <p:sp>
        <p:nvSpPr>
          <p:cNvPr id="71" name="framework-top-1">
            <a:extLst xmlns:a="http://schemas.openxmlformats.org/drawingml/2006/main">
              <a:ext uri="{FF2B5EF4-FFF2-40B4-BE49-F238E27FC236}">
                <a16:creationId xmlns:a16="http://schemas.microsoft.com/office/drawing/2014/main" id="{405953BD-2125-4B0C-BEDD-6BB11D3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Feature &amp; Evidence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roles · descriptors · uncertainty</a:t>
            </a:r>
          </a:p>
        </p:txBody>
      </p:sp>
      <p:sp>
        <p:nvSpPr>
          <p:cNvPr id="72" name="framework-top-2">
            <a:extLst xmlns:a="http://schemas.openxmlformats.org/drawingml/2006/main">
              <a:ext uri="{FF2B5EF4-FFF2-40B4-BE49-F238E27FC236}">
                <a16:creationId xmlns:a16="http://schemas.microsoft.com/office/drawing/2014/main" id="{FBAA4DF2-898B-4BB3-B10B-19419696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multiple bounded candidates</a:t>
            </a:r>
          </a:p>
        </p:txBody>
      </p:sp>
      <p:sp>
        <p:nvSpPr>
          <p:cNvPr id="73" name="framework-top-3">
            <a:extLst xmlns:a="http://schemas.openxmlformats.org/drawingml/2006/main">
              <a:ext uri="{FF2B5EF4-FFF2-40B4-BE49-F238E27FC236}">
                <a16:creationId xmlns:a16="http://schemas.microsoft.com/office/drawing/2014/main" id="{6FFD81F1-5B76-4240-BB18-953E0B4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 fontScale="972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Transferability Estimate</a:t>
            </a:r>
          </a:p>
          <a:p xmlns:a="http://schemas.openxmlformats.org/drawingml/2006/main">
            <a:pPr algn="ctr">
              <a:buNone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+ source evidence</a:t>
            </a:r>
          </a:p>
        </p:txBody>
      </p:sp>
      <p:sp>
        <p:nvSpPr>
          <p:cNvPr id="74" name="framework-top-4">
            <a:extLst xmlns:a="http://schemas.openxmlformats.org/drawingml/2006/main">
              <a:ext uri="{FF2B5EF4-FFF2-40B4-BE49-F238E27FC236}">
                <a16:creationId xmlns:a16="http://schemas.microsoft.com/office/drawing/2014/main" id="{98EA5819-3CA0-4C69-8720-51C8C13A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33500"/>
            <a:ext cx="1381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76200" tIns="85725" rIns="76200" bIns="857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independent dev seeds</a:t>
            </a:r>
          </a:p>
        </p:txBody>
      </p:sp>
      <p:cxnSp>
        <p:nvCxnSpPr>
          <p:cNvPr id="895" name="Straight Arrow Connector 165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195262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96" name="Straight Arrow Connector 166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350520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97" name="Straight Arrow Connector 167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5057775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98" name="Straight Arrow Connector 168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6610350" y="17049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79" name="framework-transfer">
            <a:extLst xmlns:a="http://schemas.openxmlformats.org/drawingml/2006/main">
              <a:ext uri="{FF2B5EF4-FFF2-40B4-BE49-F238E27FC236}">
                <a16:creationId xmlns:a16="http://schemas.microsoft.com/office/drawing/2014/main" id="{5CFFF29A-260F-4CB1-8082-A84CA159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 &gt; 0</a:t>
            </a:r>
          </a:p>
        </p:txBody>
      </p:sp>
      <p:sp>
        <p:nvSpPr>
          <p:cNvPr id="80" name="framework-hold">
            <a:extLst xmlns:a="http://schemas.openxmlformats.org/drawingml/2006/main">
              <a:ext uri="{FF2B5EF4-FFF2-40B4-BE49-F238E27FC236}">
                <a16:creationId xmlns:a16="http://schemas.microsoft.com/office/drawing/2014/main" id="{1BBD49EB-F67B-4D25-843A-7272E5D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97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HOLD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collect evidence</a:t>
            </a:r>
          </a:p>
        </p:txBody>
      </p:sp>
      <p:sp>
        <p:nvSpPr>
          <p:cNvPr id="81" name="framework-freeze">
            <a:extLst xmlns:a="http://schemas.openxmlformats.org/drawingml/2006/main">
              <a:ext uri="{FF2B5EF4-FFF2-40B4-BE49-F238E27FC236}">
                <a16:creationId xmlns:a16="http://schemas.microsoft.com/office/drawing/2014/main" id="{06820836-C98F-4D49-9D43-2239385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952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11430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8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/ REJECT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exact fallback</a:t>
            </a:r>
          </a:p>
        </p:txBody>
      </p:sp>
      <p:cxnSp>
        <p:nvCxnSpPr>
          <p:cNvPr id="902" name="Elbow Connector 172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 flipH="1">
            <a:off x="5905500" y="2076450"/>
            <a:ext cx="1566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03" name="Elbow Connector 173"/>
          <p:cNvCxnSpPr>
            <a:stCxn xmlns:a="http://schemas.openxmlformats.org/drawingml/2006/main" id="74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7048500" y="2076450"/>
            <a:ext cx="42386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7791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04" name="Elbow Connector 174"/>
          <p:cNvCxnSpPr>
            <a:stCxn xmlns:a="http://schemas.openxmlformats.org/drawingml/2006/main" id="74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>
            <a:off x="7472363" y="2076450"/>
            <a:ext cx="71913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85" name="framework-bottom-0">
            <a:extLst xmlns:a="http://schemas.openxmlformats.org/drawingml/2006/main">
              <a:ext uri="{FF2B5EF4-FFF2-40B4-BE49-F238E27FC236}">
                <a16:creationId xmlns:a16="http://schemas.microsoft.com/office/drawing/2014/main" id="{D652F557-32F0-4439-B2B8-9679D86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Experiment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fixed budget replay</a:t>
            </a:r>
          </a:p>
        </p:txBody>
      </p:sp>
      <p:sp>
        <p:nvSpPr>
          <p:cNvPr id="86" name="framework-bottom-1">
            <a:extLst xmlns:a="http://schemas.openxmlformats.org/drawingml/2006/main">
              <a:ext uri="{FF2B5EF4-FFF2-40B4-BE49-F238E27FC236}">
                <a16:creationId xmlns:a16="http://schemas.microsoft.com/office/drawing/2014/main" id="{B8DA8B1C-1806-4519-BACE-A0D4E523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Statistical Evaluation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Δ · CI · stability</a:t>
            </a:r>
          </a:p>
        </p:txBody>
      </p:sp>
      <p:sp>
        <p:nvSpPr>
          <p:cNvPr id="87" name="framework-bottom-2">
            <a:extLst xmlns:a="http://schemas.openxmlformats.org/drawingml/2006/main">
              <a:ext uri="{FF2B5EF4-FFF2-40B4-BE49-F238E27FC236}">
                <a16:creationId xmlns:a16="http://schemas.microsoft.com/office/drawing/2014/main" id="{762176D5-4791-4DF9-9108-E1C18239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&amp; Memory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trace · outcome · route card</a:t>
            </a:r>
          </a:p>
        </p:txBody>
      </p:sp>
      <p:cxnSp>
        <p:nvCxnSpPr>
          <p:cNvPr id="908" name="Elbow Connector 178"/>
          <p:cNvCxnSpPr>
            <a:stCxn xmlns:a="http://schemas.openxmlformats.org/drawingml/2006/main" id="79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3333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98754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09" name="Elbow Connector 179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2571750" y="2990850"/>
            <a:ext cx="56197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454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910" name="Straight Arrow Connector 180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4290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11" name="Straight Arrow Connector 181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5524500" y="3762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12" name="Elbow Connector 182"/>
          <p:cNvCxnSpPr>
            <a:stCxn xmlns:a="http://schemas.openxmlformats.org/drawingml/2006/main" id="87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H="1" flipV="1">
            <a:off x="1262063" y="2076450"/>
            <a:ext cx="5500688" cy="1352550"/>
          </a:xfrm>
          <a:prstGeom xmlns:a="http://schemas.openxmlformats.org/drawingml/2006/main" prst="bentConnector4">
            <a:avLst>
              <a:gd name="adj1" fmla="val 0"/>
              <a:gd name="adj2" fmla="val 16901"/>
            </a:avLst>
          </a:prstGeom>
          <a:ln xmlns:a="http://schemas.openxmlformats.org/drawingml/2006/main" w="19050">
            <a:solidFill>
              <a:srgbClr val="2B6CB0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93" name="framework-contrib-1">
            <a:extLst xmlns:a="http://schemas.openxmlformats.org/drawingml/2006/main">
              <a:ext uri="{FF2B5EF4-FFF2-40B4-BE49-F238E27FC236}">
                <a16:creationId xmlns:a16="http://schemas.microsoft.com/office/drawing/2014/main" id="{209D8928-9092-4EF9-95CA-E01F0895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贡献 1 · LLM 生成可解释 Hypothesis</a:t>
            </a:r>
          </a:p>
        </p:txBody>
      </p:sp>
      <p:sp>
        <p:nvSpPr>
          <p:cNvPr id="94" name="framework-contrib-2">
            <a:extLst xmlns:a="http://schemas.openxmlformats.org/drawingml/2006/main">
              <a:ext uri="{FF2B5EF4-FFF2-40B4-BE49-F238E27FC236}">
                <a16:creationId xmlns:a16="http://schemas.microsoft.com/office/drawing/2014/main" id="{CA35FE5E-F375-43EB-A519-E6543358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贡献 2 · 独立 calibration 冻结路由</a:t>
            </a:r>
          </a:p>
        </p:txBody>
      </p:sp>
      <p:sp>
        <p:nvSpPr>
          <p:cNvPr id="95" name="framework-caption">
            <a:extLst xmlns:a="http://schemas.openxmlformats.org/drawingml/2006/main">
              <a:ext uri="{FF2B5EF4-FFF2-40B4-BE49-F238E27FC236}">
                <a16:creationId xmlns:a16="http://schemas.microsoft.com/office/drawing/2014/main" id="{30FD3BBF-233E-4E03-9B4E-93EF387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三项贡献分别回答：迁移什么、什么时候迁移，以及结果怎样被复核和沉淀。</a:t>
            </a:r>
          </a:p>
        </p:txBody>
      </p:sp>
      <p:sp>
        <p:nvSpPr>
          <p:cNvPr id="460" name="framework-contrib-3">
            <a:extLst xmlns:a="http://schemas.openxmlformats.org/drawingml/2006/main">
              <a:ext uri="{FF2B5EF4-FFF2-40B4-BE49-F238E27FC236}">
                <a16:creationId xmlns:a16="http://schemas.microsoft.com/office/drawing/2014/main" id="{93AC559E-B061-4BB4-9650-9199D1A8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619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B9D6F5"/>
            </a:solidFill>
            <a:prstDash val="solid"/>
          </a:ln>
        </p:spPr>
        <p:txBody>
          <a:bodyPr xmlns:a="http://schemas.openxmlformats.org/drawingml/2006/main" wrap="square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贡献 3 · held-out 验证并回写知识库</a:t>
            </a:r>
          </a:p>
        </p:txBody>
      </p:sp>
    </p:spTree>
    <p:extLst>
      <p:ext uri="{BB962C8B-B14F-4D97-AF65-F5344CB8AC3E}">
        <p14:creationId xmlns:p14="http://schemas.microsoft.com/office/powerpoint/2010/main" val="1740540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57ed75ef94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GENERATION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10093789" cy="285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LLM 提出候选假设；held-out outcome 只用于最终评估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04</a:t>
            </a:r>
          </a:p>
        </p:txBody>
      </p:sp>
      <p:pic>
        <p:nvPicPr>
          <p:cNvPr id="3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12e21fa9d4b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35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e8a40575b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hyp-input-title">
            <a:extLst xmlns:a="http://schemas.openxmlformats.org/drawingml/2006/main">
              <a:ext uri="{FF2B5EF4-FFF2-40B4-BE49-F238E27FC236}">
                <a16:creationId xmlns:a16="http://schemas.microsoft.com/office/drawing/2014/main" id="{BBC83CD6-B2D6-4F6F-8E7C-50FE9C9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看到什么</a:t>
            </a:r>
          </a:p>
        </p:txBody>
      </p:sp>
      <p:sp>
        <p:nvSpPr>
          <p:cNvPr id="31" name="hyp-input-code">
            <a:extLst xmlns:a="http://schemas.openxmlformats.org/drawingml/2006/main">
              <a:ext uri="{FF2B5EF4-FFF2-40B4-BE49-F238E27FC236}">
                <a16:creationId xmlns:a16="http://schemas.microsoft.com/office/drawing/2014/main" id="{9458AD11-DA6A-4BAB-81E7-71F9269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667125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TARGET（只看公开描述）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schema / variable roles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objective direction / budget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SOURCE（历史已观测）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TaskSpec / outcomes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effect summaries / uncertainty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MEMORY（已审计经验）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SkillCards / failed routes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constraints / prior traces</a:t>
            </a:r>
          </a:p>
        </p:txBody>
      </p:sp>
      <p:sp>
        <p:nvSpPr>
          <p:cNvPr id="32" name="hyp-output-title">
            <a:extLst xmlns:a="http://schemas.openxmlformats.org/drawingml/2006/main">
              <a:ext uri="{FF2B5EF4-FFF2-40B4-BE49-F238E27FC236}">
                <a16:creationId xmlns:a16="http://schemas.microsoft.com/office/drawing/2014/main" id="{258173B6-0327-4FCC-A19C-556E42C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18110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LLM 产出什么</a:t>
            </a:r>
          </a:p>
        </p:txBody>
      </p:sp>
      <p:sp>
        <p:nvSpPr>
          <p:cNvPr id="33" name="hyp-candidate-1">
            <a:extLst xmlns:a="http://schemas.openxmlformats.org/drawingml/2006/main">
              <a:ext uri="{FF2B5EF4-FFF2-40B4-BE49-F238E27FC236}">
                <a16:creationId xmlns:a16="http://schemas.microsoft.com/office/drawing/2014/main" id="{E3892933-DF07-4DA9-BEDD-71796E5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 · role mapping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共享角色应提高哪些特征的权重</a:t>
            </a:r>
          </a:p>
        </p:txBody>
      </p:sp>
      <p:sp>
        <p:nvSpPr>
          <p:cNvPr id="34" name="hyp-candidate-2">
            <a:extLst xmlns:a="http://schemas.openxmlformats.org/drawingml/2006/main">
              <a:ext uri="{FF2B5EF4-FFF2-40B4-BE49-F238E27FC236}">
                <a16:creationId xmlns:a16="http://schemas.microsoft.com/office/drawing/2014/main" id="{DD4850C8-9D5A-49F5-B726-D16BA7D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24000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 · value prior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outcome 只作弱先验，不替代 target observation</a:t>
            </a:r>
          </a:p>
        </p:txBody>
      </p:sp>
      <p:sp>
        <p:nvSpPr>
          <p:cNvPr id="35" name="hyp-candidate-3">
            <a:extLst xmlns:a="http://schemas.openxmlformats.org/drawingml/2006/main">
              <a:ext uri="{FF2B5EF4-FFF2-40B4-BE49-F238E27FC236}">
                <a16:creationId xmlns:a16="http://schemas.microsoft.com/office/drawing/2014/main" id="{3886FF35-BBCD-420F-B5E7-3A8E822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185737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H3 · explore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不确定时提高 GP-UCB 探索；不能改预算</a:t>
            </a:r>
          </a:p>
        </p:txBody>
      </p:sp>
      <p:sp>
        <p:nvSpPr>
          <p:cNvPr id="36" name="hyp-rank">
            <a:extLst xmlns:a="http://schemas.openxmlformats.org/drawingml/2006/main">
              <a:ext uri="{FF2B5EF4-FFF2-40B4-BE49-F238E27FC236}">
                <a16:creationId xmlns:a16="http://schemas.microsoft.com/office/drawing/2014/main" id="{BADB61A8-9928-4935-9FDC-92722DDA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195262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E0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筛选顺序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 是否兼容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证据是否稳定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是否改善</a:t>
            </a:r>
          </a:p>
        </p:txBody>
      </p:sp>
      <p:cxnSp>
        <p:nvCxnSpPr>
          <p:cNvPr id="378" name="Straight Arrow Connector 73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1943100"/>
            <a:ext cx="142875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79" name="Straight Arrow Connector 74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7596188" y="23622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0" name="Straight Arrow Connector 75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477000" y="29241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0" name="hyp-contract">
            <a:extLst xmlns:a="http://schemas.openxmlformats.org/drawingml/2006/main">
              <a:ext uri="{FF2B5EF4-FFF2-40B4-BE49-F238E27FC236}">
                <a16:creationId xmlns:a16="http://schemas.microsoft.com/office/drawing/2014/main" id="{C4D079BC-1C24-4E96-9BE2-7AC1D62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24250"/>
            <a:ext cx="395287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9357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输出：KernelSkillPatch（可执行策略补丁）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weight · kernel scale · gp_beta · source-prior strength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held-out outcome = 留作最终检验的 target 结果；LLM、Gate 与调参阶段均不可见。</a:t>
            </a:r>
          </a:p>
        </p:txBody>
      </p:sp>
      <p:sp>
        <p:nvSpPr>
          <p:cNvPr id="41" name="hyp-trace">
            <a:extLst xmlns:a="http://schemas.openxmlformats.org/drawingml/2006/main">
              <a:ext uri="{FF2B5EF4-FFF2-40B4-BE49-F238E27FC236}">
                <a16:creationId xmlns:a16="http://schemas.microsoft.com/office/drawing/2014/main" id="{E14D75DF-E57B-4C7E-B844-B804B1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048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F5F8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TRACE · input metadata / raw output / parsed patch / gate decision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151a9cf40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HYPOTHESIS EXECUTION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Hypothesis 被编译成 acquisition patch，再由 Gate 决定是否部署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05</a:t>
            </a:r>
          </a:p>
        </p:txBody>
      </p:sp>
      <p:pic>
        <p:nvPicPr>
          <p:cNvPr id="3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87e42deb141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3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317091b924b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exec-0">
            <a:extLst xmlns:a="http://schemas.openxmlformats.org/drawingml/2006/main">
              <a:ext uri="{FF2B5EF4-FFF2-40B4-BE49-F238E27FC236}">
                <a16:creationId xmlns:a16="http://schemas.microsoft.com/office/drawing/2014/main" id="{E5EBABD4-6B0B-4423-8E4E-D256023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HypothesisEntry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claim + mechanism</a:t>
            </a:r>
          </a:p>
        </p:txBody>
      </p:sp>
      <p:sp>
        <p:nvSpPr>
          <p:cNvPr id="31" name="exec-1">
            <a:extLst xmlns:a="http://schemas.openxmlformats.org/drawingml/2006/main">
              <a:ext uri="{FF2B5EF4-FFF2-40B4-BE49-F238E27FC236}">
                <a16:creationId xmlns:a16="http://schemas.microsoft.com/office/drawing/2014/main" id="{465E922F-D1BE-405C-A473-B8A527F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Patch Compiler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bounded parameters</a:t>
            </a:r>
          </a:p>
        </p:txBody>
      </p:sp>
      <p:sp>
        <p:nvSpPr>
          <p:cNvPr id="32" name="exec-2">
            <a:extLst xmlns:a="http://schemas.openxmlformats.org/drawingml/2006/main">
              <a:ext uri="{FF2B5EF4-FFF2-40B4-BE49-F238E27FC236}">
                <a16:creationId xmlns:a16="http://schemas.microsoft.com/office/drawing/2014/main" id="{2A240009-3AF2-4BDE-96A2-7014B25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GP / Acquisition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UCB / EI + prior</a:t>
            </a:r>
          </a:p>
        </p:txBody>
      </p:sp>
      <p:sp>
        <p:nvSpPr>
          <p:cNvPr id="33" name="exec-3">
            <a:extLst xmlns:a="http://schemas.openxmlformats.org/drawingml/2006/main">
              <a:ext uri="{FF2B5EF4-FFF2-40B4-BE49-F238E27FC236}">
                <a16:creationId xmlns:a16="http://schemas.microsoft.com/office/drawing/2014/main" id="{3794358F-0D47-44C8-B20D-3BD2285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</a:t>
            </a:r>
          </a:p>
        </p:txBody>
      </p:sp>
      <p:sp>
        <p:nvSpPr>
          <p:cNvPr id="34" name="exec-4">
            <a:extLst xmlns:a="http://schemas.openxmlformats.org/drawingml/2006/main">
              <a:ext uri="{FF2B5EF4-FFF2-40B4-BE49-F238E27FC236}">
                <a16:creationId xmlns:a16="http://schemas.microsoft.com/office/drawing/2014/main" id="{74CF5F6B-2055-4A8A-B2DF-7842348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Replay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held-out seeds</a:t>
            </a:r>
          </a:p>
        </p:txBody>
      </p:sp>
      <p:sp>
        <p:nvSpPr>
          <p:cNvPr id="35" name="exec-5">
            <a:extLst xmlns:a="http://schemas.openxmlformats.org/drawingml/2006/main">
              <a:ext uri="{FF2B5EF4-FFF2-40B4-BE49-F238E27FC236}">
                <a16:creationId xmlns:a16="http://schemas.microsoft.com/office/drawing/2014/main" id="{7A3BFA8C-D49A-474C-9992-72882B07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Metrics &amp; Audit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Δ / CI / rounds</a:t>
            </a:r>
          </a:p>
        </p:txBody>
      </p:sp>
      <p:cxnSp>
        <p:nvCxnSpPr>
          <p:cNvPr id="387" name="Straight Arrow Connector 74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714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8" name="Straight Arrow Connector 75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1432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9" name="Straight Arrow Connector 76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5720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90" name="Straight Arrow Connector 77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0007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91" name="Straight Arrow Connector 78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429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1" name="exec-transfer-params">
            <a:extLst xmlns:a="http://schemas.openxmlformats.org/drawingml/2006/main">
              <a:ext uri="{FF2B5EF4-FFF2-40B4-BE49-F238E27FC236}">
                <a16:creationId xmlns:a16="http://schemas.microsoft.com/office/drawing/2014/main" id="{6B5CACBE-A700-4F08-A8A8-AB1E1B0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允许迁移的参数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kernel scales / role multipliers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GP beta schedule / source-prior strength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source-neighbor or interaction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transfer mass M 与候选混合权重</a:t>
            </a:r>
          </a:p>
        </p:txBody>
      </p:sp>
      <p:sp>
        <p:nvSpPr>
          <p:cNvPr id="42" name="exec-frozen-params">
            <a:extLst xmlns:a="http://schemas.openxmlformats.org/drawingml/2006/main">
              <a:ext uri="{FF2B5EF4-FFF2-40B4-BE49-F238E27FC236}">
                <a16:creationId xmlns:a16="http://schemas.microsoft.com/office/drawing/2014/main" id="{F411B852-FFCB-4B5F-98D5-754D98F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保持冻结的实验条件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target dataset / objective / candidate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initial observations / total budget /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comparator identities / evaluation metrics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• selected route identity after calibration</a:t>
            </a:r>
          </a:p>
        </p:txBody>
      </p:sp>
      <p:sp>
        <p:nvSpPr>
          <p:cNvPr id="43" name="exec-feedback">
            <a:extLst xmlns:a="http://schemas.openxmlformats.org/drawingml/2006/main">
              <a:ext uri="{FF2B5EF4-FFF2-40B4-BE49-F238E27FC236}">
                <a16:creationId xmlns:a16="http://schemas.microsoft.com/office/drawing/2014/main" id="{FE10CF0D-AE9B-4992-A68F-9669386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6381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Feedback → Task Card · source-target role map · accepted/rejected case · LLM trace · gate decision · held-out outcome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72a523590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3FF65E-8C09-4E37-981F-8360CA6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OBJECTIVE, ACQUISITION &amp; CALIBRATION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59951B-6973-4FE2-8386-DE156EB3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系统没有单一 reward：真实反馈、选点分数与迁移准入分开设计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3FD-8014-43D7-B7BE-87A423A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06</a:t>
            </a:r>
          </a:p>
        </p:txBody>
      </p:sp>
      <p:pic>
        <p:nvPicPr>
          <p:cNvPr id="3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6f10d36c34d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C4E00280-A438-42ED-B08F-980CCDB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79BEB0E-2A5E-4AE0-AFCF-9BB34F0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86AC4-C329-481E-A3DD-0E1C01E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03B5AC4-8D0A-434A-B7B3-4BA0C97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3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ee820b5d2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596AD4D-1E26-4ED4-AA58-45D6C81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5E54477-9FEE-4D8F-B34A-7E823DE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65FF3786-F724-4552-9B20-17CBE74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83D5E0B-C6A8-4BC3-9A6D-AA4DBA2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24586E2-6273-4294-BF38-32EC59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C74077E-48F8-4071-B5B0-3EF0D4A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6F331F56-4AC5-408B-9A42-C5903351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04704D4-F558-4111-826F-7BED0DD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29F11A3-90FE-4FCD-8B6E-39C00E9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7BC6371B-7436-4F34-AEC1-A04C3E2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651BB9-7EFF-4746-BEC3-024D7186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102108" rIns="102108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6B3E414-8E61-4A02-9F54-95E88A6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2C497133-DC43-47EC-B665-BA9E410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BD459B9-90B4-43A8-8A26-F531B6B1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20EF5A0E-158C-4418-854A-46E6CBA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30" name="exec-0">
            <a:extLst xmlns:a="http://schemas.openxmlformats.org/drawingml/2006/main">
              <a:ext uri="{FF2B5EF4-FFF2-40B4-BE49-F238E27FC236}">
                <a16:creationId xmlns:a16="http://schemas.microsoft.com/office/drawing/2014/main" id="{E5EBABD4-6B0B-4423-8E4E-D256023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真实反馈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y_t = f_target(x_t)</a:t>
            </a:r>
          </a:p>
        </p:txBody>
      </p:sp>
      <p:sp>
        <p:nvSpPr>
          <p:cNvPr id="31" name="exec-1">
            <a:extLst xmlns:a="http://schemas.openxmlformats.org/drawingml/2006/main">
              <a:ext uri="{FF2B5EF4-FFF2-40B4-BE49-F238E27FC236}">
                <a16:creationId xmlns:a16="http://schemas.microsoft.com/office/drawing/2014/main" id="{465E922F-D1BE-405C-A473-B8A527F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acquisition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μ_t(x) + β_t σ_t(x)</a:t>
            </a:r>
          </a:p>
        </p:txBody>
      </p:sp>
      <p:sp>
        <p:nvSpPr>
          <p:cNvPr id="32" name="exec-2">
            <a:extLst xmlns:a="http://schemas.openxmlformats.org/drawingml/2006/main">
              <a:ext uri="{FF2B5EF4-FFF2-40B4-BE49-F238E27FC236}">
                <a16:creationId xmlns:a16="http://schemas.microsoft.com/office/drawing/2014/main" id="{2A240009-3AF2-4BDE-96A2-7014B250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CARE acquisition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(1−M)a_target + MΣw_k a_k</a:t>
            </a:r>
          </a:p>
        </p:txBody>
      </p:sp>
      <p:sp>
        <p:nvSpPr>
          <p:cNvPr id="33" name="exec-3">
            <a:extLst xmlns:a="http://schemas.openxmlformats.org/drawingml/2006/main">
              <a:ext uri="{FF2B5EF4-FFF2-40B4-BE49-F238E27FC236}">
                <a16:creationId xmlns:a16="http://schemas.microsoft.com/office/drawing/2014/main" id="{3794358F-0D47-44C8-B20D-3BD2285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deltas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ΔF + ΔAUC</a:t>
            </a:r>
          </a:p>
        </p:txBody>
      </p:sp>
      <p:sp>
        <p:nvSpPr>
          <p:cNvPr id="34" name="exec-4">
            <a:extLst xmlns:a="http://schemas.openxmlformats.org/drawingml/2006/main">
              <a:ext uri="{FF2B5EF4-FFF2-40B4-BE49-F238E27FC236}">
                <a16:creationId xmlns:a16="http://schemas.microsoft.com/office/drawing/2014/main" id="{74CF5F6B-2055-4A8A-B2DF-7842348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Risk-adjusted utility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mean(C) − SE(C)</a:t>
            </a:r>
          </a:p>
        </p:txBody>
      </p:sp>
      <p:sp>
        <p:nvSpPr>
          <p:cNvPr id="35" name="exec-5">
            <a:extLst xmlns:a="http://schemas.openxmlformats.org/drawingml/2006/main">
              <a:ext uri="{FF2B5EF4-FFF2-40B4-BE49-F238E27FC236}">
                <a16:creationId xmlns:a16="http://schemas.microsoft.com/office/drawing/2014/main" id="{7A3BFA8C-D49A-474C-9992-72882B07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57325"/>
            <a:ext cx="1238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57150" tIns="76200" rIns="571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Deploy / fallback</a:t>
            </a:r>
          </a:p>
          <a:p xmlns:a="http://schemas.openxmlformats.org/drawingml/2006/main">
            <a:pPr algn="ctr">
              <a:buNone/>
              <a:def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7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all gates pass / exact fallback</a:t>
            </a:r>
          </a:p>
        </p:txBody>
      </p:sp>
      <p:cxnSp>
        <p:nvCxnSpPr>
          <p:cNvPr id="387" name="Straight Arrow Connector 74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714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8" name="Straight Arrow Connector 75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1432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9" name="Straight Arrow Connector 76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5720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90" name="Straight Arrow Connector 77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00075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91" name="Straight Arrow Connector 78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429500" y="1814513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C2E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1" name="exec-transfer-params">
            <a:extLst xmlns:a="http://schemas.openxmlformats.org/drawingml/2006/main">
              <a:ext uri="{FF2B5EF4-FFF2-40B4-BE49-F238E27FC236}">
                <a16:creationId xmlns:a16="http://schemas.microsoft.com/office/drawing/2014/main" id="{6B5CACBE-A700-4F08-A8A8-AB1E1B0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选点层：每轮选择哪个实验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a_UCB(x) = μ_t(x) + β_t σ_t(x)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a_CARE(x) = (1−M_t)a_target(x)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                 + M_t Σ_k w_k a_k^transfer(x)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真实 outcome 只在候选被选中后揭示。</a:t>
            </a:r>
          </a:p>
        </p:txBody>
      </p:sp>
      <p:sp>
        <p:nvSpPr>
          <p:cNvPr id="42" name="exec-frozen-params">
            <a:extLst xmlns:a="http://schemas.openxmlformats.org/drawingml/2006/main">
              <a:ext uri="{FF2B5EF4-FFF2-40B4-BE49-F238E27FC236}">
                <a16:creationId xmlns:a16="http://schemas.microsoft.com/office/drawing/2014/main" id="{F411B852-FFCB-4B5F-98D5-754D98F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37147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52400" tIns="133350" rIns="15240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准入层：是否部署迁移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C_s = Δfinal_best_s + ΔAUC_s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R_risk = mean(C) − SE(C)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同时要求：ΔF、ΔAUC 均不下降；non-loss ≥ 60%；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positive folds ≥ 80%；95% CI 下界 ≥ 0，否则回退。</a:t>
            </a:r>
          </a:p>
        </p:txBody>
      </p:sp>
      <p:sp>
        <p:nvSpPr>
          <p:cNvPr id="43" name="exec-feedback">
            <a:extLst xmlns:a="http://schemas.openxmlformats.org/drawingml/2006/main">
              <a:ext uri="{FF2B5EF4-FFF2-40B4-BE49-F238E27FC236}">
                <a16:creationId xmlns:a16="http://schemas.microsoft.com/office/drawing/2014/main" id="{FE10CF0D-AE9B-4992-A68F-9669386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63817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07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LLM 只生成 bounded patch，不直接给 reward；final-best 衡量结果质量，AUC 衡量早发现效率，rounds saved 单独报告。</a:t>
            </a:r>
          </a:p>
        </p:txBody>
      </p:sp>
    </p:spTree>
    <p:extLst>
      <p:ext uri="{BB962C8B-B14F-4D97-AF65-F5344CB8AC3E}">
        <p14:creationId xmlns:p14="http://schemas.microsoft.com/office/powerpoint/2010/main" val="2152850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57c7b0acf40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三条代表性链条：证据、Hypothesis、执行与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 held-out </a:t>
            </a: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结果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07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REACTION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证据：Acid-Amine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假设：反应角色与 outcome interaction 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执行：source prior + target acquisition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效率：2.99 rounds saved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MATERIALS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证据：composition/property observations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假设：共享表示可改变 kernel geometry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执行：role-weighted kernel +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结果：+32.70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+35.46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效率：6.00 rounds saved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MOLECULAR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证据：shared molecular descriptor pool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假设：solvation signal 可辅助排序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执行：bounded source-outcome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结果：+2.98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　　　+4.99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效率：2.23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每条路线均按同一证据链审阅：source evidence → hypothesis → patch → gate → independent held-out result。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 0">
            <a:extLst xmlns:a="http://schemas.openxmlformats.org/drawingml/2006/main">
              <a:ext uri="{FF2B5EF4-FFF2-40B4-BE49-F238E27FC236}">
                <a16:creationId xmlns:a16="http://schemas.microsoft.com/office/drawing/2014/main" id="{EC0132E9-FA80-46CC-BA55-B3E087C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ROUTE-BY-ROUTE CASES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0F91A5F-E91E-4EA6-A6CF-456ACDE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defRPr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三条迁移路线分别做了什么：从 source 证据到 held-out 结果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E0F84989-17A3-435E-9E5F-10210A5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B6168"/>
                </a:solidFill>
                <a:latin typeface="-apple-system"/>
                <a:ea typeface="-apple-system"/>
                <a:cs typeface="-apple-system"/>
              </a:defRPr>
            </a:pPr>
            <a:r>
              <a:rPr sz="750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08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FB3C95-E02B-4C87-9FF9-3941E78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header-路线">
            <a:extLst xmlns:a="http://schemas.openxmlformats.org/drawingml/2006/main">
              <a:ext uri="{FF2B5EF4-FFF2-40B4-BE49-F238E27FC236}">
                <a16:creationId xmlns:a16="http://schemas.microsoft.com/office/drawing/2014/main" id="{1F7FC282-A9E8-411E-A7B3-2A823BE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路线</a:t>
            </a:r>
          </a:p>
        </p:txBody>
      </p:sp>
      <p:sp>
        <p:nvSpPr>
          <p:cNvPr id="6" name="header-SOURCE 证据">
            <a:extLst xmlns:a="http://schemas.openxmlformats.org/drawingml/2006/main">
              <a:ext uri="{FF2B5EF4-FFF2-40B4-BE49-F238E27FC236}">
                <a16:creationId xmlns:a16="http://schemas.microsoft.com/office/drawing/2014/main" id="{DD4CDB4D-C673-47DB-B1EC-D6FD62C6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668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SOURCE 证据</a:t>
            </a:r>
          </a:p>
        </p:txBody>
      </p:sp>
      <p:sp>
        <p:nvSpPr>
          <p:cNvPr id="7" name="header-HYPOTHESIS">
            <a:extLst xmlns:a="http://schemas.openxmlformats.org/drawingml/2006/main">
              <a:ext uri="{FF2B5EF4-FFF2-40B4-BE49-F238E27FC236}">
                <a16:creationId xmlns:a16="http://schemas.microsoft.com/office/drawing/2014/main" id="{99151F26-0679-4B44-BBBF-A24BB5D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66800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HYPOTHESIS</a:t>
            </a:r>
          </a:p>
        </p:txBody>
      </p:sp>
      <p:sp>
        <p:nvSpPr>
          <p:cNvPr id="8" name="header-执行 PATCH">
            <a:extLst xmlns:a="http://schemas.openxmlformats.org/drawingml/2006/main">
              <a:ext uri="{FF2B5EF4-FFF2-40B4-BE49-F238E27FC236}">
                <a16:creationId xmlns:a16="http://schemas.microsoft.com/office/drawing/2014/main" id="{BC980092-821F-4C13-940E-2539BA8B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668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执行 PATCH</a:t>
            </a:r>
          </a:p>
        </p:txBody>
      </p:sp>
      <p:sp>
        <p:nvSpPr>
          <p:cNvPr id="9" name="header-HELD-OUT 结果">
            <a:extLst xmlns:a="http://schemas.openxmlformats.org/drawingml/2006/main">
              <a:ext uri="{FF2B5EF4-FFF2-40B4-BE49-F238E27FC236}">
                <a16:creationId xmlns:a16="http://schemas.microsoft.com/office/drawing/2014/main" id="{D351CCB7-2BBD-4F20-B11A-72355CB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66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50" b="1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HELD-OUT 结果</a:t>
            </a:r>
          </a:p>
        </p:txBody>
      </p:sp>
      <p:sp>
        <p:nvSpPr>
          <p:cNvPr id="10" name="route-0">
            <a:extLst xmlns:a="http://schemas.openxmlformats.org/drawingml/2006/main">
              <a:ext uri="{FF2B5EF4-FFF2-40B4-BE49-F238E27FC236}">
                <a16:creationId xmlns:a16="http://schemas.microsoft.com/office/drawing/2014/main" id="{07AEB631-F2A5-4BDD-A343-686BA42B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8DB9E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</p:txBody>
      </p:sp>
      <p:sp>
        <p:nvSpPr>
          <p:cNvPr id="11" name="evidence-0">
            <a:extLst xmlns:a="http://schemas.openxmlformats.org/drawingml/2006/main">
              <a:ext uri="{FF2B5EF4-FFF2-40B4-BE49-F238E27FC236}">
                <a16:creationId xmlns:a16="http://schemas.microsoft.com/office/drawing/2014/main" id="{950E03B4-A231-4377-A621-69385D6F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3335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Acid-Amine wetlab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 / amine 角色与 outcome interaction</a:t>
            </a:r>
          </a:p>
        </p:txBody>
      </p:sp>
      <p:sp>
        <p:nvSpPr>
          <p:cNvPr id="12" name="hypothesis-0">
            <a:extLst xmlns:a="http://schemas.openxmlformats.org/drawingml/2006/main">
              <a:ext uri="{FF2B5EF4-FFF2-40B4-BE49-F238E27FC236}">
                <a16:creationId xmlns:a16="http://schemas.microsoft.com/office/drawing/2014/main" id="{809D8B59-6852-408B-AC14-CD7F9564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3350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共享反应角色可迁移；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source outcome 只作弱 prior</a:t>
            </a:r>
          </a:p>
        </p:txBody>
      </p:sp>
      <p:sp>
        <p:nvSpPr>
          <p:cNvPr id="13" name="patch-0">
            <a:extLst xmlns:a="http://schemas.openxmlformats.org/drawingml/2006/main">
              <a:ext uri="{FF2B5EF4-FFF2-40B4-BE49-F238E27FC236}">
                <a16:creationId xmlns:a16="http://schemas.microsoft.com/office/drawing/2014/main" id="{6FD5B9EF-EA82-4E0C-A965-D80E58F1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335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multipliers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kernel scale + prior strength</a:t>
            </a:r>
          </a:p>
        </p:txBody>
      </p:sp>
      <p:sp>
        <p:nvSpPr>
          <p:cNvPr id="14" name="result-0">
            <a:extLst xmlns:a="http://schemas.openxmlformats.org/drawingml/2006/main">
              <a:ext uri="{FF2B5EF4-FFF2-40B4-BE49-F238E27FC236}">
                <a16:creationId xmlns:a16="http://schemas.microsoft.com/office/drawing/2014/main" id="{49394FEB-F268-477B-A5F4-83D8A8C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3350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+9.20 vs LLM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+8.10 vs BO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2.99 轮</a:t>
            </a:r>
          </a:p>
        </p:txBody>
      </p:sp>
      <p:sp>
        <p:nvSpPr>
          <p:cNvPr id="15" name="route-1">
            <a:extLst xmlns:a="http://schemas.openxmlformats.org/drawingml/2006/main">
              <a:ext uri="{FF2B5EF4-FFF2-40B4-BE49-F238E27FC236}">
                <a16:creationId xmlns:a16="http://schemas.microsoft.com/office/drawing/2014/main" id="{1FBC476C-2E9F-4447-8F20-8A3780E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7BE6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</p:txBody>
      </p:sp>
      <p:sp>
        <p:nvSpPr>
          <p:cNvPr id="16" name="evidence-1">
            <a:extLst xmlns:a="http://schemas.openxmlformats.org/drawingml/2006/main">
              <a:ext uri="{FF2B5EF4-FFF2-40B4-BE49-F238E27FC236}">
                <a16:creationId xmlns:a16="http://schemas.microsoft.com/office/drawing/2014/main" id="{E2F76F87-8A19-4B48-8D50-075CB180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8125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composition / property observations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共享材料表示空间</a:t>
            </a:r>
          </a:p>
        </p:txBody>
      </p:sp>
      <p:sp>
        <p:nvSpPr>
          <p:cNvPr id="17" name="hypothesis-1">
            <a:extLst xmlns:a="http://schemas.openxmlformats.org/drawingml/2006/main">
              <a:ext uri="{FF2B5EF4-FFF2-40B4-BE49-F238E27FC236}">
                <a16:creationId xmlns:a16="http://schemas.microsoft.com/office/drawing/2014/main" id="{B2EE66A0-D54F-4648-96CB-A308A07E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共享表示可改变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kernel geometry</a:t>
            </a:r>
          </a:p>
        </p:txBody>
      </p:sp>
      <p:sp>
        <p:nvSpPr>
          <p:cNvPr id="18" name="patch-1">
            <a:extLst xmlns:a="http://schemas.openxmlformats.org/drawingml/2006/main">
              <a:ext uri="{FF2B5EF4-FFF2-40B4-BE49-F238E27FC236}">
                <a16:creationId xmlns:a16="http://schemas.microsoft.com/office/drawing/2014/main" id="{61240CE4-365A-4A20-82D5-45B6FB45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role-weighted kernel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 bounded prior</a:t>
            </a:r>
          </a:p>
        </p:txBody>
      </p:sp>
      <p:sp>
        <p:nvSpPr>
          <p:cNvPr id="19" name="result-1">
            <a:extLst xmlns:a="http://schemas.openxmlformats.org/drawingml/2006/main">
              <a:ext uri="{FF2B5EF4-FFF2-40B4-BE49-F238E27FC236}">
                <a16:creationId xmlns:a16="http://schemas.microsoft.com/office/drawing/2014/main" id="{3C6DC981-6C84-4ED4-ABCA-2254B07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+32.70 vs LLM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+35.46 vs BO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6.00 轮</a:t>
            </a:r>
          </a:p>
        </p:txBody>
      </p:sp>
      <p:sp>
        <p:nvSpPr>
          <p:cNvPr id="20" name="route-2">
            <a:extLst xmlns:a="http://schemas.openxmlformats.org/drawingml/2006/main">
              <a:ext uri="{FF2B5EF4-FFF2-40B4-BE49-F238E27FC236}">
                <a16:creationId xmlns:a16="http://schemas.microsoft.com/office/drawing/2014/main" id="{F7D26AC3-7277-4FBF-9D1C-F3806B02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90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MOLECULAR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</p:txBody>
      </p:sp>
      <p:sp>
        <p:nvSpPr>
          <p:cNvPr id="21" name="evidence-2">
            <a:extLst xmlns:a="http://schemas.openxmlformats.org/drawingml/2006/main">
              <a:ext uri="{FF2B5EF4-FFF2-40B4-BE49-F238E27FC236}">
                <a16:creationId xmlns:a16="http://schemas.microsoft.com/office/drawing/2014/main" id="{C43B8683-95A3-4757-BBD9-0E5B16C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290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C9D9E8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shared molecular descriptors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solvation outcomes</a:t>
            </a:r>
          </a:p>
        </p:txBody>
      </p:sp>
      <p:sp>
        <p:nvSpPr>
          <p:cNvPr id="22" name="hypothesis-2">
            <a:extLst xmlns:a="http://schemas.openxmlformats.org/drawingml/2006/main">
              <a:ext uri="{FF2B5EF4-FFF2-40B4-BE49-F238E27FC236}">
                <a16:creationId xmlns:a16="http://schemas.microsoft.com/office/drawing/2014/main" id="{E04C247D-2919-403C-8F80-DBD208A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66687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9ED"/>
          </a:solidFill>
          <a:ln xmlns:a="http://schemas.openxmlformats.org/drawingml/2006/main" w="9525">
            <a:solidFill>
              <a:srgbClr val="E7C36B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溶剂化信号可辅助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目标候选排序</a:t>
            </a:r>
          </a:p>
        </p:txBody>
      </p:sp>
      <p:sp>
        <p:nvSpPr>
          <p:cNvPr id="23" name="patch-2">
            <a:extLst xmlns:a="http://schemas.openxmlformats.org/drawingml/2006/main">
              <a:ext uri="{FF2B5EF4-FFF2-40B4-BE49-F238E27FC236}">
                <a16:creationId xmlns:a16="http://schemas.microsoft.com/office/drawing/2014/main" id="{8CEBDD3C-6D3F-418B-ACD3-75871DA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29000"/>
            <a:ext cx="1571625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FD3E6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bounded outcome prior</a:t>
            </a:r>
          </a:p>
          <a:p xmlns:a="http://schemas.openxmlformats.org/drawingml/2006/main">
            <a:pPr algn="ctr">
              <a:buNone/>
              <a:def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 target acquisition</a:t>
            </a:r>
          </a:p>
        </p:txBody>
      </p:sp>
      <p:sp>
        <p:nvSpPr>
          <p:cNvPr id="24" name="result-2">
            <a:extLst xmlns:a="http://schemas.openxmlformats.org/drawingml/2006/main">
              <a:ext uri="{FF2B5EF4-FFF2-40B4-BE49-F238E27FC236}">
                <a16:creationId xmlns:a16="http://schemas.microsoft.com/office/drawing/2014/main" id="{BC759FB5-0F68-41FA-8F41-A616E16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61925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77C79A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+2.98 vs LLM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+4.99 vs BO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66534"/>
                </a:solidFill>
                <a:latin typeface="-apple-system"/>
                <a:ea typeface="-apple-system"/>
                <a:cs typeface="-apple-system"/>
              </a:rPr>
              <a:t>省 2.23 轮</a:t>
            </a:r>
          </a:p>
        </p:txBody>
      </p:sp>
      <p:sp>
        <p:nvSpPr>
          <p:cNvPr id="25" name="route-footnote">
            <a:extLst xmlns:a="http://schemas.openxmlformats.org/drawingml/2006/main">
              <a:ext uri="{FF2B5EF4-FFF2-40B4-BE49-F238E27FC236}">
                <a16:creationId xmlns:a16="http://schemas.microsoft.com/office/drawing/2014/main" id="{8C70210D-7911-41F8-9447-E2C6F1A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800100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B9D6F5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35516D"/>
                </a:solidFill>
                <a:latin typeface="-apple-system"/>
                <a:ea typeface="-apple-system"/>
                <a:cs typeface="-apple-system"/>
              </a:defRPr>
            </a:pPr>
            <a:r>
              <a:rPr sz="825">
                <a:solidFill>
                  <a:srgbClr val="35516D"/>
                </a:solidFill>
                <a:latin typeface="-apple-system"/>
                <a:ea typeface="-apple-system"/>
                <a:cs typeface="-apple-system"/>
              </a:rPr>
              <a:t>三条路线使用同一冻结协议：target held-out outcome 不参与 Hypothesis 生成或 calibration；路线冻结后才做独立评估。</a:t>
            </a:r>
          </a:p>
        </p:txBody>
      </p:sp>
    </p:spTree>
    <p:extLst>
      <p:ext uri="{BB962C8B-B14F-4D97-AF65-F5344CB8AC3E}">
        <p14:creationId xmlns:p14="http://schemas.microsoft.com/office/powerpoint/2010/main" val="19216154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576bff5214f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F12AE9-ECF3-4937-A4FB-79ACE29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END-TO-END CASES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34C5384-D49C-4B9B-BA49-E654CE4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408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25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案例：ChemLex → BH 的 Hypothesis 如何被执行和验证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878A7C-B863-4A0B-B5E2-5A6C7B0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09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6F3FEE-8ED2-49DD-9C9A-F2B1D55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117EBA2-9591-43DF-B3E2-C94BB7A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456C7B3-08FD-43D4-B40A-CD452B5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FB1F2D-6BE1-4504-9864-75A0D25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5BBD2C-EE94-451A-9537-568CA26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FD746C5-D99B-4975-AB86-02F37DDE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9BE7B14-358A-4DB2-8C3D-79ADE0A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61E8D2-B69B-48CC-9760-756190D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5383A96-B2EF-401F-BD7E-2B0CEF9F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917AFD9-139A-4849-AE16-A6E88778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85C7CE3-E900-40BA-92FF-25FD1DE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CCF1F94-2C8A-4594-85EF-56DE4E9C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9BFFDA0-C016-47A8-8152-EF08D718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20" name="case-tag-0">
            <a:extLst xmlns:a="http://schemas.openxmlformats.org/drawingml/2006/main">
              <a:ext uri="{FF2B5EF4-FFF2-40B4-BE49-F238E27FC236}">
                <a16:creationId xmlns:a16="http://schemas.microsoft.com/office/drawing/2014/main" id="{0EDDAA3F-7949-4BE4-9200-B807FD4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8415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SOURCE EVIDENCE</a:t>
            </a:r>
          </a:p>
        </p:txBody>
      </p:sp>
      <p:sp>
        <p:nvSpPr>
          <p:cNvPr id="21" name="case-card-0">
            <a:extLst xmlns:a="http://schemas.openxmlformats.org/drawingml/2006/main">
              <a:ext uri="{FF2B5EF4-FFF2-40B4-BE49-F238E27FC236}">
                <a16:creationId xmlns:a16="http://schemas.microsoft.com/office/drawing/2014/main" id="{8E3E6BE8-97D5-4899-B75A-DCC207A5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Acid-Amine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历史 wetlab outcomes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acid / amine 角色 + outcome interaction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 boundary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 schema / budget /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候选池预先冻结；target outcome 对 LLM 不可见。</a:t>
            </a:r>
          </a:p>
        </p:txBody>
      </p:sp>
      <p:sp>
        <p:nvSpPr>
          <p:cNvPr id="22" name="case-tag-1">
            <a:extLst xmlns:a="http://schemas.openxmlformats.org/drawingml/2006/main">
              <a:ext uri="{FF2B5EF4-FFF2-40B4-BE49-F238E27FC236}">
                <a16:creationId xmlns:a16="http://schemas.microsoft.com/office/drawing/2014/main" id="{A2D8C4AB-2E2F-4080-B878-B22021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LLM HYPOTHESIS</a:t>
            </a:r>
          </a:p>
        </p:txBody>
      </p:sp>
      <p:sp>
        <p:nvSpPr>
          <p:cNvPr id="23" name="case-card-1">
            <a:extLst xmlns:a="http://schemas.openxmlformats.org/drawingml/2006/main">
              <a:ext uri="{FF2B5EF4-FFF2-40B4-BE49-F238E27FC236}">
                <a16:creationId xmlns:a16="http://schemas.microsoft.com/office/drawing/2014/main" id="{34301771-6EAF-44BD-BD92-D30936D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Generated patch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H1：共享反应角色可迁移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H2：source outcome 只作弱 prior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Compiled parameters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role multipliers / kernel scale / gp_beta / source_prior_strength</a:t>
            </a:r>
          </a:p>
        </p:txBody>
      </p:sp>
      <p:sp>
        <p:nvSpPr>
          <p:cNvPr id="24" name="case-tag-2">
            <a:extLst xmlns:a="http://schemas.openxmlformats.org/drawingml/2006/main">
              <a:ext uri="{FF2B5EF4-FFF2-40B4-BE49-F238E27FC236}">
                <a16:creationId xmlns:a16="http://schemas.microsoft.com/office/drawing/2014/main" id="{128C6DF0-FFF3-455E-B801-A0FA086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10001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77105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FROZEN EVALUATION</a:t>
            </a:r>
          </a:p>
        </p:txBody>
      </p:sp>
      <p:sp>
        <p:nvSpPr>
          <p:cNvPr id="25" name="case-card-2">
            <a:extLst xmlns:a="http://schemas.openxmlformats.org/drawingml/2006/main">
              <a:ext uri="{FF2B5EF4-FFF2-40B4-BE49-F238E27FC236}">
                <a16:creationId xmlns:a16="http://schemas.microsoft.com/office/drawing/2014/main" id="{D358FD8E-7306-4712-BE0D-B8A448A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47650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52400" tIns="152400" rIns="152400" bIns="1524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Calibration → held-out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dev seeds：同时胜过两类 anchor → route frozen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independent held-out seeds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+9.20 vs matched LLM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+8.10 vs strongest BO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2.99 rounds saved</a:t>
            </a:r>
          </a:p>
        </p:txBody>
      </p:sp>
      <p:sp>
        <p:nvSpPr>
          <p:cNvPr id="26" name="case-review">
            <a:extLst xmlns:a="http://schemas.openxmlformats.org/drawingml/2006/main">
              <a:ext uri="{FF2B5EF4-FFF2-40B4-BE49-F238E27FC236}">
                <a16:creationId xmlns:a16="http://schemas.microsoft.com/office/drawing/2014/main" id="{121D109E-0191-4285-A0DF-14AE31C1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8001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05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专家要判断：这种“角色映射 + 弱先验”的假设是否符合反应机理，而不是只看最终增益。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57D781-AD36-3DEA-9687-D82A211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49" y="294468"/>
            <a:ext cx="42604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315445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ae87f10404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9A9E5D0-5652-4628-9DF3-7B554E71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HELD-OUT EVIDENCE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56DC98-371C-429F-82E7-A380B47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668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四条迁移路线同时超过 matched LLM 与 strongest target-only BO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D53CD7-0A12-4FBA-81D4-22703226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10</a:t>
            </a:r>
          </a:p>
        </p:txBody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b39a9eebc4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F39B1A7-8C2C-464F-BF6E-8682173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CFC4EBB6-FE9E-44B4-A124-984E3C14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0E8D51-6A9B-418F-AA8C-2C7EA89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1AB6B34-6E09-4415-BB7C-06046E9D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76F773-962D-44AC-BEA3-8EC9650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95D514E-1A71-4003-86E3-AE15ABB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58272E7-D13F-4B68-946D-574813A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EBF8AC9-4AA8-4321-A26E-F85B192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2F9E4A9-E2E9-4832-8E3E-A0A4827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478172E-2B3D-41F8-B65E-2A0479D6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39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3204babbd4bf6"/>
          <a:stretch xmlns:a="http://schemas.openxmlformats.org/drawingml/2006/main"/>
        </p:blipFill>
        <p:spPr>
          <a:xfrm xmlns:a="http://schemas.openxmlformats.org/drawingml/2006/main">
            <a:off x="571500" y="1187782"/>
            <a:ext cx="8001000" cy="3320387"/>
          </a:xfrm>
          <a:prstGeom xmlns:a="http://schemas.openxmlformats.org/drawingml/2006/main" prst="rect">
            <a:avLst/>
          </a:prstGeom>
        </p:spPr>
      </p:pic>
      <p:sp>
        <p:nvSpPr>
          <p:cNvPr id="20" name="results-summary">
            <a:extLst xmlns:a="http://schemas.openxmlformats.org/drawingml/2006/main">
              <a:ext uri="{FF2B5EF4-FFF2-40B4-BE49-F238E27FC236}">
                <a16:creationId xmlns:a16="http://schemas.microsoft.com/office/drawing/2014/main" id="{0A4DC387-DFA6-4ECE-8DC1-2760F0F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8001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1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50 calibration seeds freeze the route · 100 disjoint held-out seeds evaluate it · 4/7 deploy transfer · 3/7 exact fallback · 0 negative deployed route</a:t>
            </a:r>
          </a:p>
        </p:txBody>
      </p:sp>
    </p:spTree>
    <p:extLst>
      <p:ext uri="{BB962C8B-B14F-4D97-AF65-F5344CB8AC3E}">
        <p14:creationId xmlns:p14="http://schemas.microsoft.com/office/powerpoint/2010/main" val="10676916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b4c2cb245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TRANSFERABILITY MATRIX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当前证据支持同领域跨数据集迁移，跨领域仍未建立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11</a:t>
            </a:r>
          </a:p>
        </p:txBody>
      </p:sp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1863f59cf4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282f4f3d5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d0ee5f83349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81e772fd04d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61d27a2f34e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81e772fd04d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61d27a2f34e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81e772fd04d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61d27a2f34e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1" name="Picture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926a7df124b57"/>
          <a:stretch xmlns:a="http://schemas.openxmlformats.org/drawingml/2006/main"/>
        </p:blipFill>
        <p:spPr>
          <a:xfrm xmlns:a="http://schemas.openxmlformats.org/drawingml/2006/main">
            <a:off x="1216263" y="1162050"/>
            <a:ext cx="3568225" cy="3476625"/>
          </a:xfrm>
          <a:prstGeom xmlns:a="http://schemas.openxmlformats.org/drawingml/2006/main" prst="rect">
            <a:avLst/>
          </a:prstGeom>
        </p:spPr>
      </p:pic>
      <p:sp>
        <p:nvSpPr>
          <p:cNvPr id="44" name="matrix-supported">
            <a:extLst xmlns:a="http://schemas.openxmlformats.org/drawingml/2006/main">
              <a:ext uri="{FF2B5EF4-FFF2-40B4-BE49-F238E27FC236}">
                <a16:creationId xmlns:a16="http://schemas.microsoft.com/office/drawing/2014/main" id="{3056718D-3D88-4EF5-8902-3593B64A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85875"/>
            <a:ext cx="1333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SUPPORTED NOW</a:t>
            </a:r>
          </a:p>
        </p:txBody>
      </p:sp>
      <p:sp>
        <p:nvSpPr>
          <p:cNvPr id="45" name="matrix-supported-list">
            <a:extLst xmlns:a="http://schemas.openxmlformats.org/drawingml/2006/main">
              <a:ext uri="{FF2B5EF4-FFF2-40B4-BE49-F238E27FC236}">
                <a16:creationId xmlns:a16="http://schemas.microsoft.com/office/drawing/2014/main" id="{FA447F7E-425A-4A81-B0E1-9384EC8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→ Reaction: 1 positive route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→ Materials: 2 positive, 1 fallback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Molecular → Molecular: 1 positive, 2 fallback</a:t>
            </a:r>
          </a:p>
        </p:txBody>
      </p:sp>
      <p:sp>
        <p:nvSpPr>
          <p:cNvPr id="46" name="matrix-unverified">
            <a:extLst xmlns:a="http://schemas.openxmlformats.org/drawingml/2006/main">
              <a:ext uri="{FF2B5EF4-FFF2-40B4-BE49-F238E27FC236}">
                <a16:creationId xmlns:a16="http://schemas.microsoft.com/office/drawing/2014/main" id="{6C87124D-FD0F-4001-ADFE-EA50BF92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1428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NOT YET VERIFIED</a:t>
            </a:r>
          </a:p>
        </p:txBody>
      </p:sp>
      <p:sp>
        <p:nvSpPr>
          <p:cNvPr id="47" name="matrix-unverified-list">
            <a:extLst xmlns:a="http://schemas.openxmlformats.org/drawingml/2006/main">
              <a:ext uri="{FF2B5EF4-FFF2-40B4-BE49-F238E27FC236}">
                <a16:creationId xmlns:a16="http://schemas.microsoft.com/office/drawing/2014/main" id="{01995625-C1BE-455D-83E6-2F4CA16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14675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Materials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Reaction ↔ Molecular</a:t>
            </a:r>
          </a:p>
          <a:p xmlns:a="http://schemas.openxmlformats.org/drawingml/2006/main">
            <a:pPr marL="15" indent="-9" algn="l">
              <a:spcAft>
                <a:spcPts val="5"/>
              </a:spcAft>
              <a:buChar char="•"/>
              <a:def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Materials ↔ Molecular</a:t>
            </a:r>
          </a:p>
        </p:txBody>
      </p:sp>
      <p:sp>
        <p:nvSpPr>
          <p:cNvPr id="48" name="matrix-mechanism">
            <a:extLst xmlns:a="http://schemas.openxmlformats.org/drawingml/2006/main">
              <a:ext uri="{FF2B5EF4-FFF2-40B4-BE49-F238E27FC236}">
                <a16:creationId xmlns:a16="http://schemas.microsoft.com/office/drawing/2014/main" id="{116EA708-C375-4EC7-86FC-ED00B8E7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48125"/>
            <a:ext cx="28384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98648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机制假设（尚非因果结论）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共享 representation、相近 objective、参数空间重叠可能解释材料与分子任务的可迁移性。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ca1843478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805036F-08CD-41BA-AE98-3749BFC2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EVALUATION METRICS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CFCFA09-95BD-47E9-9C5E-F69FC76F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评价指标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CB45FB-09F8-4A37-BAA0-3C5B01F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12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4CC8D8-38C0-46C2-8C44-4491387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20B47E7-3B67-49A4-A772-0153BE7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39EBFF5-66C6-4993-9494-C33BA00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77CA3E8-42F0-4291-BDD7-49CD8A0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d4787d1c8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D34184A-9E07-4344-846F-7845B6A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F9AF63A-5928-4B00-871C-E72F5335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0053" tIns="170053" rIns="170053" bIns="170053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4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200F606-6165-4722-B7DE-C318BCA3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F962692-0721-4CB5-A8D1-C1AC5387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0928568-7973-441C-950D-5E7D847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0D8635C-FFB3-4859-849B-4FD881C9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BDA21DA-77C1-49F9-9E3E-5242FE0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68BA74F-5CB9-4FD0-8DC7-2F97516B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96bbc09794b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5253139-1933-49C3-81FB-027CF1E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230971F0-0E80-446C-827D-E7FE529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22D02163-60A3-406A-AFBB-7299ECD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64A5331-0FCC-4447-B1B3-A0FC4BA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99C0D1F-D60A-4AFA-AF29-8747FE2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FF935E2-107E-411F-A5A4-4748EE32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02108" tIns="51054" rIns="102108" bIns="51054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96bbc09794b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85FBE6E-2726-4659-A0C1-254B1A4F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stats-current-title">
            <a:extLst xmlns:a="http://schemas.openxmlformats.org/drawingml/2006/main">
              <a:ext uri="{FF2B5EF4-FFF2-40B4-BE49-F238E27FC236}">
                <a16:creationId xmlns:a16="http://schemas.microsoft.com/office/drawing/2014/main" id="{D9578CCA-FE50-42CC-BD95-BE22DBCD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性能与稳定性</a:t>
            </a:r>
          </a:p>
        </p:txBody>
      </p:sp>
      <p:sp>
        <p:nvSpPr>
          <p:cNvPr id="33" name="stats-current">
            <a:extLst xmlns:a="http://schemas.openxmlformats.org/drawingml/2006/main">
              <a:ext uri="{FF2B5EF4-FFF2-40B4-BE49-F238E27FC236}">
                <a16:creationId xmlns:a16="http://schemas.microsoft.com/office/drawing/2014/main" id="{CE9ABC14-29A2-4842-A906-BFF4418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114300" tIns="11430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终点增益：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final-best Δ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过程增益：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best-so-far AUC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不确定性：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bootstrap 95% CI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稳定性：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non-loss rate + 5-fold blocks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样本规模：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100 independent held-out seeds</a:t>
            </a:r>
          </a:p>
        </p:txBody>
      </p:sp>
      <p:sp>
        <p:nvSpPr>
          <p:cNvPr id="34" name="stats-paper-title">
            <a:extLst xmlns:a="http://schemas.openxmlformats.org/drawingml/2006/main">
              <a:ext uri="{FF2B5EF4-FFF2-40B4-BE49-F238E27FC236}">
                <a16:creationId xmlns:a16="http://schemas.microsoft.com/office/drawing/2014/main" id="{6A7306B0-B226-4E0D-94E7-9F46340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285875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27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统计与实际意义</a:t>
            </a:r>
          </a:p>
        </p:txBody>
      </p:sp>
      <p:sp>
        <p:nvSpPr>
          <p:cNvPr id="35" name="stats-paper">
            <a:extLst xmlns:a="http://schemas.openxmlformats.org/drawingml/2006/main">
              <a:ext uri="{FF2B5EF4-FFF2-40B4-BE49-F238E27FC236}">
                <a16:creationId xmlns:a16="http://schemas.microsoft.com/office/drawing/2014/main" id="{2426F13F-69A1-4A27-9711-3E162D2D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57350"/>
            <a:ext cx="3762375" cy="2124075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114300" tIns="11430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统计检验：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permutation test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多重比较：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BH-FDR q &lt; 0.05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实际意义：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effect ≥ 预先定义的 task-specific MDE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一致性：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seed blocks、预算点和 comparator 方向一致</a:t>
            </a:r>
          </a:p>
          <a:p xmlns:a="http://schemas.openxmlformats.org/drawingml/2006/main">
            <a:pPr marL="16" indent="-9">
              <a:spcAft>
                <a:spcPts val="7"/>
              </a:spcAft>
              <a:buChar char="•"/>
              <a:def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报告格式：</a:t>
            </a:r>
            <a:r>
              <a:rPr sz="1125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effect + 95% CI + q-value + MDE</a:t>
            </a:r>
          </a:p>
        </p:txBody>
      </p:sp>
      <p:sp>
        <p:nvSpPr>
          <p:cNvPr id="36" name="stats-example-0">
            <a:extLst xmlns:a="http://schemas.openxmlformats.org/drawingml/2006/main">
              <a:ext uri="{FF2B5EF4-FFF2-40B4-BE49-F238E27FC236}">
                <a16:creationId xmlns:a16="http://schemas.microsoft.com/office/drawing/2014/main" id="{62DC7788-3243-420D-99F9-9F16BC4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95% CI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bootstrap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Efron &amp; Tibshirani, 1993</a:t>
            </a:r>
          </a:p>
        </p:txBody>
      </p:sp>
      <p:sp>
        <p:nvSpPr>
          <p:cNvPr id="37" name="stats-example-1">
            <a:extLst xmlns:a="http://schemas.openxmlformats.org/drawingml/2006/main">
              <a:ext uri="{FF2B5EF4-FFF2-40B4-BE49-F238E27FC236}">
                <a16:creationId xmlns:a16="http://schemas.microsoft.com/office/drawing/2014/main" id="{6D751D4B-1BC1-48C4-BA66-2801874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q &lt; 0.05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BH-FDR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Benjamini &amp; Hochberg, 1995</a:t>
            </a:r>
          </a:p>
        </p:txBody>
      </p:sp>
      <p:sp>
        <p:nvSpPr>
          <p:cNvPr id="38" name="stats-example-2">
            <a:extLst xmlns:a="http://schemas.openxmlformats.org/drawingml/2006/main">
              <a:ext uri="{FF2B5EF4-FFF2-40B4-BE49-F238E27FC236}">
                <a16:creationId xmlns:a16="http://schemas.microsoft.com/office/drawing/2014/main" id="{EBB8F7ED-627F-4BBA-AFF9-A76E7DC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2476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MDE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practical effect</a:t>
            </a:r>
          </a:p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Lakens, 2013</a:t>
            </a:r>
          </a:p>
        </p:txBody>
      </p:sp>
    </p:spTree>
    <p:extLst>
      <p:ext uri="{BB962C8B-B14F-4D97-AF65-F5344CB8AC3E}">
        <p14:creationId xmlns:p14="http://schemas.microsoft.com/office/powerpoint/2010/main" val="11207536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e16d3a252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91C9427-528F-47F0-AD93-32CF18C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CALIBRATION GATE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110D987-7891-40FF-9835-71774F8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7275133" cy="285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什么时候该迁移？证据够强就用，否则回到 target-only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9A4BCC-63E9-466D-B1DF-F3125F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13</a:t>
            </a:r>
          </a:p>
        </p:txBody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b3f8c8b084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74a3b624d4f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0491B41-5EE4-45F9-82BA-73A296D1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4075786-AF16-4583-9C93-82D4320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1CF2999-8305-4036-ADA5-A33CF96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1CE33483-FFD5-4349-8FE2-5EFBB05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fc1542bc3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7A3873-C300-4D8A-8730-E9A6DD4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C87AC45-4A21-48CC-BBAE-B1A013C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1a46581e4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215B3F0-4619-46F3-B645-910AEF10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93B43A0-26A7-43CD-9E87-22A305E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088a9cb5b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EB62C6A-9987-423C-A913-1600179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7902E673-31E7-408C-ACC8-32F6A794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1a46581e4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2D773A90-655B-4F0D-B90E-94B71C7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Shape 14">
            <a:extLst xmlns:a="http://schemas.openxmlformats.org/drawingml/2006/main">
              <a:ext uri="{FF2B5EF4-FFF2-40B4-BE49-F238E27FC236}">
                <a16:creationId xmlns:a16="http://schemas.microsoft.com/office/drawing/2014/main" id="{15A03FB4-3DA8-45D8-8B65-6F4138F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088a9cb5b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EB6A484C-740F-41EA-ACC3-09E8CF0D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C038DD82-A225-46E9-8715-75EAAAD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1a46581e4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0C53CEA0-D1A1-4CC1-9B44-3E97DC9E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2E6DD216-90A1-4192-A7F1-4EA327E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088a9cb5b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1" name="Text 19">
            <a:extLst xmlns:a="http://schemas.openxmlformats.org/drawingml/2006/main">
              <a:ext uri="{FF2B5EF4-FFF2-40B4-BE49-F238E27FC236}">
                <a16:creationId xmlns:a16="http://schemas.microsoft.com/office/drawing/2014/main" id="{C4283D29-4D2A-4BA2-846C-BDE2036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2" name="Text 20">
            <a:extLst xmlns:a="http://schemas.openxmlformats.org/drawingml/2006/main">
              <a:ext uri="{FF2B5EF4-FFF2-40B4-BE49-F238E27FC236}">
                <a16:creationId xmlns:a16="http://schemas.microsoft.com/office/drawing/2014/main" id="{1229E245-BB99-4280-BA18-BD319D36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3" name="gate-protocol">
            <a:extLst xmlns:a="http://schemas.openxmlformats.org/drawingml/2006/main">
              <a:ext uri="{FF2B5EF4-FFF2-40B4-BE49-F238E27FC236}">
                <a16:creationId xmlns:a16="http://schemas.microsoft.com/office/drawing/2014/main" id="{681504AC-DE91-4E80-9E81-520C888E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8001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9FC2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50 calibration seeds：比较 transfer 与两类 matched anchor → 固定路由 → 100 个不重叠 held-out seeds：只评估冻结策略</a:t>
            </a:r>
          </a:p>
        </p:txBody>
      </p:sp>
      <p:sp>
        <p:nvSpPr>
          <p:cNvPr id="44" name="gate-criteria-title">
            <a:extLst xmlns:a="http://schemas.openxmlformats.org/drawingml/2006/main">
              <a:ext uri="{FF2B5EF4-FFF2-40B4-BE49-F238E27FC236}">
                <a16:creationId xmlns:a16="http://schemas.microsoft.com/office/drawing/2014/main" id="{F3B23FCF-38DC-423A-AC7E-A5C7E37B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当前规则：六项全部通过才 Transfer；任一项失败就 Freeze 并精确回退</a:t>
            </a:r>
          </a:p>
        </p:txBody>
      </p:sp>
      <p:sp>
        <p:nvSpPr>
          <p:cNvPr id="45" name="gate-criterion-0">
            <a:extLst xmlns:a="http://schemas.openxmlformats.org/drawingml/2006/main">
              <a:ext uri="{FF2B5EF4-FFF2-40B4-BE49-F238E27FC236}">
                <a16:creationId xmlns:a16="http://schemas.microsoft.com/office/drawing/2014/main" id="{791DCDA0-788B-43A4-93AE-E5C3D6F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mean ≥ 0 · 终点不亏</a:t>
            </a:r>
          </a:p>
        </p:txBody>
      </p:sp>
      <p:sp>
        <p:nvSpPr>
          <p:cNvPr id="46" name="gate-criterion-1">
            <a:extLst xmlns:a="http://schemas.openxmlformats.org/drawingml/2006/main">
              <a:ext uri="{FF2B5EF4-FFF2-40B4-BE49-F238E27FC236}">
                <a16:creationId xmlns:a16="http://schemas.microsoft.com/office/drawing/2014/main" id="{706289A8-C8E7-4D5B-87D9-7D544E6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AUC mean ≥ 0 · 全程不亏</a:t>
            </a:r>
          </a:p>
        </p:txBody>
      </p:sp>
      <p:sp>
        <p:nvSpPr>
          <p:cNvPr id="47" name="gate-criterion-2">
            <a:extLst xmlns:a="http://schemas.openxmlformats.org/drawingml/2006/main">
              <a:ext uri="{FF2B5EF4-FFF2-40B4-BE49-F238E27FC236}">
                <a16:creationId xmlns:a16="http://schemas.microsoft.com/office/drawing/2014/main" id="{25A90865-42E1-421F-B36F-C168483B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non-loss ≥ 0.60 · ≥60% seeds 不亏</a:t>
            </a:r>
          </a:p>
        </p:txBody>
      </p:sp>
      <p:sp>
        <p:nvSpPr>
          <p:cNvPr id="48" name="gate-criterion-3">
            <a:extLst xmlns:a="http://schemas.openxmlformats.org/drawingml/2006/main">
              <a:ext uri="{FF2B5EF4-FFF2-40B4-BE49-F238E27FC236}">
                <a16:creationId xmlns:a16="http://schemas.microsoft.com/office/drawing/2014/main" id="{D74A92EA-1BD6-4A10-BFE6-6B43478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5-fold ≥ 0.80 · ≥4/5 blocks 为正</a:t>
            </a:r>
          </a:p>
        </p:txBody>
      </p:sp>
      <p:sp>
        <p:nvSpPr>
          <p:cNvPr id="49" name="gate-criterion-4">
            <a:extLst xmlns:a="http://schemas.openxmlformats.org/drawingml/2006/main">
              <a:ext uri="{FF2B5EF4-FFF2-40B4-BE49-F238E27FC236}">
                <a16:creationId xmlns:a16="http://schemas.microsoft.com/office/drawing/2014/main" id="{11C52446-3400-49D1-8204-737B4E89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composite − SE ≥ 0.25 · 风险缓冲</a:t>
            </a:r>
          </a:p>
        </p:txBody>
      </p:sp>
      <p:sp>
        <p:nvSpPr>
          <p:cNvPr id="50" name="gate-criterion-5">
            <a:extLst xmlns:a="http://schemas.openxmlformats.org/drawingml/2006/main">
              <a:ext uri="{FF2B5EF4-FFF2-40B4-BE49-F238E27FC236}">
                <a16:creationId xmlns:a16="http://schemas.microsoft.com/office/drawing/2014/main" id="{B0F7A4A7-82DA-4DDC-935C-FF8EF9C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85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CI low ≥ 0 · 下界不为负</a:t>
            </a:r>
          </a:p>
        </p:txBody>
      </p:sp>
      <p:sp>
        <p:nvSpPr>
          <p:cNvPr id="51" name="gate-provenance-title">
            <a:extLst xmlns:a="http://schemas.openxmlformats.org/drawingml/2006/main">
              <a:ext uri="{FF2B5EF4-FFF2-40B4-BE49-F238E27FC236}">
                <a16:creationId xmlns:a16="http://schemas.microsoft.com/office/drawing/2014/main" id="{7BEBBAA3-092A-4EE5-BFC9-DF4553F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63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每个参数来自哪里</a:t>
            </a:r>
          </a:p>
        </p:txBody>
      </p:sp>
      <p:sp>
        <p:nvSpPr>
          <p:cNvPr id="52" name="gate-literature">
            <a:extLst xmlns:a="http://schemas.openxmlformats.org/drawingml/2006/main">
              <a:ext uri="{FF2B5EF4-FFF2-40B4-BE49-F238E27FC236}">
                <a16:creationId xmlns:a16="http://schemas.microsoft.com/office/drawing/2014/main" id="{6DB3DEEF-CFE8-4AD5-AB34-72E8D11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EVALUATION CONVENTION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paired comparison · uncertainty interval · matched BO / LLM anchor</a:t>
            </a:r>
          </a:p>
        </p:txBody>
      </p:sp>
      <p:sp>
        <p:nvSpPr>
          <p:cNvPr id="53" name="gate-calibrated">
            <a:extLst xmlns:a="http://schemas.openxmlformats.org/drawingml/2006/main">
              <a:ext uri="{FF2B5EF4-FFF2-40B4-BE49-F238E27FC236}">
                <a16:creationId xmlns:a16="http://schemas.microsoft.com/office/drawing/2014/main" id="{C7168FBB-FAC9-40FA-A4EC-0111682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CALIBRATED DEFAULTS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0.60 / 0.80 / 0.25：在 calibration replay 中固定；不宣称是文献阈值</a:t>
            </a:r>
          </a:p>
        </p:txBody>
      </p:sp>
      <p:sp>
        <p:nvSpPr>
          <p:cNvPr id="54" name="gate-heuristic">
            <a:extLst xmlns:a="http://schemas.openxmlformats.org/drawingml/2006/main">
              <a:ext uri="{FF2B5EF4-FFF2-40B4-BE49-F238E27FC236}">
                <a16:creationId xmlns:a16="http://schemas.microsoft.com/office/drawing/2014/main" id="{D8F87C90-D771-439C-9A6F-A7FB1E6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33800"/>
            <a:ext cx="2952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SENSITIVITY REQUIRED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final + AUC weights · 5 blocks · composite form；下一轮做 grid / bootstrap sweep</a:t>
            </a:r>
          </a:p>
        </p:txBody>
      </p:sp>
      <p:sp>
        <p:nvSpPr>
          <p:cNvPr id="55" name="gate-transfer">
            <a:extLst xmlns:a="http://schemas.openxmlformats.org/drawingml/2006/main">
              <a:ext uri="{FF2B5EF4-FFF2-40B4-BE49-F238E27FC236}">
                <a16:creationId xmlns:a16="http://schemas.microsoft.com/office/drawing/2014/main" id="{0B549344-EF59-48A4-976C-3CFEC81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714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TRANSFER · 六项全过</a:t>
            </a:r>
          </a:p>
        </p:txBody>
      </p:sp>
      <p:sp>
        <p:nvSpPr>
          <p:cNvPr id="56" name="gate-freeze">
            <a:extLst xmlns:a="http://schemas.openxmlformats.org/drawingml/2006/main">
              <a:ext uri="{FF2B5EF4-FFF2-40B4-BE49-F238E27FC236}">
                <a16:creationId xmlns:a16="http://schemas.microsoft.com/office/drawing/2014/main" id="{26EFCB50-E6C7-4954-A5A4-C8A06A95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22383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FREEZE · exact target-only fallback</a:t>
            </a:r>
          </a:p>
        </p:txBody>
      </p:sp>
      <p:sp>
        <p:nvSpPr>
          <p:cNvPr id="57" name="gate-hold-note">
            <a:extLst xmlns:a="http://schemas.openxmlformats.org/drawingml/2006/main">
              <a:ext uri="{FF2B5EF4-FFF2-40B4-BE49-F238E27FC236}">
                <a16:creationId xmlns:a16="http://schemas.microsoft.com/office/drawing/2014/main" id="{8A96D726-BB51-497E-B2D2-03C7198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433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Hold 是下一版本候选的第三种状态；当前版本没有 Hold。</a:t>
            </a:r>
          </a:p>
        </p:txBody>
      </p:sp>
    </p:spTree>
    <p:extLst>
      <p:ext uri="{BB962C8B-B14F-4D97-AF65-F5344CB8AC3E}">
        <p14:creationId xmlns:p14="http://schemas.microsoft.com/office/powerpoint/2010/main" val="1444908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cc1d961f7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211254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FD00398-CD2B-4A15-B5E8-0C2C9F24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CONTRIBUTION VERIFICATION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FC33098-45E1-460B-80CF-EF8688CC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完整系统：4/7 超过 matched LLM，3/7 精确回退；7/7 超过 strongest BO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F7DBC18-F29E-41B6-B05F-759D2E1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14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7E21E1E-2E61-4837-8952-2A30E70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3D1F7CC-E245-42EF-9A43-FEFC729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0bdc147c04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68D176B-5139-4DAD-8A0B-A4E4C2F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BFB57E9-3554-4CA3-8305-320690C9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8B03D37-5734-4AD4-940A-4C5183D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9D1750-29FF-4CAB-AD71-04ECB83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85C4B26-A0F3-425E-8422-936B5C7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FFC192F-CA5E-4DFC-B16E-BD39E01C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E588DBA-BA89-41D0-B2ED-BA91A633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DA34166-AD9A-4DB8-96F8-19930F0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94b4e026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19AB59FA-7932-483F-84A1-18BBD23E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1CBC67A-6486-4069-A7FE-5F5DC865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6D00C74-2B8B-495D-A091-E36B0EC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B7D73C97-F8E2-49C1-A867-E89AB7B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94b4e026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86DC5AA-DFA5-4BBF-B756-A5E07C2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0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94b4e026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A55FF586-E2FF-4CC0-9D78-96FCAC52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124C1D9A-0901-422C-909E-C3452C2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D7CC099-38F3-42DA-91BC-03D7111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77475182-B5ED-4D25-8E83-02BED491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CBC5338-8935-4965-8D1A-094AA4C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07FAF166-E268-408A-AA67-24F877A6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2BB25614-CCB1-4D83-8DFE-F0B1C98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02108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11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94b4e026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C1CFA854-4258-440D-8A05-B633CFF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pic>
        <p:nvPicPr>
          <p:cNvPr id="1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55dbf637d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110B7CB6-A313-4AEC-99B4-67C861CD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BE04450F-B172-4ADC-9708-839D35A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F8EBF98A-BA59-4F86-BAD0-E65ADAC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02108" tIns="68072" rIns="102108" bIns="68072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1A183FE-4129-46A6-81B1-7900BC2A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46" name="abl-head-0">
            <a:extLst xmlns:a="http://schemas.openxmlformats.org/drawingml/2006/main">
              <a:ext uri="{FF2B5EF4-FFF2-40B4-BE49-F238E27FC236}">
                <a16:creationId xmlns:a16="http://schemas.microsoft.com/office/drawing/2014/main" id="{40C07BA2-0929-4753-80B4-63B3B89C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571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METHOD</a:t>
            </a:r>
          </a:p>
        </p:txBody>
      </p:sp>
      <p:sp>
        <p:nvSpPr>
          <p:cNvPr id="47" name="abl-head-1">
            <a:extLst xmlns:a="http://schemas.openxmlformats.org/drawingml/2006/main">
              <a:ext uri="{FF2B5EF4-FFF2-40B4-BE49-F238E27FC236}">
                <a16:creationId xmlns:a16="http://schemas.microsoft.com/office/drawing/2014/main" id="{C5646A11-C93C-4F9F-A52D-677A0A6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COMPARATOR / ABLATION</a:t>
            </a:r>
          </a:p>
        </p:txBody>
      </p:sp>
      <p:sp>
        <p:nvSpPr>
          <p:cNvPr id="48" name="abl-head-2">
            <a:extLst xmlns:a="http://schemas.openxmlformats.org/drawingml/2006/main">
              <a:ext uri="{FF2B5EF4-FFF2-40B4-BE49-F238E27FC236}">
                <a16:creationId xmlns:a16="http://schemas.microsoft.com/office/drawing/2014/main" id="{B2ABE88B-731C-4684-A64A-7FDE0BE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858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WHAT IT PROVES</a:t>
            </a:r>
          </a:p>
        </p:txBody>
      </p:sp>
      <p:sp>
        <p:nvSpPr>
          <p:cNvPr id="49" name="abl-head-3">
            <a:extLst xmlns:a="http://schemas.openxmlformats.org/drawingml/2006/main">
              <a:ext uri="{FF2B5EF4-FFF2-40B4-BE49-F238E27FC236}">
                <a16:creationId xmlns:a16="http://schemas.microsoft.com/office/drawing/2014/main" id="{EBD526F0-C44D-4943-8E79-87E863F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285875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STATUS</a:t>
            </a:r>
          </a:p>
        </p:txBody>
      </p:sp>
      <p:sp>
        <p:nvSpPr>
          <p:cNvPr id="50" name="abl-0-0">
            <a:extLst xmlns:a="http://schemas.openxmlformats.org/drawingml/2006/main">
              <a:ext uri="{FF2B5EF4-FFF2-40B4-BE49-F238E27FC236}">
                <a16:creationId xmlns:a16="http://schemas.microsoft.com/office/drawing/2014/main" id="{04DF7076-9C76-44CC-8428-EFAEB56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Target-only LLM</a:t>
            </a:r>
          </a:p>
        </p:txBody>
      </p:sp>
      <p:sp>
        <p:nvSpPr>
          <p:cNvPr id="51" name="abl-0-1">
            <a:extLst xmlns:a="http://schemas.openxmlformats.org/drawingml/2006/main">
              <a:ext uri="{FF2B5EF4-FFF2-40B4-BE49-F238E27FC236}">
                <a16:creationId xmlns:a16="http://schemas.microsoft.com/office/drawing/2014/main" id="{36A14EEC-D3A4-4749-9A34-0527666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same target budget + seeds</a:t>
            </a:r>
          </a:p>
        </p:txBody>
      </p:sp>
      <p:sp>
        <p:nvSpPr>
          <p:cNvPr id="52" name="abl-0-2">
            <a:extLst xmlns:a="http://schemas.openxmlformats.org/drawingml/2006/main">
              <a:ext uri="{FF2B5EF4-FFF2-40B4-BE49-F238E27FC236}">
                <a16:creationId xmlns:a16="http://schemas.microsoft.com/office/drawing/2014/main" id="{DC58B711-0384-417B-9065-8CE2B52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478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隔离 source-outcome 净增益</a:t>
            </a:r>
          </a:p>
        </p:txBody>
      </p:sp>
      <p:sp>
        <p:nvSpPr>
          <p:cNvPr id="53" name="abl-0-3">
            <a:extLst xmlns:a="http://schemas.openxmlformats.org/drawingml/2006/main">
              <a:ext uri="{FF2B5EF4-FFF2-40B4-BE49-F238E27FC236}">
                <a16:creationId xmlns:a16="http://schemas.microsoft.com/office/drawing/2014/main" id="{D9CBB120-2A72-4D62-81CD-47E03A9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478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4/7 ↑ · 3/7 =</a:t>
            </a:r>
          </a:p>
        </p:txBody>
      </p:sp>
      <p:sp>
        <p:nvSpPr>
          <p:cNvPr id="54" name="abl-1-0">
            <a:extLst xmlns:a="http://schemas.openxmlformats.org/drawingml/2006/main">
              <a:ext uri="{FF2B5EF4-FFF2-40B4-BE49-F238E27FC236}">
                <a16:creationId xmlns:a16="http://schemas.microsoft.com/office/drawing/2014/main" id="{2999CAB3-88B1-44D0-A4EC-FE07CB5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Strongest target BO</a:t>
            </a:r>
          </a:p>
        </p:txBody>
      </p:sp>
      <p:sp>
        <p:nvSpPr>
          <p:cNvPr id="55" name="abl-1-1">
            <a:extLst xmlns:a="http://schemas.openxmlformats.org/drawingml/2006/main">
              <a:ext uri="{FF2B5EF4-FFF2-40B4-BE49-F238E27FC236}">
                <a16:creationId xmlns:a16="http://schemas.microsoft.com/office/drawing/2014/main" id="{F84FBF44-58F9-46FB-8053-045395B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GP-UCB / GP-EI / portfolio</a:t>
            </a:r>
          </a:p>
        </p:txBody>
      </p:sp>
      <p:sp>
        <p:nvSpPr>
          <p:cNvPr id="56" name="abl-1-2">
            <a:extLst xmlns:a="http://schemas.openxmlformats.org/drawingml/2006/main">
              <a:ext uri="{FF2B5EF4-FFF2-40B4-BE49-F238E27FC236}">
                <a16:creationId xmlns:a16="http://schemas.microsoft.com/office/drawing/2014/main" id="{A5375C0E-6905-46F6-A97E-DFA04EF4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检验完整系统是否胜过强 BO</a:t>
            </a:r>
          </a:p>
        </p:txBody>
      </p:sp>
      <p:sp>
        <p:nvSpPr>
          <p:cNvPr id="57" name="abl-1-3">
            <a:extLst xmlns:a="http://schemas.openxmlformats.org/drawingml/2006/main">
              <a:ext uri="{FF2B5EF4-FFF2-40B4-BE49-F238E27FC236}">
                <a16:creationId xmlns:a16="http://schemas.microsoft.com/office/drawing/2014/main" id="{5B05AC95-FC1F-4088-A0B0-78580340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764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7/7 ↑</a:t>
            </a:r>
          </a:p>
        </p:txBody>
      </p:sp>
      <p:sp>
        <p:nvSpPr>
          <p:cNvPr id="58" name="abl-2-0">
            <a:extLst xmlns:a="http://schemas.openxmlformats.org/drawingml/2006/main">
              <a:ext uri="{FF2B5EF4-FFF2-40B4-BE49-F238E27FC236}">
                <a16:creationId xmlns:a16="http://schemas.microsoft.com/office/drawing/2014/main" id="{47CB666F-2889-4148-9CDA-4F4A14D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Raw transfer / no Gate</a:t>
            </a:r>
          </a:p>
        </p:txBody>
      </p:sp>
      <p:sp>
        <p:nvSpPr>
          <p:cNvPr id="59" name="abl-2-1">
            <a:extLst xmlns:a="http://schemas.openxmlformats.org/drawingml/2006/main">
              <a:ext uri="{FF2B5EF4-FFF2-40B4-BE49-F238E27FC236}">
                <a16:creationId xmlns:a16="http://schemas.microsoft.com/office/drawing/2014/main" id="{69576DAE-8512-4538-B3D7-269CBCD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always deploy source route</a:t>
            </a:r>
          </a:p>
        </p:txBody>
      </p:sp>
      <p:sp>
        <p:nvSpPr>
          <p:cNvPr id="60" name="abl-2-2">
            <a:extLst xmlns:a="http://schemas.openxmlformats.org/drawingml/2006/main">
              <a:ext uri="{FF2B5EF4-FFF2-40B4-BE49-F238E27FC236}">
                <a16:creationId xmlns:a16="http://schemas.microsoft.com/office/drawing/2014/main" id="{BA379741-6F6B-4EC9-9583-FB62397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量化 Gate 的负迁移保护</a:t>
            </a:r>
          </a:p>
        </p:txBody>
      </p:sp>
      <p:sp>
        <p:nvSpPr>
          <p:cNvPr id="61" name="abl-2-3">
            <a:extLst xmlns:a="http://schemas.openxmlformats.org/drawingml/2006/main">
              <a:ext uri="{FF2B5EF4-FFF2-40B4-BE49-F238E27FC236}">
                <a16:creationId xmlns:a16="http://schemas.microsoft.com/office/drawing/2014/main" id="{9E821850-D039-491F-BD21-1DE807A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0507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2 NEG · 1 UNC.</a:t>
            </a:r>
          </a:p>
        </p:txBody>
      </p:sp>
      <p:sp>
        <p:nvSpPr>
          <p:cNvPr id="62" name="abl-3-0">
            <a:extLst xmlns:a="http://schemas.openxmlformats.org/drawingml/2006/main">
              <a:ext uri="{FF2B5EF4-FFF2-40B4-BE49-F238E27FC236}">
                <a16:creationId xmlns:a16="http://schemas.microsoft.com/office/drawing/2014/main" id="{4E23E829-DB73-4E42-9147-A102A39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Random-transfer</a:t>
            </a:r>
          </a:p>
        </p:txBody>
      </p:sp>
      <p:sp>
        <p:nvSpPr>
          <p:cNvPr id="63" name="abl-3-1">
            <a:extLst xmlns:a="http://schemas.openxmlformats.org/drawingml/2006/main">
              <a:ext uri="{FF2B5EF4-FFF2-40B4-BE49-F238E27FC236}">
                <a16:creationId xmlns:a16="http://schemas.microsoft.com/office/drawing/2014/main" id="{738A0BF8-A96E-47E9-B07A-F894AFBD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matched random rule</a:t>
            </a:r>
          </a:p>
        </p:txBody>
      </p:sp>
      <p:sp>
        <p:nvSpPr>
          <p:cNvPr id="64" name="abl-3-2">
            <a:extLst xmlns:a="http://schemas.openxmlformats.org/drawingml/2006/main">
              <a:ext uri="{FF2B5EF4-FFF2-40B4-BE49-F238E27FC236}">
                <a16:creationId xmlns:a16="http://schemas.microsoft.com/office/drawing/2014/main" id="{03DB6240-2A29-4BAB-AB32-B52A0AE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排除规则形式本身的红利</a:t>
            </a:r>
          </a:p>
        </p:txBody>
      </p:sp>
      <p:sp>
        <p:nvSpPr>
          <p:cNvPr id="65" name="abl-3-3">
            <a:extLst xmlns:a="http://schemas.openxmlformats.org/drawingml/2006/main">
              <a:ext uri="{FF2B5EF4-FFF2-40B4-BE49-F238E27FC236}">
                <a16:creationId xmlns:a16="http://schemas.microsoft.com/office/drawing/2014/main" id="{6389671C-C684-429F-81A2-BC57A786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3370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66" name="abl-4-0">
            <a:extLst xmlns:a="http://schemas.openxmlformats.org/drawingml/2006/main">
              <a:ext uri="{FF2B5EF4-FFF2-40B4-BE49-F238E27FC236}">
                <a16:creationId xmlns:a16="http://schemas.microsoft.com/office/drawing/2014/main" id="{33037348-382C-4203-B8A6-A6CC884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2325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Similarity / no validation</a:t>
            </a:r>
          </a:p>
        </p:txBody>
      </p:sp>
      <p:sp>
        <p:nvSpPr>
          <p:cNvPr id="67" name="abl-4-1">
            <a:extLst xmlns:a="http://schemas.openxmlformats.org/drawingml/2006/main">
              <a:ext uri="{FF2B5EF4-FFF2-40B4-BE49-F238E27FC236}">
                <a16:creationId xmlns:a16="http://schemas.microsoft.com/office/drawing/2014/main" id="{5782D3AF-11F6-4E23-9EA1-469678F7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schema-only or direct prior</a:t>
            </a:r>
          </a:p>
        </p:txBody>
      </p:sp>
      <p:sp>
        <p:nvSpPr>
          <p:cNvPr id="68" name="abl-4-2">
            <a:extLst xmlns:a="http://schemas.openxmlformats.org/drawingml/2006/main">
              <a:ext uri="{FF2B5EF4-FFF2-40B4-BE49-F238E27FC236}">
                <a16:creationId xmlns:a16="http://schemas.microsoft.com/office/drawing/2014/main" id="{6C98C910-D68E-4DA7-9BD8-14B3DF9D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623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检验 hypothesis 与 evidence</a:t>
            </a:r>
          </a:p>
        </p:txBody>
      </p:sp>
      <p:sp>
        <p:nvSpPr>
          <p:cNvPr id="69" name="abl-4-3">
            <a:extLst xmlns:a="http://schemas.openxmlformats.org/drawingml/2006/main">
              <a:ext uri="{FF2B5EF4-FFF2-40B4-BE49-F238E27FC236}">
                <a16:creationId xmlns:a16="http://schemas.microsoft.com/office/drawing/2014/main" id="{747EBC8F-7107-416A-9F4C-972285C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62325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B7791F"/>
                </a:solidFill>
                <a:latin typeface="-apple-system"/>
                <a:ea typeface="-apple-system"/>
                <a:cs typeface="-apple-system"/>
              </a:rPr>
              <a:t>PARTIAL</a:t>
            </a:r>
          </a:p>
        </p:txBody>
      </p:sp>
      <p:sp>
        <p:nvSpPr>
          <p:cNvPr id="70" name="abl-5-0">
            <a:extLst xmlns:a="http://schemas.openxmlformats.org/drawingml/2006/main">
              <a:ext uri="{FF2B5EF4-FFF2-40B4-BE49-F238E27FC236}">
                <a16:creationId xmlns:a16="http://schemas.microsoft.com/office/drawing/2014/main" id="{F118A395-F127-4F21-B495-C2EB9BB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571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Full CARE 2.0</a:t>
            </a:r>
          </a:p>
        </p:txBody>
      </p:sp>
      <p:sp>
        <p:nvSpPr>
          <p:cNvPr id="71" name="abl-5-1">
            <a:extLst xmlns:a="http://schemas.openxmlformats.org/drawingml/2006/main">
              <a:ext uri="{FF2B5EF4-FFF2-40B4-BE49-F238E27FC236}">
                <a16:creationId xmlns:a16="http://schemas.microsoft.com/office/drawing/2014/main" id="{AA2075D4-B403-42EF-AEFF-0BF5DE1B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hypothesis + patch + gate</a:t>
            </a:r>
          </a:p>
        </p:txBody>
      </p:sp>
      <p:sp>
        <p:nvSpPr>
          <p:cNvPr id="72" name="abl-5-2">
            <a:extLst xmlns:a="http://schemas.openxmlformats.org/drawingml/2006/main">
              <a:ext uri="{FF2B5EF4-FFF2-40B4-BE49-F238E27FC236}">
                <a16:creationId xmlns:a16="http://schemas.microsoft.com/office/drawing/2014/main" id="{2C84BD6D-CA6C-4C91-9404-C37C973C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09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可审计部署与 exact fallback</a:t>
            </a:r>
          </a:p>
        </p:txBody>
      </p:sp>
      <p:sp>
        <p:nvSpPr>
          <p:cNvPr id="73" name="abl-5-3">
            <a:extLst xmlns:a="http://schemas.openxmlformats.org/drawingml/2006/main">
              <a:ext uri="{FF2B5EF4-FFF2-40B4-BE49-F238E27FC236}">
                <a16:creationId xmlns:a16="http://schemas.microsoft.com/office/drawing/2014/main" id="{C6D94484-86A0-42FA-9AAE-2C7334A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90950"/>
            <a:ext cx="114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E"/>
          </a:solidFill>
          <a:ln xmlns:a="http://schemas.openxmlformats.org/drawingml/2006/main" w="6668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762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4 T · 3 FALLBACK</a:t>
            </a:r>
          </a:p>
        </p:txBody>
      </p:sp>
      <p:sp>
        <p:nvSpPr>
          <p:cNvPr id="74" name="abl-report">
            <a:extLst xmlns:a="http://schemas.openxmlformats.org/drawingml/2006/main">
              <a:ext uri="{FF2B5EF4-FFF2-40B4-BE49-F238E27FC236}">
                <a16:creationId xmlns:a16="http://schemas.microsoft.com/office/drawing/2014/main" id="{6AB979F5-D6A1-48F9-A86E-B752AEA6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8001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938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例：ChemLex→BH +9.20 vs LLM / +8.10 vs BO · FreeSolv→Lipo +2.98 / +4.99 · 100 held-out seeds</a:t>
            </a:r>
          </a:p>
        </p:txBody>
      </p:sp>
    </p:spTree>
    <p:extLst>
      <p:ext uri="{BB962C8B-B14F-4D97-AF65-F5344CB8AC3E}">
        <p14:creationId xmlns:p14="http://schemas.microsoft.com/office/powerpoint/2010/main" val="2968741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3bb1c7f1246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C2A5C301-4BFB-45C2-AD07-B037177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BUDGET EFFICIENCY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7180D91-F80B-4DF3-ABF6-278977F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494"/>
            <a:ext cx="8001000" cy="3343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迁移的价值不仅是最终最优值，还包括少做多少轮实验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96B262-EBB1-4BD7-BED9-C0A7AB8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285750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15</a:t>
            </a:r>
          </a:p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1d98ccaf9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40D5963-5A1B-4E4A-95D4-DE157791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pic>
        <p:nvPicPr>
          <p:cNvPr id="5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89577f736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AB827B5-A027-4090-9420-A5E549B9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158E4277-42AB-48EE-BF6F-5C7B2AD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3B45A0A3-62C3-4B08-8386-0FD29E5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126465C-156C-4304-90CE-0679408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C40CBF3-622C-4FE4-94C3-2FA5A76D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6995B98-5225-47D9-8AD6-C641DCD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3C5AE6F-5BC1-4DFA-B20D-7CECACD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0C75F51D-3797-4BE3-BBF3-B13D600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CFEF9C4-30A5-4450-ACA0-7FAD60C8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9E35827-1C9D-4D6B-B576-CF381AD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5F971E45-0B3E-4351-B8BF-432316F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68072" tIns="34036" rIns="68072" bIns="34036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7BF00E5-AD8A-4BBE-AC41-3B37680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F307A9C-CFE6-4FF7-BF4B-75200310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DE11EC6-E02A-4461-8D50-340F403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BB54EF5-3EE6-4005-AC94-0F64CAFD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50308EBE-85B3-49D5-9CC1-A6147D1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E837C76-3ADF-4738-92F6-F56803A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4C8D0A3A-449A-44A5-826A-4048836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6784028E-FE47-46AE-AAAD-FCA6141B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543AFCA-2494-4E41-B5C0-B9BE0B3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F5864C54-6772-4D8A-B9C7-8E33D5C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</a:p>
        </p:txBody>
      </p:sp>
      <p:pic>
        <p:nvPicPr>
          <p:cNvPr id="78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69fc8bd8644fb"/>
          <a:stretch xmlns:a="http://schemas.openxmlformats.org/drawingml/2006/main"/>
        </p:blipFill>
        <p:spPr>
          <a:xfrm xmlns:a="http://schemas.openxmlformats.org/drawingml/2006/main">
            <a:off x="428625" y="1502725"/>
            <a:ext cx="5857875" cy="2233300"/>
          </a:xfrm>
          <a:prstGeom xmlns:a="http://schemas.openxmlformats.org/drawingml/2006/main" prst="rect">
            <a:avLst/>
          </a:prstGeom>
        </p:spPr>
      </p:pic>
      <p:sp>
        <p:nvSpPr>
          <p:cNvPr id="34" name="round-title">
            <a:extLst xmlns:a="http://schemas.openxmlformats.org/drawingml/2006/main">
              <a:ext uri="{FF2B5EF4-FFF2-40B4-BE49-F238E27FC236}">
                <a16:creationId xmlns:a16="http://schemas.microsoft.com/office/drawing/2014/main" id="{28DFF991-CA1D-4F01-9F4A-2C5162E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节省轮数：matched-final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1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paired 95% CI</a:t>
            </a:r>
          </a:p>
        </p:txBody>
      </p:sp>
      <p:sp>
        <p:nvSpPr>
          <p:cNvPr id="35" name="round-label-0">
            <a:extLst xmlns:a="http://schemas.openxmlformats.org/drawingml/2006/main">
              <a:ext uri="{FF2B5EF4-FFF2-40B4-BE49-F238E27FC236}">
                <a16:creationId xmlns:a16="http://schemas.microsoft.com/office/drawing/2014/main" id="{DE1429BE-83B6-4BA4-B714-0AB087B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ChemLex → BH</a:t>
            </a:r>
          </a:p>
        </p:txBody>
      </p:sp>
      <p:sp>
        <p:nvSpPr>
          <p:cNvPr id="36" name="round-value-0">
            <a:extLst xmlns:a="http://schemas.openxmlformats.org/drawingml/2006/main">
              <a:ext uri="{FF2B5EF4-FFF2-40B4-BE49-F238E27FC236}">
                <a16:creationId xmlns:a16="http://schemas.microsoft.com/office/drawing/2014/main" id="{887635FD-9270-4875-A394-B16A22FA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859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2.99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[2.05, 3.93]</a:t>
            </a:r>
          </a:p>
        </p:txBody>
      </p:sp>
      <p:sp>
        <p:nvSpPr>
          <p:cNvPr id="37" name="round-label-1">
            <a:extLst xmlns:a="http://schemas.openxmlformats.org/drawingml/2006/main">
              <a:ext uri="{FF2B5EF4-FFF2-40B4-BE49-F238E27FC236}">
                <a16:creationId xmlns:a16="http://schemas.microsoft.com/office/drawing/2014/main" id="{4E42CB59-FE44-472F-BB3D-F249FA3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621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Dielectric → Gap</a:t>
            </a:r>
          </a:p>
        </p:txBody>
      </p:sp>
      <p:sp>
        <p:nvSpPr>
          <p:cNvPr id="38" name="round-value-1">
            <a:extLst xmlns:a="http://schemas.openxmlformats.org/drawingml/2006/main">
              <a:ext uri="{FF2B5EF4-FFF2-40B4-BE49-F238E27FC236}">
                <a16:creationId xmlns:a16="http://schemas.microsoft.com/office/drawing/2014/main" id="{8629AE7D-F5C3-4595-AF3D-DA3A8A3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6.00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[5.14, 6.86]</a:t>
            </a:r>
          </a:p>
        </p:txBody>
      </p:sp>
      <p:sp>
        <p:nvSpPr>
          <p:cNvPr id="39" name="round-label-2">
            <a:extLst xmlns:a="http://schemas.openxmlformats.org/drawingml/2006/main">
              <a:ext uri="{FF2B5EF4-FFF2-40B4-BE49-F238E27FC236}">
                <a16:creationId xmlns:a16="http://schemas.microsoft.com/office/drawing/2014/main" id="{08F6BA6B-65FA-4902-9D50-C43DF23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Gap → Dielectric</a:t>
            </a:r>
          </a:p>
        </p:txBody>
      </p:sp>
      <p:sp>
        <p:nvSpPr>
          <p:cNvPr id="40" name="round-value-2">
            <a:extLst xmlns:a="http://schemas.openxmlformats.org/drawingml/2006/main">
              <a:ext uri="{FF2B5EF4-FFF2-40B4-BE49-F238E27FC236}">
                <a16:creationId xmlns:a16="http://schemas.microsoft.com/office/drawing/2014/main" id="{69CFAF51-C1C7-40D4-872C-531E7D11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5.03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[4.27, 5.79]</a:t>
            </a:r>
          </a:p>
        </p:txBody>
      </p:sp>
      <p:sp>
        <p:nvSpPr>
          <p:cNvPr id="41" name="round-label-3">
            <a:extLst xmlns:a="http://schemas.openxmlformats.org/drawingml/2006/main">
              <a:ext uri="{FF2B5EF4-FFF2-40B4-BE49-F238E27FC236}">
                <a16:creationId xmlns:a16="http://schemas.microsoft.com/office/drawing/2014/main" id="{AB86BC24-A58E-4B67-A3BC-FB59CD9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FreeSolv → Lipo</a:t>
            </a:r>
          </a:p>
        </p:txBody>
      </p:sp>
      <p:sp>
        <p:nvSpPr>
          <p:cNvPr id="42" name="round-value-3">
            <a:extLst xmlns:a="http://schemas.openxmlformats.org/drawingml/2006/main">
              <a:ext uri="{FF2B5EF4-FFF2-40B4-BE49-F238E27FC236}">
                <a16:creationId xmlns:a16="http://schemas.microsoft.com/office/drawing/2014/main" id="{BBAFFDA6-7421-4275-A8B9-412451E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2.23</a:t>
            </a:r>
          </a:p>
          <a:p xmlns:a="http://schemas.openxmlformats.org/drawingml/2006/main">
            <a:pPr algn="r">
              <a:buNone/>
              <a:def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[1.37, 3.09]</a:t>
            </a:r>
          </a:p>
        </p:txBody>
      </p:sp>
      <p:sp>
        <p:nvSpPr>
          <p:cNvPr id="43" name="round-unit">
            <a:extLst xmlns:a="http://schemas.openxmlformats.org/drawingml/2006/main">
              <a:ext uri="{FF2B5EF4-FFF2-40B4-BE49-F238E27FC236}">
                <a16:creationId xmlns:a16="http://schemas.microsoft.com/office/drawing/2014/main" id="{F8A87708-1D29-4485-8670-B8C4D803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第一行：matched-final saving（95% CI）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788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另测 global-top10：3.62 / 9.57 / 8.46 / 4.80</a:t>
            </a:r>
          </a:p>
        </p:txBody>
      </p:sp>
      <p:sp>
        <p:nvSpPr>
          <p:cNvPr id="44" name="diminishing-note">
            <a:extLst xmlns:a="http://schemas.openxmlformats.org/drawingml/2006/main">
              <a:ext uri="{FF2B5EF4-FFF2-40B4-BE49-F238E27FC236}">
                <a16:creationId xmlns:a16="http://schemas.microsoft.com/office/drawing/2014/main" id="{687366F9-0A8C-4174-8C7D-BBB6968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00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10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右侧括号已给出 paired 95% CI。当前只能说迁移减少了达到基准质量所需轮数；若要证明“边际收益递减”，还需改变可用历史经验量后重跑并比较饱和模型。</a:t>
            </a:r>
          </a:p>
        </p:txBody>
      </p:sp>
      <p:sp>
        <p:nvSpPr>
          <p:cNvPr id="45" name="round-censor">
            <a:extLst xmlns:a="http://schemas.openxmlformats.org/drawingml/2006/main">
              <a:ext uri="{FF2B5EF4-FFF2-40B4-BE49-F238E27FC236}">
                <a16:creationId xmlns:a16="http://schemas.microsoft.com/office/drawing/2014/main" id="{261F3926-FD7E-4EBF-9F9D-3BC9DFE7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5667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66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defRPr>
            </a:pPr>
            <a:r>
              <a:rPr sz="863" b="1">
                <a:solidFill>
                  <a:srgbClr val="17212B"/>
                </a:solidFill>
                <a:latin typeface="-apple-system"/>
                <a:ea typeface="-apple-system"/>
                <a:cs typeface="-apple-system"/>
              </a:rPr>
              <a:t>Round 0 = initial observations；未达到阈值的路径按 budget + 1 右删失；fallback 与 matched LLM 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1149072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f28fc9f4a4e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MODULE CONTRIBUTION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316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下一轮：冻结统一协议，用消融实验回答每个模块的贡献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16</a:t>
            </a:r>
          </a:p>
        </p:txBody>
      </p:sp>
      <p:sp>
        <p:nvSpPr>
          <p:cNvPr id="31" name="confirmation-protocol">
            <a:extLst xmlns:a="http://schemas.openxmlformats.org/drawingml/2006/main">
              <a:ext uri="{FF2B5EF4-FFF2-40B4-BE49-F238E27FC236}">
                <a16:creationId xmlns:a16="http://schemas.microsoft.com/office/drawing/2014/main" id="{81822639-9731-4D47-BAC1-0A35571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00100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EF5FC"/>
          </a:solidFill>
          <a:ln xmlns:a="http://schemas.openxmlformats.org/drawingml/2006/main" w="9525">
            <a:solidFill>
              <a:srgbClr val="A9CBEF"/>
            </a:solidFill>
            <a:prstDash val="solid"/>
          </a:ln>
        </p:spPr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74D73"/>
                </a:solidFill>
                <a:latin typeface="-apple-system"/>
                <a:ea typeface="-apple-system"/>
                <a:cs typeface="-apple-system"/>
              </a:defRPr>
            </a:pPr>
            <a:r>
              <a:rPr sz="900" b="1">
                <a:solidFill>
                  <a:srgbClr val="274D73"/>
                </a:solidFill>
                <a:latin typeface="-apple-system"/>
                <a:ea typeface="-apple-system"/>
                <a:cs typeface="-apple-system"/>
              </a:rPr>
              <a:t>确认协议（confirm run 前冻结）：路线清单 · calibration / held-out split · 候选池 · 预算 · thresholds · primary metric · MDE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80010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714500"/>
                <a:gridCol w="857250"/>
                <a:gridCol w="1143000"/>
                <a:gridCol w="3048000"/>
              </a:tblGrid>
              <a:tr h="378279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对照 / 消融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Hypothesis 来源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独立验证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</a:rPr>
                        <a:t>要回答的问题</a:t>
                      </a:r>
                    </a:p>
                  </a:txBody>
                  <a:tcPr marL="47625" marR="47625" marT="47625" marB="47625" anchor="ctr">
                    <a:solidFill>
                      <a:srgbClr val="2B6CB0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No transfer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不使用 source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完全不迁移时的 target-only 表现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Random transfer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随机 source / patch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排除“只是增加 prior 就会变好”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Similarity-only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schema similarity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有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浅层相似度能否替代 LLM 假设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Without Gate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无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Gate 是否减少负迁移</a:t>
                      </a:r>
                    </a:p>
                  </a:txBody>
                  <a:tcPr marL="47625" marR="47625" marT="38100" marB="38100" anchor="ctr">
                    <a:solidFill>
                      <a:srgbClr val="FFF1F0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Without validation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直接部署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仅最终评估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>
                          <a:solidFill>
                            <a:srgbClr val="17212B"/>
                          </a:solidFill>
                        </a:rPr>
                        <a:t>独立 calibration 是否必要</a:t>
                      </a:r>
                    </a:p>
                  </a:txBody>
                  <a:tcPr marL="47625" marR="47625" marT="38100" marB="38100" anchor="ctr">
                    <a:solidFill>
                      <a:srgbClr val="F8FAFC"/>
                    </a:solidFill>
                  </a:tcPr>
                </a:tc>
              </a:tr>
              <a:tr h="378279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Full CARE 2.0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LLM 生成 patch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有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是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17212B"/>
                          </a:solidFill>
                        </a:rPr>
                        <a:t>完整系统的净贡献</a:t>
                      </a:r>
                    </a:p>
                  </a:txBody>
                  <a:tcPr marL="47625" marR="47625" marT="38100" marB="38100" anchor="ctr">
                    <a:solidFill>
                      <a:srgbClr val="EAF7EF"/>
                    </a:solidFill>
                  </a:tcPr>
                </a:tc>
              </a:tr>
            </a:tbl>
          </a:graphicData>
        </a:graphic>
      </p:graphicFrame>
      <p:sp>
        <p:nvSpPr>
          <p:cNvPr id="33" name="ablation-footnote">
            <a:extLst xmlns:a="http://schemas.openxmlformats.org/drawingml/2006/main">
              <a:ext uri="{FF2B5EF4-FFF2-40B4-BE49-F238E27FC236}">
                <a16:creationId xmlns:a16="http://schemas.microsoft.com/office/drawing/2014/main" id="{DC8F35E1-DEA1-4DBF-A2BE-AFE7CD53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同一预算、initial observations、candidate pool 与 held-out seeds；除被消融模块外，其余条件保持一致。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122f44ed540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0520669-97F8-40D0-9B3A-A086F14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150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CONCLUSIONS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62F0640-E4FB-4E07-9C49-6C729F8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2944"/>
            <a:ext cx="8001000" cy="6264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11111"/>
                </a:solidFill>
                <a:latin typeface="-apple-system"/>
                <a:ea typeface="-apple-system"/>
                <a:cs typeface="-apple-system"/>
              </a:rPr>
              <a:t>结论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E76441D-59B7-479D-A44F-1C56970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364" y="428625"/>
            <a:ext cx="127136" cy="13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5B6168"/>
                </a:solidFill>
                <a:latin typeface="-apple-system"/>
                <a:ea typeface="-apple-system"/>
                <a:cs typeface="-apple-system"/>
              </a:rPr>
              <a:t>17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9A8306B-8547-4F89-8132-9D772C1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361DC85-59E4-41F2-B8AA-018A915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131B836-53AC-4ECB-BF79-198EB4D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0D826FF-650E-46F0-AEDB-7D7FE22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259075-DF7C-4FA4-918A-736CB9CE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55F4C8C-0A8E-43C4-9DF4-EAB7E00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0F3D8A0-26B1-40FD-9CC3-04188CD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0000"/>
              </a:lnSpc>
              <a:buNone/>
            </a:p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58E9362-3885-4144-87C3-A809F66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20DF3C7-6936-46E4-A9C6-459EAB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000"/>
              </a:lnSpc>
              <a:buNone/>
            </a:p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DC7EB17-5227-4B58-9F7B-FC41CB8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DA98469-FC9D-491F-A6BF-39DDB367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490B9D8-A947-4445-BA1F-67DC1C1A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B1B1256-95B6-4442-9BD0-F3F5864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</a:pPr>
          </a:p>
        </p:txBody>
      </p:sp>
      <p:sp>
        <p:nvSpPr>
          <p:cNvPr id="20" name="conclusion-num-0">
            <a:extLst xmlns:a="http://schemas.openxmlformats.org/drawingml/2006/main">
              <a:ext uri="{FF2B5EF4-FFF2-40B4-BE49-F238E27FC236}">
                <a16:creationId xmlns:a16="http://schemas.microsoft.com/office/drawing/2014/main" id="{394DDAA5-46B4-447B-A004-7544F17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01</a:t>
            </a:r>
          </a:p>
        </p:txBody>
      </p:sp>
      <p:sp>
        <p:nvSpPr>
          <p:cNvPr id="21" name="conclusion-title-0">
            <a:extLst xmlns:a="http://schemas.openxmlformats.org/drawingml/2006/main">
              <a:ext uri="{FF2B5EF4-FFF2-40B4-BE49-F238E27FC236}">
                <a16:creationId xmlns:a16="http://schemas.microsoft.com/office/drawing/2014/main" id="{2F8FFD81-0496-498A-BE53-BC040F9A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198754"/>
                </a:solidFill>
                <a:latin typeface="-apple-system"/>
                <a:ea typeface="-apple-system"/>
                <a:cs typeface="-apple-system"/>
              </a:rPr>
              <a:t>同领域迁移已得到支持</a:t>
            </a:r>
          </a:p>
        </p:txBody>
      </p:sp>
      <p:sp>
        <p:nvSpPr>
          <p:cNvPr id="22" name="conclusion-body-0">
            <a:extLst xmlns:a="http://schemas.openxmlformats.org/drawingml/2006/main">
              <a:ext uri="{FF2B5EF4-FFF2-40B4-BE49-F238E27FC236}">
                <a16:creationId xmlns:a16="http://schemas.microsoft.com/office/drawing/2014/main" id="{648FF907-A03B-4F9B-B36D-B0AD41D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反应、材料、分子三个领域内均出现跨数据集正向迁移；4/7 routes 在冻结协议下部署 transfer。</a:t>
            </a:r>
          </a:p>
        </p:txBody>
      </p:sp>
      <p:sp>
        <p:nvSpPr>
          <p:cNvPr id="23" name="conclusion-num-1">
            <a:extLst xmlns:a="http://schemas.openxmlformats.org/drawingml/2006/main">
              <a:ext uri="{FF2B5EF4-FFF2-40B4-BE49-F238E27FC236}">
                <a16:creationId xmlns:a16="http://schemas.microsoft.com/office/drawing/2014/main" id="{0B8B8F48-BDBE-4E42-B78E-B8AD33E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0">
            <a:solidFill>
              <a:srgbClr val="FCECEC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02</a:t>
            </a:r>
          </a:p>
        </p:txBody>
      </p:sp>
      <p:sp>
        <p:nvSpPr>
          <p:cNvPr id="24" name="conclusion-title-1">
            <a:extLst xmlns:a="http://schemas.openxmlformats.org/drawingml/2006/main">
              <a:ext uri="{FF2B5EF4-FFF2-40B4-BE49-F238E27FC236}">
                <a16:creationId xmlns:a16="http://schemas.microsoft.com/office/drawing/2014/main" id="{3A726547-B2DC-45E4-B485-11FABB4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D64545"/>
                </a:solidFill>
                <a:latin typeface="-apple-system"/>
                <a:ea typeface="-apple-system"/>
                <a:cs typeface="-apple-system"/>
              </a:rPr>
              <a:t>Gate 拦住了当前负迁移</a:t>
            </a:r>
          </a:p>
        </p:txBody>
      </p:sp>
      <p:sp>
        <p:nvSpPr>
          <p:cNvPr id="25" name="conclusion-body-1">
            <a:extLst xmlns:a="http://schemas.openxmlformats.org/drawingml/2006/main">
              <a:ext uri="{FF2B5EF4-FFF2-40B4-BE49-F238E27FC236}">
                <a16:creationId xmlns:a16="http://schemas.microsoft.com/office/drawing/2014/main" id="{9B232404-F650-47FB-B66F-4AC1E5E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其余 3/7 routes 精确回退 target-only；正式 held-out 中没有把已知负向路线部署出去。</a:t>
            </a:r>
          </a:p>
        </p:txBody>
      </p:sp>
      <p:sp>
        <p:nvSpPr>
          <p:cNvPr id="26" name="conclusion-num-2">
            <a:extLst xmlns:a="http://schemas.openxmlformats.org/drawingml/2006/main">
              <a:ext uri="{FF2B5EF4-FFF2-40B4-BE49-F238E27FC236}">
                <a16:creationId xmlns:a16="http://schemas.microsoft.com/office/drawing/2014/main" id="{B00E0C95-DD97-45B9-A286-B1F5BBE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906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825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03</a:t>
            </a:r>
          </a:p>
        </p:txBody>
      </p:sp>
      <p:sp>
        <p:nvSpPr>
          <p:cNvPr id="27" name="conclusion-title-2">
            <a:extLst xmlns:a="http://schemas.openxmlformats.org/drawingml/2006/main">
              <a:ext uri="{FF2B5EF4-FFF2-40B4-BE49-F238E27FC236}">
                <a16:creationId xmlns:a16="http://schemas.microsoft.com/office/drawing/2014/main" id="{6AA31B4A-F274-45E1-BFA6-2BA7EB6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defRPr>
            </a:pPr>
            <a:r>
              <a:rPr sz="1350" b="1">
                <a:solidFill>
                  <a:srgbClr val="2B6CB0"/>
                </a:solidFill>
                <a:latin typeface="-apple-system"/>
                <a:ea typeface="-apple-system"/>
                <a:cs typeface="-apple-system"/>
              </a:rPr>
              <a:t>跨领域泛化尚未验证</a:t>
            </a:r>
          </a:p>
        </p:txBody>
      </p:sp>
      <p:sp>
        <p:nvSpPr>
          <p:cNvPr id="28" name="conclusion-body-2">
            <a:extLst xmlns:a="http://schemas.openxmlformats.org/drawingml/2006/main">
              <a:ext uri="{FF2B5EF4-FFF2-40B4-BE49-F238E27FC236}">
                <a16:creationId xmlns:a16="http://schemas.microsoft.com/office/drawing/2014/main" id="{89D74034-5C61-4CCD-9824-0A66509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defRPr>
            </a:pPr>
            <a:r>
              <a:rPr sz="975" b="0">
                <a:solidFill>
                  <a:srgbClr val="5D6874"/>
                </a:solidFill>
                <a:latin typeface="-apple-system"/>
                <a:ea typeface="-apple-system"/>
                <a:cs typeface="-apple-system"/>
              </a:rPr>
              <a:t>下一轮冻结路线与数据划分，补 off-diagonal pairs 和完整 ablation，再讨论通用跨领域迁移。</a:t>
            </a:r>
          </a:p>
        </p:txBody>
      </p:sp>
      <p:sp>
        <p:nvSpPr>
          <p:cNvPr id="29" name="conclusion-standard">
            <a:extLst xmlns:a="http://schemas.openxmlformats.org/drawingml/2006/main">
              <a:ext uri="{FF2B5EF4-FFF2-40B4-BE49-F238E27FC236}">
                <a16:creationId xmlns:a16="http://schemas.microsoft.com/office/drawing/2014/main" id="{5C2D6FCE-3C68-440A-BF27-A024635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8001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  <p:txBody>
          <a:bodyPr xmlns:a="http://schemas.openxmlformats.org/drawingml/2006/main" wrap="square" lIns="228600" tIns="152400" rIns="2286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defRPr>
            </a:pPr>
            <a:r>
              <a:rPr sz="1200" b="1">
                <a:solidFill>
                  <a:srgbClr val="FFFFFF"/>
                </a:solidFill>
                <a:latin typeface="-apple-system"/>
                <a:ea typeface="-apple-system"/>
                <a:cs typeface="-apple-system"/>
              </a:rPr>
              <a:t>CARE 2.0 的三项贡献：生成可解释 Hypothesis、用独立证据决定是否迁移、把成功与失败路线完整沉淀进知识库。</a:t>
            </a:r>
          </a:p>
        </p:txBody>
      </p:sp>
    </p:spTree>
    <p:extLst>
      <p:ext uri="{BB962C8B-B14F-4D97-AF65-F5344CB8AC3E}">
        <p14:creationId xmlns:p14="http://schemas.microsoft.com/office/powerpoint/2010/main" val="7995027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2026-08-06T03:50:09.7970000Z</dcterms:created>
  <dcterms:modified xsi:type="dcterms:W3CDTF">2026-08-06T03:50:09.7970000Z</dcterms:modified>
</coreProperties>
</file>