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09e54a736c43d2" /><Relationship Type="http://schemas.openxmlformats.org/officeDocument/2006/relationships/extended-properties" Target="/docProps/app.xml" Id="R6c203deb8d354ebe" /><Relationship Type="http://schemas.openxmlformats.org/officeDocument/2006/relationships/officeDocument" Target="/ppt/presentation.xml" Id="Rff0c8df4d46f47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7eb7d4f51d48e5"/>
  </p:sldMasterIdLst>
  <p:notesMasterIdLst>
    <p:notesMasterId xmlns:r="http://schemas.openxmlformats.org/officeDocument/2006/relationships" r:id="Rde2c5d9dc0784461"/>
  </p:notesMasterIdLst>
  <p:sldIdLst>
    <p:sldId xmlns:r="http://schemas.openxmlformats.org/officeDocument/2006/relationships" id="256" r:id="R6bf9df6c39704406"/>
    <p:sldId xmlns:r="http://schemas.openxmlformats.org/officeDocument/2006/relationships" id="257" r:id="R4657f879080e48e7"/>
    <p:sldId xmlns:r="http://schemas.openxmlformats.org/officeDocument/2006/relationships" id="258" r:id="R8fc151336b584f7e"/>
    <p:sldId xmlns:r="http://schemas.openxmlformats.org/officeDocument/2006/relationships" id="259" r:id="R0ca6141f949b4962"/>
    <p:sldId xmlns:r="http://schemas.openxmlformats.org/officeDocument/2006/relationships" id="260" r:id="Reaad2bff4cce4e44"/>
    <p:sldId xmlns:r="http://schemas.openxmlformats.org/officeDocument/2006/relationships" id="261" r:id="R49587191c17a4470"/>
    <p:sldId xmlns:r="http://schemas.openxmlformats.org/officeDocument/2006/relationships" id="262" r:id="R49d1c45819464248"/>
    <p:sldId xmlns:r="http://schemas.openxmlformats.org/officeDocument/2006/relationships" id="263" r:id="R4e7ece672c044b22"/>
    <p:sldId xmlns:r="http://schemas.openxmlformats.org/officeDocument/2006/relationships" id="264" r:id="Rdbb0698a526e4a44"/>
    <p:sldId xmlns:r="http://schemas.openxmlformats.org/officeDocument/2006/relationships" id="265" r:id="Reb61c3653491452e"/>
    <p:sldId xmlns:r="http://schemas.openxmlformats.org/officeDocument/2006/relationships" id="266" r:id="R8056270c929349b7"/>
    <p:sldId xmlns:r="http://schemas.openxmlformats.org/officeDocument/2006/relationships" id="267" r:id="R7e5357dc97cd44d8"/>
    <p:sldId xmlns:r="http://schemas.openxmlformats.org/officeDocument/2006/relationships" id="268" r:id="Rd1ead20343ce45a6"/>
    <p:sldId xmlns:r="http://schemas.openxmlformats.org/officeDocument/2006/relationships" id="269" r:id="R3935a714081940bf"/>
    <p:sldId xmlns:r="http://schemas.openxmlformats.org/officeDocument/2006/relationships" id="270" r:id="Raa0e6e0d313a4181"/>
    <p:sldId xmlns:r="http://schemas.openxmlformats.org/officeDocument/2006/relationships" id="271" r:id="Rb0f73c269703467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54200b45c4411" /><Relationship Type="http://schemas.openxmlformats.org/officeDocument/2006/relationships/slideMaster" Target="/ppt/slideMasters/slideMaster1.xml" Id="R257eb7d4f51d48e5" /><Relationship Type="http://schemas.openxmlformats.org/officeDocument/2006/relationships/notesMaster" Target="/ppt/notesMasters/notesMaster1.xml" Id="Rde2c5d9dc0784461" /><Relationship Type="http://schemas.openxmlformats.org/officeDocument/2006/relationships/presProps" Target="/ppt/presProps.xml" Id="Rb4c0489db34046cc" /><Relationship Type="http://schemas.openxmlformats.org/officeDocument/2006/relationships/viewProps" Target="/ppt/viewProps.xml" Id="Rfc4e3942c90145a7" /><Relationship Type="http://schemas.openxmlformats.org/officeDocument/2006/relationships/tableStyles" Target="/ppt/tableStyles.xml" Id="R1eded5b0e54a4f31" /><Relationship Type="http://schemas.openxmlformats.org/officeDocument/2006/relationships/slide" Target="/ppt/slides/slide1.xml" Id="R6bf9df6c39704406" /><Relationship Type="http://schemas.openxmlformats.org/officeDocument/2006/relationships/slide" Target="/ppt/slides/slide2.xml" Id="R4657f879080e48e7" /><Relationship Type="http://schemas.openxmlformats.org/officeDocument/2006/relationships/slide" Target="/ppt/slides/slide3.xml" Id="R8fc151336b584f7e" /><Relationship Type="http://schemas.openxmlformats.org/officeDocument/2006/relationships/slide" Target="/ppt/slides/slide4.xml" Id="R0ca6141f949b4962" /><Relationship Type="http://schemas.openxmlformats.org/officeDocument/2006/relationships/slide" Target="/ppt/slides/slide5.xml" Id="Reaad2bff4cce4e44" /><Relationship Type="http://schemas.openxmlformats.org/officeDocument/2006/relationships/slide" Target="/ppt/slides/slide6.xml" Id="R49587191c17a4470" /><Relationship Type="http://schemas.openxmlformats.org/officeDocument/2006/relationships/slide" Target="/ppt/slides/slide7.xml" Id="R49d1c45819464248" /><Relationship Type="http://schemas.openxmlformats.org/officeDocument/2006/relationships/slide" Target="/ppt/slides/slide8.xml" Id="R4e7ece672c044b22" /><Relationship Type="http://schemas.openxmlformats.org/officeDocument/2006/relationships/slide" Target="/ppt/slides/slide9.xml" Id="Rdbb0698a526e4a44" /><Relationship Type="http://schemas.openxmlformats.org/officeDocument/2006/relationships/slide" Target="/ppt/slides/slide10.xml" Id="Reb61c3653491452e" /><Relationship Type="http://schemas.openxmlformats.org/officeDocument/2006/relationships/slide" Target="/ppt/slides/slide11.xml" Id="R8056270c929349b7" /><Relationship Type="http://schemas.openxmlformats.org/officeDocument/2006/relationships/slide" Target="/ppt/slides/slide12.xml" Id="R7e5357dc97cd44d8" /><Relationship Type="http://schemas.openxmlformats.org/officeDocument/2006/relationships/slide" Target="/ppt/slides/slide13.xml" Id="Rd1ead20343ce45a6" /><Relationship Type="http://schemas.openxmlformats.org/officeDocument/2006/relationships/slide" Target="/ppt/slides/slide14.xml" Id="R3935a714081940bf" /><Relationship Type="http://schemas.openxmlformats.org/officeDocument/2006/relationships/slide" Target="/ppt/slides/slide15.xml" Id="Raa0e6e0d313a4181" /><Relationship Type="http://schemas.openxmlformats.org/officeDocument/2006/relationships/slide" Target="/ppt/slides/slide16.xml" Id="Rb0f73c26970346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2f66ee7db44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13325089954ea8" /><Relationship Type="http://schemas.openxmlformats.org/officeDocument/2006/relationships/notesMaster" Target="/ppt/notesMasters/notesMaster1.xml" Id="R773cf1d7ca3a40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e27ab2b5184eb3" /><Relationship Type="http://schemas.openxmlformats.org/officeDocument/2006/relationships/notesMaster" Target="/ppt/notesMasters/notesMaster1.xml" Id="R933838eca7fc4d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67550e7694698" /><Relationship Type="http://schemas.openxmlformats.org/officeDocument/2006/relationships/notesMaster" Target="/ppt/notesMasters/notesMaster1.xml" Id="Rba79e2f6eb7e48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4bcdca49294921" /><Relationship Type="http://schemas.openxmlformats.org/officeDocument/2006/relationships/notesMaster" Target="/ppt/notesMasters/notesMaster1.xml" Id="Raaa17d8f23ba46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b3b6b1cd864795" /><Relationship Type="http://schemas.openxmlformats.org/officeDocument/2006/relationships/notesMaster" Target="/ppt/notesMasters/notesMaster1.xml" Id="Rb9100d92f1b742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83e8e05a6c4233" /><Relationship Type="http://schemas.openxmlformats.org/officeDocument/2006/relationships/notesMaster" Target="/ppt/notesMasters/notesMaster1.xml" Id="R6ae22158843344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0758a25d264a30" /><Relationship Type="http://schemas.openxmlformats.org/officeDocument/2006/relationships/notesMaster" Target="/ppt/notesMasters/notesMaster1.xml" Id="Rf429b1ad814a49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9f74e323b445ff" /><Relationship Type="http://schemas.openxmlformats.org/officeDocument/2006/relationships/notesMaster" Target="/ppt/notesMasters/notesMaster1.xml" Id="R5b07c628cfdb41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4fa73906e5481a" /><Relationship Type="http://schemas.openxmlformats.org/officeDocument/2006/relationships/notesMaster" Target="/ppt/notesMasters/notesMaster1.xml" Id="Rf322bc06a78149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dce2bd57bf4a07" /><Relationship Type="http://schemas.openxmlformats.org/officeDocument/2006/relationships/notesMaster" Target="/ppt/notesMasters/notesMaster1.xml" Id="Rb950ecab375c4e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b8ce6507b7483e" /><Relationship Type="http://schemas.openxmlformats.org/officeDocument/2006/relationships/notesMaster" Target="/ppt/notesMasters/notesMaster1.xml" Id="R966c9b5c568341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eb7c2cced94bab" /><Relationship Type="http://schemas.openxmlformats.org/officeDocument/2006/relationships/notesMaster" Target="/ppt/notesMasters/notesMaster1.xml" Id="Rde7705c275c64b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2f1ef2922b43b9" /><Relationship Type="http://schemas.openxmlformats.org/officeDocument/2006/relationships/notesMaster" Target="/ppt/notesMasters/notesMaster1.xml" Id="R0c85f444352648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c0c176d7bd49b9" /><Relationship Type="http://schemas.openxmlformats.org/officeDocument/2006/relationships/notesMaster" Target="/ppt/notesMasters/notesMaster1.xml" Id="Rf69e54ef2b734c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38939ce7484a3b" /><Relationship Type="http://schemas.openxmlformats.org/officeDocument/2006/relationships/notesMaster" Target="/ppt/notesMasters/notesMaster1.xml" Id="R1852344eb55c4d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cb64888839403a" /><Relationship Type="http://schemas.openxmlformats.org/officeDocument/2006/relationships/notesMaster" Target="/ppt/notesMasters/notesMaster1.xml" Id="R51dab62fbd8743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开场只讲一个核心判断：CARE 2.0 的贡献不是找到一条最强固定规则，而是把 source knowledge 转化为可审计、可拒绝、可复现的迁移决策。可信赖意味着系统既能在证据充分时迁移，也能在证据不足时精确回退。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repository, frozen seven-pair evaluation package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问题定义要避免泛化成一句‘AI Scientist 会迁移’。更精确的问题是：在固定 target budget 下，利用 source evidence 是否能比 target-only strong baseline 更快、更稳地找到高质量候选，同时控制负迁移。当前实验覆盖同领域跨数据集，不覆盖化学到材料等远距离跨领域路径。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Pan &amp; Yang (2010), A Survey on Transfer Learning, DOI: 10.1109/TKDE.2009.191</a:t>
            </a:r>
          </a:p>
          <a:p xmlns:a="http://schemas.openxmlformats.org/drawingml/2006/main">
            <a:r>
              <a:t>- CARE2.0 baseline_comparison.csv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这张图是整份报告的主框架。历史实验先被结构化成 TaskSpec、outcome summary 和 audit；LLM 根据 source 与 target 的公共描述生成多个迁移假设；编译器把假设变成受约束的 kernel/acquisition patch；Calibration Gate 只看独立 calibration seeds；通过后部署 transfer，否则精确回退 target-only。执行结果再沉淀为可复用的 route card。当前代码是二态部署，Hold 是下一版用于‘证据不足但方向合理’的待验证队列。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run_calibrated_source_outcome_transfer.py</a:t>
            </a:r>
          </a:p>
          <a:p xmlns:a="http://schemas.openxmlformats.org/drawingml/2006/main">
            <a:r>
              <a:t>- CARE2.0 LLM_RULE_FORMULAS.md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不是一句自然语言结论，而是一个候选策略对象。LLM 只能读取 target 的公开 schema、预算与变量角色，source 的历史结果摘要，以及已审计的成功/失败 SkillCard；它无法读取 held-out target outcome。它可提出角色映射、弱值先验或探索调度三个候选方向。编译器将其限制为可执行参数，随后由 calibration 选择；正式 held-out 结果只用于最终检验。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model call archives and llm_semantic_skills.py</a:t>
            </a:r>
          </a:p>
          <a:p xmlns:a="http://schemas.openxmlformats.org/drawingml/2006/main">
            <a:r>
              <a:t>- CARE2.0 run_llm_kernel_skill_evolution.py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执行层把 LLM 的语义建议编译成确定性公式。CARE 的 acquisition 以 target-only anchor 为基础，再按 transfer mass M 混合 source-informed candidate scores。只有迁移相关的 kernel、role 与 prior 参数允许变化；target budget、seed split、comparator 和评估方式全部冻结。成功路径进入目标 replay，失败路径精确执行 matched target-only LLM。每轮都写入 trace 与 audit。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LLM_RULE_FORMULAS.md (equations for anchor, priors, routing and safety gate)</a:t>
            </a:r>
          </a:p>
          <a:p xmlns:a="http://schemas.openxmlformats.org/drawingml/2006/main">
            <a:r>
              <a:t>- CARE2.0 run_llm_transfer_router.py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建议会议后挑这三个 case 给领域专家 review。ChemLex 到 BH 代表反应体系角色与 outcome interaction；Dielectric 到 Gap 代表材料属性共享表示；FreeSolv 到 Lipophilicity 代表分子描述符与相邻性质。专家需要判断 hypothesis 的科学逻辑，而不仅是看最终增益。所有数值均来自独立 100-seed held-out 结果。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baseline_comparison.csv (2026-07-28)</a:t>
            </a:r>
          </a:p>
          <a:p xmlns:a="http://schemas.openxmlformats.org/drawingml/2006/main">
            <a:r>
              <a:t>- CARE2.0 iteration_efficiency.csv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这是给领域专家 review 的完整 ChemLex Acid-Amine 到 Buchwald-Hartwig 例子。重点不是数值本身，而是 source 证据如何被表述为“角色映射 + 弱先验”，以及 compiler 如何保持 target budget、seeds 与 candidate pool 不变。只有 calibration 选择通过后，才在 100 个独立 held-out seeds 上评估。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baseline_comparison.csv (2026-07-28)</a:t>
            </a:r>
          </a:p>
          <a:p xmlns:a="http://schemas.openxmlformats.org/drawingml/2006/main">
            <a:r>
              <a:t>- CARE2.0 iteration_efficiency.csv (2026-07-28)</a:t>
            </a:r>
          </a:p>
          <a:p xmlns:a="http://schemas.openxmlformats.org/drawingml/2006/main">
            <a:r>
              <a:t>- CHEMLEX Acid-Amine wetlab record, Zenodo 12920294 / 17596563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左图比较完整 CARE deployment 与每个任务最强 target-only BO；右图隔离 source transfer 相对于 matched target-only LLM 的贡献。四条部署路线的 held-out final-best 95% CI 都在零以上。三条未通过 Gate 的路线精确回退，因此相对 matched LLM 的差值为零，不是把负结果删掉。注意：左图中 fallback 仍可能超过 strongest BO，因为 fallback 本身是 matched target-only LLM。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baseline_comparison_forest.png (2026-07-28)</a:t>
            </a:r>
          </a:p>
          <a:p xmlns:a="http://schemas.openxmlformats.org/drawingml/2006/main">
            <a:r>
              <a:t>- CARE2.0 baseline_comparison.csv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这页要主动收紧结论。矩阵中的绿色格子均是同领域不同数据集；红色格子表示 raw transfer signal 为负且被 Gate 拒绝；灰色表示不稳定或回退。化学到材料等 off-diagonal domain cells 目前没有正式结果，因此只能作为下一阶段实验。材料和分子方向表现较好可能来自共享表示、目标结构和参数空间，但这些解释需要新的机制消融。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transfer_matrix.png (2026-07-25)</a:t>
            </a:r>
          </a:p>
          <a:p xmlns:a="http://schemas.openxmlformats.org/drawingml/2006/main">
            <a:r>
              <a:t>- Pan &amp; Yang (2010), transfer learning survey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本页把“当前</a:t>
            </a:r>
            <a:r>
              <a:t> replay </a:t>
            </a:r>
            <a:r>
              <a:t>的证据”和“论文里的正式显著性声明”分开。当前使用</a:t>
            </a:r>
            <a:r>
              <a:t> paired held-out </a:t>
            </a:r>
            <a:r>
              <a:t>delta、paired</a:t>
            </a:r>
            <a:r>
              <a:t> bootstrap 95% </a:t>
            </a:r>
            <a:r>
              <a:t>CI、non-loss</a:t>
            </a:r>
            <a:r>
              <a:t> rate </a:t>
            </a:r>
            <a:r>
              <a:t>和</a:t>
            </a:r>
            <a:r>
              <a:t> fold </a:t>
            </a:r>
            <a:r>
              <a:t>stability；这支持稳定性判断，但还不是对多条路线的完整显著性检验。论文</a:t>
            </a:r>
            <a:r>
              <a:t> confirm run </a:t>
            </a:r>
            <a:r>
              <a:t>将使用</a:t>
            </a:r>
            <a:r>
              <a:t> paired permutation </a:t>
            </a:r>
            <a:r>
              <a:t>test、Benjamini-Hochberg</a:t>
            </a:r>
            <a:r>
              <a:t> </a:t>
            </a:r>
            <a:r>
              <a:t>FDR，并在正式运行前为各任务定义</a:t>
            </a:r>
            <a:r>
              <a:t> MDE。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Efron &amp; </a:t>
            </a:r>
            <a:r>
              <a:t>Tibshirani</a:t>
            </a:r>
            <a:r>
              <a:t> (1993), An Introduction to the Bootstrap, Chapman &amp; Hall</a:t>
            </a:r>
          </a:p>
          <a:p xmlns:a="http://schemas.openxmlformats.org/drawingml/2006/main">
            <a:r>
              <a:t>- Benjamini &amp; Hochberg (1995), DOI: 10.1111/j.2517-6161.1995.tb02031.x</a:t>
            </a:r>
          </a:p>
          <a:p xmlns:a="http://schemas.openxmlformats.org/drawingml/2006/main">
            <a:r>
              <a:t>- </a:t>
            </a:r>
            <a:r>
              <a:t>Lakens</a:t>
            </a:r>
            <a:r>
              <a:t> (2013), DOI: 10.3389/fpsyg.2013.00863</a:t>
            </a:r>
          </a:p>
          <a:p xmlns:a="http://schemas.openxmlformats.org/drawingml/2006/main">
            <a:r>
              <a:t>- CARE2.0 </a:t>
            </a:r>
            <a:r>
              <a:t>run_calibrated_source_outcome_transfer.py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的目标是 route eligibility，不是统计显著性检验。当前只有两种实际输出：六项条件同时相对于 matched LLM 和 strongest target-only BO 成立，才部署 LLM transfer router；否则精确执行 matched target-only。0.60、0.80 和 0.25 是 calibration replay 固定下来的经验默认值，需要在 confirm run 做 threshold sweep 与 bootstrap 稳健性分析；它们不是直接从文献搬来的普适常数。Hold 只是下一版计划中的第三种状态，当前代码未启用。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run_calibrated_source_outcome_transfer.py, select_route() and CLI defaults</a:t>
            </a:r>
          </a:p>
          <a:p xmlns:a="http://schemas.openxmlformats.org/drawingml/2006/main">
            <a:r>
              <a:t>- Srinivas et al. (2010), GP-UCB</a:t>
            </a:r>
          </a:p>
          <a:p xmlns:a="http://schemas.openxmlformats.org/drawingml/2006/main">
            <a:r>
              <a:t>- Snoek et al. (2012), Practical Bayesian Optimization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本页补上了红字要求的 baseline 实际结果，而不再只列完成状态。相对 matched target-only LLM，四条路线部署 transfer 且全部为正，三条路线精确回退，因此是 4/7 正向、3/7 为零、0 条负向部署；相对每个任务最强 target-only BO，完整部署系统 7/7 的 final-best delta 为正。raw source route 若取消 Gate，ESOL 到 Lipophilicity 与 Lipophilicity 到 FreeSolv 显著负迁移，Phonons 到 dielectric 的区间跨零。Random-transfer 与 similarity/no-validation 仍只有局部覆盖，因此明确标为 PARTIAL。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baseline_comparison.csv (2026-07-28)</a:t>
            </a:r>
          </a:p>
          <a:p xmlns:a="http://schemas.openxmlformats.org/drawingml/2006/main">
            <a:r>
              <a:t>- CARE2.0 baseline_protocol_coverage.csv (2026-07-28)</a:t>
            </a:r>
          </a:p>
          <a:p xmlns:a="http://schemas.openxmlformats.org/drawingml/2006/main">
            <a:r>
              <a:t>- CARE2.0 source-outcome transfer frozen archive (2026-07-24)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右侧第一行报告达到 matched target-only LLM 最终质量所节省的平均轮数，括号内是同一 held-out seed 配对得到的 95% CI；第二行补充提前命中全局 top-10 候选所节省的平均轮数。四条部署路线的 matched-final round-saving 区间均不跨零。这里不再把“早期增益更大”直接解释为边际收益递减；饱和结论需要在不同 source-history size 下重新运行。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iteration_efficiency.csv (2026-07-28)</a:t>
            </a:r>
          </a:p>
          <a:p xmlns:a="http://schemas.openxmlformats.org/drawingml/2006/main">
            <a:r>
              <a:t>- CARE2.0 build_20260728_evaluation_completion.py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这页是下一轮 confirm run 的具体工作，不是已经完成的结果。先冻结 split、threshold、primary metric 和 MDE；再在同一条路线矩阵、同一预算与 seeds 下跑 full method 和所有 matched ablation。贡献归因只使用配对差异；同时报告性能和安全性，防止只展示正例。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Wasserstein &amp; Lazar (2016), transparency and full reporting</a:t>
            </a:r>
          </a:p>
          <a:p xmlns:a="http://schemas.openxmlformats.org/drawingml/2006/main">
            <a:r>
              <a:t>- Benjamini &amp; Hochberg (1995), FDR control</a:t>
            </a:r>
          </a:p>
          <a:p xmlns:a="http://schemas.openxmlformats.org/drawingml/2006/main">
            <a:r>
              <a:t>- CARE2.0 baseline protocol inventory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结尾的主结论是：CARE 2.0 目前已在反应、材料、分子三个领域的同领域跨数据集 replay 中展示出可审计、可回退的正向迁移。项目贡献不是一条固定最强规则，而是 source-to-target 决策链和失败时的精确 fallback。远距离跨领域迁移和完整多重比较统计，仍属于下一轮 confirm run。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frozen seven-pair evaluation package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edb5b58fb4d3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49e3488404b54" /><Relationship Type="http://schemas.openxmlformats.org/officeDocument/2006/relationships/slideLayout" Target="/ppt/slideLayouts/slideLayout1.xml" Id="Rb93a6ce5268c48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a6ce5268c486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368565cbd4e55" /><Relationship Type="http://schemas.openxmlformats.org/officeDocument/2006/relationships/image" Target="/ppt/media/image.jpeg" Id="R9e2422f3f2934c3a" /><Relationship Type="http://schemas.openxmlformats.org/officeDocument/2006/relationships/notesSlide" Target="/ppt/notesSlides/notesSlide1.xml" Id="R47d5c4f1af6c4b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625b535734e14" /><Relationship Type="http://schemas.openxmlformats.org/officeDocument/2006/relationships/image" Target="/ppt/media/image2.jpeg" Id="Rbb22c80a044c41ac" /><Relationship Type="http://schemas.openxmlformats.org/officeDocument/2006/relationships/notesSlide" Target="/ppt/notesSlides/notesSlide2.xml" Id="R416909947e1f45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b4284a73c4c88" /><Relationship Type="http://schemas.openxmlformats.org/officeDocument/2006/relationships/image" Target="/ppt/media/image3.jpeg" Id="R4f3f4e4c8a924f98" /><Relationship Type="http://schemas.openxmlformats.org/officeDocument/2006/relationships/image" Target="/ppt/media/image.png" Id="R2f534128ad0e4d65" /><Relationship Type="http://schemas.openxmlformats.org/officeDocument/2006/relationships/image" Target="/ppt/media/image2.png" Id="R275409c856094cdc" /><Relationship Type="http://schemas.openxmlformats.org/officeDocument/2006/relationships/notesSlide" Target="/ppt/notesSlides/notesSlide3.xml" Id="Rd21f6fc047624f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171c20b23497d" /><Relationship Type="http://schemas.openxmlformats.org/officeDocument/2006/relationships/image" Target="/ppt/media/image3.jpeg" Id="Ra73776cee7d2443b" /><Relationship Type="http://schemas.openxmlformats.org/officeDocument/2006/relationships/image" Target="/ppt/media/image3.png" Id="R21b730b73a704e86" /><Relationship Type="http://schemas.openxmlformats.org/officeDocument/2006/relationships/image" Target="/ppt/media/image4.png" Id="R67c71bc8d59744b2" /><Relationship Type="http://schemas.openxmlformats.org/officeDocument/2006/relationships/notesSlide" Target="/ppt/notesSlides/notesSlide4.xml" Id="R9f827b0aad2541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986abc56643a9" /><Relationship Type="http://schemas.openxmlformats.org/officeDocument/2006/relationships/image" Target="/ppt/media/image3.jpeg" Id="Raa5c007a29b24990" /><Relationship Type="http://schemas.openxmlformats.org/officeDocument/2006/relationships/image" Target="/ppt/media/image3.png" Id="R7c88dc8d883e4643" /><Relationship Type="http://schemas.openxmlformats.org/officeDocument/2006/relationships/image" Target="/ppt/media/image4.png" Id="R59a9a1834fd0438b" /><Relationship Type="http://schemas.openxmlformats.org/officeDocument/2006/relationships/notesSlide" Target="/ppt/notesSlides/notesSlide5.xml" Id="Rf6da74507ed945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55b2800a54ed6" /><Relationship Type="http://schemas.openxmlformats.org/officeDocument/2006/relationships/image" Target="/ppt/media/image2.jpeg" Id="R6e667b3f0f36490d" /><Relationship Type="http://schemas.openxmlformats.org/officeDocument/2006/relationships/notesSlide" Target="/ppt/notesSlides/notesSlide6.xml" Id="R6d696ee68eb440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c4428cf3c41dc" /><Relationship Type="http://schemas.openxmlformats.org/officeDocument/2006/relationships/notesSlide" Target="/ppt/notesSlides/notesSlide7.xml" Id="Rc47a44a53299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4564855f34c28" /><Relationship Type="http://schemas.openxmlformats.org/officeDocument/2006/relationships/image" Target="/ppt/media/image2.jpeg" Id="Rc257ca70a751461f" /><Relationship Type="http://schemas.openxmlformats.org/officeDocument/2006/relationships/notesSlide" Target="/ppt/notesSlides/notesSlide8.xml" Id="Rb7e33d653628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083e67ab74a11" /><Relationship Type="http://schemas.openxmlformats.org/officeDocument/2006/relationships/image" Target="/ppt/media/image4.jpeg" Id="R067a25135922498f" /><Relationship Type="http://schemas.openxmlformats.org/officeDocument/2006/relationships/image" Target="/ppt/media/image5.png" Id="Ra04dd6c1456b4d2e" /><Relationship Type="http://schemas.openxmlformats.org/officeDocument/2006/relationships/image" Target="/ppt/media/image6.png" Id="Rf9f063a20c684c7a" /><Relationship Type="http://schemas.openxmlformats.org/officeDocument/2006/relationships/notesSlide" Target="/ppt/notesSlides/notesSlide9.xml" Id="R8e48f25bf30b4e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3c1a8f7db423f" /><Relationship Type="http://schemas.openxmlformats.org/officeDocument/2006/relationships/image" Target="/ppt/media/image3.jpeg" Id="R6ea26b3854374db9" /><Relationship Type="http://schemas.openxmlformats.org/officeDocument/2006/relationships/image" Target="/ppt/media/image7.png" Id="R5f684049b9ee4701" /><Relationship Type="http://schemas.openxmlformats.org/officeDocument/2006/relationships/image" Target="/ppt/media/image8.png" Id="R2f4d3ab815d040c4" /><Relationship Type="http://schemas.openxmlformats.org/officeDocument/2006/relationships/image" Target="/ppt/media/image9.png" Id="R218e104d9e7b4853" /><Relationship Type="http://schemas.openxmlformats.org/officeDocument/2006/relationships/image" Target="/ppt/media/image10.png" Id="Rc5db1943ff374f5a" /><Relationship Type="http://schemas.openxmlformats.org/officeDocument/2006/relationships/image" Target="/ppt/media/image11.png" Id="R2b1dcdad4a3d419c" /><Relationship Type="http://schemas.openxmlformats.org/officeDocument/2006/relationships/image" Target="/ppt/media/image12.png" Id="Rbe21b3d57de84fde" /><Relationship Type="http://schemas.openxmlformats.org/officeDocument/2006/relationships/notesSlide" Target="/ppt/notesSlides/notesSlide10.xml" Id="Rba5937f9735f4a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f46bca06c480b" /><Relationship Type="http://schemas.openxmlformats.org/officeDocument/2006/relationships/image" Target="/ppt/media/image5.jpeg" Id="R404aa49927b144dd" /><Relationship Type="http://schemas.openxmlformats.org/officeDocument/2006/relationships/image" Target="/ppt/media/image13.png" Id="Rd0cc55c99d7f4516" /><Relationship Type="http://schemas.openxmlformats.org/officeDocument/2006/relationships/image" Target="/ppt/media/image14.png" Id="R8121898a22214a14" /><Relationship Type="http://schemas.openxmlformats.org/officeDocument/2006/relationships/notesSlide" Target="/ppt/notesSlides/notesSlide11.xml" Id="R4a3150bbae5448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b9684f7c44e6b" /><Relationship Type="http://schemas.openxmlformats.org/officeDocument/2006/relationships/image" Target="/ppt/media/image3.jpeg" Id="R8dae214ff78847e5" /><Relationship Type="http://schemas.openxmlformats.org/officeDocument/2006/relationships/image" Target="/ppt/media/image7.png" Id="Rd63bdfcdee2e408b" /><Relationship Type="http://schemas.openxmlformats.org/officeDocument/2006/relationships/image" Target="/ppt/media/image8.png" Id="R85ae9b7efd6141b3" /><Relationship Type="http://schemas.openxmlformats.org/officeDocument/2006/relationships/image" Target="/ppt/media/image9.png" Id="R7cbe836380914a49" /><Relationship Type="http://schemas.openxmlformats.org/officeDocument/2006/relationships/image" Target="/ppt/media/image10.png" Id="Rb7f2ca5f46994d39" /><Relationship Type="http://schemas.openxmlformats.org/officeDocument/2006/relationships/image" Target="/ppt/media/image11.png" Id="Reffaa897d2ca46d9" /><Relationship Type="http://schemas.openxmlformats.org/officeDocument/2006/relationships/notesSlide" Target="/ppt/notesSlides/notesSlide12.xml" Id="R602cef2a53da44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f787da2164b9f" /><Relationship Type="http://schemas.openxmlformats.org/officeDocument/2006/relationships/image" Target="/ppt/media/image15.png" Id="Re1547d3ea0624935" /><Relationship Type="http://schemas.openxmlformats.org/officeDocument/2006/relationships/image" Target="/ppt/media/image16.png" Id="R3506048365fe42f5" /><Relationship Type="http://schemas.openxmlformats.org/officeDocument/2006/relationships/image" Target="/ppt/media/image17.png" Id="Ra96418be54764a76" /><Relationship Type="http://schemas.openxmlformats.org/officeDocument/2006/relationships/image" Target="/ppt/media/image18.png" Id="R49c1f5df4d804e50" /><Relationship Type="http://schemas.openxmlformats.org/officeDocument/2006/relationships/notesSlide" Target="/ppt/notesSlides/notesSlide13.xml" Id="Re7d4f9147fcf43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5a874a31c42e3" /><Relationship Type="http://schemas.openxmlformats.org/officeDocument/2006/relationships/image" Target="/ppt/media/image6.jpeg" Id="Rbe40116c292b485d" /><Relationship Type="http://schemas.openxmlformats.org/officeDocument/2006/relationships/image" Target="/ppt/media/image19.png" Id="Re9650fbe01c149b3" /><Relationship Type="http://schemas.openxmlformats.org/officeDocument/2006/relationships/image" Target="/ppt/media/image20.png" Id="R90b0e3d06eef48b3" /><Relationship Type="http://schemas.openxmlformats.org/officeDocument/2006/relationships/image" Target="/ppt/media/image21.png" Id="R539df4cc64b74917" /><Relationship Type="http://schemas.openxmlformats.org/officeDocument/2006/relationships/notesSlide" Target="/ppt/notesSlides/notesSlide14.xml" Id="R89985a8eb4674b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7e8e1613f4d1c" /><Relationship Type="http://schemas.openxmlformats.org/officeDocument/2006/relationships/image" Target="/ppt/media/image7.jpeg" Id="R8e8f78cfda6d4ff3" /><Relationship Type="http://schemas.openxmlformats.org/officeDocument/2006/relationships/notesSlide" Target="/ppt/notesSlides/notesSlide15.xml" Id="R7ceab2e13f4844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7cb840cb0480c" /><Relationship Type="http://schemas.openxmlformats.org/officeDocument/2006/relationships/image" Target="/ppt/media/image7.jpeg" Id="R64f353c4c2134d70" /><Relationship Type="http://schemas.openxmlformats.org/officeDocument/2006/relationships/notesSlide" Target="/ppt/notesSlides/notesSlide16.xml" Id="Raee0693668a04a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422f3f2934c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85680AA-4A9A-4519-9220-17D731C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71240"/>
            <a:ext cx="7429500" cy="196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CARE 2.0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67367A8-FAE6-4538-836D-143F4B8D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39143"/>
            <a:ext cx="7429500" cy="4136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</a:pPr>
            <a:r>
              <a:rPr sz="2800" b="1"/>
              <a:t>CARE 2.0: 可信赖的跨任务科学知识迁移框架</a:t>
            </a:r>
            <a:r>
              <a:rPr sz="2800"/>
              <a:t> 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5EF4FA-D446-4D74-BC9A-2C871226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979"/>
            <a:ext cx="742950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Hypothesis generation · calibrated routing · held-out verification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D69048D-1199-46C1-B7D0-B83AA92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1525"/>
            <a:ext cx="7429500" cy="1607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Project update · 2026-07-29</a:t>
            </a:r>
          </a:p>
        </p:txBody>
      </p:sp>
    </p:spTree>
    <p:extLst>
      <p:ext uri="{BB962C8B-B14F-4D97-AF65-F5344CB8AC3E}">
        <p14:creationId xmlns:p14="http://schemas.microsoft.com/office/powerpoint/2010/main" val="16417681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2c80a044c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CORE QUESTION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7882414" cy="3446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核心研究问题：如何定义一个具备迁移能力的通用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 AI Scientist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A5E1FF53-E9BD-453D-88F4-104E1B5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B329625F-BA44-47A2-99A2-259D548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决策对象</a:t>
            </a:r>
          </a:p>
        </p:txBody>
      </p:sp>
      <p:sp>
        <p:nvSpPr>
          <p:cNvPr id="22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76D74621-7DB7-49A0-8D30-3C8CA4E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给定 source task、历史 outcome、target schema 与固定实验预算，决定：迁移什么、迁移多少、何时拒绝，以及下一轮测哪个候选。</a:t>
            </a:r>
          </a:p>
        </p:txBody>
      </p:sp>
      <p:sp>
        <p:nvSpPr>
          <p:cNvPr id="23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432B3F22-FF9D-4378-8759-302E9F52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8CFCFF2A-D603-4EA1-9244-EDF1E96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核心贡献</a:t>
            </a:r>
          </a:p>
        </p:txBody>
      </p:sp>
      <p:sp>
        <p:nvSpPr>
          <p:cNvPr id="25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E42EA507-BE68-4148-A558-93A9B83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LLM 生成可执行 Hypothesis；编译器把它映射到 acquisition geometry；Calibration Gate 用独立开发种子决定部署或回退。</a:t>
            </a:r>
          </a:p>
        </p:txBody>
      </p:sp>
      <p:sp>
        <p:nvSpPr>
          <p:cNvPr id="2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A88681A7-FCD8-4BC6-95A0-41CC38F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33144959-3080-4B74-B91C-3648A1D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证据边界</a:t>
            </a:r>
          </a:p>
        </p:txBody>
      </p:sp>
      <p:sp>
        <p:nvSpPr>
          <p:cNvPr id="2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528E1232-54A4-436B-8146-85259B9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目前支持反应、材料、分子三个领域内的跨数据集迁移。真正的跨领域迁移仍是探索性目标，不能写成已验证结论。</a:t>
            </a:r>
          </a:p>
        </p:txBody>
      </p:sp>
      <p:sp>
        <p:nvSpPr>
          <p:cNvPr id="29" name="problem-synthesis">
            <a:extLst xmlns:a="http://schemas.openxmlformats.org/drawingml/2006/main">
              <a:ext uri="{FF2B5EF4-FFF2-40B4-BE49-F238E27FC236}">
                <a16:creationId xmlns:a16="http://schemas.microsoft.com/office/drawing/2014/main" id="{5316D94F-D815-441A-9A3B-378B0BC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8001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266700" tIns="171450" rIns="266700" bIns="171450" anchor="ctr">
            <a:normAutofit fontScale="961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可信赖 = 能迁移，也能拒绝迁移。每一个决定都要有冻结协议、可复核证据和完整 audit trace。</a:t>
            </a:r>
          </a:p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f4e4c8a924f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D159CAF-DEFD-4A90-B3A6-8C4861D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TRUSTED TRANSFER FRAMEWORK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8D1C7CB-4264-4D23-B79D-0C8EC63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从历史实验到可验证迁移：生成、路由、执行、反馈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44AC5FD-3E59-47CD-9DC3-388527D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pic>
        <p:nvPicPr>
          <p:cNvPr id="4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34128ad0e4d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A1CDB0A6-8A00-496E-AC96-3C97B25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FAD6D10A-B59E-4475-8830-FCA8E26D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EB599F2-CDC0-4D2B-B327-A59A5663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C060327-AD03-46C1-8952-74EDF78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9947125-96A3-43AC-A2EF-AB50DB5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813327B-8B4A-4B3F-B5FF-0AA94AD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FA164F3-1146-4F34-9E89-4DFDA2A4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1CA4ADB-E170-41C8-AFC1-91EE059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8ED45C-D3A9-4071-ACB9-3EAD00F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BA6554A-B665-49B7-B74D-21441A8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76DD86E-BE23-42B4-8EB7-F275E72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12372C0-D106-4AE6-BB44-35568C1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CF42E4F-4E48-467A-AA7A-CF726BC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58D38D8-FF21-40B6-8B75-D79C1B4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171C747-B284-4603-B671-0714043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A8F48CE-1E82-441D-9A26-6357287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36C86F4-32D1-4044-AC08-AFFE868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4B4F55E-9B27-4EB0-9255-DA7EF44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F03BD79-E080-4BF9-8242-60850B5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94D3691-F503-4873-A0F0-6ACA93F2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09A70CA4-E3AF-43CB-B301-D1CF97A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C6C55C1-FE95-419E-BCE6-00CAB33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409c856094c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D9AF64B3-494E-4D42-943B-3BF9076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E9A09C44-CD48-41C4-8BF9-9E720F8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2C7F3DC7-AA66-46BD-AB20-26804F7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7F89D4D-92A8-42EB-9020-376664C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3E80345B-BB36-4224-B8A3-A23C18F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8CDC7844-EF08-4EBA-8113-32C6853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0148626B-1502-4426-A907-4E007EF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E5F903FE-3AFD-45EE-88FF-073B718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972633EC-CD93-4B24-97C4-4441096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7BD4F2F7-30D6-4033-92EB-E2523601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D50E1449-A437-4659-BF82-706D1B7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8DDA31BA-119E-4EE4-A986-BB6A84C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BC9EF208-1A7B-42AB-94DB-248EF0C6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04CD6DBA-D284-4185-8CF3-6334BCE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512DE1FA-276A-4144-8159-481128D9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FF65D1E9-97D0-4275-9052-3EA5623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276AB000-21A1-4042-9788-B1914AB6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651271A4-F2B3-4DCA-892F-2BC7451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676CB99D-BB24-4717-9283-E1A399F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9" name="Shape 44">
            <a:extLst xmlns:a="http://schemas.openxmlformats.org/drawingml/2006/main">
              <a:ext uri="{FF2B5EF4-FFF2-40B4-BE49-F238E27FC236}">
                <a16:creationId xmlns:a16="http://schemas.microsoft.com/office/drawing/2014/main" id="{2C1FEAC1-41A2-43E5-AC9E-620057CC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0CDA5014-435C-426E-9145-51FEDB6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Shape 46">
            <a:extLst xmlns:a="http://schemas.openxmlformats.org/drawingml/2006/main">
              <a:ext uri="{FF2B5EF4-FFF2-40B4-BE49-F238E27FC236}">
                <a16:creationId xmlns:a16="http://schemas.microsoft.com/office/drawing/2014/main" id="{68AE135F-2F6E-4B97-A6BE-88AF8BA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AAE18213-0645-4595-8EF2-63AF042F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48">
            <a:extLst xmlns:a="http://schemas.openxmlformats.org/drawingml/2006/main">
              <a:ext uri="{FF2B5EF4-FFF2-40B4-BE49-F238E27FC236}">
                <a16:creationId xmlns:a16="http://schemas.microsoft.com/office/drawing/2014/main" id="{DF1160AB-F6B4-4AD6-BA6E-0198BFA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49">
            <a:extLst xmlns:a="http://schemas.openxmlformats.org/drawingml/2006/main">
              <a:ext uri="{FF2B5EF4-FFF2-40B4-BE49-F238E27FC236}">
                <a16:creationId xmlns:a16="http://schemas.microsoft.com/office/drawing/2014/main" id="{79B351AA-0D58-463E-B5A7-50271939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5" name="Text 50">
            <a:extLst xmlns:a="http://schemas.openxmlformats.org/drawingml/2006/main">
              <a:ext uri="{FF2B5EF4-FFF2-40B4-BE49-F238E27FC236}">
                <a16:creationId xmlns:a16="http://schemas.microsoft.com/office/drawing/2014/main" id="{1B8CAC1E-B898-4D59-A824-34E64F00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6" name="Text 51">
            <a:extLst xmlns:a="http://schemas.openxmlformats.org/drawingml/2006/main">
              <a:ext uri="{FF2B5EF4-FFF2-40B4-BE49-F238E27FC236}">
                <a16:creationId xmlns:a16="http://schemas.microsoft.com/office/drawing/2014/main" id="{7BD35B93-48F2-4BEE-B10F-0579C9BB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7" name="Text 52">
            <a:extLst xmlns:a="http://schemas.openxmlformats.org/drawingml/2006/main">
              <a:ext uri="{FF2B5EF4-FFF2-40B4-BE49-F238E27FC236}">
                <a16:creationId xmlns:a16="http://schemas.microsoft.com/office/drawing/2014/main" id="{E6D0943E-074D-4183-B3AD-405784F3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8" name="Shape 53">
            <a:extLst xmlns:a="http://schemas.openxmlformats.org/drawingml/2006/main">
              <a:ext uri="{FF2B5EF4-FFF2-40B4-BE49-F238E27FC236}">
                <a16:creationId xmlns:a16="http://schemas.microsoft.com/office/drawing/2014/main" id="{8DEACAE0-FEB3-494C-8147-A2765D7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Shape 54">
            <a:extLst xmlns:a="http://schemas.openxmlformats.org/drawingml/2006/main">
              <a:ext uri="{FF2B5EF4-FFF2-40B4-BE49-F238E27FC236}">
                <a16:creationId xmlns:a16="http://schemas.microsoft.com/office/drawing/2014/main" id="{E9F399B8-EB96-4D34-8715-68D9852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Shape 55">
            <a:extLst xmlns:a="http://schemas.openxmlformats.org/drawingml/2006/main">
              <a:ext uri="{FF2B5EF4-FFF2-40B4-BE49-F238E27FC236}">
                <a16:creationId xmlns:a16="http://schemas.microsoft.com/office/drawing/2014/main" id="{8A8998D1-9844-4D00-8C74-A2359F8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Shape 56">
            <a:extLst xmlns:a="http://schemas.openxmlformats.org/drawingml/2006/main">
              <a:ext uri="{FF2B5EF4-FFF2-40B4-BE49-F238E27FC236}">
                <a16:creationId xmlns:a16="http://schemas.microsoft.com/office/drawing/2014/main" id="{EA40FD4D-7C27-48BE-9530-E542B9A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Shape 57">
            <a:extLst xmlns:a="http://schemas.openxmlformats.org/drawingml/2006/main">
              <a:ext uri="{FF2B5EF4-FFF2-40B4-BE49-F238E27FC236}">
                <a16:creationId xmlns:a16="http://schemas.microsoft.com/office/drawing/2014/main" id="{F30F8F54-0F2A-4C1E-8418-C086151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58">
            <a:extLst xmlns:a="http://schemas.openxmlformats.org/drawingml/2006/main">
              <a:ext uri="{FF2B5EF4-FFF2-40B4-BE49-F238E27FC236}">
                <a16:creationId xmlns:a16="http://schemas.microsoft.com/office/drawing/2014/main" id="{86A39385-085F-477E-A795-7FEA3C9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4" name="Text 59">
            <a:extLst xmlns:a="http://schemas.openxmlformats.org/drawingml/2006/main">
              <a:ext uri="{FF2B5EF4-FFF2-40B4-BE49-F238E27FC236}">
                <a16:creationId xmlns:a16="http://schemas.microsoft.com/office/drawing/2014/main" id="{EF68050B-0333-4254-B695-0DE3B05D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5" name="Text 60">
            <a:extLst xmlns:a="http://schemas.openxmlformats.org/drawingml/2006/main">
              <a:ext uri="{FF2B5EF4-FFF2-40B4-BE49-F238E27FC236}">
                <a16:creationId xmlns:a16="http://schemas.microsoft.com/office/drawing/2014/main" id="{C3DB49D4-0605-4E33-A19F-78C2128A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6" name="Text 61">
            <a:extLst xmlns:a="http://schemas.openxmlformats.org/drawingml/2006/main">
              <a:ext uri="{FF2B5EF4-FFF2-40B4-BE49-F238E27FC236}">
                <a16:creationId xmlns:a16="http://schemas.microsoft.com/office/drawing/2014/main" id="{B50052EF-9060-499B-9036-0062AA3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0" name="framework-top-0">
            <a:extLst xmlns:a="http://schemas.openxmlformats.org/drawingml/2006/main">
              <a:ext uri="{FF2B5EF4-FFF2-40B4-BE49-F238E27FC236}">
                <a16:creationId xmlns:a16="http://schemas.microsoft.com/office/drawing/2014/main" id="{199B6E16-A1E0-46E8-80C6-41F8939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94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Historical Experiments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TaskSpec · outcomes · audit</a:t>
            </a:r>
          </a:p>
        </p:txBody>
      </p:sp>
      <p:sp>
        <p:nvSpPr>
          <p:cNvPr id="71" name="framework-top-1">
            <a:extLst xmlns:a="http://schemas.openxmlformats.org/drawingml/2006/main">
              <a:ext uri="{FF2B5EF4-FFF2-40B4-BE49-F238E27FC236}">
                <a16:creationId xmlns:a16="http://schemas.microsoft.com/office/drawing/2014/main" id="{405953BD-2125-4B0C-BEDD-6BB11D3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Feature &amp; Evidence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roles · descriptors · uncertainty</a:t>
            </a:r>
          </a:p>
        </p:txBody>
      </p:sp>
      <p:sp>
        <p:nvSpPr>
          <p:cNvPr id="72" name="framework-top-2">
            <a:extLst xmlns:a="http://schemas.openxmlformats.org/drawingml/2006/main">
              <a:ext uri="{FF2B5EF4-FFF2-40B4-BE49-F238E27FC236}">
                <a16:creationId xmlns:a16="http://schemas.microsoft.com/office/drawing/2014/main" id="{FBAA4DF2-898B-4BB3-B10B-19419696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multiple bounded candidates</a:t>
            </a:r>
          </a:p>
        </p:txBody>
      </p:sp>
      <p:sp>
        <p:nvSpPr>
          <p:cNvPr id="73" name="framework-top-3">
            <a:extLst xmlns:a="http://schemas.openxmlformats.org/drawingml/2006/main">
              <a:ext uri="{FF2B5EF4-FFF2-40B4-BE49-F238E27FC236}">
                <a16:creationId xmlns:a16="http://schemas.microsoft.com/office/drawing/2014/main" id="{6FFD81F1-5B76-4240-BB18-953E0B4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72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Transferability Estimate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+ source evidence</a:t>
            </a:r>
          </a:p>
        </p:txBody>
      </p:sp>
      <p:sp>
        <p:nvSpPr>
          <p:cNvPr id="74" name="framework-top-4">
            <a:extLst xmlns:a="http://schemas.openxmlformats.org/drawingml/2006/main">
              <a:ext uri="{FF2B5EF4-FFF2-40B4-BE49-F238E27FC236}">
                <a16:creationId xmlns:a16="http://schemas.microsoft.com/office/drawing/2014/main" id="{98EA5819-3CA0-4C69-8720-51C8C13A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independent dev seeds</a:t>
            </a:r>
          </a:p>
        </p:txBody>
      </p:sp>
      <p:cxnSp>
        <p:nvCxnSpPr>
          <p:cNvPr id="531" name="Straight Arrow Connector 165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195262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2" name="Straight Arrow Connector 166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350520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3" name="Straight Arrow Connector 167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505777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4" name="Straight Arrow Connector 168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661035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79" name="framework-transfer">
            <a:extLst xmlns:a="http://schemas.openxmlformats.org/drawingml/2006/main">
              <a:ext uri="{FF2B5EF4-FFF2-40B4-BE49-F238E27FC236}">
                <a16:creationId xmlns:a16="http://schemas.microsoft.com/office/drawing/2014/main" id="{5CFFF29A-260F-4CB1-8082-A84CA159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 &gt; 0</a:t>
            </a:r>
          </a:p>
        </p:txBody>
      </p:sp>
      <p:sp>
        <p:nvSpPr>
          <p:cNvPr id="80" name="framework-hold">
            <a:extLst xmlns:a="http://schemas.openxmlformats.org/drawingml/2006/main">
              <a:ext uri="{FF2B5EF4-FFF2-40B4-BE49-F238E27FC236}">
                <a16:creationId xmlns:a16="http://schemas.microsoft.com/office/drawing/2014/main" id="{1BBD49EB-F67B-4D25-843A-7272E5D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97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HOLD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collect evidence</a:t>
            </a:r>
          </a:p>
        </p:txBody>
      </p:sp>
      <p:sp>
        <p:nvSpPr>
          <p:cNvPr id="81" name="framework-freeze">
            <a:extLst xmlns:a="http://schemas.openxmlformats.org/drawingml/2006/main">
              <a:ext uri="{FF2B5EF4-FFF2-40B4-BE49-F238E27FC236}">
                <a16:creationId xmlns:a16="http://schemas.microsoft.com/office/drawing/2014/main" id="{06820836-C98F-4D49-9D43-2239385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11430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8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/ REJECT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exact fallback</a:t>
            </a:r>
          </a:p>
        </p:txBody>
      </p:sp>
      <p:cxnSp>
        <p:nvCxnSpPr>
          <p:cNvPr id="538" name="Elbow Connector 172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 flipH="1">
            <a:off x="5905500" y="2076450"/>
            <a:ext cx="1566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9" name="Elbow Connector 173"/>
          <p:cNvCxnSpPr>
            <a:stCxn xmlns:a="http://schemas.openxmlformats.org/drawingml/2006/main" id="74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7048500" y="2076450"/>
            <a:ext cx="423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791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0" name="Elbow Connector 174"/>
          <p:cNvCxnSpPr>
            <a:stCxn xmlns:a="http://schemas.openxmlformats.org/drawingml/2006/main" id="74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>
            <a:off x="7472363" y="2076450"/>
            <a:ext cx="71913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85" name="framework-bottom-0">
            <a:extLst xmlns:a="http://schemas.openxmlformats.org/drawingml/2006/main">
              <a:ext uri="{FF2B5EF4-FFF2-40B4-BE49-F238E27FC236}">
                <a16:creationId xmlns:a16="http://schemas.microsoft.com/office/drawing/2014/main" id="{D652F557-32F0-4439-B2B8-9679D86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Experiment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fixed budget replay</a:t>
            </a:r>
          </a:p>
        </p:txBody>
      </p:sp>
      <p:sp>
        <p:nvSpPr>
          <p:cNvPr id="86" name="framework-bottom-1">
            <a:extLst xmlns:a="http://schemas.openxmlformats.org/drawingml/2006/main">
              <a:ext uri="{FF2B5EF4-FFF2-40B4-BE49-F238E27FC236}">
                <a16:creationId xmlns:a16="http://schemas.microsoft.com/office/drawing/2014/main" id="{B8DA8B1C-1806-4519-BACE-A0D4E52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Statistical Evaluation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Δ · CI · stability</a:t>
            </a:r>
          </a:p>
        </p:txBody>
      </p:sp>
      <p:sp>
        <p:nvSpPr>
          <p:cNvPr id="87" name="framework-bottom-2">
            <a:extLst xmlns:a="http://schemas.openxmlformats.org/drawingml/2006/main">
              <a:ext uri="{FF2B5EF4-FFF2-40B4-BE49-F238E27FC236}">
                <a16:creationId xmlns:a16="http://schemas.microsoft.com/office/drawing/2014/main" id="{762176D5-4791-4DF9-9108-E1C1823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&amp; Memory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trace · outcome · route card</a:t>
            </a:r>
          </a:p>
        </p:txBody>
      </p:sp>
      <p:cxnSp>
        <p:nvCxnSpPr>
          <p:cNvPr id="544" name="Elbow Connector 178"/>
          <p:cNvCxnSpPr>
            <a:stCxn xmlns:a="http://schemas.openxmlformats.org/drawingml/2006/main" id="79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3333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5" name="Elbow Connector 179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5619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546" name="Straight Arrow Connector 180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4290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7" name="Straight Arrow Connector 181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55245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8" name="Elbow Connector 182"/>
          <p:cNvCxnSpPr>
            <a:stCxn xmlns:a="http://schemas.openxmlformats.org/drawingml/2006/main" id="87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H="1" flipV="1">
            <a:off x="1262063" y="2076450"/>
            <a:ext cx="5500688" cy="1352550"/>
          </a:xfrm>
          <a:prstGeom xmlns:a="http://schemas.openxmlformats.org/drawingml/2006/main" prst="bentConnector4">
            <a:avLst>
              <a:gd name="adj1" fmla="val 0"/>
              <a:gd name="adj2" fmla="val 16901"/>
            </a:avLst>
          </a:prstGeom>
          <a:ln xmlns:a="http://schemas.openxmlformats.org/drawingml/2006/main" w="19050">
            <a:solidFill>
              <a:srgbClr val="2B6CB0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93" name="framework-contrib-1">
            <a:extLst xmlns:a="http://schemas.openxmlformats.org/drawingml/2006/main">
              <a:ext uri="{FF2B5EF4-FFF2-40B4-BE49-F238E27FC236}">
                <a16:creationId xmlns:a16="http://schemas.microsoft.com/office/drawing/2014/main" id="{209D8928-9092-4EF9-95CA-E01F0895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贡献 1 · LLM 生成可解释 Hypothesis</a:t>
            </a:r>
          </a:p>
        </p:txBody>
      </p:sp>
      <p:sp>
        <p:nvSpPr>
          <p:cNvPr id="94" name="framework-contrib-2">
            <a:extLst xmlns:a="http://schemas.openxmlformats.org/drawingml/2006/main">
              <a:ext uri="{FF2B5EF4-FFF2-40B4-BE49-F238E27FC236}">
                <a16:creationId xmlns:a16="http://schemas.microsoft.com/office/drawing/2014/main" id="{CA35FE5E-F375-43EB-A519-E654335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贡献 2 · 独立 calibration 冻结路由</a:t>
            </a:r>
          </a:p>
        </p:txBody>
      </p:sp>
      <p:sp>
        <p:nvSpPr>
          <p:cNvPr id="95" name="framework-caption">
            <a:extLst xmlns:a="http://schemas.openxmlformats.org/drawingml/2006/main">
              <a:ext uri="{FF2B5EF4-FFF2-40B4-BE49-F238E27FC236}">
                <a16:creationId xmlns:a16="http://schemas.microsoft.com/office/drawing/2014/main" id="{30FD3BBF-233E-4E03-9B4E-93EF387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三项贡献分别回答：迁移什么、什么时候迁移，以及结果怎样被复核和沉淀。</a:t>
            </a:r>
          </a:p>
        </p:txBody>
      </p:sp>
      <p:sp>
        <p:nvSpPr>
          <p:cNvPr id="460" name="framework-contrib-3">
            <a:extLst xmlns:a="http://schemas.openxmlformats.org/drawingml/2006/main">
              <a:ext uri="{FF2B5EF4-FFF2-40B4-BE49-F238E27FC236}">
                <a16:creationId xmlns:a16="http://schemas.microsoft.com/office/drawing/2014/main" id="{93AC559E-B061-4BB4-9650-9199D1A8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619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B9D6F5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贡献 3 · held-out 验证并回写知识库</a:t>
            </a:r>
          </a:p>
        </p:txBody>
      </p:sp>
    </p:spTree>
    <p:extLst>
      <p:ext uri="{BB962C8B-B14F-4D97-AF65-F5344CB8AC3E}">
        <p14:creationId xmlns:p14="http://schemas.microsoft.com/office/powerpoint/2010/main" val="1740540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776cee7d2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10093789" cy="285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LLM 提出候选假设；held-out outcome 只用于最终评估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04</a:t>
            </a:r>
          </a:p>
        </p:txBody>
      </p:sp>
      <p:pic>
        <p:nvPicPr>
          <p:cNvPr id="19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730b73a704e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20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71bc8d59744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hyp-input-title">
            <a:extLst xmlns:a="http://schemas.openxmlformats.org/drawingml/2006/main">
              <a:ext uri="{FF2B5EF4-FFF2-40B4-BE49-F238E27FC236}">
                <a16:creationId xmlns:a16="http://schemas.microsoft.com/office/drawing/2014/main" id="{BBC83CD6-B2D6-4F6F-8E7C-50FE9C9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看到什么</a:t>
            </a:r>
          </a:p>
        </p:txBody>
      </p:sp>
      <p:sp>
        <p:nvSpPr>
          <p:cNvPr id="31" name="hyp-input-code">
            <a:extLst xmlns:a="http://schemas.openxmlformats.org/drawingml/2006/main">
              <a:ext uri="{FF2B5EF4-FFF2-40B4-BE49-F238E27FC236}">
                <a16:creationId xmlns:a16="http://schemas.microsoft.com/office/drawing/2014/main" id="{9458AD11-DA6A-4BAB-81E7-71F9269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667125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TARGET（只看公开描述）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schema / variable roles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objective direction / budget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SOURCE（历史已观测）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TaskSpec / outcomes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effect summaries / uncertainty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MEMORY（已审计经验）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SkillCards / failed routes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constraints / prior traces</a:t>
            </a:r>
          </a:p>
        </p:txBody>
      </p:sp>
      <p:sp>
        <p:nvSpPr>
          <p:cNvPr id="32" name="hyp-output-title">
            <a:extLst xmlns:a="http://schemas.openxmlformats.org/drawingml/2006/main">
              <a:ext uri="{FF2B5EF4-FFF2-40B4-BE49-F238E27FC236}">
                <a16:creationId xmlns:a16="http://schemas.microsoft.com/office/drawing/2014/main" id="{258173B6-0327-4FCC-A19C-556E42C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18110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产出什么</a:t>
            </a:r>
          </a:p>
        </p:txBody>
      </p:sp>
      <p:sp>
        <p:nvSpPr>
          <p:cNvPr id="33" name="hyp-candidate-1">
            <a:extLst xmlns:a="http://schemas.openxmlformats.org/drawingml/2006/main">
              <a:ext uri="{FF2B5EF4-FFF2-40B4-BE49-F238E27FC236}">
                <a16:creationId xmlns:a16="http://schemas.microsoft.com/office/drawing/2014/main" id="{E3892933-DF07-4DA9-BEDD-71796E5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 · role mapping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共享角色应提高哪些特征的权重</a:t>
            </a:r>
          </a:p>
        </p:txBody>
      </p:sp>
      <p:sp>
        <p:nvSpPr>
          <p:cNvPr id="34" name="hyp-candidate-2">
            <a:extLst xmlns:a="http://schemas.openxmlformats.org/drawingml/2006/main">
              <a:ext uri="{FF2B5EF4-FFF2-40B4-BE49-F238E27FC236}">
                <a16:creationId xmlns:a16="http://schemas.microsoft.com/office/drawing/2014/main" id="{DD4850C8-9D5A-49F5-B726-D16BA7D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24000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 · value prior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outcome 只作弱先验，不替代 target observation</a:t>
            </a:r>
          </a:p>
        </p:txBody>
      </p:sp>
      <p:sp>
        <p:nvSpPr>
          <p:cNvPr id="35" name="hyp-candidate-3">
            <a:extLst xmlns:a="http://schemas.openxmlformats.org/drawingml/2006/main">
              <a:ext uri="{FF2B5EF4-FFF2-40B4-BE49-F238E27FC236}">
                <a16:creationId xmlns:a16="http://schemas.microsoft.com/office/drawing/2014/main" id="{3886FF35-BBCD-420F-B5E7-3A8E822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H3 · explore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不确定时提高 GP-UCB 探索；不能改预算</a:t>
            </a:r>
          </a:p>
        </p:txBody>
      </p:sp>
      <p:sp>
        <p:nvSpPr>
          <p:cNvPr id="36" name="hyp-rank">
            <a:extLst xmlns:a="http://schemas.openxmlformats.org/drawingml/2006/main">
              <a:ext uri="{FF2B5EF4-FFF2-40B4-BE49-F238E27FC236}">
                <a16:creationId xmlns:a16="http://schemas.microsoft.com/office/drawing/2014/main" id="{BADB61A8-9928-4935-9FDC-92722DDA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筛选顺序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是否兼容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证据是否稳定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是否改善</a:t>
            </a:r>
          </a:p>
        </p:txBody>
      </p:sp>
      <p:cxnSp>
        <p:nvCxnSpPr>
          <p:cNvPr id="226" name="Straight Arrow Connector 73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1943100"/>
            <a:ext cx="142875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27" name="Straight Arrow Connector 74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7596188" y="23622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28" name="Straight Arrow Connector 75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2924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0" name="hyp-contract">
            <a:extLst xmlns:a="http://schemas.openxmlformats.org/drawingml/2006/main">
              <a:ext uri="{FF2B5EF4-FFF2-40B4-BE49-F238E27FC236}">
                <a16:creationId xmlns:a16="http://schemas.microsoft.com/office/drawing/2014/main" id="{C4D079BC-1C24-4E96-9BE2-7AC1D62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24250"/>
            <a:ext cx="3952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357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输出：KernelSkillPatch（可执行策略补丁）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weight · kernel scale · gp_beta · source-prior strength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held-out outcome = 留作最终检验的 target 结果；LLM、Gate 与调参阶段均不可见。</a:t>
            </a:r>
          </a:p>
        </p:txBody>
      </p:sp>
      <p:sp>
        <p:nvSpPr>
          <p:cNvPr id="41" name="hyp-trace">
            <a:extLst xmlns:a="http://schemas.openxmlformats.org/drawingml/2006/main">
              <a:ext uri="{FF2B5EF4-FFF2-40B4-BE49-F238E27FC236}">
                <a16:creationId xmlns:a16="http://schemas.microsoft.com/office/drawing/2014/main" id="{E14D75DF-E57B-4C7E-B844-B804B1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048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TRACE · input metadata / raw output / parsed patch / gate decision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c007a29b24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EXECUTION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Hypothesis 被编译成 acquisition patch，再由 Gate 决定是否部署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05</a:t>
            </a:r>
          </a:p>
        </p:txBody>
      </p:sp>
      <p:pic>
        <p:nvPicPr>
          <p:cNvPr id="20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8dc8d883e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20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9a1834fd043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exec-0">
            <a:extLst xmlns:a="http://schemas.openxmlformats.org/drawingml/2006/main">
              <a:ext uri="{FF2B5EF4-FFF2-40B4-BE49-F238E27FC236}">
                <a16:creationId xmlns:a16="http://schemas.microsoft.com/office/drawing/2014/main" id="{E5EBABD4-6B0B-4423-8E4E-D256023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HypothesisEntry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claim + mechanism</a:t>
            </a:r>
          </a:p>
        </p:txBody>
      </p:sp>
      <p:sp>
        <p:nvSpPr>
          <p:cNvPr id="31" name="exec-1">
            <a:extLst xmlns:a="http://schemas.openxmlformats.org/drawingml/2006/main">
              <a:ext uri="{FF2B5EF4-FFF2-40B4-BE49-F238E27FC236}">
                <a16:creationId xmlns:a16="http://schemas.microsoft.com/office/drawing/2014/main" id="{465E922F-D1BE-405C-A473-B8A527F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Patch Compiler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bounded parameters</a:t>
            </a:r>
          </a:p>
        </p:txBody>
      </p:sp>
      <p:sp>
        <p:nvSpPr>
          <p:cNvPr id="32" name="exec-2">
            <a:extLst xmlns:a="http://schemas.openxmlformats.org/drawingml/2006/main">
              <a:ext uri="{FF2B5EF4-FFF2-40B4-BE49-F238E27FC236}">
                <a16:creationId xmlns:a16="http://schemas.microsoft.com/office/drawing/2014/main" id="{2A240009-3AF2-4BDE-96A2-7014B25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GP / Acquisition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UCB / EI + prior</a:t>
            </a:r>
          </a:p>
        </p:txBody>
      </p:sp>
      <p:sp>
        <p:nvSpPr>
          <p:cNvPr id="33" name="exec-3">
            <a:extLst xmlns:a="http://schemas.openxmlformats.org/drawingml/2006/main">
              <a:ext uri="{FF2B5EF4-FFF2-40B4-BE49-F238E27FC236}">
                <a16:creationId xmlns:a16="http://schemas.microsoft.com/office/drawing/2014/main" id="{3794358F-0D47-44C8-B20D-3BD2285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</a:t>
            </a:r>
          </a:p>
        </p:txBody>
      </p:sp>
      <p:sp>
        <p:nvSpPr>
          <p:cNvPr id="34" name="exec-4">
            <a:extLst xmlns:a="http://schemas.openxmlformats.org/drawingml/2006/main">
              <a:ext uri="{FF2B5EF4-FFF2-40B4-BE49-F238E27FC236}">
                <a16:creationId xmlns:a16="http://schemas.microsoft.com/office/drawing/2014/main" id="{74CF5F6B-2055-4A8A-B2DF-7842348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Replay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held-out seeds</a:t>
            </a:r>
          </a:p>
        </p:txBody>
      </p:sp>
      <p:sp>
        <p:nvSpPr>
          <p:cNvPr id="35" name="exec-5">
            <a:extLst xmlns:a="http://schemas.openxmlformats.org/drawingml/2006/main">
              <a:ext uri="{FF2B5EF4-FFF2-40B4-BE49-F238E27FC236}">
                <a16:creationId xmlns:a16="http://schemas.microsoft.com/office/drawing/2014/main" id="{7A3BFA8C-D49A-474C-9992-72882B07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Metrics &amp; Audit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Δ / CI / rounds</a:t>
            </a:r>
          </a:p>
        </p:txBody>
      </p:sp>
      <p:cxnSp>
        <p:nvCxnSpPr>
          <p:cNvPr id="231" name="Straight Arrow Connector 74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714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32" name="Straight Arrow Connector 75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1432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33" name="Straight Arrow Connector 76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5720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34" name="Straight Arrow Connector 77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0007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35" name="Straight Arrow Connector 78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429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1" name="exec-transfer-params">
            <a:extLst xmlns:a="http://schemas.openxmlformats.org/drawingml/2006/main">
              <a:ext uri="{FF2B5EF4-FFF2-40B4-BE49-F238E27FC236}">
                <a16:creationId xmlns:a16="http://schemas.microsoft.com/office/drawing/2014/main" id="{6B5CACBE-A700-4F08-A8A8-AB1E1B0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允许迁移的参数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kernel scales / role multipliers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GP beta schedule / source-prior strength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source-neighbor or interaction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transfer mass M 与候选混合权重</a:t>
            </a:r>
          </a:p>
        </p:txBody>
      </p:sp>
      <p:sp>
        <p:nvSpPr>
          <p:cNvPr id="42" name="exec-frozen-params">
            <a:extLst xmlns:a="http://schemas.openxmlformats.org/drawingml/2006/main">
              <a:ext uri="{FF2B5EF4-FFF2-40B4-BE49-F238E27FC236}">
                <a16:creationId xmlns:a16="http://schemas.microsoft.com/office/drawing/2014/main" id="{F411B852-FFCB-4B5F-98D5-754D98F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保持冻结的实验条件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target dataset / objective / candidate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initial observations / total budget /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comparator identities / evaluation metrics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selected route identity after calibration</a:t>
            </a:r>
          </a:p>
        </p:txBody>
      </p:sp>
      <p:sp>
        <p:nvSpPr>
          <p:cNvPr id="43" name="exec-feedback">
            <a:extLst xmlns:a="http://schemas.openxmlformats.org/drawingml/2006/main">
              <a:ext uri="{FF2B5EF4-FFF2-40B4-BE49-F238E27FC236}">
                <a16:creationId xmlns:a16="http://schemas.microsoft.com/office/drawing/2014/main" id="{FE10CF0D-AE9B-4992-A68F-9669386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6381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→ Task Card · source-target role map · accepted/rejected case · LLM trace · gate decision · held-out outcome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67b3f0f36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三条代表性链条：证据、Hypothesis、执行与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 held-out 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结果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06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REACTION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证据：Acid-Amine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假设：反应角色与 outcome interaction 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执行：source prior + target acquisition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效率：2.99 rounds saved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MATERIALS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证据：composition/property observations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假设：共享表示可改变 kernel geometry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执行：role-weighted kernel +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结果：+32.70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+35.46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效率：6.00 rounds saved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MOLECULAR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证据：shared molecular descriptor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假设：solvation signal 可辅助排序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执行：bounded source-outcome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结果：+2.98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+4.99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效率：2.23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每条路线均按同一证据链审阅：source evidence → hypothesis → patch → gate → independent held-out result。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 0">
            <a:extLst xmlns:a="http://schemas.openxmlformats.org/drawingml/2006/main">
              <a:ext uri="{FF2B5EF4-FFF2-40B4-BE49-F238E27FC236}">
                <a16:creationId xmlns:a16="http://schemas.microsoft.com/office/drawing/2014/main" id="{EC0132E9-FA80-46CC-BA55-B3E087C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ROUTE-BY-ROUTE CASES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0F91A5F-E91E-4EA6-A6CF-456ACDE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defRPr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三条迁移路线分别做了什么：从 source 证据到 held-out 结果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E0F84989-17A3-435E-9E5F-10210A5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168"/>
                </a:solidFill>
                <a:latin typeface="-apple-system"/>
                <a:ea typeface="-apple-system"/>
                <a:cs typeface="-apple-system"/>
              </a:defRPr>
            </a:pPr>
            <a:r>
              <a:rPr sz="75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07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FB3C95-E02B-4C87-9FF9-3941E78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header-路线">
            <a:extLst xmlns:a="http://schemas.openxmlformats.org/drawingml/2006/main">
              <a:ext uri="{FF2B5EF4-FFF2-40B4-BE49-F238E27FC236}">
                <a16:creationId xmlns:a16="http://schemas.microsoft.com/office/drawing/2014/main" id="{1F7FC282-A9E8-411E-A7B3-2A823BE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路线</a:t>
            </a:r>
          </a:p>
        </p:txBody>
      </p:sp>
      <p:sp>
        <p:nvSpPr>
          <p:cNvPr id="6" name="header-SOURCE 证据">
            <a:extLst xmlns:a="http://schemas.openxmlformats.org/drawingml/2006/main">
              <a:ext uri="{FF2B5EF4-FFF2-40B4-BE49-F238E27FC236}">
                <a16:creationId xmlns:a16="http://schemas.microsoft.com/office/drawing/2014/main" id="{DD4CDB4D-C673-47DB-B1EC-D6FD62C6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668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SOURCE 证据</a:t>
            </a:r>
          </a:p>
        </p:txBody>
      </p:sp>
      <p:sp>
        <p:nvSpPr>
          <p:cNvPr id="7" name="header-HYPOTHESIS">
            <a:extLst xmlns:a="http://schemas.openxmlformats.org/drawingml/2006/main">
              <a:ext uri="{FF2B5EF4-FFF2-40B4-BE49-F238E27FC236}">
                <a16:creationId xmlns:a16="http://schemas.microsoft.com/office/drawing/2014/main" id="{99151F26-0679-4B44-BBBF-A24BB5D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6680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HYPOTHESIS</a:t>
            </a:r>
          </a:p>
        </p:txBody>
      </p:sp>
      <p:sp>
        <p:nvSpPr>
          <p:cNvPr id="8" name="header-执行 PATCH">
            <a:extLst xmlns:a="http://schemas.openxmlformats.org/drawingml/2006/main">
              <a:ext uri="{FF2B5EF4-FFF2-40B4-BE49-F238E27FC236}">
                <a16:creationId xmlns:a16="http://schemas.microsoft.com/office/drawing/2014/main" id="{BC980092-821F-4C13-940E-2539BA8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668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执行 PATCH</a:t>
            </a:r>
          </a:p>
        </p:txBody>
      </p:sp>
      <p:sp>
        <p:nvSpPr>
          <p:cNvPr id="9" name="header-HELD-OUT 结果">
            <a:extLst xmlns:a="http://schemas.openxmlformats.org/drawingml/2006/main">
              <a:ext uri="{FF2B5EF4-FFF2-40B4-BE49-F238E27FC236}">
                <a16:creationId xmlns:a16="http://schemas.microsoft.com/office/drawing/2014/main" id="{D351CCB7-2BBD-4F20-B11A-72355CB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66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HELD-OUT 结果</a:t>
            </a:r>
          </a:p>
        </p:txBody>
      </p:sp>
      <p:sp>
        <p:nvSpPr>
          <p:cNvPr id="10" name="route-0">
            <a:extLst xmlns:a="http://schemas.openxmlformats.org/drawingml/2006/main">
              <a:ext uri="{FF2B5EF4-FFF2-40B4-BE49-F238E27FC236}">
                <a16:creationId xmlns:a16="http://schemas.microsoft.com/office/drawing/2014/main" id="{07AEB631-F2A5-4BDD-A343-686BA42B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8DB9E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</a:t>
            </a:r>
          </a:p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</p:txBody>
      </p:sp>
      <p:sp>
        <p:nvSpPr>
          <p:cNvPr id="11" name="evidence-0">
            <a:extLst xmlns:a="http://schemas.openxmlformats.org/drawingml/2006/main">
              <a:ext uri="{FF2B5EF4-FFF2-40B4-BE49-F238E27FC236}">
                <a16:creationId xmlns:a16="http://schemas.microsoft.com/office/drawing/2014/main" id="{950E03B4-A231-4377-A621-69385D6F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3335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Acid-Amine wetlab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 / amine 角色与 outcome interaction</a:t>
            </a:r>
          </a:p>
        </p:txBody>
      </p:sp>
      <p:sp>
        <p:nvSpPr>
          <p:cNvPr id="12" name="hypothesis-0">
            <a:extLst xmlns:a="http://schemas.openxmlformats.org/drawingml/2006/main">
              <a:ext uri="{FF2B5EF4-FFF2-40B4-BE49-F238E27FC236}">
                <a16:creationId xmlns:a16="http://schemas.microsoft.com/office/drawing/2014/main" id="{809D8B59-6852-408B-AC14-CD7F9564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3350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共享反应角色可迁移；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outcome 只作弱 prior</a:t>
            </a:r>
          </a:p>
        </p:txBody>
      </p:sp>
      <p:sp>
        <p:nvSpPr>
          <p:cNvPr id="13" name="patch-0">
            <a:extLst xmlns:a="http://schemas.openxmlformats.org/drawingml/2006/main">
              <a:ext uri="{FF2B5EF4-FFF2-40B4-BE49-F238E27FC236}">
                <a16:creationId xmlns:a16="http://schemas.microsoft.com/office/drawing/2014/main" id="{6FD5B9EF-EA82-4E0C-A965-D80E58F1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335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multipliers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kernel scale + prior strength</a:t>
            </a:r>
          </a:p>
        </p:txBody>
      </p:sp>
      <p:sp>
        <p:nvSpPr>
          <p:cNvPr id="14" name="result-0">
            <a:extLst xmlns:a="http://schemas.openxmlformats.org/drawingml/2006/main">
              <a:ext uri="{FF2B5EF4-FFF2-40B4-BE49-F238E27FC236}">
                <a16:creationId xmlns:a16="http://schemas.microsoft.com/office/drawing/2014/main" id="{49394FEB-F268-477B-A5F4-83D8A8C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3350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+9.20 vs LLM</a:t>
            </a:r>
          </a:p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+8.10 vs BO</a:t>
            </a:r>
          </a:p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2.99 轮</a:t>
            </a:r>
          </a:p>
        </p:txBody>
      </p:sp>
      <p:sp>
        <p:nvSpPr>
          <p:cNvPr id="15" name="route-1">
            <a:extLst xmlns:a="http://schemas.openxmlformats.org/drawingml/2006/main">
              <a:ext uri="{FF2B5EF4-FFF2-40B4-BE49-F238E27FC236}">
                <a16:creationId xmlns:a16="http://schemas.microsoft.com/office/drawing/2014/main" id="{1FBC476C-2E9F-4447-8F20-8A3780E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7BE6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</a:t>
            </a:r>
          </a:p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</p:txBody>
      </p:sp>
      <p:sp>
        <p:nvSpPr>
          <p:cNvPr id="16" name="evidence-1">
            <a:extLst xmlns:a="http://schemas.openxmlformats.org/drawingml/2006/main">
              <a:ext uri="{FF2B5EF4-FFF2-40B4-BE49-F238E27FC236}">
                <a16:creationId xmlns:a16="http://schemas.microsoft.com/office/drawing/2014/main" id="{E2F76F87-8A19-4B48-8D50-075CB180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8125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composition / property observations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共享材料表示空间</a:t>
            </a:r>
          </a:p>
        </p:txBody>
      </p:sp>
      <p:sp>
        <p:nvSpPr>
          <p:cNvPr id="17" name="hypothesis-1">
            <a:extLst xmlns:a="http://schemas.openxmlformats.org/drawingml/2006/main">
              <a:ext uri="{FF2B5EF4-FFF2-40B4-BE49-F238E27FC236}">
                <a16:creationId xmlns:a16="http://schemas.microsoft.com/office/drawing/2014/main" id="{B2EE66A0-D54F-4648-96CB-A308A07E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共享表示可改变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kernel geometry</a:t>
            </a:r>
          </a:p>
        </p:txBody>
      </p:sp>
      <p:sp>
        <p:nvSpPr>
          <p:cNvPr id="18" name="patch-1">
            <a:extLst xmlns:a="http://schemas.openxmlformats.org/drawingml/2006/main">
              <a:ext uri="{FF2B5EF4-FFF2-40B4-BE49-F238E27FC236}">
                <a16:creationId xmlns:a16="http://schemas.microsoft.com/office/drawing/2014/main" id="{61240CE4-365A-4A20-82D5-45B6FB4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role-weighted kernel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 bounded prior</a:t>
            </a:r>
          </a:p>
        </p:txBody>
      </p:sp>
      <p:sp>
        <p:nvSpPr>
          <p:cNvPr id="19" name="result-1">
            <a:extLst xmlns:a="http://schemas.openxmlformats.org/drawingml/2006/main">
              <a:ext uri="{FF2B5EF4-FFF2-40B4-BE49-F238E27FC236}">
                <a16:creationId xmlns:a16="http://schemas.microsoft.com/office/drawing/2014/main" id="{3C6DC981-6C84-4ED4-ABCA-2254B07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+32.70 vs LLM</a:t>
            </a:r>
          </a:p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+35.46 vs BO</a:t>
            </a:r>
          </a:p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6.00 轮</a:t>
            </a:r>
          </a:p>
        </p:txBody>
      </p:sp>
      <p:sp>
        <p:nvSpPr>
          <p:cNvPr id="20" name="route-2">
            <a:extLst xmlns:a="http://schemas.openxmlformats.org/drawingml/2006/main">
              <a:ext uri="{FF2B5EF4-FFF2-40B4-BE49-F238E27FC236}">
                <a16:creationId xmlns:a16="http://schemas.microsoft.com/office/drawing/2014/main" id="{F7D26AC3-7277-4FBF-9D1C-F3806B0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MOLECULAR</a:t>
            </a:r>
          </a:p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</p:txBody>
      </p:sp>
      <p:sp>
        <p:nvSpPr>
          <p:cNvPr id="21" name="evidence-2">
            <a:extLst xmlns:a="http://schemas.openxmlformats.org/drawingml/2006/main">
              <a:ext uri="{FF2B5EF4-FFF2-40B4-BE49-F238E27FC236}">
                <a16:creationId xmlns:a16="http://schemas.microsoft.com/office/drawing/2014/main" id="{C43B8683-95A3-4757-BBD9-0E5B16C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290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shared molecular descriptors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solvation outcomes</a:t>
            </a:r>
          </a:p>
        </p:txBody>
      </p:sp>
      <p:sp>
        <p:nvSpPr>
          <p:cNvPr id="22" name="hypothesis-2">
            <a:extLst xmlns:a="http://schemas.openxmlformats.org/drawingml/2006/main">
              <a:ext uri="{FF2B5EF4-FFF2-40B4-BE49-F238E27FC236}">
                <a16:creationId xmlns:a16="http://schemas.microsoft.com/office/drawing/2014/main" id="{E04C247D-2919-403C-8F80-DBD208A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溶剂化信号可辅助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目标候选排序</a:t>
            </a:r>
          </a:p>
        </p:txBody>
      </p:sp>
      <p:sp>
        <p:nvSpPr>
          <p:cNvPr id="23" name="patch-2">
            <a:extLst xmlns:a="http://schemas.openxmlformats.org/drawingml/2006/main">
              <a:ext uri="{FF2B5EF4-FFF2-40B4-BE49-F238E27FC236}">
                <a16:creationId xmlns:a16="http://schemas.microsoft.com/office/drawing/2014/main" id="{8CEBDD3C-6D3F-418B-ACD3-75871DA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290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bounded outcome prior</a:t>
            </a:r>
          </a:p>
          <a:p xmlns:a="http://schemas.openxmlformats.org/drawingml/2006/main">
            <a:pPr algn="ctr"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 target acquisition</a:t>
            </a:r>
          </a:p>
        </p:txBody>
      </p:sp>
      <p:sp>
        <p:nvSpPr>
          <p:cNvPr id="24" name="result-2">
            <a:extLst xmlns:a="http://schemas.openxmlformats.org/drawingml/2006/main">
              <a:ext uri="{FF2B5EF4-FFF2-40B4-BE49-F238E27FC236}">
                <a16:creationId xmlns:a16="http://schemas.microsoft.com/office/drawing/2014/main" id="{BC759FB5-0F68-41FA-8F41-A616E16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+2.98 vs LLM</a:t>
            </a:r>
          </a:p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+4.99 vs BO</a:t>
            </a:r>
          </a:p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2.23 轮</a:t>
            </a:r>
          </a:p>
        </p:txBody>
      </p:sp>
      <p:sp>
        <p:nvSpPr>
          <p:cNvPr id="25" name="route-footnote">
            <a:extLst xmlns:a="http://schemas.openxmlformats.org/drawingml/2006/main">
              <a:ext uri="{FF2B5EF4-FFF2-40B4-BE49-F238E27FC236}">
                <a16:creationId xmlns:a16="http://schemas.microsoft.com/office/drawing/2014/main" id="{8C70210D-7911-41F8-9447-E2C6F1A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8001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B9D6F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35516D"/>
                </a:solidFill>
                <a:latin typeface="-apple-system"/>
                <a:ea typeface="-apple-system"/>
                <a:cs typeface="-apple-system"/>
              </a:defRPr>
            </a:pPr>
            <a:r>
              <a:rPr sz="825">
                <a:solidFill>
                  <a:srgbClr val="35516D"/>
                </a:solidFill>
                <a:latin typeface="-apple-system"/>
                <a:ea typeface="-apple-system"/>
                <a:cs typeface="-apple-system"/>
              </a:rPr>
              <a:t>三条路线使用同一冻结协议：target held-out outcome 不参与 Hypothesis 生成或 calibration；路线冻结后才做独立评估。</a:t>
            </a:r>
          </a:p>
        </p:txBody>
      </p:sp>
    </p:spTree>
    <p:extLst>
      <p:ext uri="{BB962C8B-B14F-4D97-AF65-F5344CB8AC3E}">
        <p14:creationId xmlns:p14="http://schemas.microsoft.com/office/powerpoint/2010/main" val="19216154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7ca70a75146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案例：ChemLex → BH 的 Hypothesis 如何被执行和验证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08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8415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SOURCE EVIDENCE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Acid-Amine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历史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 / amine 角色 + outcome interaction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boundary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 schema / budget /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候选池预先冻结；target outcome 对 LLM 不可见。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LLM HYPOTHESIS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Generated patch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H1：共享反应角色可迁移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H2：source outcome 只作弱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Compiled parameters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multipliers / kernel scale / gp_beta / source_prior_strength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77105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FROZEN EVALUATION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→ held-out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seeds：同时胜过两类 anchor → route frozen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independent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2.99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专家要判断：这种“角色映射 + 弱先验”的假设是否符合反应机理，而不是只看最终增益。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a25135922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9A9E5D0-5652-4628-9DF3-7B554E71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HELD-OUT EVIDENCE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56DC98-371C-429F-82E7-A380B47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66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四条迁移路线同时超过 matched LLM 与 strongest target-only BO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D53CD7-0A12-4FBA-81D4-22703226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09</a:t>
            </a:r>
          </a:p>
        </p:txBody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dd6c1456b4d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F39B1A7-8C2C-464F-BF6E-8682173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FC4EBB6-FE9E-44B4-A124-984E3C14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0E8D51-6A9B-418F-AA8C-2C7EA89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1AB6B34-6E09-4415-BB7C-06046E9D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76F773-962D-44AC-BEA3-8EC9650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95D514E-1A71-4003-86E3-AE15ABB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58272E7-D13F-4B68-946D-574813A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EBF8AC9-4AA8-4321-A26E-F85B192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2F9E4A9-E2E9-4832-8E3E-A0A4827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478172E-2B3D-41F8-B65E-2A0479D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39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063a20c684c7a"/>
          <a:stretch xmlns:a="http://schemas.openxmlformats.org/drawingml/2006/main"/>
        </p:blipFill>
        <p:spPr>
          <a:xfrm xmlns:a="http://schemas.openxmlformats.org/drawingml/2006/main">
            <a:off x="571500" y="1187782"/>
            <a:ext cx="8001000" cy="3320387"/>
          </a:xfrm>
          <a:prstGeom xmlns:a="http://schemas.openxmlformats.org/drawingml/2006/main" prst="rect">
            <a:avLst/>
          </a:prstGeom>
        </p:spPr>
      </p:pic>
      <p:sp>
        <p:nvSpPr>
          <p:cNvPr id="20" name="results-summary">
            <a:extLst xmlns:a="http://schemas.openxmlformats.org/drawingml/2006/main">
              <a:ext uri="{FF2B5EF4-FFF2-40B4-BE49-F238E27FC236}">
                <a16:creationId xmlns:a16="http://schemas.microsoft.com/office/drawing/2014/main" id="{0A4DC387-DFA6-4ECE-8DC1-2760F0F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800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50 calibration seeds freeze the route · 100 disjoint held-out seeds evaluate it · 4/7 deploy transfer · 3/7 exact fallback · 0 negative deployed route</a:t>
            </a:r>
          </a:p>
        </p:txBody>
      </p:sp>
    </p:spTree>
    <p:extLst>
      <p:ext uri="{BB962C8B-B14F-4D97-AF65-F5344CB8AC3E}">
        <p14:creationId xmlns:p14="http://schemas.microsoft.com/office/powerpoint/2010/main" val="1067691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26b3854374d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TRANSFERABILITY MATRIX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当前证据支持同领域跨数据集迁移，跨领域仍未建立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10</a:t>
            </a:r>
          </a:p>
        </p:txBody>
      </p:sp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84049b9ee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d3ab815d0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e104d9e7b4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b1943ff37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dcdad4a3d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b1943ff37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dcdad4a3d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b1943ff37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dcdad4a3d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1" name="Picture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1b3d57de84fde"/>
          <a:stretch xmlns:a="http://schemas.openxmlformats.org/drawingml/2006/main"/>
        </p:blipFill>
        <p:spPr>
          <a:xfrm xmlns:a="http://schemas.openxmlformats.org/drawingml/2006/main">
            <a:off x="1216263" y="1162050"/>
            <a:ext cx="3568225" cy="3476625"/>
          </a:xfrm>
          <a:prstGeom xmlns:a="http://schemas.openxmlformats.org/drawingml/2006/main" prst="rect">
            <a:avLst/>
          </a:prstGeom>
        </p:spPr>
      </p:pic>
      <p:sp>
        <p:nvSpPr>
          <p:cNvPr id="44" name="matrix-supported">
            <a:extLst xmlns:a="http://schemas.openxmlformats.org/drawingml/2006/main">
              <a:ext uri="{FF2B5EF4-FFF2-40B4-BE49-F238E27FC236}">
                <a16:creationId xmlns:a16="http://schemas.microsoft.com/office/drawing/2014/main" id="{3056718D-3D88-4EF5-8902-3593B64A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85875"/>
            <a:ext cx="1333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SUPPORTED NOW</a:t>
            </a:r>
          </a:p>
        </p:txBody>
      </p:sp>
      <p:sp>
        <p:nvSpPr>
          <p:cNvPr id="45" name="matrix-supported-list">
            <a:extLst xmlns:a="http://schemas.openxmlformats.org/drawingml/2006/main">
              <a:ext uri="{FF2B5EF4-FFF2-40B4-BE49-F238E27FC236}">
                <a16:creationId xmlns:a16="http://schemas.microsoft.com/office/drawing/2014/main" id="{FA447F7E-425A-4A81-B0E1-9384EC8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→ Reaction: 1 positive route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→ Materials: 2 positive, 1 fallback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Molecular → Molecular: 1 positive, 2 fallback</a:t>
            </a:r>
          </a:p>
        </p:txBody>
      </p:sp>
      <p:sp>
        <p:nvSpPr>
          <p:cNvPr id="46" name="matrix-unverified">
            <a:extLst xmlns:a="http://schemas.openxmlformats.org/drawingml/2006/main">
              <a:ext uri="{FF2B5EF4-FFF2-40B4-BE49-F238E27FC236}">
                <a16:creationId xmlns:a16="http://schemas.microsoft.com/office/drawing/2014/main" id="{6C87124D-FD0F-4001-ADFE-EA50BF92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1428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NOT YET VERIFIED</a:t>
            </a:r>
          </a:p>
        </p:txBody>
      </p:sp>
      <p:sp>
        <p:nvSpPr>
          <p:cNvPr id="47" name="matrix-unverified-list">
            <a:extLst xmlns:a="http://schemas.openxmlformats.org/drawingml/2006/main">
              <a:ext uri="{FF2B5EF4-FFF2-40B4-BE49-F238E27FC236}">
                <a16:creationId xmlns:a16="http://schemas.microsoft.com/office/drawing/2014/main" id="{01995625-C1BE-455D-83E6-2F4CA16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14675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Materials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Molecular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↔ Molecular</a:t>
            </a:r>
          </a:p>
        </p:txBody>
      </p:sp>
      <p:sp>
        <p:nvSpPr>
          <p:cNvPr id="48" name="matrix-mechanism">
            <a:extLst xmlns:a="http://schemas.openxmlformats.org/drawingml/2006/main">
              <a:ext uri="{FF2B5EF4-FFF2-40B4-BE49-F238E27FC236}">
                <a16:creationId xmlns:a16="http://schemas.microsoft.com/office/drawing/2014/main" id="{116EA708-C375-4EC7-86FC-ED00B8E7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48125"/>
            <a:ext cx="28384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98648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机制假设（尚非因果结论）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 representation、相近 objective、参数空间重叠可能解释材料与分子任务的可迁移性。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aa49927b1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805036F-08CD-41BA-AE98-3749BFC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EVALUATION METRICS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CFCFA09-95BD-47E9-9C5E-F69FC76F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评价指标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CB45FB-09F8-4A37-BAA0-3C5B01F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11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4CC8D8-38C0-46C2-8C44-4491387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20B47E7-3B67-49A4-A772-0153BE7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39EBFF5-66C6-4993-9494-C33BA00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77CA3E8-42F0-4291-BDD7-49CD8A0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c55c99d7f4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D34184A-9E07-4344-846F-7845B6A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F9AF63A-5928-4B00-871C-E72F533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0053" tIns="170053" rIns="170053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200F606-6165-4722-B7DE-C318BCA3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F962692-0721-4CB5-A8D1-C1AC5387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0928568-7973-441C-950D-5E7D847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0D8635C-FFB3-4859-849B-4FD881C9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BDA21DA-77C1-49F9-9E3E-5242FE0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68BA74F-5CB9-4FD0-8DC7-2F97516B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1898a22214a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5253139-1933-49C3-81FB-027CF1E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230971F0-0E80-446C-827D-E7FE529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22D02163-60A3-406A-AFBB-7299ECD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64A5331-0FCC-4447-B1B3-A0FC4BA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99C0D1F-D60A-4AFA-AF29-8747FE2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FF935E2-107E-411F-A5A4-4748EE32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1898a22214a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85FBE6E-2726-4659-A0C1-254B1A4F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stats-current-title">
            <a:extLst xmlns:a="http://schemas.openxmlformats.org/drawingml/2006/main">
              <a:ext uri="{FF2B5EF4-FFF2-40B4-BE49-F238E27FC236}">
                <a16:creationId xmlns:a16="http://schemas.microsoft.com/office/drawing/2014/main" id="{D9578CCA-FE50-42CC-BD95-BE22DBC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性能与稳定性</a:t>
            </a:r>
          </a:p>
        </p:txBody>
      </p:sp>
      <p:sp>
        <p:nvSpPr>
          <p:cNvPr id="33" name="stats-current">
            <a:extLst xmlns:a="http://schemas.openxmlformats.org/drawingml/2006/main">
              <a:ext uri="{FF2B5EF4-FFF2-40B4-BE49-F238E27FC236}">
                <a16:creationId xmlns:a16="http://schemas.microsoft.com/office/drawing/2014/main" id="{CE9ABC14-29A2-4842-A906-BFF4418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114300" tIns="11430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终点增益：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final-best Δ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过程增益：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best-so-far AUC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不确定性：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bootstrap 95% CI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稳定性：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non-loss rate + 5-fold blocks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样本规模：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independent held-out seeds</a:t>
            </a:r>
          </a:p>
        </p:txBody>
      </p:sp>
      <p:sp>
        <p:nvSpPr>
          <p:cNvPr id="34" name="stats-paper-title">
            <a:extLst xmlns:a="http://schemas.openxmlformats.org/drawingml/2006/main">
              <a:ext uri="{FF2B5EF4-FFF2-40B4-BE49-F238E27FC236}">
                <a16:creationId xmlns:a16="http://schemas.microsoft.com/office/drawing/2014/main" id="{6A7306B0-B226-4E0D-94E7-9F46340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统计与实际意义</a:t>
            </a:r>
          </a:p>
        </p:txBody>
      </p:sp>
      <p:sp>
        <p:nvSpPr>
          <p:cNvPr id="35" name="stats-paper">
            <a:extLst xmlns:a="http://schemas.openxmlformats.org/drawingml/2006/main">
              <a:ext uri="{FF2B5EF4-FFF2-40B4-BE49-F238E27FC236}">
                <a16:creationId xmlns:a16="http://schemas.microsoft.com/office/drawing/2014/main" id="{2426F13F-69A1-4A27-9711-3E162D2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14300" tIns="11430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统计检验：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permutation test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多重比较：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BH-FDR q &lt; 0.05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实际意义：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effect ≥ 预先定义的 task-specific MDE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一致性：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seed blocks、预算点和 comparator 方向一致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报告格式：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effect + 95% CI + q-value + MDE</a:t>
            </a:r>
          </a:p>
        </p:txBody>
      </p:sp>
      <p:sp>
        <p:nvSpPr>
          <p:cNvPr id="36" name="stats-example-0">
            <a:extLst xmlns:a="http://schemas.openxmlformats.org/drawingml/2006/main">
              <a:ext uri="{FF2B5EF4-FFF2-40B4-BE49-F238E27FC236}">
                <a16:creationId xmlns:a16="http://schemas.microsoft.com/office/drawing/2014/main" id="{62DC7788-3243-420D-99F9-9F16BC4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95% CI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bootstrap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Efron &amp; Tibshirani, 1993</a:t>
            </a:r>
          </a:p>
        </p:txBody>
      </p:sp>
      <p:sp>
        <p:nvSpPr>
          <p:cNvPr id="37" name="stats-example-1">
            <a:extLst xmlns:a="http://schemas.openxmlformats.org/drawingml/2006/main">
              <a:ext uri="{FF2B5EF4-FFF2-40B4-BE49-F238E27FC236}">
                <a16:creationId xmlns:a16="http://schemas.microsoft.com/office/drawing/2014/main" id="{6D751D4B-1BC1-48C4-BA66-2801874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q &lt; 0.05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BH-FDR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Benjamini &amp; Hochberg, 1995</a:t>
            </a:r>
          </a:p>
        </p:txBody>
      </p:sp>
      <p:sp>
        <p:nvSpPr>
          <p:cNvPr id="38" name="stats-example-2">
            <a:extLst xmlns:a="http://schemas.openxmlformats.org/drawingml/2006/main">
              <a:ext uri="{FF2B5EF4-FFF2-40B4-BE49-F238E27FC236}">
                <a16:creationId xmlns:a16="http://schemas.microsoft.com/office/drawing/2014/main" id="{EBB8F7ED-627F-4BBA-AFF9-A76E7DC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MDE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practical effect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Lakens, 2013</a:t>
            </a:r>
          </a:p>
        </p:txBody>
      </p:sp>
    </p:spTree>
    <p:extLst>
      <p:ext uri="{BB962C8B-B14F-4D97-AF65-F5344CB8AC3E}">
        <p14:creationId xmlns:p14="http://schemas.microsoft.com/office/powerpoint/2010/main" val="11207536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e214ff788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7275133" cy="285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什么时候该迁移？证据够强就用，否则回到 target-only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12</a:t>
            </a:r>
          </a:p>
        </p:txBody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bdfcdee2e40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e9b7efd6141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e836380914a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2ca5f4699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aa897d2ca46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2ca5f4699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aa897d2ca46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2ca5f4699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aa897d2ca46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3" name="gate-protocol">
            <a:extLst xmlns:a="http://schemas.openxmlformats.org/drawingml/2006/main">
              <a:ext uri="{FF2B5EF4-FFF2-40B4-BE49-F238E27FC236}">
                <a16:creationId xmlns:a16="http://schemas.microsoft.com/office/drawing/2014/main" id="{681504AC-DE91-4E80-9E81-520C888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8001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calibration seeds：比较 transfer 与两类 matched anchor → 固定路由 → 100 个不重叠 held-out seeds：只评估冻结策略</a:t>
            </a:r>
          </a:p>
        </p:txBody>
      </p:sp>
      <p:sp>
        <p:nvSpPr>
          <p:cNvPr id="44" name="gate-criteria-title">
            <a:extLst xmlns:a="http://schemas.openxmlformats.org/drawingml/2006/main">
              <a:ext uri="{FF2B5EF4-FFF2-40B4-BE49-F238E27FC236}">
                <a16:creationId xmlns:a16="http://schemas.microsoft.com/office/drawing/2014/main" id="{F3B23FCF-38DC-423A-AC7E-A5C7E37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当前规则：六项全部通过才 Transfer；任一项失败就 Freeze 并精确回退</a:t>
            </a:r>
          </a:p>
        </p:txBody>
      </p:sp>
      <p:sp>
        <p:nvSpPr>
          <p:cNvPr id="45" name="gate-criterion-0">
            <a:extLst xmlns:a="http://schemas.openxmlformats.org/drawingml/2006/main">
              <a:ext uri="{FF2B5EF4-FFF2-40B4-BE49-F238E27FC236}">
                <a16:creationId xmlns:a16="http://schemas.microsoft.com/office/drawing/2014/main" id="{791DCDA0-788B-43A4-93AE-E5C3D6F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mean ≥ 0 · 终点不亏</a:t>
            </a:r>
          </a:p>
        </p:txBody>
      </p:sp>
      <p:sp>
        <p:nvSpPr>
          <p:cNvPr id="46" name="gate-criterion-1">
            <a:extLst xmlns:a="http://schemas.openxmlformats.org/drawingml/2006/main">
              <a:ext uri="{FF2B5EF4-FFF2-40B4-BE49-F238E27FC236}">
                <a16:creationId xmlns:a16="http://schemas.microsoft.com/office/drawing/2014/main" id="{706289A8-C8E7-4D5B-87D9-7D544E6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AUC mean ≥ 0 · 全程不亏</a:t>
            </a:r>
          </a:p>
        </p:txBody>
      </p:sp>
      <p:sp>
        <p:nvSpPr>
          <p:cNvPr id="47" name="gate-criterion-2">
            <a:extLst xmlns:a="http://schemas.openxmlformats.org/drawingml/2006/main">
              <a:ext uri="{FF2B5EF4-FFF2-40B4-BE49-F238E27FC236}">
                <a16:creationId xmlns:a16="http://schemas.microsoft.com/office/drawing/2014/main" id="{25A90865-42E1-421F-B36F-C168483B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non-loss ≥ 0.60 · ≥60% seeds 不亏</a:t>
            </a:r>
          </a:p>
        </p:txBody>
      </p:sp>
      <p:sp>
        <p:nvSpPr>
          <p:cNvPr id="48" name="gate-criterion-3">
            <a:extLst xmlns:a="http://schemas.openxmlformats.org/drawingml/2006/main">
              <a:ext uri="{FF2B5EF4-FFF2-40B4-BE49-F238E27FC236}">
                <a16:creationId xmlns:a16="http://schemas.microsoft.com/office/drawing/2014/main" id="{D74A92EA-1BD6-4A10-BFE6-6B43478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5-fold ≥ 0.80 · ≥4/5 blocks 为正</a:t>
            </a:r>
          </a:p>
        </p:txBody>
      </p:sp>
      <p:sp>
        <p:nvSpPr>
          <p:cNvPr id="49" name="gate-criterion-4">
            <a:extLst xmlns:a="http://schemas.openxmlformats.org/drawingml/2006/main">
              <a:ext uri="{FF2B5EF4-FFF2-40B4-BE49-F238E27FC236}">
                <a16:creationId xmlns:a16="http://schemas.microsoft.com/office/drawing/2014/main" id="{11C52446-3400-49D1-8204-737B4E89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composite − SE ≥ 0.25 · 风险缓冲</a:t>
            </a:r>
          </a:p>
        </p:txBody>
      </p:sp>
      <p:sp>
        <p:nvSpPr>
          <p:cNvPr id="50" name="gate-criterion-5">
            <a:extLst xmlns:a="http://schemas.openxmlformats.org/drawingml/2006/main">
              <a:ext uri="{FF2B5EF4-FFF2-40B4-BE49-F238E27FC236}">
                <a16:creationId xmlns:a16="http://schemas.microsoft.com/office/drawing/2014/main" id="{B0F7A4A7-82DA-4DDC-935C-FF8EF9C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CI low ≥ 0 · 下界不为负</a:t>
            </a:r>
          </a:p>
        </p:txBody>
      </p:sp>
      <p:sp>
        <p:nvSpPr>
          <p:cNvPr id="51" name="gate-provenance-title">
            <a:extLst xmlns:a="http://schemas.openxmlformats.org/drawingml/2006/main">
              <a:ext uri="{FF2B5EF4-FFF2-40B4-BE49-F238E27FC236}">
                <a16:creationId xmlns:a16="http://schemas.microsoft.com/office/drawing/2014/main" id="{7BEBBAA3-092A-4EE5-BFC9-DF4553F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每个参数来自哪里</a:t>
            </a:r>
          </a:p>
        </p:txBody>
      </p:sp>
      <p:sp>
        <p:nvSpPr>
          <p:cNvPr id="52" name="gate-literature">
            <a:extLst xmlns:a="http://schemas.openxmlformats.org/drawingml/2006/main">
              <a:ext uri="{FF2B5EF4-FFF2-40B4-BE49-F238E27FC236}">
                <a16:creationId xmlns:a16="http://schemas.microsoft.com/office/drawing/2014/main" id="{6DB3DEEF-CFE8-4AD5-AB34-72E8D11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EVALUATION CONVENTION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comparison · uncertainty interval · matched BO / LLM anchor</a:t>
            </a:r>
          </a:p>
        </p:txBody>
      </p:sp>
      <p:sp>
        <p:nvSpPr>
          <p:cNvPr id="53" name="gate-calibrated">
            <a:extLst xmlns:a="http://schemas.openxmlformats.org/drawingml/2006/main">
              <a:ext uri="{FF2B5EF4-FFF2-40B4-BE49-F238E27FC236}">
                <a16:creationId xmlns:a16="http://schemas.microsoft.com/office/drawing/2014/main" id="{C7168FBB-FAC9-40FA-A4EC-0111682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CALIBRATED DEFAULTS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0.60 / 0.80 / 0.25：在 calibration replay 中固定；不宣称是文献阈值</a:t>
            </a:r>
          </a:p>
        </p:txBody>
      </p:sp>
      <p:sp>
        <p:nvSpPr>
          <p:cNvPr id="54" name="gate-heuristic">
            <a:extLst xmlns:a="http://schemas.openxmlformats.org/drawingml/2006/main">
              <a:ext uri="{FF2B5EF4-FFF2-40B4-BE49-F238E27FC236}">
                <a16:creationId xmlns:a16="http://schemas.microsoft.com/office/drawing/2014/main" id="{D8F87C90-D771-439C-9A6F-A7FB1E6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SENSITIVITY REQUIRED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+ AUC weights · 5 blocks · composite form；下一轮做 grid / bootstrap sweep</a:t>
            </a:r>
          </a:p>
        </p:txBody>
      </p:sp>
      <p:sp>
        <p:nvSpPr>
          <p:cNvPr id="55" name="gate-transfer">
            <a:extLst xmlns:a="http://schemas.openxmlformats.org/drawingml/2006/main">
              <a:ext uri="{FF2B5EF4-FFF2-40B4-BE49-F238E27FC236}">
                <a16:creationId xmlns:a16="http://schemas.microsoft.com/office/drawing/2014/main" id="{0B549344-EF59-48A4-976C-3CFEC81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714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 · 六项全过</a:t>
            </a:r>
          </a:p>
        </p:txBody>
      </p:sp>
      <p:sp>
        <p:nvSpPr>
          <p:cNvPr id="56" name="gate-freeze">
            <a:extLst xmlns:a="http://schemas.openxmlformats.org/drawingml/2006/main">
              <a:ext uri="{FF2B5EF4-FFF2-40B4-BE49-F238E27FC236}">
                <a16:creationId xmlns:a16="http://schemas.microsoft.com/office/drawing/2014/main" id="{26EFCB50-E6C7-4954-A5A4-C8A06A95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2238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· exact target-only fallback</a:t>
            </a:r>
          </a:p>
        </p:txBody>
      </p:sp>
      <p:sp>
        <p:nvSpPr>
          <p:cNvPr id="57" name="gate-hold-note">
            <a:extLst xmlns:a="http://schemas.openxmlformats.org/drawingml/2006/main">
              <a:ext uri="{FF2B5EF4-FFF2-40B4-BE49-F238E27FC236}">
                <a16:creationId xmlns:a16="http://schemas.microsoft.com/office/drawing/2014/main" id="{8A96D726-BB51-497E-B2D2-03C7198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Hold 是下一版本候选的第三种状态；当前版本没有 Hold。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47d3ea0624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211254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D00398-CD2B-4A15-B5E8-0C2C9F24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CONTRIBUTION VERIFICATION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C33098-45E1-460B-80CF-EF8688CC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完整系统：4/7 超过 matched LLM，3/7 精确回退；7/7 超过 strongest BO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F7DBC18-F29E-41B6-B05F-759D2E1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13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7E21E1E-2E61-4837-8952-2A30E70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3D1F7CC-E245-42EF-9A43-FEFC729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6048365fe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68D176B-5139-4DAD-8A0B-A4E4C2F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BFB57E9-3554-4CA3-8305-320690C9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8B03D37-5734-4AD4-940A-4C5183D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9D1750-29FF-4CAB-AD71-04ECB83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85C4B26-A0F3-425E-8422-936B5C7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FFC192F-CA5E-4DFC-B16E-BD39E01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E588DBA-BA89-41D0-B2ED-BA91A633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DA34166-AD9A-4DB8-96F8-19930F0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18be5476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19AB59FA-7932-483F-84A1-18BBD23E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1CBC67A-6486-4069-A7FE-5F5DC86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6D00C74-2B8B-495D-A091-E36B0EC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B7D73C97-F8E2-49C1-A867-E89AB7B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18be5476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86DC5AA-DFA5-4BBF-B756-A5E07C2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18be5476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55FF586-E2FF-4CC0-9D78-96FCAC52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24C1D9A-0901-422C-909E-C3452C2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D7CC099-38F3-42DA-91BC-03D7111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77475182-B5ED-4D25-8E83-02BED491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CBC5338-8935-4965-8D1A-094AA4C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07FAF166-E268-408A-AA67-24F877A6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2BB25614-CCB1-4D83-8DFE-F0B1C98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11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18be5476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C1CFA854-4258-440D-8A05-B633CFF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1f5df4d804e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110B7CB6-A313-4AEC-99B4-67C861C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BE04450F-B172-4ADC-9708-839D35A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F8EBF98A-BA59-4F86-BAD0-E65ADAC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1A183FE-4129-46A6-81B1-7900BC2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abl-head-0">
            <a:extLst xmlns:a="http://schemas.openxmlformats.org/drawingml/2006/main">
              <a:ext uri="{FF2B5EF4-FFF2-40B4-BE49-F238E27FC236}">
                <a16:creationId xmlns:a16="http://schemas.microsoft.com/office/drawing/2014/main" id="{40C07BA2-0929-4753-80B4-63B3B89C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571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METHOD</a:t>
            </a:r>
          </a:p>
        </p:txBody>
      </p:sp>
      <p:sp>
        <p:nvSpPr>
          <p:cNvPr id="47" name="abl-head-1">
            <a:extLst xmlns:a="http://schemas.openxmlformats.org/drawingml/2006/main">
              <a:ext uri="{FF2B5EF4-FFF2-40B4-BE49-F238E27FC236}">
                <a16:creationId xmlns:a16="http://schemas.microsoft.com/office/drawing/2014/main" id="{C5646A11-C93C-4F9F-A52D-677A0A6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COMPARATOR / ABLATION</a:t>
            </a:r>
          </a:p>
        </p:txBody>
      </p:sp>
      <p:sp>
        <p:nvSpPr>
          <p:cNvPr id="48" name="abl-head-2">
            <a:extLst xmlns:a="http://schemas.openxmlformats.org/drawingml/2006/main">
              <a:ext uri="{FF2B5EF4-FFF2-40B4-BE49-F238E27FC236}">
                <a16:creationId xmlns:a16="http://schemas.microsoft.com/office/drawing/2014/main" id="{B2ABE88B-731C-4684-A64A-7FDE0BE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WHAT IT PROVES</a:t>
            </a:r>
          </a:p>
        </p:txBody>
      </p:sp>
      <p:sp>
        <p:nvSpPr>
          <p:cNvPr id="49" name="abl-head-3">
            <a:extLst xmlns:a="http://schemas.openxmlformats.org/drawingml/2006/main">
              <a:ext uri="{FF2B5EF4-FFF2-40B4-BE49-F238E27FC236}">
                <a16:creationId xmlns:a16="http://schemas.microsoft.com/office/drawing/2014/main" id="{EBD526F0-C44D-4943-8E79-87E863F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858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STATUS</a:t>
            </a:r>
          </a:p>
        </p:txBody>
      </p:sp>
      <p:sp>
        <p:nvSpPr>
          <p:cNvPr id="50" name="abl-0-0">
            <a:extLst xmlns:a="http://schemas.openxmlformats.org/drawingml/2006/main">
              <a:ext uri="{FF2B5EF4-FFF2-40B4-BE49-F238E27FC236}">
                <a16:creationId xmlns:a16="http://schemas.microsoft.com/office/drawing/2014/main" id="{04DF7076-9C76-44CC-8428-EFAEB56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Target-only LLM</a:t>
            </a:r>
          </a:p>
        </p:txBody>
      </p:sp>
      <p:sp>
        <p:nvSpPr>
          <p:cNvPr id="51" name="abl-0-1">
            <a:extLst xmlns:a="http://schemas.openxmlformats.org/drawingml/2006/main">
              <a:ext uri="{FF2B5EF4-FFF2-40B4-BE49-F238E27FC236}">
                <a16:creationId xmlns:a16="http://schemas.microsoft.com/office/drawing/2014/main" id="{36A14EEC-D3A4-4749-9A34-0527666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same target budget + seeds</a:t>
            </a:r>
          </a:p>
        </p:txBody>
      </p:sp>
      <p:sp>
        <p:nvSpPr>
          <p:cNvPr id="52" name="abl-0-2">
            <a:extLst xmlns:a="http://schemas.openxmlformats.org/drawingml/2006/main">
              <a:ext uri="{FF2B5EF4-FFF2-40B4-BE49-F238E27FC236}">
                <a16:creationId xmlns:a16="http://schemas.microsoft.com/office/drawing/2014/main" id="{DC58B711-0384-417B-9065-8CE2B52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隔离 source-outcome 净增益</a:t>
            </a:r>
          </a:p>
        </p:txBody>
      </p:sp>
      <p:sp>
        <p:nvSpPr>
          <p:cNvPr id="53" name="abl-0-3">
            <a:extLst xmlns:a="http://schemas.openxmlformats.org/drawingml/2006/main">
              <a:ext uri="{FF2B5EF4-FFF2-40B4-BE49-F238E27FC236}">
                <a16:creationId xmlns:a16="http://schemas.microsoft.com/office/drawing/2014/main" id="{D9CBB120-2A72-4D62-81CD-47E03A9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478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4/7 ↑ · 3/7 =</a:t>
            </a:r>
          </a:p>
        </p:txBody>
      </p:sp>
      <p:sp>
        <p:nvSpPr>
          <p:cNvPr id="54" name="abl-1-0">
            <a:extLst xmlns:a="http://schemas.openxmlformats.org/drawingml/2006/main">
              <a:ext uri="{FF2B5EF4-FFF2-40B4-BE49-F238E27FC236}">
                <a16:creationId xmlns:a16="http://schemas.microsoft.com/office/drawing/2014/main" id="{2999CAB3-88B1-44D0-A4EC-FE07CB5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Strongest target BO</a:t>
            </a:r>
          </a:p>
        </p:txBody>
      </p:sp>
      <p:sp>
        <p:nvSpPr>
          <p:cNvPr id="55" name="abl-1-1">
            <a:extLst xmlns:a="http://schemas.openxmlformats.org/drawingml/2006/main">
              <a:ext uri="{FF2B5EF4-FFF2-40B4-BE49-F238E27FC236}">
                <a16:creationId xmlns:a16="http://schemas.microsoft.com/office/drawing/2014/main" id="{F84FBF44-58F9-46FB-8053-045395B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GP-UCB / GP-EI / portfolio</a:t>
            </a:r>
          </a:p>
        </p:txBody>
      </p:sp>
      <p:sp>
        <p:nvSpPr>
          <p:cNvPr id="56" name="abl-1-2">
            <a:extLst xmlns:a="http://schemas.openxmlformats.org/drawingml/2006/main">
              <a:ext uri="{FF2B5EF4-FFF2-40B4-BE49-F238E27FC236}">
                <a16:creationId xmlns:a16="http://schemas.microsoft.com/office/drawing/2014/main" id="{A5375C0E-6905-46F6-A97E-DFA04EF4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检验完整系统是否胜过强 BO</a:t>
            </a:r>
          </a:p>
        </p:txBody>
      </p:sp>
      <p:sp>
        <p:nvSpPr>
          <p:cNvPr id="57" name="abl-1-3">
            <a:extLst xmlns:a="http://schemas.openxmlformats.org/drawingml/2006/main">
              <a:ext uri="{FF2B5EF4-FFF2-40B4-BE49-F238E27FC236}">
                <a16:creationId xmlns:a16="http://schemas.microsoft.com/office/drawing/2014/main" id="{5B05AC95-FC1F-4088-A0B0-78580340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764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7/7 ↑</a:t>
            </a:r>
          </a:p>
        </p:txBody>
      </p:sp>
      <p:sp>
        <p:nvSpPr>
          <p:cNvPr id="58" name="abl-2-0">
            <a:extLst xmlns:a="http://schemas.openxmlformats.org/drawingml/2006/main">
              <a:ext uri="{FF2B5EF4-FFF2-40B4-BE49-F238E27FC236}">
                <a16:creationId xmlns:a16="http://schemas.microsoft.com/office/drawing/2014/main" id="{47CB666F-2889-4148-9CDA-4F4A14D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Raw transfer / no Gate</a:t>
            </a:r>
          </a:p>
        </p:txBody>
      </p:sp>
      <p:sp>
        <p:nvSpPr>
          <p:cNvPr id="59" name="abl-2-1">
            <a:extLst xmlns:a="http://schemas.openxmlformats.org/drawingml/2006/main">
              <a:ext uri="{FF2B5EF4-FFF2-40B4-BE49-F238E27FC236}">
                <a16:creationId xmlns:a16="http://schemas.microsoft.com/office/drawing/2014/main" id="{69576DAE-8512-4538-B3D7-269CBCD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always deploy source route</a:t>
            </a:r>
          </a:p>
        </p:txBody>
      </p:sp>
      <p:sp>
        <p:nvSpPr>
          <p:cNvPr id="60" name="abl-2-2">
            <a:extLst xmlns:a="http://schemas.openxmlformats.org/drawingml/2006/main">
              <a:ext uri="{FF2B5EF4-FFF2-40B4-BE49-F238E27FC236}">
                <a16:creationId xmlns:a16="http://schemas.microsoft.com/office/drawing/2014/main" id="{BA379741-6F6B-4EC9-9583-FB62397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量化 Gate 的负迁移保护</a:t>
            </a:r>
          </a:p>
        </p:txBody>
      </p:sp>
      <p:sp>
        <p:nvSpPr>
          <p:cNvPr id="61" name="abl-2-3">
            <a:extLst xmlns:a="http://schemas.openxmlformats.org/drawingml/2006/main">
              <a:ext uri="{FF2B5EF4-FFF2-40B4-BE49-F238E27FC236}">
                <a16:creationId xmlns:a16="http://schemas.microsoft.com/office/drawing/2014/main" id="{9E821850-D039-491F-BD21-1DE807A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2 NEG · 1 UNC.</a:t>
            </a:r>
          </a:p>
        </p:txBody>
      </p:sp>
      <p:sp>
        <p:nvSpPr>
          <p:cNvPr id="62" name="abl-3-0">
            <a:extLst xmlns:a="http://schemas.openxmlformats.org/drawingml/2006/main">
              <a:ext uri="{FF2B5EF4-FFF2-40B4-BE49-F238E27FC236}">
                <a16:creationId xmlns:a16="http://schemas.microsoft.com/office/drawing/2014/main" id="{4E23E829-DB73-4E42-9147-A102A39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Random-transfer</a:t>
            </a:r>
          </a:p>
        </p:txBody>
      </p:sp>
      <p:sp>
        <p:nvSpPr>
          <p:cNvPr id="63" name="abl-3-1">
            <a:extLst xmlns:a="http://schemas.openxmlformats.org/drawingml/2006/main">
              <a:ext uri="{FF2B5EF4-FFF2-40B4-BE49-F238E27FC236}">
                <a16:creationId xmlns:a16="http://schemas.microsoft.com/office/drawing/2014/main" id="{738A0BF8-A96E-47E9-B07A-F894AFBD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matched random rule</a:t>
            </a:r>
          </a:p>
        </p:txBody>
      </p:sp>
      <p:sp>
        <p:nvSpPr>
          <p:cNvPr id="64" name="abl-3-2">
            <a:extLst xmlns:a="http://schemas.openxmlformats.org/drawingml/2006/main">
              <a:ext uri="{FF2B5EF4-FFF2-40B4-BE49-F238E27FC236}">
                <a16:creationId xmlns:a16="http://schemas.microsoft.com/office/drawing/2014/main" id="{03DB6240-2A29-4BAB-AB32-B52A0AE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排除规则形式本身的红利</a:t>
            </a:r>
          </a:p>
        </p:txBody>
      </p:sp>
      <p:sp>
        <p:nvSpPr>
          <p:cNvPr id="65" name="abl-3-3">
            <a:extLst xmlns:a="http://schemas.openxmlformats.org/drawingml/2006/main">
              <a:ext uri="{FF2B5EF4-FFF2-40B4-BE49-F238E27FC236}">
                <a16:creationId xmlns:a16="http://schemas.microsoft.com/office/drawing/2014/main" id="{6389671C-C684-429F-81A2-BC57A786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3370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66" name="abl-4-0">
            <a:extLst xmlns:a="http://schemas.openxmlformats.org/drawingml/2006/main">
              <a:ext uri="{FF2B5EF4-FFF2-40B4-BE49-F238E27FC236}">
                <a16:creationId xmlns:a16="http://schemas.microsoft.com/office/drawing/2014/main" id="{33037348-382C-4203-B8A6-A6CC884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Similarity / no validation</a:t>
            </a:r>
          </a:p>
        </p:txBody>
      </p:sp>
      <p:sp>
        <p:nvSpPr>
          <p:cNvPr id="67" name="abl-4-1">
            <a:extLst xmlns:a="http://schemas.openxmlformats.org/drawingml/2006/main">
              <a:ext uri="{FF2B5EF4-FFF2-40B4-BE49-F238E27FC236}">
                <a16:creationId xmlns:a16="http://schemas.microsoft.com/office/drawing/2014/main" id="{5782D3AF-11F6-4E23-9EA1-469678F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schema-only or direct prior</a:t>
            </a:r>
          </a:p>
        </p:txBody>
      </p:sp>
      <p:sp>
        <p:nvSpPr>
          <p:cNvPr id="68" name="abl-4-2">
            <a:extLst xmlns:a="http://schemas.openxmlformats.org/drawingml/2006/main">
              <a:ext uri="{FF2B5EF4-FFF2-40B4-BE49-F238E27FC236}">
                <a16:creationId xmlns:a16="http://schemas.microsoft.com/office/drawing/2014/main" id="{6C98C910-D68E-4DA7-9BD8-14B3DF9D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 hypothesis 与 evidence</a:t>
            </a:r>
          </a:p>
        </p:txBody>
      </p:sp>
      <p:sp>
        <p:nvSpPr>
          <p:cNvPr id="69" name="abl-4-3">
            <a:extLst xmlns:a="http://schemas.openxmlformats.org/drawingml/2006/main">
              <a:ext uri="{FF2B5EF4-FFF2-40B4-BE49-F238E27FC236}">
                <a16:creationId xmlns:a16="http://schemas.microsoft.com/office/drawing/2014/main" id="{747EBC8F-7107-416A-9F4C-972285C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623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70" name="abl-5-0">
            <a:extLst xmlns:a="http://schemas.openxmlformats.org/drawingml/2006/main">
              <a:ext uri="{FF2B5EF4-FFF2-40B4-BE49-F238E27FC236}">
                <a16:creationId xmlns:a16="http://schemas.microsoft.com/office/drawing/2014/main" id="{F118A395-F127-4F21-B495-C2EB9BB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Full CARE 2.0</a:t>
            </a:r>
          </a:p>
        </p:txBody>
      </p:sp>
      <p:sp>
        <p:nvSpPr>
          <p:cNvPr id="71" name="abl-5-1">
            <a:extLst xmlns:a="http://schemas.openxmlformats.org/drawingml/2006/main">
              <a:ext uri="{FF2B5EF4-FFF2-40B4-BE49-F238E27FC236}">
                <a16:creationId xmlns:a16="http://schemas.microsoft.com/office/drawing/2014/main" id="{AA2075D4-B403-42EF-AEFF-0BF5DE1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+ patch + gate</a:t>
            </a:r>
          </a:p>
        </p:txBody>
      </p:sp>
      <p:sp>
        <p:nvSpPr>
          <p:cNvPr id="72" name="abl-5-2">
            <a:extLst xmlns:a="http://schemas.openxmlformats.org/drawingml/2006/main">
              <a:ext uri="{FF2B5EF4-FFF2-40B4-BE49-F238E27FC236}">
                <a16:creationId xmlns:a16="http://schemas.microsoft.com/office/drawing/2014/main" id="{2C84BD6D-CA6C-4C91-9404-C37C973C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可审计部署与 exact fallback</a:t>
            </a:r>
          </a:p>
        </p:txBody>
      </p:sp>
      <p:sp>
        <p:nvSpPr>
          <p:cNvPr id="73" name="abl-5-3">
            <a:extLst xmlns:a="http://schemas.openxmlformats.org/drawingml/2006/main">
              <a:ext uri="{FF2B5EF4-FFF2-40B4-BE49-F238E27FC236}">
                <a16:creationId xmlns:a16="http://schemas.microsoft.com/office/drawing/2014/main" id="{C6D94484-86A0-42FA-9AAE-2C7334A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909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4 T · 3 FALLBACK</a:t>
            </a:r>
          </a:p>
        </p:txBody>
      </p:sp>
      <p:sp>
        <p:nvSpPr>
          <p:cNvPr id="74" name="abl-report">
            <a:extLst xmlns:a="http://schemas.openxmlformats.org/drawingml/2006/main">
              <a:ext uri="{FF2B5EF4-FFF2-40B4-BE49-F238E27FC236}">
                <a16:creationId xmlns:a16="http://schemas.microsoft.com/office/drawing/2014/main" id="{6AB979F5-D6A1-48F9-A86E-B752AEA6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8001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例：ChemLex→BH +9.20 vs LLM / +8.10 vs BO · FreeSolv→Lipo +2.98 / +4.99 · 100 held-out seeds</a:t>
            </a:r>
          </a:p>
        </p:txBody>
      </p:sp>
    </p:spTree>
    <p:extLst>
      <p:ext uri="{BB962C8B-B14F-4D97-AF65-F5344CB8AC3E}">
        <p14:creationId xmlns:p14="http://schemas.microsoft.com/office/powerpoint/2010/main" val="2968741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0116c292b48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2A5C301-4BFB-45C2-AD07-B037177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BUDGET EFFICIENCY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7180D91-F80B-4DF3-ABF6-278977F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迁移的价值不仅是最终最优值，还包括少做多少轮实验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96B262-EBB1-4BD7-BED9-C0A7AB8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14</a:t>
            </a:r>
          </a:p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50fbe01c1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40D5963-5A1B-4E4A-95D4-DE157791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0e3d06eef48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AB827B5-A027-4090-9420-A5E549B9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158E4277-42AB-48EE-BF6F-5C7B2AD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3B45A0A3-62C3-4B08-8386-0FD29E5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126465C-156C-4304-90CE-0679408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C40CBF3-622C-4FE4-94C3-2FA5A76D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6995B98-5225-47D9-8AD6-C641DCD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3C5AE6F-5BC1-4DFA-B20D-7CECACD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0C75F51D-3797-4BE3-BBF3-B13D600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CFEF9C4-30A5-4450-ACA0-7FAD60C8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9E35827-1C9D-4D6B-B576-CF381AD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5F971E45-0B3E-4351-B8BF-432316F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7BF00E5-AD8A-4BBE-AC41-3B37680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F307A9C-CFE6-4FF7-BF4B-75200310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E11EC6-E02A-4461-8D50-340F403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BB54EF5-3EE6-4005-AC94-0F64CAFD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50308EBE-85B3-49D5-9CC1-A6147D1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E837C76-3ADF-4738-92F6-F56803A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4C8D0A3A-449A-44A5-826A-4048836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6784028E-FE47-46AE-AAAD-FCA6141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543AFCA-2494-4E41-B5C0-B9BE0B3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F5864C54-6772-4D8A-B9C7-8E33D5C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pic>
        <p:nvPicPr>
          <p:cNvPr id="78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df4cc64b74917"/>
          <a:stretch xmlns:a="http://schemas.openxmlformats.org/drawingml/2006/main"/>
        </p:blipFill>
        <p:spPr>
          <a:xfrm xmlns:a="http://schemas.openxmlformats.org/drawingml/2006/main">
            <a:off x="428625" y="1502725"/>
            <a:ext cx="5857875" cy="2233300"/>
          </a:xfrm>
          <a:prstGeom xmlns:a="http://schemas.openxmlformats.org/drawingml/2006/main" prst="rect">
            <a:avLst/>
          </a:prstGeom>
        </p:spPr>
      </p:pic>
      <p:sp>
        <p:nvSpPr>
          <p:cNvPr id="34" name="round-title">
            <a:extLst xmlns:a="http://schemas.openxmlformats.org/drawingml/2006/main">
              <a:ext uri="{FF2B5EF4-FFF2-40B4-BE49-F238E27FC236}">
                <a16:creationId xmlns:a16="http://schemas.microsoft.com/office/drawing/2014/main" id="{28DFF991-CA1D-4F01-9F4A-2C5162E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节省轮数：matched-final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paired 95% CI</a:t>
            </a:r>
          </a:p>
        </p:txBody>
      </p:sp>
      <p:sp>
        <p:nvSpPr>
          <p:cNvPr id="35" name="round-label-0">
            <a:extLst xmlns:a="http://schemas.openxmlformats.org/drawingml/2006/main">
              <a:ext uri="{FF2B5EF4-FFF2-40B4-BE49-F238E27FC236}">
                <a16:creationId xmlns:a16="http://schemas.microsoft.com/office/drawing/2014/main" id="{DE1429BE-83B6-4BA4-B714-0AB087B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</p:txBody>
      </p:sp>
      <p:sp>
        <p:nvSpPr>
          <p:cNvPr id="36" name="round-value-0">
            <a:extLst xmlns:a="http://schemas.openxmlformats.org/drawingml/2006/main">
              <a:ext uri="{FF2B5EF4-FFF2-40B4-BE49-F238E27FC236}">
                <a16:creationId xmlns:a16="http://schemas.microsoft.com/office/drawing/2014/main" id="{887635FD-9270-4875-A394-B16A22FA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859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2.99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[2.05, 3.93]</a:t>
            </a:r>
          </a:p>
        </p:txBody>
      </p:sp>
      <p:sp>
        <p:nvSpPr>
          <p:cNvPr id="37" name="round-label-1">
            <a:extLst xmlns:a="http://schemas.openxmlformats.org/drawingml/2006/main">
              <a:ext uri="{FF2B5EF4-FFF2-40B4-BE49-F238E27FC236}">
                <a16:creationId xmlns:a16="http://schemas.microsoft.com/office/drawing/2014/main" id="{4E42CB59-FE44-472F-BB3D-F249FA3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</p:txBody>
      </p:sp>
      <p:sp>
        <p:nvSpPr>
          <p:cNvPr id="38" name="round-value-1">
            <a:extLst xmlns:a="http://schemas.openxmlformats.org/drawingml/2006/main">
              <a:ext uri="{FF2B5EF4-FFF2-40B4-BE49-F238E27FC236}">
                <a16:creationId xmlns:a16="http://schemas.microsoft.com/office/drawing/2014/main" id="{8629AE7D-F5C3-4595-AF3D-DA3A8A3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6.00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[5.14, 6.86]</a:t>
            </a:r>
          </a:p>
        </p:txBody>
      </p:sp>
      <p:sp>
        <p:nvSpPr>
          <p:cNvPr id="39" name="round-label-2">
            <a:extLst xmlns:a="http://schemas.openxmlformats.org/drawingml/2006/main">
              <a:ext uri="{FF2B5EF4-FFF2-40B4-BE49-F238E27FC236}">
                <a16:creationId xmlns:a16="http://schemas.microsoft.com/office/drawing/2014/main" id="{08F6BA6B-65FA-4902-9D50-C43DF23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Gap → Dielectric</a:t>
            </a:r>
          </a:p>
        </p:txBody>
      </p:sp>
      <p:sp>
        <p:nvSpPr>
          <p:cNvPr id="40" name="round-value-2">
            <a:extLst xmlns:a="http://schemas.openxmlformats.org/drawingml/2006/main">
              <a:ext uri="{FF2B5EF4-FFF2-40B4-BE49-F238E27FC236}">
                <a16:creationId xmlns:a16="http://schemas.microsoft.com/office/drawing/2014/main" id="{69CFAF51-C1C7-40D4-872C-531E7D11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5.03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[4.27, 5.79]</a:t>
            </a:r>
          </a:p>
        </p:txBody>
      </p:sp>
      <p:sp>
        <p:nvSpPr>
          <p:cNvPr id="41" name="round-label-3">
            <a:extLst xmlns:a="http://schemas.openxmlformats.org/drawingml/2006/main">
              <a:ext uri="{FF2B5EF4-FFF2-40B4-BE49-F238E27FC236}">
                <a16:creationId xmlns:a16="http://schemas.microsoft.com/office/drawing/2014/main" id="{AB86BC24-A58E-4B67-A3BC-FB59CD9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</p:txBody>
      </p:sp>
      <p:sp>
        <p:nvSpPr>
          <p:cNvPr id="42" name="round-value-3">
            <a:extLst xmlns:a="http://schemas.openxmlformats.org/drawingml/2006/main">
              <a:ext uri="{FF2B5EF4-FFF2-40B4-BE49-F238E27FC236}">
                <a16:creationId xmlns:a16="http://schemas.microsoft.com/office/drawing/2014/main" id="{BBAFFDA6-7421-4275-A8B9-412451E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2.23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[1.37, 3.09]</a:t>
            </a:r>
          </a:p>
        </p:txBody>
      </p:sp>
      <p:sp>
        <p:nvSpPr>
          <p:cNvPr id="43" name="round-unit">
            <a:extLst xmlns:a="http://schemas.openxmlformats.org/drawingml/2006/main">
              <a:ext uri="{FF2B5EF4-FFF2-40B4-BE49-F238E27FC236}">
                <a16:creationId xmlns:a16="http://schemas.microsoft.com/office/drawing/2014/main" id="{F8A87708-1D29-4485-8670-B8C4D803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第一行：matched-final saving（95% CI）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另测 global-top10：3.62 / 9.57 / 8.46 / 4.80</a:t>
            </a:r>
          </a:p>
        </p:txBody>
      </p:sp>
      <p:sp>
        <p:nvSpPr>
          <p:cNvPr id="44" name="diminishing-note">
            <a:extLst xmlns:a="http://schemas.openxmlformats.org/drawingml/2006/main">
              <a:ext uri="{FF2B5EF4-FFF2-40B4-BE49-F238E27FC236}">
                <a16:creationId xmlns:a16="http://schemas.microsoft.com/office/drawing/2014/main" id="{687366F9-0A8C-4174-8C7D-BBB6968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右侧括号已给出 paired 95% CI。当前只能说迁移减少了达到基准质量所需轮数；若要证明“边际收益递减”，还需改变可用历史经验量后重跑并比较饱和模型。</a:t>
            </a:r>
          </a:p>
        </p:txBody>
      </p:sp>
      <p:sp>
        <p:nvSpPr>
          <p:cNvPr id="45" name="round-censor">
            <a:extLst xmlns:a="http://schemas.openxmlformats.org/drawingml/2006/main">
              <a:ext uri="{FF2B5EF4-FFF2-40B4-BE49-F238E27FC236}">
                <a16:creationId xmlns:a16="http://schemas.microsoft.com/office/drawing/2014/main" id="{261F3926-FD7E-4EBF-9F9D-3BC9DFE7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5667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66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Round 0 = initial observations；未达到阈值的路径按 budget + 1 右删失；fallback 与 matched LLM 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1149072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f78cfda6d4f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MODULE CONTRIBUTION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316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下一轮：冻结统一协议，用消融实验回答每个模块的贡献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15</a:t>
            </a:r>
          </a:p>
        </p:txBody>
      </p:sp>
      <p:sp>
        <p:nvSpPr>
          <p:cNvPr id="31" name="confirmation-protocol">
            <a:extLst xmlns:a="http://schemas.openxmlformats.org/drawingml/2006/main">
              <a:ext uri="{FF2B5EF4-FFF2-40B4-BE49-F238E27FC236}">
                <a16:creationId xmlns:a16="http://schemas.microsoft.com/office/drawing/2014/main" id="{81822639-9731-4D47-BAC1-0A35571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001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A9CBE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4D73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274D73"/>
                </a:solidFill>
                <a:latin typeface="-apple-system"/>
                <a:ea typeface="-apple-system"/>
                <a:cs typeface="-apple-system"/>
              </a:rPr>
              <a:t>确认协议（confirm run 前冻结）：路线清单 · calibration / held-out split · 候选池 · 预算 · thresholds · primary metric · MDE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80010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714500"/>
                <a:gridCol w="857250"/>
                <a:gridCol w="1143000"/>
                <a:gridCol w="3048000"/>
              </a:tblGrid>
              <a:tr h="378279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对照 / 消融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Hypothesis 来源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独立验证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要回答的问题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No transfer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不使用 source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完全不迁移时的 target-only 表现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Random transfer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随机 source / patch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排除“只是增加 prior 就会变好”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Similarity-only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schema similarity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有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浅层相似度能否替代 LLM 假设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Without Gate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Gate 是否减少负迁移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Without validation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直接部署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仅最终评估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独立 calibration 是否必要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Full CARE 2.0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有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完整系统的净贡献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</a:tr>
            </a:tbl>
          </a:graphicData>
        </a:graphic>
      </p:graphicFrame>
      <p:sp>
        <p:nvSpPr>
          <p:cNvPr id="33" name="ablation-footnote">
            <a:extLst xmlns:a="http://schemas.openxmlformats.org/drawingml/2006/main">
              <a:ext uri="{FF2B5EF4-FFF2-40B4-BE49-F238E27FC236}">
                <a16:creationId xmlns:a16="http://schemas.microsoft.com/office/drawing/2014/main" id="{DC8F35E1-DEA1-4DBF-A2BE-AFE7CD5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同一预算、initial observations、candidate pool 与 held-out seeds；除被消融模块外，其余条件保持一致。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353c4c2134d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CONCLUSIONS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6264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结论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16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9A8306B-8547-4F89-8132-9D772C1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361DC85-59E4-41F2-B8AA-018A915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31B836-53AC-4ECB-BF79-198EB4D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D826FF-650E-46F0-AEDB-7D7FE22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259075-DF7C-4FA4-918A-736CB9CE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5F4C8C-0A8E-43C4-9DF4-EAB7E00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0F3D8A0-26B1-40FD-9CC3-04188CD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58E9362-3885-4144-87C3-A809F66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0DF3C7-6936-46E4-A9C6-459EAB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DC7EB17-5227-4B58-9F7B-FC41CB8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DA98469-FC9D-491F-A6BF-39DDB36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90B9D8-A947-4445-BA1F-67DC1C1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1B1256-95B6-4442-9BD0-F3F5864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conclusion-num-0">
            <a:extLst xmlns:a="http://schemas.openxmlformats.org/drawingml/2006/main">
              <a:ext uri="{FF2B5EF4-FFF2-40B4-BE49-F238E27FC236}">
                <a16:creationId xmlns:a16="http://schemas.microsoft.com/office/drawing/2014/main" id="{394DDAA5-46B4-447B-A004-7544F17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conclusion-title-0">
            <a:extLst xmlns:a="http://schemas.openxmlformats.org/drawingml/2006/main">
              <a:ext uri="{FF2B5EF4-FFF2-40B4-BE49-F238E27FC236}">
                <a16:creationId xmlns:a16="http://schemas.microsoft.com/office/drawing/2014/main" id="{2F8FFD81-0496-498A-BE53-BC040F9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同领域迁移已得到支持</a:t>
            </a:r>
          </a:p>
        </p:txBody>
      </p:sp>
      <p:sp>
        <p:nvSpPr>
          <p:cNvPr id="22" name="conclusion-body-0">
            <a:extLst xmlns:a="http://schemas.openxmlformats.org/drawingml/2006/main">
              <a:ext uri="{FF2B5EF4-FFF2-40B4-BE49-F238E27FC236}">
                <a16:creationId xmlns:a16="http://schemas.microsoft.com/office/drawing/2014/main" id="{648FF907-A03B-4F9B-B36D-B0AD41D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反应、材料、分子三个领域内均出现跨数据集正向迁移；4/7 routes 在冻结协议下部署 transfer。</a:t>
            </a:r>
          </a:p>
        </p:txBody>
      </p:sp>
      <p:sp>
        <p:nvSpPr>
          <p:cNvPr id="23" name="conclusion-num-1">
            <a:extLst xmlns:a="http://schemas.openxmlformats.org/drawingml/2006/main">
              <a:ext uri="{FF2B5EF4-FFF2-40B4-BE49-F238E27FC236}">
                <a16:creationId xmlns:a16="http://schemas.microsoft.com/office/drawing/2014/main" id="{0B8B8F48-BDBE-4E42-B78E-B8AD33E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conclusion-title-1">
            <a:extLst xmlns:a="http://schemas.openxmlformats.org/drawingml/2006/main">
              <a:ext uri="{FF2B5EF4-FFF2-40B4-BE49-F238E27FC236}">
                <a16:creationId xmlns:a16="http://schemas.microsoft.com/office/drawing/2014/main" id="{3A726547-B2DC-45E4-B485-11FABB4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Gate 拦住了当前负迁移</a:t>
            </a:r>
          </a:p>
        </p:txBody>
      </p:sp>
      <p:sp>
        <p:nvSpPr>
          <p:cNvPr id="25" name="conclusion-body-1">
            <a:extLst xmlns:a="http://schemas.openxmlformats.org/drawingml/2006/main">
              <a:ext uri="{FF2B5EF4-FFF2-40B4-BE49-F238E27FC236}">
                <a16:creationId xmlns:a16="http://schemas.microsoft.com/office/drawing/2014/main" id="{9B232404-F650-47FB-B66F-4AC1E5E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其余 3/7 routes 精确回退 target-only；正式 held-out 中没有把已知负向路线部署出去。</a:t>
            </a:r>
          </a:p>
        </p:txBody>
      </p:sp>
      <p:sp>
        <p:nvSpPr>
          <p:cNvPr id="26" name="conclusion-num-2">
            <a:extLst xmlns:a="http://schemas.openxmlformats.org/drawingml/2006/main">
              <a:ext uri="{FF2B5EF4-FFF2-40B4-BE49-F238E27FC236}">
                <a16:creationId xmlns:a16="http://schemas.microsoft.com/office/drawing/2014/main" id="{B00E0C95-DD97-45B9-A286-B1F5BBE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conclusion-title-2">
            <a:extLst xmlns:a="http://schemas.openxmlformats.org/drawingml/2006/main">
              <a:ext uri="{FF2B5EF4-FFF2-40B4-BE49-F238E27FC236}">
                <a16:creationId xmlns:a16="http://schemas.microsoft.com/office/drawing/2014/main" id="{6AA31B4A-F274-45E1-BFA6-2BA7EB6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跨领域泛化尚未验证</a:t>
            </a:r>
          </a:p>
        </p:txBody>
      </p:sp>
      <p:sp>
        <p:nvSpPr>
          <p:cNvPr id="28" name="conclusion-body-2">
            <a:extLst xmlns:a="http://schemas.openxmlformats.org/drawingml/2006/main">
              <a:ext uri="{FF2B5EF4-FFF2-40B4-BE49-F238E27FC236}">
                <a16:creationId xmlns:a16="http://schemas.microsoft.com/office/drawing/2014/main" id="{89D74034-5C61-4CCD-9824-0A66509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下一轮冻结路线与数据划分，补 off-diagonal pairs 和完整 ablation，再讨论通用跨领域迁移。</a:t>
            </a:r>
          </a:p>
        </p:txBody>
      </p:sp>
      <p:sp>
        <p:nvSpPr>
          <p:cNvPr id="29" name="conclusion-standard">
            <a:extLst xmlns:a="http://schemas.openxmlformats.org/drawingml/2006/main">
              <a:ext uri="{FF2B5EF4-FFF2-40B4-BE49-F238E27FC236}">
                <a16:creationId xmlns:a16="http://schemas.microsoft.com/office/drawing/2014/main" id="{5C2D6FCE-3C68-440A-BF27-A024635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8001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228600" tIns="152400" rIns="2286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CARE 2.0 的三项贡献：生成可解释 Hypothesis、用独立证据决定是否迁移、把成功与失败路线完整沉淀进知识库。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2026-08-02T17:13:52.0800000Z</dcterms:created>
  <dcterms:modified xsi:type="dcterms:W3CDTF">2026-08-02T17:13:52.0800000Z</dcterms:modified>
</coreProperties>
</file>