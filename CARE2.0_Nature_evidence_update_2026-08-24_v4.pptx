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67680a6704a74" /><Relationship Type="http://schemas.openxmlformats.org/officeDocument/2006/relationships/extended-properties" Target="/docProps/app.xml" Id="R8986c5b16d8f49b2" /><Relationship Type="http://schemas.openxmlformats.org/officeDocument/2006/relationships/officeDocument" Target="/ppt/presentation.xml" Id="R5233642a86d74f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c896fcbcd549c8"/>
  </p:sldMasterIdLst>
  <p:notesMasterIdLst>
    <p:notesMasterId xmlns:r="http://schemas.openxmlformats.org/officeDocument/2006/relationships" r:id="Rd7f1957059724723"/>
  </p:notesMasterIdLst>
  <p:sldIdLst>
    <p:sldId xmlns:r="http://schemas.openxmlformats.org/officeDocument/2006/relationships" id="256" r:id="R1a3c1d56b87e4459"/>
    <p:sldId xmlns:r="http://schemas.openxmlformats.org/officeDocument/2006/relationships" id="257" r:id="R85b9d676b18f4874"/>
    <p:sldId xmlns:r="http://schemas.openxmlformats.org/officeDocument/2006/relationships" id="258" r:id="R82662eacbb674dea"/>
    <p:sldId xmlns:r="http://schemas.openxmlformats.org/officeDocument/2006/relationships" id="259" r:id="R0ca8194ab980435b"/>
    <p:sldId xmlns:r="http://schemas.openxmlformats.org/officeDocument/2006/relationships" id="260" r:id="R07395852d5444d88"/>
    <p:sldId xmlns:r="http://schemas.openxmlformats.org/officeDocument/2006/relationships" id="261" r:id="Rb941d13347724fa9"/>
    <p:sldId xmlns:r="http://schemas.openxmlformats.org/officeDocument/2006/relationships" id="262" r:id="R037346bfcc594283"/>
    <p:sldId xmlns:r="http://schemas.openxmlformats.org/officeDocument/2006/relationships" id="263" r:id="R87a6f52bb4284837"/>
    <p:sldId xmlns:r="http://schemas.openxmlformats.org/officeDocument/2006/relationships" id="264" r:id="R3b728e23c8a04fb4"/>
    <p:sldId xmlns:r="http://schemas.openxmlformats.org/officeDocument/2006/relationships" id="265" r:id="Ra898892b7e474320"/>
    <p:sldId xmlns:r="http://schemas.openxmlformats.org/officeDocument/2006/relationships" id="266" r:id="Rd362c52f55de4ac8"/>
    <p:sldId xmlns:r="http://schemas.openxmlformats.org/officeDocument/2006/relationships" id="267" r:id="Reabcf14a56a64f6d"/>
    <p:sldId xmlns:r="http://schemas.openxmlformats.org/officeDocument/2006/relationships" id="268" r:id="Rd061525e60c34953"/>
    <p:sldId xmlns:r="http://schemas.openxmlformats.org/officeDocument/2006/relationships" id="269" r:id="R19b99108591041b7"/>
    <p:sldId xmlns:r="http://schemas.openxmlformats.org/officeDocument/2006/relationships" id="270" r:id="R3264c72b588f4716"/>
    <p:sldId xmlns:r="http://schemas.openxmlformats.org/officeDocument/2006/relationships" id="271" r:id="R6ec39876b07e4b5f"/>
    <p:sldId xmlns:r="http://schemas.openxmlformats.org/officeDocument/2006/relationships" id="272" r:id="Rc3c2851cfcfb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33f164714044cb" /><Relationship Type="http://schemas.openxmlformats.org/officeDocument/2006/relationships/slideMaster" Target="/ppt/slideMasters/slideMaster1.xml" Id="R82c896fcbcd549c8" /><Relationship Type="http://schemas.openxmlformats.org/officeDocument/2006/relationships/notesMaster" Target="/ppt/notesMasters/notesMaster1.xml" Id="Rd7f1957059724723" /><Relationship Type="http://schemas.openxmlformats.org/officeDocument/2006/relationships/presProps" Target="/ppt/presProps.xml" Id="R7031e2a3a3df406d" /><Relationship Type="http://schemas.openxmlformats.org/officeDocument/2006/relationships/tableStyles" Target="/ppt/tableStyles.xml" Id="Rdaaef9e8ee8444d5" /><Relationship Type="http://schemas.openxmlformats.org/officeDocument/2006/relationships/slide" Target="/ppt/slides/slide1.xml" Id="R1a3c1d56b87e4459" /><Relationship Type="http://schemas.openxmlformats.org/officeDocument/2006/relationships/slide" Target="/ppt/slides/slide2.xml" Id="R85b9d676b18f4874" /><Relationship Type="http://schemas.openxmlformats.org/officeDocument/2006/relationships/slide" Target="/ppt/slides/slide3.xml" Id="R82662eacbb674dea" /><Relationship Type="http://schemas.openxmlformats.org/officeDocument/2006/relationships/slide" Target="/ppt/slides/slide4.xml" Id="R0ca8194ab980435b" /><Relationship Type="http://schemas.openxmlformats.org/officeDocument/2006/relationships/slide" Target="/ppt/slides/slide5.xml" Id="R07395852d5444d88" /><Relationship Type="http://schemas.openxmlformats.org/officeDocument/2006/relationships/slide" Target="/ppt/slides/slide6.xml" Id="Rb941d13347724fa9" /><Relationship Type="http://schemas.openxmlformats.org/officeDocument/2006/relationships/slide" Target="/ppt/slides/slide7.xml" Id="R037346bfcc594283" /><Relationship Type="http://schemas.openxmlformats.org/officeDocument/2006/relationships/slide" Target="/ppt/slides/slide8.xml" Id="R87a6f52bb4284837" /><Relationship Type="http://schemas.openxmlformats.org/officeDocument/2006/relationships/slide" Target="/ppt/slides/slide9.xml" Id="R3b728e23c8a04fb4" /><Relationship Type="http://schemas.openxmlformats.org/officeDocument/2006/relationships/slide" Target="/ppt/slides/slide10.xml" Id="Ra898892b7e474320" /><Relationship Type="http://schemas.openxmlformats.org/officeDocument/2006/relationships/slide" Target="/ppt/slides/slide11.xml" Id="Rd362c52f55de4ac8" /><Relationship Type="http://schemas.openxmlformats.org/officeDocument/2006/relationships/slide" Target="/ppt/slides/slide12.xml" Id="Reabcf14a56a64f6d" /><Relationship Type="http://schemas.openxmlformats.org/officeDocument/2006/relationships/slide" Target="/ppt/slides/slide13.xml" Id="Rd061525e60c34953" /><Relationship Type="http://schemas.openxmlformats.org/officeDocument/2006/relationships/slide" Target="/ppt/slides/slide14.xml" Id="R19b99108591041b7" /><Relationship Type="http://schemas.openxmlformats.org/officeDocument/2006/relationships/slide" Target="/ppt/slides/slide15.xml" Id="R3264c72b588f4716" /><Relationship Type="http://schemas.openxmlformats.org/officeDocument/2006/relationships/slide" Target="/ppt/slides/slide16.xml" Id="R6ec39876b07e4b5f" /><Relationship Type="http://schemas.openxmlformats.org/officeDocument/2006/relationships/slide" Target="/ppt/slides/slide17.xml" Id="Rc3c2851cfcfb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c36fee4fcf47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10ebde24f451b" /><Relationship Type="http://schemas.openxmlformats.org/officeDocument/2006/relationships/notesMaster" Target="/ppt/notesMasters/notesMaster1.xml" Id="R4b161d98d7f6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633ca603642a9" /><Relationship Type="http://schemas.openxmlformats.org/officeDocument/2006/relationships/notesMaster" Target="/ppt/notesMasters/notesMaster1.xml" Id="Rc78110361a9445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f734e0d2d44a8" /><Relationship Type="http://schemas.openxmlformats.org/officeDocument/2006/relationships/notesMaster" Target="/ppt/notesMasters/notesMaster1.xml" Id="R18ce389c4e2f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ac73150a8948b2" /><Relationship Type="http://schemas.openxmlformats.org/officeDocument/2006/relationships/notesMaster" Target="/ppt/notesMasters/notesMaster1.xml" Id="R56dcb07a0bfa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71c11836746e2" /><Relationship Type="http://schemas.openxmlformats.org/officeDocument/2006/relationships/notesMaster" Target="/ppt/notesMasters/notesMaster1.xml" Id="R60ccb3434569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ada5ad8d954786" /><Relationship Type="http://schemas.openxmlformats.org/officeDocument/2006/relationships/notesMaster" Target="/ppt/notesMasters/notesMaster1.xml" Id="Rf52304c7e10b4d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8e7c8af9a4615" /><Relationship Type="http://schemas.openxmlformats.org/officeDocument/2006/relationships/notesMaster" Target="/ppt/notesMasters/notesMaster1.xml" Id="R208690d725b5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05fff1df664500" /><Relationship Type="http://schemas.openxmlformats.org/officeDocument/2006/relationships/notesMaster" Target="/ppt/notesMasters/notesMaster1.xml" Id="R142d31ec22ea4c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78e99a6c404b71" /><Relationship Type="http://schemas.openxmlformats.org/officeDocument/2006/relationships/notesMaster" Target="/ppt/notesMasters/notesMaster1.xml" Id="Ra2f403b408934a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a57846e43a48a2" /><Relationship Type="http://schemas.openxmlformats.org/officeDocument/2006/relationships/notesMaster" Target="/ppt/notesMasters/notesMaster1.xml" Id="R14afd22fac8f4e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f2adddae0c446a" /><Relationship Type="http://schemas.openxmlformats.org/officeDocument/2006/relationships/notesMaster" Target="/ppt/notesMasters/notesMaster1.xml" Id="R48e6fb37066343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1e99a3eb10407e" /><Relationship Type="http://schemas.openxmlformats.org/officeDocument/2006/relationships/notesMaster" Target="/ppt/notesMasters/notesMaster1.xml" Id="R4a5b4cddb6b348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cdad09fb2045fb" /><Relationship Type="http://schemas.openxmlformats.org/officeDocument/2006/relationships/notesMaster" Target="/ppt/notesMasters/notesMaster1.xml" Id="Reb3740b435be43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6ca6789724e6b" /><Relationship Type="http://schemas.openxmlformats.org/officeDocument/2006/relationships/notesMaster" Target="/ppt/notesMasters/notesMaster1.xml" Id="R1f887bbcd20649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e2712372af4c01" /><Relationship Type="http://schemas.openxmlformats.org/officeDocument/2006/relationships/notesMaster" Target="/ppt/notesMasters/notesMaster1.xml" Id="Rb9730c20a8fd41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81d0d484b14497" /><Relationship Type="http://schemas.openxmlformats.org/officeDocument/2006/relationships/notesMaster" Target="/ppt/notesMasters/notesMaster1.xml" Id="Rb589027f482a49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24801e8b2a493f" /><Relationship Type="http://schemas.openxmlformats.org/officeDocument/2006/relationships/notesMaster" Target="/ppt/notesMasters/notesMaster1.xml" Id="Rbbe60bf03020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的主线不是让大模型持续接管数值优化，而是让它把 source evidence 编译成可检查、可执行、可拒绝的迁移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LLM 读取旧任务证据和新任务的公开 schema，提出规则特征、先验方向和搜索策略。Strict compiler 先检查字段和值是否存在，calibration split 再决定 skill 是否值得部署；冻结后由 target optimizer 在真实预算内执行。这样，LLM 提供语义和假设，GP 提供稳定的数值优化，失败 skill 可以被拒绝并保留审计记录。在线 proposer/critic 仍然存在，但首批真实 pilot 没有改变 GP rank 1，因此目前是探索模块，不是论文主贡献。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experiments/care_replay/results/2026-07-21-cross-domain-semantic-skills/README.md</a:t>
            </a:r>
          </a:p>
          <a:p xmlns:a="http://schemas.openxmlformats.org/drawingml/2006/main">
            <a:r>
              <a:t>- experiments/care_replay/scripts/generate_llm_semantic_skills.py</a:t>
            </a:r>
          </a:p>
          <a:p xmlns:a="http://schemas.openxmlformats.org/drawingml/2006/main">
            <a:r>
              <a:t>- experiments/care_replay/scripts/run_calibrated_llm_semantic_selector.py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冻结 11 路线中，在线 LLM 相对同开局 target-only GP 的平均 best-so-far AUC 增益为 +1.753，6 胜、2 平、3 负；完整 17 路线盘点后均值降为 +0.762。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11 路线的 route-bootstrap 区间为 [+0.415,+3.315]，但符号检验 p=0.5078，而且每条路线只有一条在线轨迹。纳入仓库中 6 条更早的负向或持平路线后，17 路线区间为 [-0.501,+2.091]，再次跨过 0。因此我们把“冻结子集上的平均正向信号”和“所有历史路线尚未确认普遍提升”同时展示，避免路线选择偏差。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experiments/care_replay/results/2026-08-24-online-llm-predeclared-baseline-portfolio-v2/aggregate.json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问题被定义成一个严格的 sequential decision problem：同起点、同候选、同预算，比较谁更早找到高值条件。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target 中未执行候选的结果始终隐藏。系统只知道 source 历史、target 的变量结构、已经揭示的 target 结果和剩余预算。评价重点不是大模型解释得是否好听，而是它的选择是否让 best-so-far 曲线更早上升。这个定义也让方法能在化学、分子性质和材料任务中使用同一套接口。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experiments/care_replay/CARE2_METHOD.md</a:t>
            </a:r>
          </a:p>
          <a:p xmlns:a="http://schemas.openxmlformats.org/drawingml/2006/main">
            <a:r>
              <a:t>- experiments/care_replay/replay.py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这页展示在线 proposer/critic 控制器，但它现在是被审计的探索模块，不是已确认的主方法。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候选菜单包含 target GP 高分点、source prior 支持点、共识点和覆盖点。Proposer 更新可证伪假设并提议一个实验；Critic 可以接受、退回 GP rank 1 或改选。历史完整在线版本允许 LLM 在十轮都有最终选择权，但分离路线表现不稳。Bounded pilot 因此只允许第一轮 LLM 决策，后九轮交回 target GP。首批六条真实调用中，LLM 六次都选择 GP rank 1，说明它输出了结构化判断，却没有产生 action change。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Replay harness 用完整历史数据模拟“每做一个实验才知道一个结果”的过程。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虽然数据表里保存了所有真实结果，但控制器在第 t 轮只能读取此前执行过的 target 结果。未选择候选的标签不会进入 prompt、GP 训练或候选评分。在线 LLM 和对照组从相同的三个 target 观测开始，各有 10 次揭示机会，因此预算严格匹配。每一轮选择、响应、模型和揭示结果都会写入审计文件。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Reward 是 best-so-far 曲线下面积，不是强化学习的训练奖励。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 t 轮结果记为 y_t，当前最好值 b_t=max(y_1,...,y_t)。一条长度为 T 的轨迹得分 R=(1/T)Σb_t。好结果越早出现，它会在更多后续轮次中贡献高 best，因此 R 更高。每轮新结果会更新 target 历史、GP 后验、候选排序和科学假设；它不会更新 Claude 的模型权重，也不会自动把本轮经验蒸馏成永久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主比较用同开局 target-only GP 隔离在线 LLM 增量，并把 RGPE 与 multitask GP 扩展到冻结的全部 11 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所有方法使用完全相同的三个初始 target 观测、候选空间和 10 轮预算。固定 comparator 规则为：单 source 用 RGPE，多 source 用 multisource RGPE。在线 LLM 相对 target GP 平均 +1.753，相对固定 RGPE 平均 +3.229，但后者区间跨 0。若在每条路线看完结果后选最强 baseline，LLM 平均为 -0.550，只取得 3 胜、1 平、7 负。这个 oracle 诊断不是公平的预先选型主结果，但它清楚说明当前 LLM 还不是多数路线上的最强优化器。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experiments/care_replay/configs/online_llm_predeclared_baseline_portfolio_v1.json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的输入和输出都是结构化、可审计并能直接执行的。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每一轮输入包括已揭示 target 历史、当前 best、source evidence、冻结初始假设、GP posterior mean/std/EI 和一个合格候选菜单。输出必须包含 hypothesis_status、更新后的假设、一个 candidate_id、预期结果、改善概率、支持和反对证据、是否继续 source transfer，以及与 GP rank 1 的比较。Critic 对 proposer 的输出做第二次审查。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这是保存下来的真实 trace，不是为了讲解而编的例子。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FreeSolv 到 Lipophilicity 路线上，初始 best 为 67.25。第 0 轮的 GP rank 1 是 lipo_2256，但 proposer 和 critic 选择了 GP rank 4 的 lipo_0635：它的 expected improvement 略高，而且“卤素丰富、低极性的芳香酰胺”与已观测的高 lipophilicity 分子一致。该候选真正揭示后得到 86.875，使 best 一轮提高 19.625。整个路线相对同开局 target-only GP 的 AUC 增益为 +6.325。需要提醒：这是成功案例，用来展示机制和 trace，不代表所有路线。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  <a:p xmlns:a="http://schemas.openxmlformats.org/drawingml/2006/main">
            <a:r>
              <a:t>- experiments/care_replay/results/2026-08-16-opus48-bounded-ei-development-v2/molecular_freesolv_to_lipophilicity/summary.json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这页检验的不是哪个阈值在已知结果上最高，而是“一轮 LLM、随后交回 GP-UCB”是否会因为删掉一条开发路线就变成另一套策略。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左图使用 11 条开发路线做 leave-one-route-out。每一折先拿掉一条路线，只在剩余 10 条路线上，按照原先冻结的词典序规则重新比较 115 个 controller：先最小化负迁移路线数，再最大化路线等权平均 AUC 和最差路线 AUC，最后才偏好参数更少、交回更早的策略。11 折中有 10 折重新选中 bounded_authority_r1，也就是只允许 LLM 做第一轮实验选择，随后用全部已积累观测交回 target-only GP-UCB；另 1 折选择了两轮 hard-abstention gate。因此，主策略的选择稳定率是 90.9%，不是由单独一条开发路线偶然推出来的。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把每一折重新选出的策略应用到当时被拿掉的那条路线，平均 AUC 增量为 +1.141，结果为 2 胜、8 平、1 负。右图再展示完全不参与策略选择的 6 条 route-disjoint 既有轨迹：一轮授权相对同开局 target-only GP-UCB 为 2 胜、3 平、1 负，平均 +0.612 AUC；正向路线是 Lipophilicity 到 FreeSolv 和 phonons 到 perovskites，负向路线是 bulk 到 shear，-1.326 AUC。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这项结果能支持两点。第一，一轮 bounded authority 是一个相对稳定、低复杂度的 controller 选择。第二，它把 full online LLM 在这 6 条路线上的 2 条负迁移减少到 1 条，并节省后续 LLM 调用。但它仍不能支持“安全迁移已经解决”：评估区间跨 0，轨迹是回顾性的，而且 bulk 到 shear 仍然失败。下一步必须把这套 controller 完整冻结，在新的 prospective task family 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experiments/care_replay/configs/online_llm_gate_selection_audit_v1.json</a:t>
            </a:r>
          </a:p>
          <a:p xmlns:a="http://schemas.openxmlformats.org/drawingml/2006/main">
            <a:r>
              <a:t>- experiments/care_replay/results/2026-08-24-online-llm-route-split-gate-selection-v1/leave_one_route_out_selection.jsonl</a:t>
            </a:r>
          </a:p>
          <a:p xmlns:a="http://schemas.openxmlformats.org/drawingml/2006/main">
            <a:r>
              <a:t>- experiments/care_replay/results/2026-08-24-online-llm-route-split-gate-selection-v1/selected_policy.json</a:t>
            </a:r>
          </a:p>
          <a:p xmlns:a="http://schemas.openxmlformats.org/drawingml/2006/main">
            <a:r>
              <a:t>- experiments/care_replay/results/2026-08-24-online-llm-route-split-gate-selection-v1/selected_policy_evaluation_routes.jsonl</a:t>
            </a:r>
          </a:p>
          <a:p xmlns:a="http://schemas.openxmlformats.org/drawingml/2006/main">
            <a:r>
              <a:t>- experiments/care_replay/results/2026-08-24-online-llm-route-split-gate-selection-v1/controller_selection_stability.png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两批调用的总体胜平负都为 6 / 2 / 3，但 11 条配对路线中有 4 条严格翻转正负号。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空心点是早期审计调用，蓝绿色点是第一次冻结重复，橙色菱形是 Suzuki 的第二次冻结重复。材料 expt gap→mp gap、两条 phenethylamine 路线和 aniline→benzamide 路线发生了严格符号翻转。Suzuki 三次观察为 +0.28、+1.38 和 +0.32，方向一致但幅度仍有波动。早期调用发生在确认协议冻结前，因此本页只是 stochasticity audit，不是正式重复检验；它证明了为什么不能用单次 LLM 结果给路线贴上“可迁移/不可迁移”的稳定标签。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experiments/care_replay/results/2026-08-23-llm-trajectory-stability-audit/paired_route_stability.csv</a:t>
            </a:r>
          </a:p>
          <a:p xmlns:a="http://schemas.openxmlformats.org/drawingml/2006/main">
            <a:r>
              <a:t>- experiments/care_replay/results/2026-08-23-llm-trajectory-stability-audit/paired_route_stability.svg</a:t>
            </a:r>
          </a:p>
          <a:p xmlns:a="http://schemas.openxmlformats.org/drawingml/2006/main">
            <a:r>
              <a:t>- experiments/care_replay/results/2026-08-23-llm-trajectory-stability-audit/stability_audit.json</a:t>
            </a:r>
          </a:p>
          <a:p xmlns:a="http://schemas.openxmlformats.org/drawingml/2006/main">
            <a:r>
              <a:t>- https://arxiv.org/abs/2410.03492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材料案例说明 LLM 的价值也包括识别“不应该直接迁移”，并且 trace 能暴露和修复解释错误。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phonons→bulk modulus 路线上，LLM 十轮都关闭 direct source transfer，因为 target 证据不支持把声子峰排名直接搬到体模量。但它仍根据材料组成语义和已揭示 target 结果，在 4/10 轮选择了非 GP rank 1 候选。CARE 最终找到 normalized score 77.6127 的 O8Pt6；同开局 GP 最终为 73.2886。AUC 增益 +3.240，final 增益 +4.324。这里应讲成“负迁移识别 + target 自适应”，不能讲成 phonon outcome 正向迁移。早期 trace 有 5 次把无量纲 replay score 写成 GPa；加入 outcome-scale contract 后，新轨迹 20 个 proposer/critic 响应中该错误为 0。新轨迹的 AUC 增益为 +3.083，但它与旧轨迹不是配对调用，因此只用于验证语义修复，不用于声称性能提升。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experiments/care_replay/results/2026-08-24-online-llm-transport-context-robustness-v3/materials_phonons_to_bulk_modulus/trajectory_5000/summary.json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experiments/care_replay/results/2026-08-24-online-llm-transport-context-robustness-v3/materials_phonons_to_bulk_modulus/trajectory_5000/llm_trace.jsonl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experiments/care_replay/results/2026-08-24-online-llm-transport-context-robustness-v3/materials_phonons_to_bulk_modulus/trajectory_5000/audit/materials_online_trace_audit.json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experiments/care_replay/results/2026-08-24-online-llm-outcome-semantics-robustness-v1/materials_phonons_to_bulk_modulus/trajectory_6000/summary.json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experiments/care_replay/results/2026-08-24-online-llm-outcome-semantics-robustness-v1/materials_phonons_to_bulk_modulus/trajectory_6000/audit/outcome_semantics_audit.json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并不是在所有任务上都有效。现有消融表明，增益出现需要三个条件：语义表示与目标性质对齐，LLM 的输出实际改变实验动作，并且目标数据可以重新校准权重。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第一类增益来自 representation。Matbench experimental band gap 中，LLM 提出的 high_element_count 分组相对 target portfolio 提高 AUC 6.167，95% 配对区间为 [4.361, 7.972]；Lipophilicity 中，high_aromatic_content 相对 GP-UCB 提高 AUC 1.261，区间为 [0.891, 1.630]。两项实验都没有向 LLM 提供 source outcomes，而且 no-prior 版本表现更好，说明 LLM 的贡献主要是选对语义特征，具体方向与强度仍应由目标数据和 GP 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第二类增益来自 early coverage。机制消融中，ChemLex 到 Buchwald–Hartwig、dielectric 到 experimental band gap 的主要收益在 source-informed initial design。固定相同开局后，连续 source-outcome term 和 LLM patch 都没有额外增益。因此不能把这两条结果解释成 LLM 每轮自由重排更强，而应解释为 source knowledge 帮助系统更早覆盖了有价值的实验区域。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第三，推理只有改变动作才可能产生因果增量。最新六条真实 bounded-authority pilot 全部选择 GP-UCB rank 1，在线 AUC 增量为 0。虽然三条 trace 文字上保留了 source hypothesis，但并未改变实验选择。相反，Lipophilicity 到 FreeSolv 的 matched transfer AUC 为 -29.902，表明共享分子描述符不足以保证目标方向可迁移。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所以论文不声称“LLM 总能提高优化”。更准确的结论是：LLM 在语义表示对齐、能改变早期采样并允许目标数据重新校准时最可能有效；表示不匹配、目标符号不一致或动作与 GP 重合时，系统应该拒绝或回退。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experiments/care_replay/results/2026-07-21-llm-evidence-causality/README.md</a:t>
            </a:r>
          </a:p>
          <a:p xmlns:a="http://schemas.openxmlformats.org/drawingml/2006/main">
            <a:r>
              <a:t>- experiments/care_replay/results/2026-07-23-source-evidence-extension/README.md</a:t>
            </a:r>
          </a:p>
          <a:p xmlns:a="http://schemas.openxmlformats.org/drawingml/2006/main">
            <a:r>
              <a:t>- experiments/care_replay/results/2026-08-07-mechanism-controls/README.md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docs/OVERLEAF_CASE_STUDIES_DRAFT.tex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这页检验的不是 LLM 效果，而是一个更基础的前提：在每次决策前，系统是否可能从代码路径里接触到尚未揭示的 target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我们对完整的 17 条路线、每条 10 个在线决策状态做了 shadow-label audit，共 170 个状态。每个状态都保留已经揭示的 target outcomes、candidate IDs、公开属性、source evidence 和协议参数，只对尚未揭示的 target labels 做确定性置换。随后用生产代码重新构造 source prior、candidate menu、menu diagnostics 和完整 LLM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左图逐路线、逐轮显示实际被置换的隐藏标签数。颜色按对数尺度表示干预规模：材料任务的候选池最大，单个状态可改动数十万到上百万个隐藏值；反应 HTE 的池较小，但同样逐状态执行。右图按路线汇总覆盖量，并标出每条路线均为 10 / 10 通过。合计 2,725,689 个 state-level 隐藏标签位置被改动，170 / 170 个决策状态的 source prior、candidate menu、diagnostics 与当前代码生成的完整 prompt 仍逐字节相同。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 prompt 的 SHA-256 也单独验证通过。170 个归档状态都早于后来补充的公开 outcome semantics 字段：其中 110 个状态只差这一项，另 60 个状态来自更早的六条路线，还早于当前 eligibility 和 safety 字段。我们把这部分诚实标为 code-version drift，不把历史 byte reconstruction 当作主要终点。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结论边界必须说清楚：这项审计支持“在已测试代码和路线中，未揭示 target labels 不会进入决策状态”，但不证明 LLM 的科学判断正确，也不证明 transfer 提升性能。它解决的是 reviewer 最容易质疑的 leakage / implementation boundary；性能与机制仍由后面的 source-outcome falsification、matched baselines 和 prospective confirmation 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experiments/care_replay/configs/hidden_target_noninterference_v1.json</a:t>
            </a:r>
          </a:p>
          <a:p xmlns:a="http://schemas.openxmlformats.org/drawingml/2006/main">
            <a:r>
              <a:t>- experiments/care_replay/results/2026-08-24-hidden-target-noninterference-v1/noninterference_report.json</a:t>
            </a:r>
          </a:p>
          <a:p xmlns:a="http://schemas.openxmlformats.org/drawingml/2006/main">
            <a:r>
              <a:t>- experiments/care_replay/results/2026-08-24-hidden-target-noninterference-v1/decision_states.csv</a:t>
            </a:r>
          </a:p>
          <a:p xmlns:a="http://schemas.openxmlformats.org/drawingml/2006/main">
            <a:r>
              <a:t>- experiments/care_replay/results/2026-08-24-hidden-target-noninterference-v1/route_summary.csv</a:t>
            </a:r>
          </a:p>
          <a:p xmlns:a="http://schemas.openxmlformats.org/drawingml/2006/main">
            <a:r>
              <a:t>- experiments/care_replay/scripts/audit_hidden_target_noninterference.py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这项检验把两个容易混在一起的问题拆开：source-informed 开局是否优于 target-only，以及“正确的 source 特征—outcome 对应关系”是否真的提供额外信息。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实验冻结了三条路线。每条路线使用 100 个 held-out target seeds 和 19 个 source-outcome 置换；source features、LLM 编译的 role map 与 patches、target 初始化规则、优化器和预算全部保持一致，只打乱 measured source outcomes 与 source candidates 的对应关系。sequential transfer mass 固定为 0，因此这里检验的是 source-informed initial design，而不是后续连续迁移。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左图回答“真实 source outcomes 相比 target-only 是否改善有限预算搜索”。ChemLex 到 Buchwald–Hartwig 的 AUC 提升 +9.672，95% CI 为 [+7.405, +11.939]；dielectric 到 experimental gap 提升 +48.954，区间为 [+44.050, +53.857]；Lipophilicity 到 FreeSolv 为 -1.027，区间为 [-1.228, -0.826]。所以 reaction 和 materials 的 source-informed starts 确实更早找到好候选，但 molecular 路线仍有负迁移。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右图回答更严格的问题：正确 outcome 绑定是否优于随机绑定。真实绑定相对 19 个置换均值分别为 +20.347、+47.766 和 +0.451，但 one-sided empirical p 值是 0.15、0.10 和 0.20，均未达到 0.05。这里不能因为 paired-seed CI 在零以上就说随机化检验显著：CI 衡量固定置换集合下跨 target seeds 的稳定性，p 值衡量正确绑定在 outcome-assignment null 中是否足够极端，后者才对应因果问题。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因此，这一页支持“source-informed initial design 在两条路线有效”，不支持“正确 source feature–outcome association 已被验证”。论文应把 source-outcome learning 降为待确认机制，把 LLM-compiled semantic skill、可执行 compiler、falsification 和安全拒绝作为更稳的主贡献。下一步应在新路线和前瞻任务上预先冻结相同检验，而不是继续从这三条已知路线调规则。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experiments/care_replay/configs/source_outcome_falsification_v1.json</a:t>
            </a:r>
          </a:p>
          <a:p xmlns:a="http://schemas.openxmlformats.org/drawingml/2006/main">
            <a:r>
              <a:t>- experiments/care_replay/results/2026-08-24-source-outcome-falsification-v1/falsification_report.json</a:t>
            </a:r>
          </a:p>
          <a:p xmlns:a="http://schemas.openxmlformats.org/drawingml/2006/main">
            <a:r>
              <a:t>- experiments/care_replay/results/2026-08-24-source-outcome-falsification-v1/trajectory_metrics.csv</a:t>
            </a:r>
          </a:p>
          <a:p xmlns:a="http://schemas.openxmlformats.org/drawingml/2006/main">
            <a:r>
              <a:t>- experiments/care_replay/scripts/plot_source_outcome_falsification.py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这页回答一个很实际的问题：LLM 每次说“这个候选会刷新当前最好结果”的概率，能不能被当作可信的自我判断。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我们使用完整归档中的 170 次真实决策，覆盖 17 条 source-target 路线。每一轮都记录了最终 proposer-critic 对“所执行候选会改善当前 best”的概率。为了不把候选选择能力和概率估计能力混在一起，我们拿生产 GP 对同一个已执行候选给出的 improvement probability 做对照。最终有 27 / 170 轮真正刷新了 pre-round best，真实发生率为 0.159。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左图是 reliability diagram。LLM 的平均概率为 0.219，比实际发生率高 0.060；同候选 GP 的平均概率为 0.182，高 0.023。LLM 的 Brier score 是 0.133，GP 是 0.134，数值几乎一样。右图展示逐路线的 Brier 差，负值表示 LLM 更好、正值表示 GP 更好。17 条路线里 LLM 在 7 条更好，GP 在 10 条更好。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把每条路线等权后，LLM 减 GP 的 Brier 差为 -0.0016，route-bootstrap 95% 区间是 [-0.0132, +0.0090]，跨过 0。ROC-AUC 的路线等权差也是 +0.0308，95% 区间 [-0.0581, +0.1373]，同样跨 0。因此当前不能说 LLM 的概率比 GP 稳定，也不能把原始 LLM confidence 直接当成 transfer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这项负结果对框架反而很重要：下一步应只在 development routes 上拟合 calibration map，再把 map 和 abstention threshold 一起冻结，最后去新的 disjoint routes 做前瞻验证。这样 gate 是经过外部校准的，不是模型自己说有多自信就信多少。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experiments/care_replay/configs/llm_probability_calibration_audit_v1.json</a:t>
            </a:r>
          </a:p>
          <a:p xmlns:a="http://schemas.openxmlformats.org/drawingml/2006/main">
            <a:r>
              <a:t>- experiments/care_replay/results/2026-08-24-llm-probability-calibration-audit-v1/probability_calibration_report.json</a:t>
            </a:r>
          </a:p>
          <a:p xmlns:a="http://schemas.openxmlformats.org/drawingml/2006/main">
            <a:r>
              <a:t>- experiments/care_replay/results/2026-08-24-llm-probability-calibration-audit-v1/decision_calibration.csv</a:t>
            </a:r>
          </a:p>
          <a:p xmlns:a="http://schemas.openxmlformats.org/drawingml/2006/main">
            <a:r>
              <a:t>- experiments/care_replay/results/2026-08-24-llm-probability-calibration-audit-v1/route_calibration.csv</a:t>
            </a:r>
          </a:p>
          <a:p xmlns:a="http://schemas.openxmlformats.org/drawingml/2006/main">
            <a:r>
              <a:t>- experiments/care_replay/scripts/audit_llm_probability_calibration.py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这页回答一个更基本的问题：在线 LLM 真实调用后，是否改变了实验选择。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左图的橙色刻线表示在线 LLM 相对同开局 target-only GP 的 AUC 差值，六条路线全部为 0；蓝色条表示包含 LLM initial design 的 complete system 相对固定 initial design，三条正向、一条持平、两条负向，平均 -0.0087。右图直接检查行为：6 次都选择 GP rank 1，非 GP override 为 0，critic 改选为 0；其中 3 次文字上保留 source transfer，但并没有改变候选。六条成功轨迹共使用 99,243 tokens，单轮 authority limit 避免了 108 次后续名义调用。这证明 bounded authority 能省调用，却还不能证明在线 LLM 提高性能。当前需要优化的是 decision mechanism，不是继续增加相同调用次数。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experiments/care_replay/scripts/build_online_llm_decision_impact_audit.py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experiments/care_replay/results/2026-08-24-online-llm-bounded-authority-route-disjoint-confirmation-v1/pilot_audit/route_decision_metrics.csv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175ae5d6a4a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5609693a440ca" /><Relationship Type="http://schemas.openxmlformats.org/officeDocument/2006/relationships/slideLayout" Target="/ppt/slideLayouts/slideLayout1.xml" Id="Ra6076901ab634c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76901ab634c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22f70e8f4a96" /><Relationship Type="http://schemas.openxmlformats.org/officeDocument/2006/relationships/notesSlide" Target="/ppt/notesSlides/notesSlide1.xml" Id="R55c86fecd60948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3b0a85f3e4238" /><Relationship Type="http://schemas.openxmlformats.org/officeDocument/2006/relationships/notesSlide" Target="/ppt/notesSlides/notesSlide2.xml" Id="Rf1572c96df2f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f13f896f149ed" /><Relationship Type="http://schemas.openxmlformats.org/officeDocument/2006/relationships/notesSlide" Target="/ppt/notesSlides/notesSlide3.xml" Id="Redd8ab0a9aff42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3fc5ab07499c" /><Relationship Type="http://schemas.openxmlformats.org/officeDocument/2006/relationships/notesSlide" Target="/ppt/notesSlides/notesSlide4.xml" Id="R656bfeed7169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5dfe0e10d4751" /><Relationship Type="http://schemas.openxmlformats.org/officeDocument/2006/relationships/notesSlide" Target="/ppt/notesSlides/notesSlide5.xml" Id="R2166ce659f8c41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9064445c040fd" /><Relationship Type="http://schemas.openxmlformats.org/officeDocument/2006/relationships/notesSlide" Target="/ppt/notesSlides/notesSlide6.xml" Id="Rfd96dcbe561947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7aa5729f844f7" /><Relationship Type="http://schemas.openxmlformats.org/officeDocument/2006/relationships/notesSlide" Target="/ppt/notesSlides/notesSlide7.xml" Id="R78281a88de224a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9050e6f8948cc" /><Relationship Type="http://schemas.openxmlformats.org/officeDocument/2006/relationships/notesSlide" Target="/ppt/notesSlides/notesSlide8.xml" Id="Rfceb300d056041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349a231b142eb" /><Relationship Type="http://schemas.openxmlformats.org/officeDocument/2006/relationships/notesSlide" Target="/ppt/notesSlides/notesSlide9.xml" Id="R9794ffbc0b3647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b30a0025c4828" /><Relationship Type="http://schemas.openxmlformats.org/officeDocument/2006/relationships/image" Target="/ppt/media/image.png" Id="R3b130d07a1e44640" /><Relationship Type="http://schemas.openxmlformats.org/officeDocument/2006/relationships/image" Target="/ppt/media/image2.png" Id="R6c86555c60f4475e" /><Relationship Type="http://schemas.openxmlformats.org/officeDocument/2006/relationships/notesSlide" Target="/ppt/notesSlides/notesSlide10.xml" Id="R5a01f1f7c3a045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78d1013574f9b" /><Relationship Type="http://schemas.openxmlformats.org/officeDocument/2006/relationships/image" Target="/ppt/media/image.png" Id="R022eb0b4a79d4bf7" /><Relationship Type="http://schemas.openxmlformats.org/officeDocument/2006/relationships/image" Target="/ppt/media/image3.png" Id="R1cc1b696245d466c" /><Relationship Type="http://schemas.openxmlformats.org/officeDocument/2006/relationships/notesSlide" Target="/ppt/notesSlides/notesSlide11.xml" Id="Rd2a3f968f5e24b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54f4af6d43f2" /><Relationship Type="http://schemas.openxmlformats.org/officeDocument/2006/relationships/image" Target="/ppt/media/image.png" Id="R4a163189961047ec" /><Relationship Type="http://schemas.openxmlformats.org/officeDocument/2006/relationships/image" Target="/ppt/media/image4.png" Id="R2ab70c467fd54132" /><Relationship Type="http://schemas.openxmlformats.org/officeDocument/2006/relationships/notesSlide" Target="/ppt/notesSlides/notesSlide12.xml" Id="R5e920ed47ba744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4104f43364b91" /><Relationship Type="http://schemas.openxmlformats.org/officeDocument/2006/relationships/notesSlide" Target="/ppt/notesSlides/notesSlide13.xml" Id="Rbb25f2c2fd6a4e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6881745a34f3b" /><Relationship Type="http://schemas.openxmlformats.org/officeDocument/2006/relationships/image" Target="/ppt/media/image5.png" Id="R644d8c6acf4d4f26" /><Relationship Type="http://schemas.openxmlformats.org/officeDocument/2006/relationships/image" Target="/ppt/media/image6.png" Id="Rc8f4a6d630974f82" /><Relationship Type="http://schemas.openxmlformats.org/officeDocument/2006/relationships/notesSlide" Target="/ppt/notesSlides/notesSlide14.xml" Id="R6efcd49b00cf4a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234f26b9b4bbf" /><Relationship Type="http://schemas.openxmlformats.org/officeDocument/2006/relationships/image" Target="/ppt/media/image5.png" Id="R4e80edf5a3ef41cf" /><Relationship Type="http://schemas.openxmlformats.org/officeDocument/2006/relationships/image" Target="/ppt/media/image7.png" Id="R67684ef3704f4796" /><Relationship Type="http://schemas.openxmlformats.org/officeDocument/2006/relationships/notesSlide" Target="/ppt/notesSlides/notesSlide15.xml" Id="R28896df4a80348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8fe548da94180" /><Relationship Type="http://schemas.openxmlformats.org/officeDocument/2006/relationships/image" Target="/ppt/media/image.png" Id="R87b946d31e1a4e27" /><Relationship Type="http://schemas.openxmlformats.org/officeDocument/2006/relationships/image" Target="/ppt/media/image8.png" Id="R119c00192d4a45cc" /><Relationship Type="http://schemas.openxmlformats.org/officeDocument/2006/relationships/image" Target="/ppt/media/image9.png" Id="Rb1c2ac8512ba4490" /><Relationship Type="http://schemas.openxmlformats.org/officeDocument/2006/relationships/notesSlide" Target="/ppt/notesSlides/notesSlide16.xml" Id="R26309241906b4d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f68d227654648" /><Relationship Type="http://schemas.openxmlformats.org/officeDocument/2006/relationships/image" Target="/ppt/media/image.png" Id="Ra85c3b4f332e4e25" /><Relationship Type="http://schemas.openxmlformats.org/officeDocument/2006/relationships/image" Target="/ppt/media/image8.png" Id="Ref1718cade234e05" /><Relationship Type="http://schemas.openxmlformats.org/officeDocument/2006/relationships/notesSlide" Target="/ppt/notesSlides/notesSlide17.xml" Id="R7a9190da691743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 LLM 把历史经验编译成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可验证的迁移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先编译、再校准，冻结后交给目标优化器执行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LLM-generated skills · 真实数据与在线审计 · 2026-08-24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编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校准 / 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目标优化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最新证据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11 路线有平均正向信号；完整 17 路线仍未确认普遍提升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 条路线 · 同预算对照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6 / 2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胜 / 平 / 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target-only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逐轮参与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每条路线 10 轮在线决策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[+0.41, +3.31]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符号检验不显著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完整历史盘点扩到 17 条路线后，平均增益降为 +0.76，区间 [-0.50,+2.09]。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因此当前结论是路线特异的正向信号，而不是普遍跨领域提升。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真正的问题不是让 LLM 会说，而是让它在有限预算里做对实验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迁移前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source 任务的历史证据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的变量和候选空间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未执行条件的答案隐藏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生成候选菜单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Proposer 提案，Critic 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只执行并揭示一个条件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GP、假设和下一轮选择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判断标准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好结果是否更早出现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起点、候选和预算完全匹配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全过程无 target 泄漏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正迁移和负迁移都保留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问题定义：同起点、同预算下，LLM 能否利用旧证据，比 target-only GP 更早找到高值条件？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完整在线版每轮选择；最新 pilot 只保留第一轮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整理证据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读取 source 规律与 target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建立候选菜单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GP 估计 + source prior + 覆盖点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提出可证伪假设并选一个候选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Critic 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接受、退回 GP 或改选候选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执行并更新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揭示一个结果，刷新状态和下一轮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权限在实验中受限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历史完整在线版：10 / 10；bounded pilot：1 / 10，后续交回 GP。首批 6 次均未 override GP rank 1。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未选择条件的答案始终隐藏，直到该轮真正执行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source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和 target 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相同初始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 个观测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各自选择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候选真实值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保存选择、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结果和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匹配条件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target 初始观测 · 相同候选空间 · 相同 10 轮预算 · 对照组不使用 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harness 不能替代湿实验，但能无泄漏地比较搜索效率，并复现每一次决策。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Reward 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Reward 衡量“多快找到好结果”，不会训练 LLM 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当轮状态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第 t 轮揭示结果 yₜ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当前最好 bₜ=max(y₁…yₜ)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越早提高 bₜ，后续轮次受益越多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最终 best 相同，AUC 仍可能不同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R=(1/T) Σ bₜ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 越高，搜索效率越好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只在相同 T 和起点下比较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报告 ΔAUC、CI 和胜/平/负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target 观测历史和当前 best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GP 后验与候选排序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假设和是否继续迁移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trace；不更新 LLM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新结果更新实验状态和下一轮决策，不做梯度训练，也不会自动写成永久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主对照怎么做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主比较固定相同开局和预算，只改变后续是否使用 LLM + source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 LLM Scientist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同开局 target-only 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传统 transfer 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 3 个观测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 LLM compiled initial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与在线 LLM 完全相同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与主对照匹配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后续候选选择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RGPE / multitask GP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在线揭示轮数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未执行 target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主对照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传统 transfer 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11 路线审计：相对 target GP 平均 +1.75；面对每条路线事后最强 baseline 为 3 胜、1 平、7 负。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每轮看什么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是在线策略专家：读证据、提出假设、选择下一次实验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已揭示 target 历史与当前 best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证据和冻结初始假设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GP 均值、不确定性和 EI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候选菜单；隐藏真实答案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Opus 4.8 / GLM 5.3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更新一个可证伪假设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选择一个候选并说明理由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列出支持和反对证据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决定继续迁移或回退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执行一个候选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只揭示该候选的真实 target 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重训 GP，刷新菜单与当前 best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保存完整 trace；进入下一轮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完整保存：prompt、原始回答、模型、token 用量、选择者、候选条件、揭示结果和文件哈希。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真实推理案例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没照搬 GP rank 1，第一轮把 best 从 67.25 提到 86.875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冻结假设 · FreeSolv → Lipophilicity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溶剂化偏好与脂溶性沿相反轴变化：卤素丰富、低极性的芳香分子可能在 target 中更好。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选择 /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真实揭示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best = lipo_3444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 lipo_0635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GP rank 4 · EI 3.90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待执行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第 1 轮执行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揭示 lipo_0635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模型预期 62.0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86.875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+19.625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为什么不选 GP rank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该候选 EI 略高，且卤素丰富、低极性结构与已观测赢家一致。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这是保存的单条真实 trace，不代表所有路线都会成功。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策略稳定性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一轮授权在 10 / 11 个开发折中被重新选中；冻结评估仍有 1 条负迁移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30d07a1e4464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controller stability audit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6555c60f447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证据强度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两次调用总体同为 6 / 2 / 3，但 4 条路线翻转正负号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b0b4a79d4bf7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1b696245d46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材料迁移案例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拒绝不可靠迁移后仍更早找到高值材料；单位语义错误 5 →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63189961047ec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70c467fd54132"/>
          <a:srcRect xmlns:a="http://schemas.openxmlformats.org/drawingml/2006/main" l="0" t="1200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为什么有些 case 有增益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有效的前提：表示对齐，并真正改变实验动作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什么时候有效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语义特征与目标性质对齐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Matbench 元素数分组：AUC +6.17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Lipophilicity 芳香性分组：AUC +1.26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目标数据负责重新学习权重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增益来自哪里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主要改善初始实验覆盖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ChemLex → BH 开局收益最明显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固定开局后，连续 source 增量为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patch 也没有额外增益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什么时候失效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目标方向不一致：Lipo → FreeSolv -29.90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决策冗余：6 / 6 仍选 GP rank 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outcome summary 未优于 schema-only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合理解释不等于性能证据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判断标准：semantic alignment + action change + target recalibration；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缺少其中一项，迁移通常持平或转负。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Hidden-label 非干预审计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170 / 170 决策状态通过；打乱 2,725,689 个未揭示标签后输入完全不变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hidden-target non-interference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d8c6acf4d4f26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4a6d630974f82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Source-outcome 因果检验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两条路线优于 target-only，但正确 outcome 绑定未通过置换检验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source-outcome audit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0edf5a3ef41cf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84ef3704f4796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自报概率可靠吗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略偏乐观；170 轮校准未显著优于同候选 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946d31e1a4e27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probability calibration audit · 2026-08-24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c00192d4a45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2ac8512ba4490"/>
          <a:stretch xmlns:a="http://schemas.openxmlformats.org/drawingml/2006/main"/>
        </p:blipFill>
        <p:spPr>
          <a:xfrm xmlns:a="http://schemas.openxmlformats.org/drawingml/2006/main">
            <a:off x="1557866" y="1257300"/>
            <a:ext cx="907626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在线 LLM 首批真实调用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 / 6 选择 GP rank 1；在线 AUC 增量 0；共使用 99,243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c3b4f332e4e25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718cade234e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2026-08-25T05:36:54.6800000Z</dcterms:created>
  <dcterms:modified xsi:type="dcterms:W3CDTF">2026-08-25T05:36:54.6800000Z</dcterms:modified>
</coreProperties>
</file>