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db47044d442bb" /><Relationship Type="http://schemas.openxmlformats.org/officeDocument/2006/relationships/extended-properties" Target="/docProps/app.xml" Id="R7d10b4cba6d146db" /><Relationship Type="http://schemas.openxmlformats.org/officeDocument/2006/relationships/officeDocument" Target="/ppt/presentation.xml" Id="R20afd571f1cd4a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6444483faa4a23"/>
  </p:sldMasterIdLst>
  <p:notesMasterIdLst>
    <p:notesMasterId xmlns:r="http://schemas.openxmlformats.org/officeDocument/2006/relationships" r:id="Rfb4e63901fc2458d"/>
  </p:notesMasterIdLst>
  <p:sldIdLst>
    <p:sldId xmlns:r="http://schemas.openxmlformats.org/officeDocument/2006/relationships" id="256" r:id="R0cf91af2a0e34bca"/>
    <p:sldId xmlns:r="http://schemas.openxmlformats.org/officeDocument/2006/relationships" id="257" r:id="Rfd7b8d4857c94807"/>
    <p:sldId xmlns:r="http://schemas.openxmlformats.org/officeDocument/2006/relationships" id="258" r:id="R5a48ba22e6824b76"/>
    <p:sldId xmlns:r="http://schemas.openxmlformats.org/officeDocument/2006/relationships" id="259" r:id="R66d8800794d94f4a"/>
    <p:sldId xmlns:r="http://schemas.openxmlformats.org/officeDocument/2006/relationships" id="260" r:id="R5009f3d3084c4a99"/>
    <p:sldId xmlns:r="http://schemas.openxmlformats.org/officeDocument/2006/relationships" id="261" r:id="R037660dd2a1e455b"/>
    <p:sldId xmlns:r="http://schemas.openxmlformats.org/officeDocument/2006/relationships" id="262" r:id="Rb5fd0e7cb539454b"/>
    <p:sldId xmlns:r="http://schemas.openxmlformats.org/officeDocument/2006/relationships" id="263" r:id="R4277d111119e443c"/>
    <p:sldId xmlns:r="http://schemas.openxmlformats.org/officeDocument/2006/relationships" id="264" r:id="R0a5044ee4b814785"/>
    <p:sldId xmlns:r="http://schemas.openxmlformats.org/officeDocument/2006/relationships" id="265" r:id="R68d41be2318c4d28"/>
    <p:sldId xmlns:r="http://schemas.openxmlformats.org/officeDocument/2006/relationships" id="266" r:id="R58bbc9ace5864677"/>
    <p:sldId xmlns:r="http://schemas.openxmlformats.org/officeDocument/2006/relationships" id="267" r:id="Rf0d63659aef54d5b"/>
    <p:sldId xmlns:r="http://schemas.openxmlformats.org/officeDocument/2006/relationships" id="268" r:id="Re0738f8857834e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e36bebba074cce" /><Relationship Type="http://schemas.openxmlformats.org/officeDocument/2006/relationships/slideMaster" Target="/ppt/slideMasters/slideMaster1.xml" Id="Rb16444483faa4a23" /><Relationship Type="http://schemas.openxmlformats.org/officeDocument/2006/relationships/notesMaster" Target="/ppt/notesMasters/notesMaster1.xml" Id="Rfb4e63901fc2458d" /><Relationship Type="http://schemas.openxmlformats.org/officeDocument/2006/relationships/presProps" Target="/ppt/presProps.xml" Id="R4b2be865a2cb4d51" /><Relationship Type="http://schemas.openxmlformats.org/officeDocument/2006/relationships/tableStyles" Target="/ppt/tableStyles.xml" Id="R09661cb3630845c4" /><Relationship Type="http://schemas.openxmlformats.org/officeDocument/2006/relationships/slide" Target="/ppt/slides/slide1.xml" Id="R0cf91af2a0e34bca" /><Relationship Type="http://schemas.openxmlformats.org/officeDocument/2006/relationships/slide" Target="/ppt/slides/slide2.xml" Id="Rfd7b8d4857c94807" /><Relationship Type="http://schemas.openxmlformats.org/officeDocument/2006/relationships/slide" Target="/ppt/slides/slide3.xml" Id="R5a48ba22e6824b76" /><Relationship Type="http://schemas.openxmlformats.org/officeDocument/2006/relationships/slide" Target="/ppt/slides/slide4.xml" Id="R66d8800794d94f4a" /><Relationship Type="http://schemas.openxmlformats.org/officeDocument/2006/relationships/slide" Target="/ppt/slides/slide5.xml" Id="R5009f3d3084c4a99" /><Relationship Type="http://schemas.openxmlformats.org/officeDocument/2006/relationships/slide" Target="/ppt/slides/slide6.xml" Id="R037660dd2a1e455b" /><Relationship Type="http://schemas.openxmlformats.org/officeDocument/2006/relationships/slide" Target="/ppt/slides/slide7.xml" Id="Rb5fd0e7cb539454b" /><Relationship Type="http://schemas.openxmlformats.org/officeDocument/2006/relationships/slide" Target="/ppt/slides/slide8.xml" Id="R4277d111119e443c" /><Relationship Type="http://schemas.openxmlformats.org/officeDocument/2006/relationships/slide" Target="/ppt/slides/slide9.xml" Id="R0a5044ee4b814785" /><Relationship Type="http://schemas.openxmlformats.org/officeDocument/2006/relationships/slide" Target="/ppt/slides/slide10.xml" Id="R68d41be2318c4d28" /><Relationship Type="http://schemas.openxmlformats.org/officeDocument/2006/relationships/slide" Target="/ppt/slides/slide11.xml" Id="R58bbc9ace5864677" /><Relationship Type="http://schemas.openxmlformats.org/officeDocument/2006/relationships/slide" Target="/ppt/slides/slide12.xml" Id="Rf0d63659aef54d5b" /><Relationship Type="http://schemas.openxmlformats.org/officeDocument/2006/relationships/slide" Target="/ppt/slides/slide13.xml" Id="Re0738f8857834e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9840e2ab5249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b2e80789744ae1" /><Relationship Type="http://schemas.openxmlformats.org/officeDocument/2006/relationships/notesMaster" Target="/ppt/notesMasters/notesMaster1.xml" Id="Rf9195b87c82247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63f678ad884adb" /><Relationship Type="http://schemas.openxmlformats.org/officeDocument/2006/relationships/notesMaster" Target="/ppt/notesMasters/notesMaster1.xml" Id="R6e2d1cb2fe8242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28708f9a344ae" /><Relationship Type="http://schemas.openxmlformats.org/officeDocument/2006/relationships/notesMaster" Target="/ppt/notesMasters/notesMaster1.xml" Id="Rfa860aadca9d4c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2ae677f5d4b3c" /><Relationship Type="http://schemas.openxmlformats.org/officeDocument/2006/relationships/notesMaster" Target="/ppt/notesMasters/notesMaster1.xml" Id="R1a8960640ba34e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f63f1992da46d3" /><Relationship Type="http://schemas.openxmlformats.org/officeDocument/2006/relationships/notesMaster" Target="/ppt/notesMasters/notesMaster1.xml" Id="R3ece6a5ebe434c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7b5f2e8b82458d" /><Relationship Type="http://schemas.openxmlformats.org/officeDocument/2006/relationships/notesMaster" Target="/ppt/notesMasters/notesMaster1.xml" Id="R67f3cc23fc0a4d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1598c08274e1a" /><Relationship Type="http://schemas.openxmlformats.org/officeDocument/2006/relationships/notesMaster" Target="/ppt/notesMasters/notesMaster1.xml" Id="Rb1e69acea2fc47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ec0aa49cca4fec" /><Relationship Type="http://schemas.openxmlformats.org/officeDocument/2006/relationships/notesMaster" Target="/ppt/notesMasters/notesMaster1.xml" Id="R961f8eae1b8d44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7e99c0fd324c39" /><Relationship Type="http://schemas.openxmlformats.org/officeDocument/2006/relationships/notesMaster" Target="/ppt/notesMasters/notesMaster1.xml" Id="Rfcd9c2692e2f41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a71619090f4f9d" /><Relationship Type="http://schemas.openxmlformats.org/officeDocument/2006/relationships/notesMaster" Target="/ppt/notesMasters/notesMaster1.xml" Id="R66c34c28a5c448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adc57ac67744b2" /><Relationship Type="http://schemas.openxmlformats.org/officeDocument/2006/relationships/notesMaster" Target="/ppt/notesMasters/notesMaster1.xml" Id="R561f4b9300254c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74a767cabf4496" /><Relationship Type="http://schemas.openxmlformats.org/officeDocument/2006/relationships/notesMaster" Target="/ppt/notesMasters/notesMaster1.xml" Id="R366fca4a317945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fcfc8c44014c9e" /><Relationship Type="http://schemas.openxmlformats.org/officeDocument/2006/relationships/notesMaster" Target="/ppt/notesMasters/notesMaster1.xml" Id="Re150b13f9f68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CARE 2.0 用真实 LLM 把历史实验经验变成新实验可以执行的建议。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开场可以这样说：我们面对的不是一道已经有答案的题，而是一组昂贵的新实验。每做一次实验都要花时间和成本，所以我们希望过去做过的实验不要白费。CARE 2.0 做的事，就是把旧实验里的经验整理出来，帮助新实验更快找到好条件。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这次介绍的是 LLM 参与版。LLM 不是负责直接猜最终结果，也不是单纯写一段解释。它会阅读已经完成的历史实验，提出一个可以被验证的判断，并推荐新实验最先做哪三个条件。随后系统用统一方法继续优化，并把整个过程保存下来。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LLM=大语言模型；历史实验=已经做完并知道结果的实验；新实验=还没有揭示结果的目标任务。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下一页进入：先看结论：LLM 已参与，但还需要新任务确认。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/Users/rentamac/Documents/Codex/2026-05-12/CARE2.0/experiments/care_replay/results/2026-08-12-status-and-ppt/CARE2_CURRENT_STATUS_CN.md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固定方法已有一个严格外部正例；真实 LLM 在五个既有任务上平均提高搜索效率。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这一页只需要让听众记住两件事。第一，在一个事先没有看过结果的新 Suzuki 任务上，固定版 CARE 把全过程搜索效率提高了 8.66。这证明历史实验确实可能帮助新实验更快找到好条件，但这条外部结果本身没有使用 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第二，我们随后真实调用了 GPT-5.4，让它参与五个任务的开局选择。相对固定版，平均搜索效率提高 2.12，五个任务中有四个没有变差。不过统计区间仍然跨过零，而且这些任务过去被项目使用过。因此最准确的说法是：LLM 已经真实参与并出现正向信号，但还需要在全新任务上确认。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搜索效率=好结果出现得越早，效率越高；外部任务=策略确定后才第一次查看结果的任务。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下一页进入：为什么要做知识迁移。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/Users/rentamac/Documents/Codex/2026-05-12/CARE2.0/experiments/care_replay/results/2026-08-10-baumgartner-warmstart-v2-external-confirmation/README.md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实验昂贵，真正的问题是怎样用更少的尝试找到更好的条件。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可以把它想成第一次做一道新菜。我们知道有哪些食材、温度和时间可以选择，但不知道哪一种组合最好。每试一次都要付出成本。历史上做过的类似菜谱可能有帮助，但也可能因为食材不同而误导我们。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CARE 2.0 每一轮只允许选择一个实验，做完以后才看到这个实验的结果，然后再决定下一轮。系统的目标不是把整张答案表背下来，而是在相同实验次数下更早找到高质量条件，同时避免错误迁移浪费预算。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候选条件=可以选择的一组实验参数；实验预算=最多允许做多少次新实验。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下一页进入：系统怎么工作。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/Users/rentamac/Documents/Codex/2026-05-12/CARE2.0/experiments/care_replay/CARE2_METHOD.md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旧实验负责提供开局建议，新实验开始后只根据真实的新结果继续学习。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整条流程可以分成五步。第一，读入已经完成的历史实验。第二，从多个历史任务中找出比较一致的规律。第三，把规律整理成一个可以执行的技能，例如优先尝试哪些区域。第四，选择新任务最先做的三个实验。第五，做完这三个实验以后，历史信息退出，后面只根据新任务已经观察到的结果继续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这样设计的好处是归因清楚。如果 CARE 和基线最后不同，主要差别来自开局三个实验，而不是后面偷偷用了更多数据或不同预算。LLM 参与的是提出科学假设和选择语义锚点，数值优化器负责后续稳定搜索。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技能=包含建议、使用范围和失败条件的可执行策略；开局实验=最先执行的少量实验。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下一页进入：Replay Harness 是什么。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/Users/rentamac/Documents/Codex/2026-05-12/CARE2.0/experiments/care_replay/BAUMGARTNER_WARMSTART_V2_PROTOCOL.md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它用历史真实数据模拟逐轮实验，但算法不能提前看到整张答案表。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Replay Harness 可以理解成一个实验模拟器。完整数据表被系统保存在后台，扮演真实实验环境；算法看不到全部结果。每一轮，算法只能提交一个候选条件，环境返回这个条件的真实测量值，然后算法才能做下一次选择。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这种方式比普通的表格预测更接近真实实验节奏。我们还能保证所有方法使用相同候选集合、相同开局点数和相同后续轮数。每一轮选了什么、为什么选、得到什么结果、当前最好值是多少，都会写入日志。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Replay=用已有真实实验表重放逐轮决策；日志=每一轮选择和结果的完整记录。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下一页进入：LLM 输出的不只是一段文字。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/Users/rentamac/Documents/Codex/2026-05-12/CARE2.0/experiments/care_replay/CARE2_METHOD.md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必须给出明确的三个候选、理由、信心和失败条件。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LLM 能看到的是历史实验结果、新任务有哪些可选参数，以及候选条件的公开信息。它明确看不到新任务的实验结果。模型需要输出一个结构化方案：它认为哪条历史规律可能适用于新任务、建议最先做哪三个实验、每个实验承担什么作用、信心有多高，以及什么现象会说明这个判断不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这一步很重要，因为只有结构化输出才能真正执行和审计。单纯让 LLM 写“这个任务可能相似”没有实验意义。CARE 会把模型的输出冻结成 JSON，保存原始 prompt、原始回答、模型版本和哈希，然后才开始 replay。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假设=可以被实验支持或推翻的判断；冻结=生成后不再根据目标结果修改。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下一页进入：怎样证明 CARE 真的有用。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/Users/rentamac/Documents/Codex/2026-05-12/CARE2.0/experiments/care_replay/CARE2_METHOD.md</a:t>
            </a:r>
          </a:p>
          <a:p xmlns:a="http://schemas.openxmlformats.org/drawingml/2006/main">
            <a:r>
              <a:t>- /Users/rentamac/Documents/Codex/2026-05-12/CARE2.0/experiments/care_replay/BAUMGARTNER_WARMSTART_V2_PROTOCOL.md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所有方法只有前三个实验不同，后续算法和实验次数完全相同。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我们比较三个主要对照。CARE 根据历史实验选择前三个点；随机对照随机选择前三个点，但之后也运行同一个优化器；空间覆盖对照选择彼此分散的三个点，之后同样运行这个优化器。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所以随机对照不是从头到尾瞎猜，它只是在开局不使用历史知识。后续每一组都采用相同的选点算法、相同的十轮实验和相同的候选空间。这样如果 CARE 更早找到好结果，我们才可以把差异归因于历史知识或 LLM 建议，而不是计算量不公平。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基线=用来判断新方法是否真的更好的对照；target-only=只使用新任务已经观察到的数据。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下一页进入：一个严格外部任务上的结果。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/Users/rentamac/Documents/Codex/2026-05-12/CARE2.0/experiments/care_replay/BAUMGARTNER_WARMSTART_V2_PROTOCOL.md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固定 v2 更早找到好条件，并在第五次总观测时找到 100% 产率。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左图比较的是整个搜索过程。绿色的 Frozen v2 得分是 98.06，高于空间覆盖的 89.40 和随机方法的平均 88.84。这个数字越高，代表越早找到高产率条件。右图比较最后找到的最好结果，v2 达到 100% 产率，空间覆盖是 91.82，随机平均是 94.77。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这条证据最严格，因为规则在查看目标任务结果前已经锁定。不过要再次提醒：这个外部结果验证的是历史实验驱动的固定开局，不是 LLM 的外部验证。LLM 的独立结果在后面三页。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产率=化学反应得到目标产物的比例；100% 是产率，不是模型准确率。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下一页进入：LLM 真正参与了哪一步。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/Users/rentamac/Documents/Codex/2026-05-12/CARE2.0/experiments/care_replay/results/2026-08-10-baumgartner-warmstart-v2-external-confirmation/README.md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先提出科学方向，再由安全层把建议变成稳妥的三个实验。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左边是 LLM 的输入：历史实验结果、新任务的参数结构、公开候选条件和一个候选短名单，里面没有新任务答案。中间是真实的 GPT-5.4 调用。它输出三个候选、科学理由、信心和失败条件。右边是执行方式。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我们测试两种版本。Raw LLM 直接执行模型选择的三个点；Compiled LLM 保留一个 LLM 认为最有科学意义的点，再加入一个历史数据最支持的点和一个增加覆盖面的点。之后两种方法都进入完全相同的 target-only 优化。所有调用时间、token、原始回答和哈希都已保存，密钥没有保存。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Raw LLM=直接采用模型建议；Compiled LLM=经过安全层整理后的模型建议。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下一页进入：Suzuki 案例：LLM 的方向对，但直接选点太集中。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  <a:p xmlns:a="http://schemas.openxmlformats.org/drawingml/2006/main">
            <a:r>
              <a:t>- /Users/rentamac/Documents/Codex/2026-05-12/CARE2.0/experiments/care_replay/scripts/run_llm_initial_design_hypothesis.py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安全层保留 LLM 的科学判断，同时补足数据覆盖，最终超过固定版。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LLM 判断高温、高催化剂用量区域更有希望，并认为温度是主要因素，信心为 0.73。这个科学方向有道理，但 Raw LLM 选择的三个点都太集中，导致后续模型看不到足够多样的信息，全过程得分只有 91.819，低于固定版的 98.061。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安全层没有丢掉 LLM，而是保留它选出的一个关键点，再加入历史数据最支持的点和一个用于扩大覆盖的点。这个组合的全过程得分达到 100，比固定版高 1.939，最终两者都找到 100% 产率。它说明 LLM 更适合提供科学语义和假设，数值安全层负责把想法变成稳妥实验设计。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语义锚点=最能代表 LLM 科学判断的候选；覆盖=让初始实验不要全部挤在同一区域。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下一页进入：五个任务的 LLM 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/Users/rentamac/Documents/Codex/2026-05-12/CARE2.0/experiments/care_replay/results/2026-08-12-llm-hypothesis-initial-design/suzuki_minlp2/evaluation_compiled/summary.json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/Users/rentamac/Documents/Codex/2026-05-12/CARE2.0/experiments/care_replay/results/2026-08-12-llm-hypothesis-initial-design/suzuki_minlp2/llm_hypothesis_record.json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平均搜索效率提高 2.12，四个任务没有下降，但还没有达到统计上的普遍胜出。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五个任务都进行了真实模型调用。与固定 v2 相比，Suzuki 提高 1.939，Morpholine-AlPhos 提高 5.203，Phenethylamine-AlPhos 下降 0.947，Morpholine-tBuBrettPhos 提高 4.422，另一个 preliminary 任务持平。平均提高 2.123，三胜、一平、一负；最终找到的最好结果五个都没有下降。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但红框中的置信区间从 -0.226 到 4.473，仍然包含零。用普通话说，就是平均结果看起来更好，但任务数量还少，不能排除其中一部分来自任务差异或偶然波动。因此我们报告正向信号，也保留失败案例。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置信区间跨零=目前数据还不足以断言平均提升一定大于零。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下一页进入：现在可以说什么，不能说什么。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/Users/rentamac/Documents/Codex/2026-05-12/CARE2.0/experiments/care_replay/results/2026-08-12-llm-hypothesis-initial-design/aggregate/suite_summary.json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已真实参与且平均为正；还不能说它在所有新任务上都更好。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已经成立的有四点：系统可以逐轮、可审计地重放真实实验；固定版在一个严格外部任务上明显提高搜索效率；LLM 可以生成真正可执行的实验假设；在五个既有任务上，LLM 方案平均提高 2.12。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仍未成立的也要清楚：我们还没有证明任意领域之间都能稳定迁移，也没有证明 LLM 在全新的任务上普遍超过固定规则。项目当前最可靠的定位，是一个可信的知识迁移框架：它会提出建议，也允许拒绝迁移；成功、失败和被拒绝的案例都会进入知识库。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可信不等于每次都迁移；能够识别风险并退回基线，也是系统能力。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下一页进入：下一步怎么验证。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/Users/rentamac/Documents/Codex/2026-05-12/CARE2.0/experiments/care_replay/results/2026-08-12-status-and-ppt/CARE2_CURRENT_STATUS_CN.md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先锁定 LLM 方法，再到全新任务上测试，避免看到答案后改规则。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下一步最重要的不是继续在旧任务上调到更高，而是冻结整套确认协议。我们要事先确定使用哪个 prompt、哪个模型版本、Raw 还是 Compiled、使用多少实验轮数、比较什么指标，并保存对应哈希。之后再第一次打开全新目标任务的结果。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对照至少包括固定 v2、LLM hypothesis 方案和格式完全匹配的随机假设。随着独立新任务增加，我们才能计算任务层面的置信区间，判断 LLM 是否具有稳定泛化能力。领域扩展也要循序渐进：先做反应到反应、分子到分子、材料到材料，再讨论更远距离的跨领域迁移。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确认协议=在看到新任务结果前锁定的实验规则；泛化=在没有针对性调参的新任务上仍然有效。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汇报结束，进入讨论。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/Users/rentamac/Documents/Codex/2026-05-12/CARE2.0/experiments/care_replay/results/2026-08-12-status-and-ppt/CARE2_CURRENT_STATUS_CN.md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a7547e13e40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736d4972384b50" /><Relationship Type="http://schemas.openxmlformats.org/officeDocument/2006/relationships/slideLayout" Target="/ppt/slideLayouts/slideLayout1.xml" Id="Re2bf6e28329d45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bf6e28329d45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be3413403457a" /><Relationship Type="http://schemas.openxmlformats.org/officeDocument/2006/relationships/notesSlide" Target="/ppt/notesSlides/notesSlide1.xml" Id="Rf10f4f00ad0d47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68673e5c64332" /><Relationship Type="http://schemas.openxmlformats.org/officeDocument/2006/relationships/notesSlide" Target="/ppt/notesSlides/notesSlide2.xml" Id="R02757434eb8f4e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dfea97eb54bed" /><Relationship Type="http://schemas.openxmlformats.org/officeDocument/2006/relationships/notesSlide" Target="/ppt/notesSlides/notesSlide3.xml" Id="R70f30c33a8ff4d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b91656bbc465d" /><Relationship Type="http://schemas.openxmlformats.org/officeDocument/2006/relationships/notesSlide" Target="/ppt/notesSlides/notesSlide4.xml" Id="Rf2a6046348a846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8f811ab584ad8" /><Relationship Type="http://schemas.openxmlformats.org/officeDocument/2006/relationships/notesSlide" Target="/ppt/notesSlides/notesSlide5.xml" Id="R8655d2f26b8d43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59c3b14914278" /><Relationship Type="http://schemas.openxmlformats.org/officeDocument/2006/relationships/notesSlide" Target="/ppt/notesSlides/notesSlide6.xml" Id="Rfe7b0bd1ca5b49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a4847162845ca" /><Relationship Type="http://schemas.openxmlformats.org/officeDocument/2006/relationships/notesSlide" Target="/ppt/notesSlides/notesSlide7.xml" Id="R509737cea3f94e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d253571454a06" /><Relationship Type="http://schemas.openxmlformats.org/officeDocument/2006/relationships/image" Target="/ppt/media/image.png" Id="Rc9bb21698f2c4012" /><Relationship Type="http://schemas.openxmlformats.org/officeDocument/2006/relationships/notesSlide" Target="/ppt/notesSlides/notesSlide8.xml" Id="Rd482fabb10fc4f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b6fc7eee041a1" /><Relationship Type="http://schemas.openxmlformats.org/officeDocument/2006/relationships/notesSlide" Target="/ppt/notesSlides/notesSlide9.xml" Id="R91e805e09dcd45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62f5bdf4642d2" /><Relationship Type="http://schemas.openxmlformats.org/officeDocument/2006/relationships/notesSlide" Target="/ppt/notesSlides/notesSlide10.xml" Id="R23260a12423a41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e25d9e3284be1" /><Relationship Type="http://schemas.openxmlformats.org/officeDocument/2006/relationships/notesSlide" Target="/ppt/notesSlides/notesSlide11.xml" Id="Rb6739fe59dbc40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8370a1eb64b39" /><Relationship Type="http://schemas.openxmlformats.org/officeDocument/2006/relationships/notesSlide" Target="/ppt/notesSlides/notesSlide12.xml" Id="R486dced15c7549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8525683884b77" /><Relationship Type="http://schemas.openxmlformats.org/officeDocument/2006/relationships/notesSlide" Target="/ppt/notesSlides/notesSlide13.xml" Id="R1ea7ddd3344641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E2C15-6ABA-42B1-B457-E524007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C9C7-C4E3-4DD7-951D-59BDBFD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让旧实验帮助新实验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DFA49-E869-4316-82E0-AE7932D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真实 LLM 提出实验假设，并推荐最先做的实验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DD5B-E903-4D1B-AC27-C8E2DE4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9B407-CB14-42D1-BD2A-C68115E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LLM 参与版 · 小白友好讲解 · 2026-08-12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DA70-6A3F-4935-B39E-B5A0F40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793F9-1E81-4BBA-906C-76088DA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历史实验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CE5F-8B09-4518-852C-BA0377A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430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E7B0A-73F5-49FF-BA20-6558F1CD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LLM 提建议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E8628-C659-424B-BC29-2C7A7FD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765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B5D6-297E-4D79-9009-DCAFFE6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新实验决策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37260-74A6-423C-B523-29AA57BA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100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FB91B-0953-4F09-A37F-D7065E70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记住成败</a:t>
            </a:r>
          </a:p>
        </p:txBody>
      </p:sp>
    </p:spTree>
    <p:extLst>
      <p:ext uri="{BB962C8B-B14F-4D97-AF65-F5344CB8AC3E}">
        <p14:creationId xmlns:p14="http://schemas.microsoft.com/office/powerpoint/2010/main" val="120959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09C1D-BC24-4D97-B373-8187A6B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先看结论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7B76D-3714-4077-9E5A-5434E3D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13817-9B8F-4473-95A8-03DE656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已经真实参与，但还需要全新任务确认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0172-89CA-4BEE-99B9-7ADFB772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EDF4B-1E23-407A-8648-DB6CE2E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+8.66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321D6-D098-45E3-B508-A697357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外部任务搜索效率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9EB89-3EE1-453C-9061-76076E9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固定版 CARE；不含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B03CB-DD3D-45D2-A755-F331C5B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+2.12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A55B1-D00B-440C-A77B-46BBCE14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平均搜索效率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7F159-6D89-4813-ADEE-6519E85B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5 个已有任务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A0859-E9DD-4993-BE56-F8C1226B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4 /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6B0A9-9811-41FC-AF0C-EE2B2D79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使用 LLM 后未变差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80269-F7AD-4ED9-B495-B8D3DA26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其中 3 个提高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5F63A-31DA-446D-BA11-3C45B12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1 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66E54-348A-405C-82CB-B016762B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严格外部任务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BF330-35A5-482E-B532-B6A2BD2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LLM 仍待外部验证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E76F5-A7CC-4337-A863-FA3176F8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129EB-5840-4AA8-85DE-F1F6CB5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目前最准确的结论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6D7B4-429C-468B-B182-19849074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7562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固定版已经在一个新任务上成功；LLM 也已真正参与实验开局。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目前 LLM 平均结果更好，但任务数还少，不能说所有任务都会提高。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202BF-2C18-4A93-AFFA-C3484446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621318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41906-50A8-4C88-8F91-09AB2CD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为什么要做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5AC5-2A53-41C7-9FB9-51BF2602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21F2-78BB-49E9-939C-B85FF9A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实验很贵：怎样少试几次，更早找到好条件？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67C0D-AE39-49BA-B9EF-35AB06AA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EC39-F19B-4FCD-8A2B-6AF1EF5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7DB6-67B7-44E2-A912-46847EFB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C7772-0453-4652-AEF5-9755DDE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开始前知道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7E4F1-3A93-4BE3-83DB-14527C9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过去做过哪些实验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新实验有哪些参数可选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最多还能做多少次实验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不知道新实验的答案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678EA-112E-4AA7-985C-3730B22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0F5D5-9E09-45F3-A766-0353F71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C4442-D55B-4631-B209-517CE9A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每轮决策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5AD0A-FD2A-44C7-AF68-070F74C1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选择一个实验条件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做完后才看到结果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根据新结果更新判断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继续选下一个实验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10776-5923-4272-B87F-28B3DA7A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4966F-7C0E-41A6-A23B-DDBC0A3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E0208-808E-4259-B9EE-C18402E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1106B-F8A9-40CC-BA2B-F18C9B3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更早找到高质量条件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相同次数下结果更好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全过程不偷看答案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错误建议能够被发现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30987-0E9D-42AB-92EE-A91CE84F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F8D78-8BF7-4E24-A37B-A65ACB73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核心问题：过去的实验经验，能不能让新实验少走弯路？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0C2BC-16C0-4CA7-B0A6-F9F9D0C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788105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EA91A-0C71-41B5-9F6A-1371C64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系统怎么工作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AA52-3472-4747-8A66-6E3D8CD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0953B-3723-4283-AD49-59F47D3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旧实验帮助开局，新实验开始后根据真实结果继续学习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64387-B85D-499F-8906-42356A9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7EDE-8671-4F76-8570-F70C5A7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47A4F-522A-4D8C-83A4-D9355C37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DA645-3FC2-4444-9C7B-0613294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BBB91-1B98-478D-9736-86358928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读取旧实验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D7F38-69FD-4B19-B2EE-0CE56FF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知道过去哪些条件表现好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1BA78-D401-4D2D-A379-96D4F07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CABB9-96DA-493C-8EED-00D34FF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6B480-FFAB-4DEE-B978-30020CE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456A2-CFE4-4979-8267-C9DBF45C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提炼共同规律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00609-21B6-49A6-AADB-CAEF0B4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避免被单个旧任务带偏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2CEEE-06FE-435E-B6F8-7A5CFF0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F4E04-C00D-42E1-AFA8-612F0F5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0D6DE-6CF6-4EE1-8982-12A67D8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F43F0-A0D4-4037-B559-2ADC9C65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提出假设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E9ECE-5994-40A1-A4EA-A5190A58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推荐最先尝试的方向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CD9CB-10D5-4BEB-88A5-BF397A64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2BD03-C3CB-44E5-A60E-A4531D86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621A9-5112-4621-BE71-6F6DF2E2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29FBD-CE46-4DB3-A51B-3B99AAE6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先做三个实验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6AD94-2B65-4A35-97D0-236D414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建立新任务的第一批证据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CF36D-1E5E-47CE-A928-CF0E31CD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8C420-CC90-413E-A20E-8D367B0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F3CA4-6C91-4BA4-B71E-81A551E2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只看新结果继续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7FBD1-5656-44D6-8E58-A9EC038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后续方法与所有对照完全相同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00B26-63E8-4C48-9F6A-CB62AFD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450D6-FB40-4501-AC39-0DDEFBB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公平比较的关键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1D509-589E-478E-B7D5-C39EE06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只有最开始的三个实验不同；之后所有方法使用同样的数据、算法和实验次数。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E802E-DEBB-4C8D-98AA-0F50230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904952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E7EB9-9CB2-40F0-8056-440E5CCF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实验模拟器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3C756-59DF-4E29-B5F4-D9784B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AE39-D587-440D-9353-10948A2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每做一个实验才揭示一个结果，算法不能提前看答案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A8F62-1AA7-4F31-BC8D-24651C2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14EB0-C1EE-4141-9AC0-891636B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D7ED-1BAA-451A-930C-4B04266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35900-0BDB-4147-8D0E-726D314A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隐藏全部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实验答案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ED183-DA66-4D66-BEE6-06A022A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F1249-A40C-4C5D-B560-8421D09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8D6F9-15A9-4483-81BD-B2B26771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选择一个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实验条件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19BF9-11A5-4576-867D-8912604E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DF4A9-CFB9-4AE8-8D31-FE3A570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E32EB-587C-485A-B45D-9770809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只返回这个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实验的结果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C8EB4-A599-4EF6-9B31-10369B9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2984-AEEA-4195-94FB-94F51920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0B10-56BE-4E44-8428-4583F12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更新下一步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选择依据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1974B-E987-446B-BF26-EA871F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4EF49-2600-44CB-9F8E-195C2C4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保存每轮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选择和结果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CD50E-F61C-4375-A3AD-E5F9B1A6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24A4-7D1A-4FB5-B12A-677523D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公平性约束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379F2-B5F6-4C37-B1ED-10276BE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849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相同候选条件 · 相同开局实验数 · 相同后续轮数 · 未选择实验的结果始终不可见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554A0-6388-4FB3-B979-12C1110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它不能替代新的湿实验，但能公平比较谁更早找到好条件，并检查是否偷看答案。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85C35-75DB-412A-BBD2-4B7D756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2042648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6A57-FCEB-41A4-BF66-70A2F38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输出什么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D812-A2FD-424A-B8A5-26A885D3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E7BF9-60DA-407B-9735-F12F050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它必须给出能真正执行的实验建议，而不只是一段分析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4E107-1CB8-4C6E-85A8-C3DE7C34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4E46-562C-4F15-995F-BE24C1A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71AA0-787F-42E7-A526-7A1F28C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1D52E-47C4-4CF6-9D22-687ADCDF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已经完成的历史实验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新任务有哪些参数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可以选择的实验条件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以前成功和失败的经验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255CD-25CF-431D-8006-C9121BB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4C89-E296-420E-AE9B-C01752CB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结构化输出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02063-7693-42AD-B79E-C84D57E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99A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34CA-94DA-4C15-9938-6585498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一个可以验证的判断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最先做的三个实验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为什么推荐这三个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信心和可能失败的情况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7D1DC-80CE-4B56-8FF6-776913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F9133-806F-4BBD-B562-5135189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375BC-FED0-4128-880B-4DDF077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419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C8A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C88A4-3A37-4069-859C-41308623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962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1. 冻结 LLM 建议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2. 执行三个实验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3. 观察真实结果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4. 记录支持或反驳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1388B-2F5E-4262-86FA-3EB0697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75CFB-B2DF-4C19-BBDA-88CFA1F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看不到新任务答案；原始问题、回答、模型版本和哈希都会保存。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FF976-9DA9-4AE9-AB3D-F19F5FF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600974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316DA5-6090-4013-9E1C-55245BC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怎样公平比较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A57B-2012-4D8D-A9A6-B636070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7D01F-D80B-4FC3-A304-E182901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三种方法只有开局不同，后面使用完全相同的优化方法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A7CD-4ECA-4779-BCF5-62C0DD1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F7A94-B933-4CFC-BA8E-C2D7083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A6B82-64C2-4098-B592-523210E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比较内容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105C2-D714-4BA9-91EA-CAD3526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1676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3812E-89B6-42FD-8819-946FC68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1743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CARE 开局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B9698-69C9-4EA3-8000-E8A4277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01350-CBDA-4D7A-8AEF-C76845D4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随机开局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F56C2-34D3-484E-9CE5-8487CCE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E64EF-4279-4716-A7B4-764ECB7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均匀覆盖开局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C3E96-FE5C-4181-A8D5-D339165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26E05-04C5-4A84-A924-06F907C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最先三个实验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0BB42-C90A-41EB-9039-75D5CCE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2860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17B52-38A7-4423-B476-C9ABF36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3526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使用历史知识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3A7EA-47AE-4E30-A719-96B4B12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2ECE8-7BBC-49C7-8235-2496B17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随机选择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355DB-0151-4D18-B87F-8443CC8D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8FD73-F62F-4623-8534-478C08E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选择彼此分散的条件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95F24-3E15-4235-9EEF-0295939A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48AEE-63E8-464C-84A4-E1825F4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后续选择方法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04391-874D-4A52-A05A-DEDA361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8956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4744B-1E00-459B-B730-27DEA40B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9622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2A0F7-4990-460A-9BA3-7396609E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3FBDD-D77C-4E3D-9926-821AE31C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A819F-BA07-4E1A-8FF0-E0CCBB6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217BD-A7BA-4AC8-BDA9-2835F68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5A29E-B109-45EC-98D2-61B18727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2FFF0-6F09-4CD3-A2B1-347C8648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后续实验次数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DD43B-087A-4D1C-B0DE-3CDE4F3C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35052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CD380-8FCC-4148-905F-D4321EE3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35718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DC822-AAE4-456A-A447-C854A76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54C3D-6A16-4248-9F4A-EC5DA6DE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AB038-13AC-41DF-84D8-30405B2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11AF6-A466-4959-980D-6BFBE99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422C5-BCBB-4FC3-AB7C-DC526522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81277C-D279-4462-A04E-9661536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是否提前看答案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6BDFB9-AD9B-4964-BB1A-BB985F2B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1148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94CEE-0819-452B-86B6-32E6859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1814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DB1DA-43BB-4D51-9C6D-8D96289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5FABCD-6DC4-4ADD-8965-99E8426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B9BB95-2DA2-49AC-A570-371821C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28D59B-4907-4D09-B4FB-E8D9E8C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F7C17D-F6DF-43BF-9246-271B21BD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E3F91E-1087-45EE-83B1-4DF2B20D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最终比较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8810AD-8977-4B37-A95A-952A769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724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5D6699-05A5-4ABD-BC91-EC55128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791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必须超过另外两组中更强的一组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67305D-A5C0-479A-A0F0-A8E72D7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001F28-DA98-4FBB-AEC6-A261233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对照 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D4199-91DD-4AE0-9FD4-34F86062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424F5-85B0-4F49-8D1A-E489DC1D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对照 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1F7BA0-D474-4259-B40B-EB003CE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5FE808-E011-4276-A9AF-0C176B1D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随机对照不是全程乱选：只有最初三个实验随机，之后与 CARE 使用同一种优化方法。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64DE0A-44DA-4D23-BDF7-4D1909B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613355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一个严格外部任务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固定版 CARE 更早找到好条件，最后达到 100% 产率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b21698f2c4012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0C712-9166-4268-BF7C-A7EE819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真正做什么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FAE2C-83B5-4A9B-A9ED-BFC9030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01709-35DF-4429-8B29-E56234D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它先提出科学方向，再由安全层变成三个稳妥实验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CD916-EC9A-457D-8E9F-23F6A27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AFBC8-29CF-4F75-A347-7DDD591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可以看到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7F0B4-8F9E-47E6-AC51-6E62A12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E008-983E-4DD6-881B-288E5B6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00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已经完成的历史实验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新任务有哪些参数可选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历史数据推荐的候选短名单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看不到新任务的实验结果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39534-B171-4647-B0C6-EE8060F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DC9BC-EE20-4D00-B848-C56686B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真实模型调用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B2257-FBFD-496D-9AE0-CC0A0DA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3162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4DB55-8B6F-431B-A43D-AFD32681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openai/gpt-5.4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A1C2B-99C9-4CFF-BD8F-1491D0B6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06BE8-EF7E-4E4C-BF44-F11C50C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90850"/>
            <a:ext cx="2705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推荐最先做的 3 个实验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为什么这些条件可能有效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信心和可能失败的情况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保存成不能事后修改的记录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9F23-5885-4F70-AE41-C3D17A3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1F37C-BD49-4A82-A36B-EBAD84C0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怎样执行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C1B29-AC8F-4AE1-8721-5CE7207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971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F128A-D26B-4F6D-B031-2E4C23F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05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直接采用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30E07-6AAB-4406-B614-254C013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直接执行 LLM 选出的 3 个实验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53578-1FCA-495E-B628-99C384C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经过安全层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27D9D-ABE8-4362-89A5-2559C29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保留 LLM 方向，再补充质量和覆盖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5C985-AD09-46DB-98D8-712D489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之后各组用同一种方法继续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508B0-F200-4EA0-BB37-A68F266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75B3E-6DCF-46F9-AA6D-1CB84E1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完整保存：提问、模型原始回答、模型版本、用量、调用时间和文件哈希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API 密钥不会写入代码、PPT 或实验结果。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E7681-229E-47D3-BAFE-C24840D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126419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FDDDBF-D3E5-46A9-B61A-783EB60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一个具体案例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8BDA2-AC0D-422E-A5A0-0A7DE1B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A2215-0D8E-4BB8-8291-7344566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方向判断正确，但直接选的三个实验太集中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2DAF-4BD5-4C32-A84C-A21A1F6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85EEB-98CA-443B-BC8B-EC2DCE9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9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3249D-42FE-4F5E-8608-52EFE3E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的判断 · 信心 0.73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C657-F311-4C2B-ACFA-3FE9EDE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697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高温和较高催化剂用量更有希望；温度可能是最重要的因素。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CD4E2-F8A6-4271-AC8F-5AC39C33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6A499-BF02-4D70-A65B-DED61221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A0BB8-821E-4D1C-B5A5-6830821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26479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46089-5773-485E-AB8E-068F02C2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27146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最先三个实验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95DE2-F2D8-482E-91FF-17A8CDE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EAC0-D2D5-4489-BF99-308E097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全过程得分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3A55A-890E-48BC-B00A-F3FDB6D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253BC-A893-425B-9CD8-DD494BF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最终最好结果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7A0BD-EDAD-4B2D-854A-EE91CF0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26479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20673-AD04-4B2F-B49D-4957855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27146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比固定版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36950-35E5-4FC3-8E3D-3EAEB0E5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8598A-725F-4CD2-BE42-1E62213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直接采用 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C6D57-105C-4306-8786-3A14986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2004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52B35-F759-4C55-BC80-3880C6A5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2670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024 / 059 / 057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76DA0-1F43-489F-BE7B-A6617595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188630-0795-44A3-B452-BE323E5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91.819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85655-BAD0-43C3-99BD-26CA8858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B38B5-3B8D-47A0-B419-8ABE7C4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91.819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0F474-95BA-4671-8A4D-B58315D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2004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E5C62-5247-490A-9B4D-4E04C07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2670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-6.242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E8AE5-AA1A-4355-8969-C6C8D26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66D6D-2AE5-4D12-B1B3-C758137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+ 安全层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E50F0-4366-4669-ABC7-3B7EE89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7528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000B9-8EA7-44B5-833B-F1D7BB1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8195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039 / 024 / 013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0E465-A185-4D56-AC5A-3A8B43A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242CD3-8552-4F70-BFC1-A9FFF65F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100.000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C250B-7140-4B0D-9265-8469312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800D8-CADC-4A37-8293-0B5A57A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100.000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29D04-E72E-4FF0-8435-5BF3145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7528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9C689B-12CA-46A2-974B-AE45017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8195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+1.939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A52B3C-4CBE-49E8-AE0E-073D044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59420-8ADB-4B61-BC88-7FCA893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固定版 CARE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679A9D-809A-4C46-B0C7-C098FABA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43053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D8B81-7292-4DE3-B6D7-436934E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43719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039 / 038 / 028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9D98D3-181D-4E88-9598-E561FF7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BD18E7-E281-45FE-AB11-C9EE9CC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98.061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15223B-F11A-4853-9870-7CDCA006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9BF138-860B-4BCF-A804-4EBDCE96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100.000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73B347-F3C6-4AC1-8659-0D0B726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43053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5C1201-B5FC-4E88-8DC5-806D3D1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43719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F5338A-D782-4284-B7E6-E5A849CF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6705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983001-81CC-4F9C-BE72-F0BD4F41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安全层怎样调整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537A2C-F437-41D9-9C4B-812F944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一个历史数据最支持的点 + 一个 LLM 重点推荐的点 + 一个增加覆盖的点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283B97-0EE6-4324-9513-2A14833B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91100"/>
            <a:ext cx="3962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470470-BEA1-438C-8F4E-76E67B8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6A6D4D-E6A8-4015-9A15-DB5FE44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这个安全层是在分析已有任务后形成的，还需要在全新任务上确认。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4EB465-4DD9-4272-9812-883B25E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1639012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290DE0-5904-4ED1-AEDF-6140D1ED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五个任务的结果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AE235-F9F8-431B-8D81-3B8C0B4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8DAB5-5E7A-43D9-B3E9-D927D3B8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平均更好，但 LLM 还没有普遍胜出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D66CE-4F03-4F06-9BC2-59C9BF0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1F6E0-AEE8-4D18-BCD2-BD88270E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3E6A0-6D60-4BAB-AEB8-D82AB401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实验任务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98107-905A-499D-97FE-71CCA211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146685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A82D7-59A1-4D08-AF7F-49FBE6BE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153352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采用方式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440A2-C0CF-4245-83C3-2D8D5539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146685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D7FC4-20D0-497E-8831-E4D0DE53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153352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搜索效率变化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2C86E-709F-46C0-BAAC-36B1B95E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909A2-3D98-49BE-A211-64A6F8D2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Suzuki MINLP2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4BDB3-8BEB-4AA8-8DD0-5568133C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198120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1B192-6998-4863-BB65-F2D57642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204787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+ 安全层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FBC3C-0318-493F-9FC5-FC0492F6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198120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F6D51-65C8-4868-8BAA-9D4A90E4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204787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+1.939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72E55-0557-4DC6-8B93-11EC97C2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E7312-2C05-4B57-A8E5-05552ACE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Morpholine · AlPhos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F8732-FD28-4F4A-8BE7-A292838E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249555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656FC-54D6-42A2-BEEA-04335311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256222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直接采用 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0339C-63B0-4070-9EAA-76AF28B0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249555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A99EA-DC0A-4B2B-987A-A1E54F7B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256222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+5.203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CF068-C64D-4FF8-B401-BA36038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C0906-8653-4018-A325-BD639147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Phenethylamine · AlPhos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3101D-6EB1-4DA0-B732-670D9AA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300990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1A422-5009-4756-8767-411A34DF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307657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直接采用 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A3EDF0-9B3C-4690-8BCD-C96D6E30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300990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CA72C1-F422-4B59-9613-4EF463E1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307657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-0.947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8C6135-6E3D-45E8-BBE3-B2E2BE15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C1FB0-FD39-41FA-8925-EA2E7978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Morpholine · tBuBrettPhos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3822D2-AA06-45ED-93E3-0212D254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352425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50096E-FF6B-4844-BF3F-D12D3F68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359092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直接采用 LLM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834024-F64D-4E2F-A53F-CCF07ED7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352425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46DC55-4630-4162-8781-37FFDD28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359092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+4.422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0B7AE5-9321-437A-8BC4-C5BB63B0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63BD20-E838-4321-9922-8BA28156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tBuBrettPhos preliminary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388245-25C1-42D6-8178-36107D2C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403860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C67A73-7ECE-4385-B458-B20D9AEF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410527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直接采用 LLM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0334E3-CC5C-44A9-8610-84CB70F9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403860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C5E1E0-FC84-46E0-916C-AC0FBE7C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410527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0.000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EB79AF-A672-461D-BF87-7D238989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811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+2.123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A9D283-C76F-48FC-9A92-EEF6B461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平均搜索效率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9C9CA7-6A06-4943-ABCC-1B9794D2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相对固定版 CARE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D95B64-1806-496F-BE20-B20E46A8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4 / 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89CC18-11D3-41DA-9046-F5EE8526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没有变差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0C7C99-7C08-4A18-B462-1B611AC7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其中 3 个提高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E24FDB-56D2-47AE-9856-8BA8A780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5 / 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1F1B1A-20F9-4865-85D5-F38080F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最终最好结果未下降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8ED551-EAB1-438E-8BD3-9F1FE56B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054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持平或更好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A0BFC7-C9B4-42E6-97ED-B82FF057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12B38F-3C9A-4BC9-B3A2-4141C9AA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681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统计区间  [-0.226, 4.473]  ·  仍然包含 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09FA13-AAE2-439A-9E1B-4AE39D60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681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普通话解释：平均看起来更好，但任务还少，暂时不能排除偶然波动。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A953E6-B663-4A45-BCA2-76377DF0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8200854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116EE-10E9-42CB-87E9-9FFCF69E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现在能得出什么结论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3BB4F-687E-41EA-880C-DA07741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2BAC-7B39-48DE-98FE-F217E9D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已真正参与实验决策，但还不能说所有新任务都有效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36B3D-8368-4946-B1A4-22E1178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85720-6F57-4F74-A324-0BFA22D5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现在可以说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C5FB-A495-4A31-9A88-FA2DD40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04F9C-2AAB-439F-AAAB-57819E2F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可以公平重放逐轮实验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固定版外部效率 +8.66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LLM 给出可执行实验建议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五任务平均效率 +2.12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871CA-3863-4F0F-AD47-D7F7723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现在不能说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DA0F-719B-4FB6-8EF4-3EE305D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1F36-5B20-49DF-BA94-2CB3D6E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所有领域都能稳定迁移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LLM 在所有新任务都更好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平均提升已经统计显著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历史经验始终不会误导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E01B4-FF74-43B9-836C-8662275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CARE 2.0 是什么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90A63-4DAD-4827-B80E-F6F73DC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C171-175C-4A68-B81C-6F3601C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可信的实验知识迁移框架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建议和对照使用相同预算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有风险时可以拒绝迁移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成功与失败都进入知识库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5B1B0-A476-4A17-870B-B30AB15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E0A7A-9D50-4462-9357-1E2DF16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一句话：旧实验可以帮助新实验开局，LLM 能提出有用方向；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但是否普遍有效，必须在事先锁定方法的全新任务上验证。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BEB5A-896B-489B-8B8A-474FCA6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9015786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F2D13-8B4E-4B7B-942E-F0FA256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6B19-68E6-44C5-A6F5-4D3CDD25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DFCA5-FB0C-4D8C-BF5E-A41CE46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先锁定 LLM 方法，再到全新任务上检验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400FA-5A0E-4659-B4E5-4C74DFC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7FD66-9A24-4FB5-87EB-78C973C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78B60-C303-4A01-91CE-F4D4DCA9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43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增加全新实验任务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AB801-3801-4E2F-AE79-F1F758E6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430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选择没有参与开发的新 C-N、Suzuki 或其他反应任务。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05906-98D1-4B85-BCFA-0F82B22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8B28E-72F0-4690-AFB0-49ED1351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1CE00-BFA8-46C9-8F32-DCA9E42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事先锁定实验规则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BB517-456F-4165-946E-A92E5395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先确定任务、实验次数、主要指标和版本，再查看新任务结果。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76C62-0456-403B-92BC-5458F97B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66283-39F4-451C-ADD9-AF6C5268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DF158-CAA5-4D3F-8CC4-6B6B8C52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事先锁定 LLM 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931FF-9BA2-45C1-9F7B-E8B41903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575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固定提问、模型、安全层和选择路线，避免看到结果后再修改。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788CB-DFEF-4297-A231-3BE4E36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6F96D-97D8-44DB-9E90-E481481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C505A-A3F2-429F-BC0A-B56CE684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持续积累成功与失败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63410-6840-4F49-83CD-46D28A3E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新任务完成后进入知识库，检验经验能否在后续任务重复使用。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01B31-7FA9-4847-B366-CCF2995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86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C0634-FE0A-4D42-8FDA-CDF1A31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21302-B7E0-4545-B48B-D4BDC88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逐步扩大领域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FA084-C0BF-4D28-B234-B18299B6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先验证反应到反应、分子到分子、材料到材料，再做远距离迁移。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0E354-0DEC-4E1D-B4DA-0E5B094C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B2D73-A445-4401-9B98-BF6FC9E8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2028502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2026-08-13T06:50:43.5600000Z</dcterms:created>
  <dcterms:modified xsi:type="dcterms:W3CDTF">2026-08-13T06:50:43.5600000Z</dcterms:modified>
</coreProperties>
</file>