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256784d77048b0" /><Relationship Type="http://schemas.openxmlformats.org/officeDocument/2006/relationships/extended-properties" Target="/docProps/app.xml" Id="R283739f80fd24e51" /><Relationship Type="http://schemas.openxmlformats.org/officeDocument/2006/relationships/officeDocument" Target="/ppt/presentation.xml" Id="Rb195bf96348a40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ee8480960a4317"/>
  </p:sldMasterIdLst>
  <p:notesMasterIdLst>
    <p:notesMasterId xmlns:r="http://schemas.openxmlformats.org/officeDocument/2006/relationships" r:id="R53027db1053c4206"/>
  </p:notesMasterIdLst>
  <p:sldIdLst>
    <p:sldId xmlns:r="http://schemas.openxmlformats.org/officeDocument/2006/relationships" id="256" r:id="R998cf80714c54f7c"/>
    <p:sldId xmlns:r="http://schemas.openxmlformats.org/officeDocument/2006/relationships" id="257" r:id="R59f7e1e9b7da4757"/>
    <p:sldId xmlns:r="http://schemas.openxmlformats.org/officeDocument/2006/relationships" id="258" r:id="R306f88ef19b84ae4"/>
    <p:sldId xmlns:r="http://schemas.openxmlformats.org/officeDocument/2006/relationships" id="259" r:id="Rde72f4e272c740b7"/>
    <p:sldId xmlns:r="http://schemas.openxmlformats.org/officeDocument/2006/relationships" id="260" r:id="R4b38685ef3a9446c"/>
    <p:sldId xmlns:r="http://schemas.openxmlformats.org/officeDocument/2006/relationships" id="261" r:id="Rc1443cedc8fb4d45"/>
    <p:sldId xmlns:r="http://schemas.openxmlformats.org/officeDocument/2006/relationships" id="262" r:id="R8fd797f55cd045fb"/>
    <p:sldId xmlns:r="http://schemas.openxmlformats.org/officeDocument/2006/relationships" id="263" r:id="R292000bd8fd442b9"/>
    <p:sldId xmlns:r="http://schemas.openxmlformats.org/officeDocument/2006/relationships" id="264" r:id="R053e5c36ebb343a6"/>
    <p:sldId xmlns:r="http://schemas.openxmlformats.org/officeDocument/2006/relationships" id="265" r:id="R4c83b0f6fd6a4103"/>
    <p:sldId xmlns:r="http://schemas.openxmlformats.org/officeDocument/2006/relationships" id="266" r:id="Re0d28684f26d4c80"/>
    <p:sldId xmlns:r="http://schemas.openxmlformats.org/officeDocument/2006/relationships" id="267" r:id="Rfa1659862aa44d55"/>
    <p:sldId xmlns:r="http://schemas.openxmlformats.org/officeDocument/2006/relationships" id="268" r:id="R65cf955b491e4e3e"/>
    <p:sldId xmlns:r="http://schemas.openxmlformats.org/officeDocument/2006/relationships" id="269" r:id="R75e1f8234b454132"/>
    <p:sldId xmlns:r="http://schemas.openxmlformats.org/officeDocument/2006/relationships" id="270" r:id="R037470c1f41f4d79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40196791984bf2" /><Relationship Type="http://schemas.openxmlformats.org/officeDocument/2006/relationships/slideMaster" Target="/ppt/slideMasters/slideMaster1.xml" Id="R10ee8480960a4317" /><Relationship Type="http://schemas.openxmlformats.org/officeDocument/2006/relationships/notesMaster" Target="/ppt/notesMasters/notesMaster1.xml" Id="R53027db1053c4206" /><Relationship Type="http://schemas.openxmlformats.org/officeDocument/2006/relationships/presProps" Target="/ppt/presProps.xml" Id="R679212758e754e47" /><Relationship Type="http://schemas.openxmlformats.org/officeDocument/2006/relationships/viewProps" Target="/ppt/viewProps.xml" Id="Rcf333c9383064e89" /><Relationship Type="http://schemas.openxmlformats.org/officeDocument/2006/relationships/tableStyles" Target="/ppt/tableStyles.xml" Id="R8585251483da4cb2" /><Relationship Type="http://schemas.openxmlformats.org/officeDocument/2006/relationships/slide" Target="/ppt/slides/slide1.xml" Id="R998cf80714c54f7c" /><Relationship Type="http://schemas.openxmlformats.org/officeDocument/2006/relationships/slide" Target="/ppt/slides/slide2.xml" Id="R59f7e1e9b7da4757" /><Relationship Type="http://schemas.openxmlformats.org/officeDocument/2006/relationships/slide" Target="/ppt/slides/slide3.xml" Id="R306f88ef19b84ae4" /><Relationship Type="http://schemas.openxmlformats.org/officeDocument/2006/relationships/slide" Target="/ppt/slides/slide4.xml" Id="Rde72f4e272c740b7" /><Relationship Type="http://schemas.openxmlformats.org/officeDocument/2006/relationships/slide" Target="/ppt/slides/slide5.xml" Id="R4b38685ef3a9446c" /><Relationship Type="http://schemas.openxmlformats.org/officeDocument/2006/relationships/slide" Target="/ppt/slides/slide6.xml" Id="Rc1443cedc8fb4d45" /><Relationship Type="http://schemas.openxmlformats.org/officeDocument/2006/relationships/slide" Target="/ppt/slides/slide7.xml" Id="R8fd797f55cd045fb" /><Relationship Type="http://schemas.openxmlformats.org/officeDocument/2006/relationships/slide" Target="/ppt/slides/slide8.xml" Id="R292000bd8fd442b9" /><Relationship Type="http://schemas.openxmlformats.org/officeDocument/2006/relationships/slide" Target="/ppt/slides/slide9.xml" Id="R053e5c36ebb343a6" /><Relationship Type="http://schemas.openxmlformats.org/officeDocument/2006/relationships/slide" Target="/ppt/slides/slide10.xml" Id="R4c83b0f6fd6a4103" /><Relationship Type="http://schemas.openxmlformats.org/officeDocument/2006/relationships/slide" Target="/ppt/slides/slide11.xml" Id="Re0d28684f26d4c80" /><Relationship Type="http://schemas.openxmlformats.org/officeDocument/2006/relationships/slide" Target="/ppt/slides/slide12.xml" Id="Rfa1659862aa44d55" /><Relationship Type="http://schemas.openxmlformats.org/officeDocument/2006/relationships/slide" Target="/ppt/slides/slide13.xml" Id="R65cf955b491e4e3e" /><Relationship Type="http://schemas.openxmlformats.org/officeDocument/2006/relationships/slide" Target="/ppt/slides/slide14.xml" Id="R75e1f8234b454132" /><Relationship Type="http://schemas.openxmlformats.org/officeDocument/2006/relationships/slide" Target="/ppt/slides/slide15.xml" Id="R037470c1f41f4d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351bbf8dc143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42907340e64326" /><Relationship Type="http://schemas.openxmlformats.org/officeDocument/2006/relationships/notesMaster" Target="/ppt/notesMasters/notesMaster1.xml" Id="R9695c564fe0942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7a5f58af0c4e23" /><Relationship Type="http://schemas.openxmlformats.org/officeDocument/2006/relationships/notesMaster" Target="/ppt/notesMasters/notesMaster1.xml" Id="Rf5b289ecb1eb41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d354ed7be804817" /><Relationship Type="http://schemas.openxmlformats.org/officeDocument/2006/relationships/notesMaster" Target="/ppt/notesMasters/notesMaster1.xml" Id="R4765ef8efdc641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0d469d927624bec" /><Relationship Type="http://schemas.openxmlformats.org/officeDocument/2006/relationships/notesMaster" Target="/ppt/notesMasters/notesMaster1.xml" Id="R27da38ba53f440f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780ac8f7e4e485f" /><Relationship Type="http://schemas.openxmlformats.org/officeDocument/2006/relationships/notesMaster" Target="/ppt/notesMasters/notesMaster1.xml" Id="R86ef9f25e69446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d46b073308d4148" /><Relationship Type="http://schemas.openxmlformats.org/officeDocument/2006/relationships/notesMaster" Target="/ppt/notesMasters/notesMaster1.xml" Id="Rd293904f46284d1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1f11bfab7294cd3" /><Relationship Type="http://schemas.openxmlformats.org/officeDocument/2006/relationships/notesMaster" Target="/ppt/notesMasters/notesMaster1.xml" Id="R7b00601315de491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b9475bf6f6a44de" /><Relationship Type="http://schemas.openxmlformats.org/officeDocument/2006/relationships/notesMaster" Target="/ppt/notesMasters/notesMaster1.xml" Id="Rf240b4e595c5439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1393b5918b24549" /><Relationship Type="http://schemas.openxmlformats.org/officeDocument/2006/relationships/notesMaster" Target="/ppt/notesMasters/notesMaster1.xml" Id="R96024004c3e2494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e703ea38aad45a3" /><Relationship Type="http://schemas.openxmlformats.org/officeDocument/2006/relationships/notesMaster" Target="/ppt/notesMasters/notesMaster1.xml" Id="R4508e9421bf74f8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13f66f6ea424919" /><Relationship Type="http://schemas.openxmlformats.org/officeDocument/2006/relationships/notesMaster" Target="/ppt/notesMasters/notesMaster1.xml" Id="Rd3eba46add0b4d4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79554b803ee492e" /><Relationship Type="http://schemas.openxmlformats.org/officeDocument/2006/relationships/notesMaster" Target="/ppt/notesMasters/notesMaster1.xml" Id="R65875cd743334a8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04679f7b84c4f45" /><Relationship Type="http://schemas.openxmlformats.org/officeDocument/2006/relationships/notesMaster" Target="/ppt/notesMasters/notesMaster1.xml" Id="R40b6f5610c60485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21e4ea831bf4084" /><Relationship Type="http://schemas.openxmlformats.org/officeDocument/2006/relationships/notesMaster" Target="/ppt/notesMasters/notesMaster1.xml" Id="R681d0178f6b74d1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b993b1b4bb94c9a" /><Relationship Type="http://schemas.openxmlformats.org/officeDocument/2006/relationships/notesMaster" Target="/ppt/notesMasters/notesMaster1.xml" Id="R16c582b9f35a44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开场只讲一个核心判断：CARE 2.0 的贡献不是找到一条最强固定规则，而是把 source knowledge 转化为可审计、可拒绝、可复现的迁移决策。可信赖意味着系统既能在证据充分时迁移，也能在证据不足时精确回退。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CARE2.0 repository, frozen seven-pair evaluation package (2026-07-28)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问题定义要避免泛化成一句‘AI Scientist 会迁移’。更精确的问题是：在固定 target budget 下，利用 source evidence 是否能比 target-only strong baseline 更快、更稳地找到高质量候选，同时控制负迁移。当前实验覆盖同领域跨数据集，不覆盖化学到材料等远距离跨领域路径。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Pan &amp; Yang (2010), A Survey on Transfer Learning, DOI: 10.1109/TKDE.2009.191</a:t>
            </a:r>
          </a:p>
          <a:p xmlns:a="http://schemas.openxmlformats.org/drawingml/2006/main">
            <a:r>
              <a:t>- CARE2.0 baseline_comparison.csv (2026-07-28)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这张图是整份报告的主框架。历史实验先被结构化成 TaskSpec、outcome summary 和 audit；LLM 根据 source 与 target 的公共描述生成多个迁移假设；编译器把假设变成受约束的 kernel/acquisition patch；Calibration Gate 只看独立 calibration seeds；通过后部署 transfer，否则精确回退 target-only。执行结果再沉淀为可复用的 route card。当前代码是二态部署，Hold 是下一版用于‘证据不足但方向合理’的待验证队列。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CARE2.0 run_calibrated_source_outcome_transfer.py</a:t>
            </a:r>
          </a:p>
          <a:p xmlns:a="http://schemas.openxmlformats.org/drawingml/2006/main">
            <a:r>
              <a:t>- CARE2.0 LLM_RULE_FORMULAS.md (2026-07-28)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Hypothesis 不是一句自然语言结论，而是一个候选策略对象。LLM 只能读取 target 的公开 schema、预算与变量角色，source 的历史结果摘要，以及已审计的成功/失败 SkillCard；它无法读取 held-out target outcome。它可提出角色映射、弱值先验或探索调度三个候选方向。编译器将其限制为可执行参数，随后由 calibration 选择；正式 held-out 结果只用于最终检验。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CARE2.0 model call archives and llm_semantic_skills.py</a:t>
            </a:r>
          </a:p>
          <a:p xmlns:a="http://schemas.openxmlformats.org/drawingml/2006/main">
            <a:r>
              <a:t>- CARE2.0 run_llm_kernel_skill_evolution.py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执行层把 LLM 的语义建议编译成确定性公式。CARE 的 acquisition 以 target-only anchor 为基础，再按 transfer mass M 混合 source-informed candidate scores。只有迁移相关的 kernel、role 与 prior 参数允许变化；target budget、seed split、comparator 和评估方式全部冻结。成功路径进入目标 replay，失败路径精确执行 matched target-only LLM。每轮都写入 trace 与 audit。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CARE2.0 LLM_RULE_FORMULAS.md (equations for anchor, priors, routing and safety gate)</a:t>
            </a:r>
          </a:p>
          <a:p xmlns:a="http://schemas.openxmlformats.org/drawingml/2006/main">
            <a:r>
              <a:t>- CARE2.0 run_llm_transfer_router.py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建议会议后挑这三个 case 给领域专家 review。ChemLex 到 BH 代表反应体系角色与 outcome interaction；Dielectric 到 Gap 代表材料属性共享表示；FreeSolv 到 Lipophilicity 代表分子描述符与相邻性质。专家需要判断 hypothesis 的科学逻辑，而不仅是看最终增益。所有数值均来自独立 100-seed held-out 结果。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CARE2.0 baseline_comparison.csv (2026-07-28)</a:t>
            </a:r>
          </a:p>
          <a:p xmlns:a="http://schemas.openxmlformats.org/drawingml/2006/main">
            <a:r>
              <a:t>- CARE2.0 iteration_efficiency.csv (2026-07-28)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这是给领域专家 review 的完整 ChemLex Acid-Amine 到 Buchwald-Hartwig 例子。重点不是数值本身，而是 source 证据如何被表述为“角色映射 + 弱先验”，以及 compiler 如何保持 target budget、seeds 与 candidate pool 不变。只有 calibration 选择通过后，才在 100 个独立 held-out seeds 上评估。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CARE2.0 baseline_comparison.csv (2026-07-28)</a:t>
            </a:r>
          </a:p>
          <a:p xmlns:a="http://schemas.openxmlformats.org/drawingml/2006/main">
            <a:r>
              <a:t>- CARE2.0 iteration_efficiency.csv (2026-07-28)</a:t>
            </a:r>
          </a:p>
          <a:p xmlns:a="http://schemas.openxmlformats.org/drawingml/2006/main">
            <a:r>
              <a:t>- CHEMLEX Acid-Amine wetlab record, Zenodo 12920294 / 17596563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左图比较完整 CARE deployment 与每个任务最强 target-only BO；右图隔离 source transfer 相对于 matched target-only LLM 的贡献。四条部署路线的 held-out final-best 95% CI 都在零以上。三条未通过 Gate 的路线精确回退，因此相对 matched LLM 的差值为零，不是把负结果删掉。注意：左图中 fallback 仍可能超过 strongest BO，因为 fallback 本身是 matched target-only LLM。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CARE2.0 baseline_comparison_forest.png (2026-07-28)</a:t>
            </a:r>
          </a:p>
          <a:p xmlns:a="http://schemas.openxmlformats.org/drawingml/2006/main">
            <a:r>
              <a:t>- CARE2.0 baseline_comparison.csv (2026-07-28)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这页要主动收紧结论。矩阵中的绿色格子均是同领域不同数据集；红色格子表示 raw transfer signal 为负且被 Gate 拒绝；灰色表示不稳定或回退。化学到材料等 off-diagonal domain cells 目前没有正式结果，因此只能作为下一阶段实验。材料和分子方向表现较好可能来自共享表示、目标结构和参数空间，但这些解释需要新的机制消融。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CARE2.0 transfer_matrix.png (2026-07-25)</a:t>
            </a:r>
          </a:p>
          <a:p xmlns:a="http://schemas.openxmlformats.org/drawingml/2006/main">
            <a:r>
              <a:t>- Pan &amp; Yang (2010), transfer learning survey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本页把“当前 replay 的证据”和“论文里的正式显著性声明”分开。当前使用 paired held-out delta、95% CI、non-loss rate 和 fold stability；这支持稳定性判断，但还不是对多条路线的完整显著性检验。论文 confirm run 将使用 paired permutation test、Benjamini-Hochberg FDR、paired bootstrap CI，并在正式运行前为各任务定义 MDE。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Wasserstein &amp; Lazar (2016), DOI: 10.1080/00031305.2016.1154108</a:t>
            </a:r>
          </a:p>
          <a:p xmlns:a="http://schemas.openxmlformats.org/drawingml/2006/main">
            <a:r>
              <a:t>- Benjamini &amp; Hochberg (1995), DOI: 10.1111/j.2517-6161.1995.tb02031.x</a:t>
            </a:r>
          </a:p>
          <a:p xmlns:a="http://schemas.openxmlformats.org/drawingml/2006/main">
            <a:r>
              <a:t>- CARE2.0 run_calibrated_source_outcome_transfer.py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Gate 的目标是 route eligibility，不是统计显著性检验。当前是二态选择器：六项条件同时相对于 matched LLM 和 strongest target-only BO 成立，才部署 LLM transfer router；否则精确执行 matched target-only。0.60、0.80 和 0.25 是 calibration replay 固定下来的经验默认值，需要在 confirm run 做 threshold sweep 与 bootstrap 稳健性分析；它们不是直接从文献搬来的普适常数。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CARE2.0 run_calibrated_source_outcome_transfer.py, select_route() and CLI defaults</a:t>
            </a:r>
          </a:p>
          <a:p xmlns:a="http://schemas.openxmlformats.org/drawingml/2006/main">
            <a:r>
              <a:t>- Srinivas et al. (2010), GP-UCB</a:t>
            </a:r>
          </a:p>
          <a:p xmlns:a="http://schemas.openxmlformats.org/drawingml/2006/main">
            <a:r>
              <a:t>- Snoek et al. (2012), Practical Bayesian Optimization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这页区分了已经完整覆盖的对照与仍需补跑的主论文实验。No-transfer 与 Full framework 已在正式七路线中完成；without gate 的代码存在，但要在全部七路线和同一 seed split 上重跑；random-transfer、similarity-only 和 without hypothesis validation 目前只有历史或局部结果，不能写成完整结论。最终所有方法必须使用相同 target budget、initial observations 和 held-out seeds。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CARE2.0 baseline_protocol_coverage.csv (2026-07-28)</a:t>
            </a:r>
          </a:p>
          <a:p xmlns:a="http://schemas.openxmlformats.org/drawingml/2006/main">
            <a:r>
              <a:t>- CARE2.0 baseline_protocol_matrix.png (2026-07-28)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 A 是达到 matched LLM 最终质量所节省的 target acquisitions，图 B 是达到全局 top-10 所节省的轮数，图 C 是不同预算点的 best-so-far delta。四条部署路线都节省轮数。关于边际收益递减，目前只能说早期 delta 往往高于 final delta；要证明随经验条目或迁移次数增加而饱和，需要专门横轴、误差线和拟合检验。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CARE2.0 iteration_efficiency.png and iteration_efficiency.csv (2026-07-28)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这页是下一轮 confirm run 的具体工作，不是已经完成的结果。先冻结 split、threshold、primary metric 和 MDE；再在同一条路线矩阵、同一预算与 seeds 下跑 full method 和所有 matched ablation。贡献归因只使用配对差异；同时报告性能和安全性，防止只展示正例。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Wasserstein &amp; Lazar (2016), transparency and full reporting</a:t>
            </a:r>
          </a:p>
          <a:p xmlns:a="http://schemas.openxmlformats.org/drawingml/2006/main">
            <a:r>
              <a:t>- Benjamini &amp; Hochberg (1995), FDR control</a:t>
            </a:r>
          </a:p>
          <a:p xmlns:a="http://schemas.openxmlformats.org/drawingml/2006/main">
            <a:r>
              <a:t>- CARE2.0 baseline protocol inventory (2026-07-28)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结尾的主结论是：CARE 2.0 目前已在反应、材料、分子三个领域的同领域跨数据集 replay 中展示出可审计、可回退的正向迁移。项目贡献不是一条固定最强规则，而是 source-to-target 决策链和失败时的精确 fallback。远距离跨领域迁移和完整多重比较统计，仍属于下一轮 confirm run。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CARE2.0 frozen seven-pair evaluation package (2026-07-28)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c131f5cc354fb8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af0bb4efcd4587" /><Relationship Type="http://schemas.openxmlformats.org/officeDocument/2006/relationships/slideLayout" Target="/ppt/slideLayouts/slideLayout1.xml" Id="Rce194dbe7fdc4c3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194dbe7fdc4c39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5ca119341743e7" /><Relationship Type="http://schemas.openxmlformats.org/officeDocument/2006/relationships/image" Target="/ppt/media/image.jpeg" Id="R51370d442a764b47" /><Relationship Type="http://schemas.openxmlformats.org/officeDocument/2006/relationships/notesSlide" Target="/ppt/notesSlides/notesSlide1.xml" Id="Rc8ac2a73b0f746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29befec1484f88" /><Relationship Type="http://schemas.openxmlformats.org/officeDocument/2006/relationships/image" Target="/ppt/media/image2.jpeg" Id="R8fa514bb3ea54d7b" /><Relationship Type="http://schemas.openxmlformats.org/officeDocument/2006/relationships/notesSlide" Target="/ppt/notesSlides/notesSlide2.xml" Id="R95b801b90c4840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9bd0f195f549c1" /><Relationship Type="http://schemas.openxmlformats.org/officeDocument/2006/relationships/image" Target="/ppt/media/image3.jpeg" Id="Rc39a55965a9d4e6f" /><Relationship Type="http://schemas.openxmlformats.org/officeDocument/2006/relationships/image" Target="/ppt/media/image.png" Id="R10122cff42184685" /><Relationship Type="http://schemas.openxmlformats.org/officeDocument/2006/relationships/image" Target="/ppt/media/image2.png" Id="Ref58e0972ee04142" /><Relationship Type="http://schemas.openxmlformats.org/officeDocument/2006/relationships/notesSlide" Target="/ppt/notesSlides/notesSlide3.xml" Id="R2e3539c6392b45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32a7f779204b50" /><Relationship Type="http://schemas.openxmlformats.org/officeDocument/2006/relationships/image" Target="/ppt/media/image3.jpeg" Id="R3ceaba6e71cb4ee7" /><Relationship Type="http://schemas.openxmlformats.org/officeDocument/2006/relationships/image" Target="/ppt/media/image3.png" Id="Rfc3c1ccd80014bb2" /><Relationship Type="http://schemas.openxmlformats.org/officeDocument/2006/relationships/image" Target="/ppt/media/image4.png" Id="R1759ffb0a85a4c69" /><Relationship Type="http://schemas.openxmlformats.org/officeDocument/2006/relationships/notesSlide" Target="/ppt/notesSlides/notesSlide4.xml" Id="R312c52922f264e3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8366005759490b" /><Relationship Type="http://schemas.openxmlformats.org/officeDocument/2006/relationships/image" Target="/ppt/media/image3.jpeg" Id="Rfdf211384e834373" /><Relationship Type="http://schemas.openxmlformats.org/officeDocument/2006/relationships/image" Target="/ppt/media/image3.png" Id="R005fc53d502f418a" /><Relationship Type="http://schemas.openxmlformats.org/officeDocument/2006/relationships/image" Target="/ppt/media/image4.png" Id="R666494f129bb4a3f" /><Relationship Type="http://schemas.openxmlformats.org/officeDocument/2006/relationships/notesSlide" Target="/ppt/notesSlides/notesSlide5.xml" Id="R6f0993036b1946e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7d444365ff409a" /><Relationship Type="http://schemas.openxmlformats.org/officeDocument/2006/relationships/image" Target="/ppt/media/image2.jpeg" Id="R0e3aaed7bace4d18" /><Relationship Type="http://schemas.openxmlformats.org/officeDocument/2006/relationships/notesSlide" Target="/ppt/notesSlides/notesSlide6.xml" Id="R7627d1e1a5ae4e7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f9d3ff5e324136" /><Relationship Type="http://schemas.openxmlformats.org/officeDocument/2006/relationships/image" Target="/ppt/media/image2.jpeg" Id="Rdfa1d15027cc4696" /><Relationship Type="http://schemas.openxmlformats.org/officeDocument/2006/relationships/notesSlide" Target="/ppt/notesSlides/notesSlide7.xml" Id="Ra08df0add528463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3f8c3943054af9" /><Relationship Type="http://schemas.openxmlformats.org/officeDocument/2006/relationships/image" Target="/ppt/media/image4.jpeg" Id="R35549734415b45f4" /><Relationship Type="http://schemas.openxmlformats.org/officeDocument/2006/relationships/image" Target="/ppt/media/image5.png" Id="R1da9ce57d51f4764" /><Relationship Type="http://schemas.openxmlformats.org/officeDocument/2006/relationships/image" Target="/ppt/media/image6.png" Id="R4388970d013c40d1" /><Relationship Type="http://schemas.openxmlformats.org/officeDocument/2006/relationships/notesSlide" Target="/ppt/notesSlides/notesSlide8.xml" Id="R00511691f8ac4e6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c4819245e64d87" /><Relationship Type="http://schemas.openxmlformats.org/officeDocument/2006/relationships/image" Target="/ppt/media/image3.jpeg" Id="R28eca2c634f542b4" /><Relationship Type="http://schemas.openxmlformats.org/officeDocument/2006/relationships/image" Target="/ppt/media/image7.png" Id="R4c1ec0e3d2bf4674" /><Relationship Type="http://schemas.openxmlformats.org/officeDocument/2006/relationships/image" Target="/ppt/media/image8.png" Id="Rc647ed287f384b18" /><Relationship Type="http://schemas.openxmlformats.org/officeDocument/2006/relationships/image" Target="/ppt/media/image9.png" Id="Rfb284c43fb484b61" /><Relationship Type="http://schemas.openxmlformats.org/officeDocument/2006/relationships/image" Target="/ppt/media/image10.png" Id="R7227abdeaaff4bb0" /><Relationship Type="http://schemas.openxmlformats.org/officeDocument/2006/relationships/image" Target="/ppt/media/image11.png" Id="Rf9b5e92eb9154de1" /><Relationship Type="http://schemas.openxmlformats.org/officeDocument/2006/relationships/image" Target="/ppt/media/image12.png" Id="R94efad05b1b4462d" /><Relationship Type="http://schemas.openxmlformats.org/officeDocument/2006/relationships/notesSlide" Target="/ppt/notesSlides/notesSlide9.xml" Id="R3ebba16b9d9649b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c8fb254a5b44dd" /><Relationship Type="http://schemas.openxmlformats.org/officeDocument/2006/relationships/image" Target="/ppt/media/image5.jpeg" Id="R83c420bae5e444ee" /><Relationship Type="http://schemas.openxmlformats.org/officeDocument/2006/relationships/image" Target="/ppt/media/image13.png" Id="R42ed695502fc4117" /><Relationship Type="http://schemas.openxmlformats.org/officeDocument/2006/relationships/image" Target="/ppt/media/image14.png" Id="Rc44f87225a6a4db2" /><Relationship Type="http://schemas.openxmlformats.org/officeDocument/2006/relationships/notesSlide" Target="/ppt/notesSlides/notesSlide10.xml" Id="R0574ed1c5af6456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42ce85859e4c30" /><Relationship Type="http://schemas.openxmlformats.org/officeDocument/2006/relationships/image" Target="/ppt/media/image3.jpeg" Id="Rd8d894aa88404db6" /><Relationship Type="http://schemas.openxmlformats.org/officeDocument/2006/relationships/image" Target="/ppt/media/image7.png" Id="R7e65cc615f9f4522" /><Relationship Type="http://schemas.openxmlformats.org/officeDocument/2006/relationships/image" Target="/ppt/media/image8.png" Id="R0901cb587e604eb3" /><Relationship Type="http://schemas.openxmlformats.org/officeDocument/2006/relationships/image" Target="/ppt/media/image9.png" Id="R2ffa8484f1814a20" /><Relationship Type="http://schemas.openxmlformats.org/officeDocument/2006/relationships/image" Target="/ppt/media/image10.png" Id="R41281e66dd024a05" /><Relationship Type="http://schemas.openxmlformats.org/officeDocument/2006/relationships/image" Target="/ppt/media/image11.png" Id="R69e6fa0c07184f3d" /><Relationship Type="http://schemas.openxmlformats.org/officeDocument/2006/relationships/notesSlide" Target="/ppt/notesSlides/notesSlide11.xml" Id="R3747aabde8c84bd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7704a336e747a2" /><Relationship Type="http://schemas.openxmlformats.org/officeDocument/2006/relationships/image" Target="/ppt/media/image15.png" Id="Ra819a31fc4a74a32" /><Relationship Type="http://schemas.openxmlformats.org/officeDocument/2006/relationships/image" Target="/ppt/media/image16.png" Id="R91b5dd9c2cb54ad1" /><Relationship Type="http://schemas.openxmlformats.org/officeDocument/2006/relationships/image" Target="/ppt/media/image17.png" Id="R914827522ae94769" /><Relationship Type="http://schemas.openxmlformats.org/officeDocument/2006/relationships/image" Target="/ppt/media/image18.png" Id="R4b051d6591774668" /><Relationship Type="http://schemas.openxmlformats.org/officeDocument/2006/relationships/notesSlide" Target="/ppt/notesSlides/notesSlide12.xml" Id="R4cc0f6e3326549b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c8ffc471f64a8a" /><Relationship Type="http://schemas.openxmlformats.org/officeDocument/2006/relationships/image" Target="/ppt/media/image6.jpeg" Id="Rd57fd45b6c024ad6" /><Relationship Type="http://schemas.openxmlformats.org/officeDocument/2006/relationships/image" Target="/ppt/media/image19.png" Id="R79adde594ba644d9" /><Relationship Type="http://schemas.openxmlformats.org/officeDocument/2006/relationships/image" Target="/ppt/media/image20.png" Id="R516cd545323b4d05" /><Relationship Type="http://schemas.openxmlformats.org/officeDocument/2006/relationships/image" Target="/ppt/media/image21.png" Id="Rbc8b9826d83d4bfe" /><Relationship Type="http://schemas.openxmlformats.org/officeDocument/2006/relationships/notesSlide" Target="/ppt/notesSlides/notesSlide13.xml" Id="R5ad2549bf1c842c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43c65c609a4de0" /><Relationship Type="http://schemas.openxmlformats.org/officeDocument/2006/relationships/image" Target="/ppt/media/image7.jpeg" Id="R91e825efdb6c4c5b" /><Relationship Type="http://schemas.openxmlformats.org/officeDocument/2006/relationships/notesSlide" Target="/ppt/notesSlides/notesSlide14.xml" Id="Re1805d3cfd1b4ee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e92e643b944120" /><Relationship Type="http://schemas.openxmlformats.org/officeDocument/2006/relationships/image" Target="/ppt/media/image7.jpeg" Id="Rcf10cbb3d209427d" /><Relationship Type="http://schemas.openxmlformats.org/officeDocument/2006/relationships/notesSlide" Target="/ppt/notesSlides/notesSlide15.xml" Id="R7c0eda6d421146f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370d442a764b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985680AA-4A9A-4519-9220-17D731C9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171240"/>
            <a:ext cx="7429500" cy="1964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CARE 2.0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167367A8-FAE6-4538-836D-143F4B8D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39143"/>
            <a:ext cx="7429500" cy="4136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</a:pPr>
            <a:r>
              <a:rPr sz="2800" b="1"/>
              <a:t>CARE 2.0: </a:t>
            </a:r>
            <a:r>
              <a:rPr sz="2800" b="1"/>
              <a:t>可信赖的跨任务科学知识迁移框架</a:t>
            </a:r>
            <a:r>
              <a:rPr sz="2800"/>
              <a:t> 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325EF4FA-D446-4D74-BC9A-2C871226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64979"/>
            <a:ext cx="7429500" cy="2321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>
                <a:solidFill>
                  <a:srgbClr val="5B6168"/>
                </a:solidFill>
                <a:latin typeface="-apple-system"/>
                <a:ea typeface="-apple-system"/>
                <a:cs typeface="-apple-system"/>
              </a:rPr>
              <a:t>Hypothesis generation · calibrated routing · held-out verification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D69048D-1199-46C1-B7D0-B83AA928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1525"/>
            <a:ext cx="7429500" cy="16073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B6168"/>
                </a:solidFill>
                <a:latin typeface="-apple-system"/>
                <a:ea typeface="-apple-system"/>
                <a:cs typeface="-apple-system"/>
              </a:rPr>
              <a:t>Project update · 2026-07-29</a:t>
            </a:r>
          </a:p>
        </p:txBody>
      </p:sp>
    </p:spTree>
    <p:extLst>
      <p:ext uri="{BB962C8B-B14F-4D97-AF65-F5344CB8AC3E}">
        <p14:creationId xmlns:p14="http://schemas.microsoft.com/office/powerpoint/2010/main" val="164176811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a514bb3ea54d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F8F12AE9-ECF3-4937-A4FB-79ACE290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1500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CORE QUESTION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C34C5384-D49C-4B9B-BA49-E654CE48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92944"/>
            <a:ext cx="7738144" cy="34464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250" b="1">
                <a:solidFill>
                  <a:srgbClr val="111111"/>
                </a:solidFill>
                <a:latin typeface="-apple-system"/>
                <a:ea typeface="-apple-system"/>
                <a:cs typeface="-apple-system"/>
              </a:rPr>
              <a:t>核心研究问题</a:t>
            </a:r>
            <a:r>
              <a:rPr sz="2250" b="1">
                <a:solidFill>
                  <a:srgbClr val="111111"/>
                </a:solidFill>
                <a:latin typeface="-apple-system"/>
                <a:ea typeface="-apple-system"/>
                <a:cs typeface="-apple-system"/>
              </a:rPr>
              <a:t>：</a:t>
            </a:r>
            <a:r>
              <a:rPr sz="2250" b="1">
                <a:solidFill>
                  <a:srgbClr val="111111"/>
                </a:solidFill>
                <a:latin typeface="-apple-system"/>
                <a:ea typeface="-apple-system"/>
                <a:cs typeface="-apple-system"/>
              </a:rPr>
              <a:t>如何定义一个具备迁移能力的通用</a:t>
            </a:r>
            <a:r>
              <a:rPr sz="2250" b="1">
                <a:solidFill>
                  <a:srgbClr val="111111"/>
                </a:solidFill>
                <a:latin typeface="-apple-system"/>
                <a:ea typeface="-apple-system"/>
                <a:cs typeface="-apple-system"/>
              </a:rPr>
              <a:t> AI Scientist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BA878A7C-B863-4A0B-B5E2-5A6C7B0C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364" y="428625"/>
            <a:ext cx="127136" cy="1321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5B6168"/>
                </a:solidFill>
                <a:latin typeface="-apple-system"/>
                <a:ea typeface="-apple-system"/>
                <a:cs typeface="-apple-system"/>
              </a:rPr>
              <a:t>02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36F3FEE-8ED2-49DD-9C9A-F2B1D55A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117EBA2-9591-43DF-B3E2-C94BB7A3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4456C7B3-08FD-43D4-B40A-CD452B5A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4FB1F2D-6BE1-4504-9864-75A0D25B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E5BBD2C-EE94-451A-9537-568CA268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FFD746C5-D99B-4975-AB86-02F37DDE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69BE7B14-358A-4DB2-8C3D-79ADE0A5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F61E8D2-B69B-48CC-9760-756190D2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5383A96-B2EF-401F-BD7E-2B0CEF9F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6917AFD9-139A-4849-AE16-A6E88778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E85C7CE3-E900-40BA-92FF-25FD1DE1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DCCF1F94-2C8A-4594-85EF-56DE4E9C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69BFFDA0-C016-47A8-8152-EF08D718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20" name="problem-num-0">
            <a:extLst xmlns:a="http://schemas.openxmlformats.org/drawingml/2006/main">
              <a:ext uri="{FF2B5EF4-FFF2-40B4-BE49-F238E27FC236}">
                <a16:creationId xmlns:a16="http://schemas.microsoft.com/office/drawing/2014/main" id="{A5E1FF53-E9BD-453D-88F4-104E1B50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defRPr>
            </a:pPr>
            <a:r>
              <a:rPr sz="20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01</a:t>
            </a:r>
          </a:p>
        </p:txBody>
      </p:sp>
      <p:sp>
        <p:nvSpPr>
          <p:cNvPr id="21" name="problem-title-0">
            <a:extLst xmlns:a="http://schemas.openxmlformats.org/drawingml/2006/main">
              <a:ext uri="{FF2B5EF4-FFF2-40B4-BE49-F238E27FC236}">
                <a16:creationId xmlns:a16="http://schemas.microsoft.com/office/drawing/2014/main" id="{B329625F-BA44-47A2-99A2-259D5481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135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决策对象</a:t>
            </a:r>
          </a:p>
        </p:txBody>
      </p:sp>
      <p:sp>
        <p:nvSpPr>
          <p:cNvPr id="22" name="problem-body-0">
            <a:extLst xmlns:a="http://schemas.openxmlformats.org/drawingml/2006/main">
              <a:ext uri="{FF2B5EF4-FFF2-40B4-BE49-F238E27FC236}">
                <a16:creationId xmlns:a16="http://schemas.microsoft.com/office/drawing/2014/main" id="{76D74621-7DB7-49A0-8D30-3C8CA4E5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003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0">
                <a:solidFill>
                  <a:srgbClr val="5D6874"/>
                </a:solidFill>
                <a:latin typeface="-apple-system"/>
                <a:ea typeface="-apple-system"/>
                <a:cs typeface="-apple-system"/>
              </a:rPr>
              <a:t>给定 source task、历史 outcome、target schema 与固定实验预算，决定：迁移什么、迁移多少、何时拒绝，以及下一轮测哪个候选。</a:t>
            </a:r>
          </a:p>
        </p:txBody>
      </p:sp>
      <p:sp>
        <p:nvSpPr>
          <p:cNvPr id="23" name="problem-num-1">
            <a:extLst xmlns:a="http://schemas.openxmlformats.org/drawingml/2006/main">
              <a:ext uri="{FF2B5EF4-FFF2-40B4-BE49-F238E27FC236}">
                <a16:creationId xmlns:a16="http://schemas.microsoft.com/office/drawing/2014/main" id="{432B3F22-FF9D-4378-8759-302E9F52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19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defRPr>
            </a:pPr>
            <a:r>
              <a:rPr sz="20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02</a:t>
            </a:r>
          </a:p>
        </p:txBody>
      </p:sp>
      <p:sp>
        <p:nvSpPr>
          <p:cNvPr id="24" name="problem-title-1">
            <a:extLst xmlns:a="http://schemas.openxmlformats.org/drawingml/2006/main">
              <a:ext uri="{FF2B5EF4-FFF2-40B4-BE49-F238E27FC236}">
                <a16:creationId xmlns:a16="http://schemas.microsoft.com/office/drawing/2014/main" id="{8CFCFF2A-D603-4EA1-9244-EDF1E96F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135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核心贡献</a:t>
            </a:r>
          </a:p>
        </p:txBody>
      </p:sp>
      <p:sp>
        <p:nvSpPr>
          <p:cNvPr id="25" name="problem-body-1">
            <a:extLst xmlns:a="http://schemas.openxmlformats.org/drawingml/2006/main">
              <a:ext uri="{FF2B5EF4-FFF2-40B4-BE49-F238E27FC236}">
                <a16:creationId xmlns:a16="http://schemas.microsoft.com/office/drawing/2014/main" id="{E42EA507-BE68-4148-A558-93A9B839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003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0">
                <a:solidFill>
                  <a:srgbClr val="5D6874"/>
                </a:solidFill>
                <a:latin typeface="-apple-system"/>
                <a:ea typeface="-apple-system"/>
                <a:cs typeface="-apple-system"/>
              </a:rPr>
              <a:t>LLM 生成可执行 Hypothesis；编译器把它映射到 acquisition geometry；Calibration Gate 用独立开发种子决定部署或回退。</a:t>
            </a:r>
          </a:p>
        </p:txBody>
      </p:sp>
      <p:sp>
        <p:nvSpPr>
          <p:cNvPr id="26" name="problem-num-2">
            <a:extLst xmlns:a="http://schemas.openxmlformats.org/drawingml/2006/main">
              <a:ext uri="{FF2B5EF4-FFF2-40B4-BE49-F238E27FC236}">
                <a16:creationId xmlns:a16="http://schemas.microsoft.com/office/drawing/2014/main" id="{A88681A7-FCD8-4BC6-95A0-41CC38F3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defRPr>
            </a:pPr>
            <a:r>
              <a:rPr sz="20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03</a:t>
            </a:r>
          </a:p>
        </p:txBody>
      </p:sp>
      <p:sp>
        <p:nvSpPr>
          <p:cNvPr id="27" name="problem-title-2">
            <a:extLst xmlns:a="http://schemas.openxmlformats.org/drawingml/2006/main">
              <a:ext uri="{FF2B5EF4-FFF2-40B4-BE49-F238E27FC236}">
                <a16:creationId xmlns:a16="http://schemas.microsoft.com/office/drawing/2014/main" id="{33144959-3080-4B74-B91C-3648A1DD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135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证据边界</a:t>
            </a:r>
          </a:p>
        </p:txBody>
      </p:sp>
      <p:sp>
        <p:nvSpPr>
          <p:cNvPr id="28" name="problem-body-2">
            <a:extLst xmlns:a="http://schemas.openxmlformats.org/drawingml/2006/main">
              <a:ext uri="{FF2B5EF4-FFF2-40B4-BE49-F238E27FC236}">
                <a16:creationId xmlns:a16="http://schemas.microsoft.com/office/drawing/2014/main" id="{528E1232-54A4-436B-8146-85259B9B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003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0">
                <a:solidFill>
                  <a:srgbClr val="5D6874"/>
                </a:solidFill>
                <a:latin typeface="-apple-system"/>
                <a:ea typeface="-apple-system"/>
                <a:cs typeface="-apple-system"/>
              </a:rPr>
              <a:t>目前支持反应、材料、分子三个领域内的跨数据集迁移。真正的跨领域迁移仍是探索性目标，不能写成已验证结论。</a:t>
            </a:r>
          </a:p>
        </p:txBody>
      </p:sp>
      <p:sp>
        <p:nvSpPr>
          <p:cNvPr id="29" name="problem-synthesis">
            <a:extLst xmlns:a="http://schemas.openxmlformats.org/drawingml/2006/main">
              <a:ext uri="{FF2B5EF4-FFF2-40B4-BE49-F238E27FC236}">
                <a16:creationId xmlns:a16="http://schemas.microsoft.com/office/drawing/2014/main" id="{5316D94F-D815-441A-9A3B-378B0BC1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76675"/>
            <a:ext cx="800100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9FC2E8"/>
            </a:solidFill>
            <a:prstDash val="solid"/>
          </a:ln>
        </p:spPr>
        <p:txBody>
          <a:bodyPr xmlns:a="http://schemas.openxmlformats.org/drawingml/2006/main" wrap="square" lIns="266700" tIns="171450" rIns="266700" bIns="171450" anchor="ctr">
            <a:normAutofit fontScale="9610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defRPr>
            </a:pPr>
            <a:r>
              <a:rPr sz="165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可信赖 = 能迁移，也能拒绝迁移。每一个决定都要有冻结协议、可复核证据和完整 audit trace。</a:t>
            </a:r>
          </a:p>
        </p:txBody>
      </p:sp>
    </p:spTree>
    <p:extLst>
      <p:ext uri="{BB962C8B-B14F-4D97-AF65-F5344CB8AC3E}">
        <p14:creationId xmlns:p14="http://schemas.microsoft.com/office/powerpoint/2010/main" val="173154457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9a55965a9d4e6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ED159CAF-DEFD-4A90-B3A6-8C4861DD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8001000" cy="1500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TRUSTED TRANSFER FRAMEWORK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B8D1C7CB-4264-4D23-B79D-0C8EC637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494"/>
            <a:ext cx="8001000" cy="3343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800" b="1">
                <a:solidFill>
                  <a:srgbClr val="111111"/>
                </a:solidFill>
                <a:latin typeface="-apple-system"/>
                <a:ea typeface="-apple-system"/>
                <a:cs typeface="-apple-system"/>
              </a:rPr>
              <a:t>从历史实验到可验证迁移：生成、路由、执行、反馈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344AC5FD-3E59-47CD-9DC3-388527D7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364" y="285750"/>
            <a:ext cx="127136" cy="1321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5B6168"/>
                </a:solidFill>
                <a:latin typeface="-apple-system"/>
                <a:ea typeface="-apple-system"/>
                <a:cs typeface="-apple-system"/>
              </a:rPr>
              <a:t>03</a:t>
            </a:r>
          </a:p>
        </p:txBody>
      </p:sp>
      <p:pic>
        <p:nvPicPr>
          <p:cNvPr id="28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122cff421846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A1CDB0A6-8A00-496E-AC96-3C97B253C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8" name="Shape 4">
            <a:extLst xmlns:a="http://schemas.openxmlformats.org/drawingml/2006/main">
              <a:ext uri="{FF2B5EF4-FFF2-40B4-BE49-F238E27FC236}">
                <a16:creationId xmlns:a16="http://schemas.microsoft.com/office/drawing/2014/main" id="{FAD6D10A-B59E-4475-8830-FCA8E26D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1EB599F2-CDC0-4D2B-B327-A59A5663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36017" tIns="136017" rIns="136017" bIns="136017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3C060327-AD03-46C1-8952-74EDF784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29947125-96A3-43AC-A2EF-AB50DB521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36017" tIns="136017" rIns="136017" bIns="136017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9813327B-8B4A-4B3F-B5FF-0AA94AD3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5FA164F3-1146-4F34-9E89-4DFDA2A4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36017" tIns="136017" rIns="136017" bIns="136017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81CA4ADB-E170-41C8-AFC1-91EE0593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418ED45C-D3A9-4071-ACB9-3EAD00F0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36017" tIns="136017" rIns="136017" bIns="136017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8BA6554A-B665-49B7-B74D-21441A826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776DD86E-BE23-42B4-8EB7-F275E725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36017" tIns="136017" rIns="136017" bIns="136017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912372C0-D106-4AE6-BB44-35568C10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2CF42E4F-4E48-467A-AA7A-CF726BC61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36017" tIns="136017" rIns="136017" bIns="136017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F58D38D8-FF21-40B6-8B75-D79C1B405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B171C747-B284-4603-B671-0714043B6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36017" tIns="136017" rIns="136017" bIns="136017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9A8F48CE-1E82-441D-9A26-63572876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D36C86F4-32D1-4044-AC08-AFFE8681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36017" tIns="136017" rIns="136017" bIns="136017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24B4F55E-9B27-4EB0-9255-DA7EF44D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FF03BD79-E080-4BF9-8242-60850B52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36017" tIns="136017" rIns="136017" bIns="136017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294D3691-F503-4873-A0F0-6ACA93F2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09A70CA4-E3AF-43CB-B301-D1CF97A0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6C6C55C1-FE95-419E-BCE6-00CAB33C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0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58e0972ee041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D9AF64B3-494E-4D42-943B-3BF90767B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31" name="Shape 26">
            <a:extLst xmlns:a="http://schemas.openxmlformats.org/drawingml/2006/main">
              <a:ext uri="{FF2B5EF4-FFF2-40B4-BE49-F238E27FC236}">
                <a16:creationId xmlns:a16="http://schemas.microsoft.com/office/drawing/2014/main" id="{E9A09C44-CD48-41C4-8BF9-9E720F8B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Shape 27">
            <a:extLst xmlns:a="http://schemas.openxmlformats.org/drawingml/2006/main">
              <a:ext uri="{FF2B5EF4-FFF2-40B4-BE49-F238E27FC236}">
                <a16:creationId xmlns:a16="http://schemas.microsoft.com/office/drawing/2014/main" id="{2C7F3DC7-AA66-46BD-AB20-26804F7F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Shape 28">
            <a:extLst xmlns:a="http://schemas.openxmlformats.org/drawingml/2006/main">
              <a:ext uri="{FF2B5EF4-FFF2-40B4-BE49-F238E27FC236}">
                <a16:creationId xmlns:a16="http://schemas.microsoft.com/office/drawing/2014/main" id="{17F89D4D-92A8-42EB-9020-376664C0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Shape 29">
            <a:extLst xmlns:a="http://schemas.openxmlformats.org/drawingml/2006/main">
              <a:ext uri="{FF2B5EF4-FFF2-40B4-BE49-F238E27FC236}">
                <a16:creationId xmlns:a16="http://schemas.microsoft.com/office/drawing/2014/main" id="{3E80345B-BB36-4224-B8A3-A23C18F6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0">
            <a:extLst xmlns:a="http://schemas.openxmlformats.org/drawingml/2006/main">
              <a:ext uri="{FF2B5EF4-FFF2-40B4-BE49-F238E27FC236}">
                <a16:creationId xmlns:a16="http://schemas.microsoft.com/office/drawing/2014/main" id="{8CDC7844-EF08-4EBA-8113-32C68537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1">
            <a:extLst xmlns:a="http://schemas.openxmlformats.org/drawingml/2006/main">
              <a:ext uri="{FF2B5EF4-FFF2-40B4-BE49-F238E27FC236}">
                <a16:creationId xmlns:a16="http://schemas.microsoft.com/office/drawing/2014/main" id="{0148626B-1502-4426-A907-4E007EF29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37" name="Text 32">
            <a:extLst xmlns:a="http://schemas.openxmlformats.org/drawingml/2006/main">
              <a:ext uri="{FF2B5EF4-FFF2-40B4-BE49-F238E27FC236}">
                <a16:creationId xmlns:a16="http://schemas.microsoft.com/office/drawing/2014/main" id="{E5F903FE-3AFD-45EE-88FF-073B7181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38" name="Text 33">
            <a:extLst xmlns:a="http://schemas.openxmlformats.org/drawingml/2006/main">
              <a:ext uri="{FF2B5EF4-FFF2-40B4-BE49-F238E27FC236}">
                <a16:creationId xmlns:a16="http://schemas.microsoft.com/office/drawing/2014/main" id="{972633EC-CD93-4B24-97C4-444109667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39" name="Text 34">
            <a:extLst xmlns:a="http://schemas.openxmlformats.org/drawingml/2006/main">
              <a:ext uri="{FF2B5EF4-FFF2-40B4-BE49-F238E27FC236}">
                <a16:creationId xmlns:a16="http://schemas.microsoft.com/office/drawing/2014/main" id="{7BD4F2F7-30D6-4033-92EB-E2523601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40" name="Shape 35">
            <a:extLst xmlns:a="http://schemas.openxmlformats.org/drawingml/2006/main">
              <a:ext uri="{FF2B5EF4-FFF2-40B4-BE49-F238E27FC236}">
                <a16:creationId xmlns:a16="http://schemas.microsoft.com/office/drawing/2014/main" id="{D50E1449-A437-4659-BF82-706D1B75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Shape 36">
            <a:extLst xmlns:a="http://schemas.openxmlformats.org/drawingml/2006/main">
              <a:ext uri="{FF2B5EF4-FFF2-40B4-BE49-F238E27FC236}">
                <a16:creationId xmlns:a16="http://schemas.microsoft.com/office/drawing/2014/main" id="{8DDA31BA-119E-4EE4-A986-BB6A84C2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Shape 37">
            <a:extLst xmlns:a="http://schemas.openxmlformats.org/drawingml/2006/main">
              <a:ext uri="{FF2B5EF4-FFF2-40B4-BE49-F238E27FC236}">
                <a16:creationId xmlns:a16="http://schemas.microsoft.com/office/drawing/2014/main" id="{BC9EF208-1A7B-42AB-94DB-248EF0C6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Shape 38">
            <a:extLst xmlns:a="http://schemas.openxmlformats.org/drawingml/2006/main">
              <a:ext uri="{FF2B5EF4-FFF2-40B4-BE49-F238E27FC236}">
                <a16:creationId xmlns:a16="http://schemas.microsoft.com/office/drawing/2014/main" id="{04CD6DBA-D284-4185-8CF3-6334BCE3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Shape 39">
            <a:extLst xmlns:a="http://schemas.openxmlformats.org/drawingml/2006/main">
              <a:ext uri="{FF2B5EF4-FFF2-40B4-BE49-F238E27FC236}">
                <a16:creationId xmlns:a16="http://schemas.microsoft.com/office/drawing/2014/main" id="{512DE1FA-276A-4144-8159-481128D9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" name="Text 40">
            <a:extLst xmlns:a="http://schemas.openxmlformats.org/drawingml/2006/main">
              <a:ext uri="{FF2B5EF4-FFF2-40B4-BE49-F238E27FC236}">
                <a16:creationId xmlns:a16="http://schemas.microsoft.com/office/drawing/2014/main" id="{FF65D1E9-97D0-4275-9052-3EA56231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46" name="Text 41">
            <a:extLst xmlns:a="http://schemas.openxmlformats.org/drawingml/2006/main">
              <a:ext uri="{FF2B5EF4-FFF2-40B4-BE49-F238E27FC236}">
                <a16:creationId xmlns:a16="http://schemas.microsoft.com/office/drawing/2014/main" id="{276AB000-21A1-4042-9788-B1914AB6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47" name="Text 42">
            <a:extLst xmlns:a="http://schemas.openxmlformats.org/drawingml/2006/main">
              <a:ext uri="{FF2B5EF4-FFF2-40B4-BE49-F238E27FC236}">
                <a16:creationId xmlns:a16="http://schemas.microsoft.com/office/drawing/2014/main" id="{651271A4-F2B3-4DCA-892F-2BC74511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48" name="Text 43">
            <a:extLst xmlns:a="http://schemas.openxmlformats.org/drawingml/2006/main">
              <a:ext uri="{FF2B5EF4-FFF2-40B4-BE49-F238E27FC236}">
                <a16:creationId xmlns:a16="http://schemas.microsoft.com/office/drawing/2014/main" id="{676CB99D-BB24-4717-9283-E1A399F2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49" name="Shape 44">
            <a:extLst xmlns:a="http://schemas.openxmlformats.org/drawingml/2006/main">
              <a:ext uri="{FF2B5EF4-FFF2-40B4-BE49-F238E27FC236}">
                <a16:creationId xmlns:a16="http://schemas.microsoft.com/office/drawing/2014/main" id="{2C1FEAC1-41A2-43E5-AC9E-620057CCA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Shape 45">
            <a:extLst xmlns:a="http://schemas.openxmlformats.org/drawingml/2006/main">
              <a:ext uri="{FF2B5EF4-FFF2-40B4-BE49-F238E27FC236}">
                <a16:creationId xmlns:a16="http://schemas.microsoft.com/office/drawing/2014/main" id="{0CDA5014-435C-426E-9145-51FEDB6F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Shape 46">
            <a:extLst xmlns:a="http://schemas.openxmlformats.org/drawingml/2006/main">
              <a:ext uri="{FF2B5EF4-FFF2-40B4-BE49-F238E27FC236}">
                <a16:creationId xmlns:a16="http://schemas.microsoft.com/office/drawing/2014/main" id="{68AE135F-2F6E-4B97-A6BE-88AF8BA3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2" name="Shape 47">
            <a:extLst xmlns:a="http://schemas.openxmlformats.org/drawingml/2006/main">
              <a:ext uri="{FF2B5EF4-FFF2-40B4-BE49-F238E27FC236}">
                <a16:creationId xmlns:a16="http://schemas.microsoft.com/office/drawing/2014/main" id="{AAE18213-0645-4595-8EF2-63AF042F8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3" name="Shape 48">
            <a:extLst xmlns:a="http://schemas.openxmlformats.org/drawingml/2006/main">
              <a:ext uri="{FF2B5EF4-FFF2-40B4-BE49-F238E27FC236}">
                <a16:creationId xmlns:a16="http://schemas.microsoft.com/office/drawing/2014/main" id="{DF1160AB-F6B4-4AD6-BA6E-0198BFAA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Text 49">
            <a:extLst xmlns:a="http://schemas.openxmlformats.org/drawingml/2006/main">
              <a:ext uri="{FF2B5EF4-FFF2-40B4-BE49-F238E27FC236}">
                <a16:creationId xmlns:a16="http://schemas.microsoft.com/office/drawing/2014/main" id="{79B351AA-0D58-463E-B5A7-50271939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55" name="Text 50">
            <a:extLst xmlns:a="http://schemas.openxmlformats.org/drawingml/2006/main">
              <a:ext uri="{FF2B5EF4-FFF2-40B4-BE49-F238E27FC236}">
                <a16:creationId xmlns:a16="http://schemas.microsoft.com/office/drawing/2014/main" id="{1B8CAC1E-B898-4D59-A824-34E64F00F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56" name="Text 51">
            <a:extLst xmlns:a="http://schemas.openxmlformats.org/drawingml/2006/main">
              <a:ext uri="{FF2B5EF4-FFF2-40B4-BE49-F238E27FC236}">
                <a16:creationId xmlns:a16="http://schemas.microsoft.com/office/drawing/2014/main" id="{7BD35B93-48F2-4BEE-B10F-0579C9BB1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57" name="Text 52">
            <a:extLst xmlns:a="http://schemas.openxmlformats.org/drawingml/2006/main">
              <a:ext uri="{FF2B5EF4-FFF2-40B4-BE49-F238E27FC236}">
                <a16:creationId xmlns:a16="http://schemas.microsoft.com/office/drawing/2014/main" id="{E6D0943E-074D-4183-B3AD-405784F3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58" name="Shape 53">
            <a:extLst xmlns:a="http://schemas.openxmlformats.org/drawingml/2006/main">
              <a:ext uri="{FF2B5EF4-FFF2-40B4-BE49-F238E27FC236}">
                <a16:creationId xmlns:a16="http://schemas.microsoft.com/office/drawing/2014/main" id="{8DEACAE0-FEB3-494C-8147-A2765D7B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9" name="Shape 54">
            <a:extLst xmlns:a="http://schemas.openxmlformats.org/drawingml/2006/main">
              <a:ext uri="{FF2B5EF4-FFF2-40B4-BE49-F238E27FC236}">
                <a16:creationId xmlns:a16="http://schemas.microsoft.com/office/drawing/2014/main" id="{E9F399B8-EB96-4D34-8715-68D98524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0" name="Shape 55">
            <a:extLst xmlns:a="http://schemas.openxmlformats.org/drawingml/2006/main">
              <a:ext uri="{FF2B5EF4-FFF2-40B4-BE49-F238E27FC236}">
                <a16:creationId xmlns:a16="http://schemas.microsoft.com/office/drawing/2014/main" id="{8A8998D1-9844-4D00-8C74-A2359F8F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1" name="Shape 56">
            <a:extLst xmlns:a="http://schemas.openxmlformats.org/drawingml/2006/main">
              <a:ext uri="{FF2B5EF4-FFF2-40B4-BE49-F238E27FC236}">
                <a16:creationId xmlns:a16="http://schemas.microsoft.com/office/drawing/2014/main" id="{EA40FD4D-7C27-48BE-9530-E542B9ACF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2" name="Shape 57">
            <a:extLst xmlns:a="http://schemas.openxmlformats.org/drawingml/2006/main">
              <a:ext uri="{FF2B5EF4-FFF2-40B4-BE49-F238E27FC236}">
                <a16:creationId xmlns:a16="http://schemas.microsoft.com/office/drawing/2014/main" id="{F30F8F54-0F2A-4C1E-8418-C0861518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3" name="Text 58">
            <a:extLst xmlns:a="http://schemas.openxmlformats.org/drawingml/2006/main">
              <a:ext uri="{FF2B5EF4-FFF2-40B4-BE49-F238E27FC236}">
                <a16:creationId xmlns:a16="http://schemas.microsoft.com/office/drawing/2014/main" id="{86A39385-085F-477E-A795-7FEA3C92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64" name="Text 59">
            <a:extLst xmlns:a="http://schemas.openxmlformats.org/drawingml/2006/main">
              <a:ext uri="{FF2B5EF4-FFF2-40B4-BE49-F238E27FC236}">
                <a16:creationId xmlns:a16="http://schemas.microsoft.com/office/drawing/2014/main" id="{EF68050B-0333-4254-B695-0DE3B05D1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65" name="Text 60">
            <a:extLst xmlns:a="http://schemas.openxmlformats.org/drawingml/2006/main">
              <a:ext uri="{FF2B5EF4-FFF2-40B4-BE49-F238E27FC236}">
                <a16:creationId xmlns:a16="http://schemas.microsoft.com/office/drawing/2014/main" id="{C3DB49D4-0605-4E33-A19F-78C2128A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66" name="Text 61">
            <a:extLst xmlns:a="http://schemas.openxmlformats.org/drawingml/2006/main">
              <a:ext uri="{FF2B5EF4-FFF2-40B4-BE49-F238E27FC236}">
                <a16:creationId xmlns:a16="http://schemas.microsoft.com/office/drawing/2014/main" id="{B50052EF-9060-499B-9036-0062AA3D1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70" name="framework-top-0">
            <a:extLst xmlns:a="http://schemas.openxmlformats.org/drawingml/2006/main">
              <a:ext uri="{FF2B5EF4-FFF2-40B4-BE49-F238E27FC236}">
                <a16:creationId xmlns:a16="http://schemas.microsoft.com/office/drawing/2014/main" id="{199B6E16-A1E0-46E8-80C6-41F89390C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1381125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1430">
            <a:solidFill>
              <a:srgbClr val="9FC2E8"/>
            </a:solidFill>
            <a:prstDash val="solid"/>
          </a:ln>
        </p:spPr>
        <p:txBody>
          <a:bodyPr xmlns:a="http://schemas.openxmlformats.org/drawingml/2006/main" wrap="square" lIns="76200" tIns="85725" rIns="76200" bIns="85725" anchor="ctr">
            <a:normAutofit fontScale="9946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Historical Experiments</a:t>
            </a:r>
          </a:p>
          <a:p xmlns:a="http://schemas.openxmlformats.org/drawingml/2006/main">
            <a:pPr algn="ctr">
              <a:buNone/>
              <a:def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TaskSpec · outcomes · audit</a:t>
            </a:r>
          </a:p>
        </p:txBody>
      </p:sp>
      <p:sp>
        <p:nvSpPr>
          <p:cNvPr id="71" name="framework-top-1">
            <a:extLst xmlns:a="http://schemas.openxmlformats.org/drawingml/2006/main">
              <a:ext uri="{FF2B5EF4-FFF2-40B4-BE49-F238E27FC236}">
                <a16:creationId xmlns:a16="http://schemas.microsoft.com/office/drawing/2014/main" id="{405953BD-2125-4B0C-BEDD-6BB11D323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1333500"/>
            <a:ext cx="1381125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1430">
            <a:solidFill>
              <a:srgbClr val="9FC2E8"/>
            </a:solidFill>
            <a:prstDash val="solid"/>
          </a:ln>
        </p:spPr>
        <p:txBody>
          <a:bodyPr xmlns:a="http://schemas.openxmlformats.org/drawingml/2006/main" wrap="square" lIns="76200" tIns="85725" rIns="76200" bIns="857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Feature &amp; Evidence</a:t>
            </a:r>
          </a:p>
          <a:p xmlns:a="http://schemas.openxmlformats.org/drawingml/2006/main">
            <a:pPr algn="ctr">
              <a:buNone/>
              <a:def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roles · descriptors · uncertainty</a:t>
            </a:r>
          </a:p>
        </p:txBody>
      </p:sp>
      <p:sp>
        <p:nvSpPr>
          <p:cNvPr id="72" name="framework-top-2">
            <a:extLst xmlns:a="http://schemas.openxmlformats.org/drawingml/2006/main">
              <a:ext uri="{FF2B5EF4-FFF2-40B4-BE49-F238E27FC236}">
                <a16:creationId xmlns:a16="http://schemas.microsoft.com/office/drawing/2014/main" id="{FBAA4DF2-898B-4BB3-B10B-19419696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333500"/>
            <a:ext cx="1381125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1430">
            <a:solidFill>
              <a:srgbClr val="9FC2E8"/>
            </a:solidFill>
            <a:prstDash val="solid"/>
          </a:ln>
        </p:spPr>
        <p:txBody>
          <a:bodyPr xmlns:a="http://schemas.openxmlformats.org/drawingml/2006/main" wrap="square" lIns="76200" tIns="85725" rIns="76200" bIns="85725" anchor="ctr">
            <a:normAutofit fontScale="940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Hypothesis Generation</a:t>
            </a:r>
          </a:p>
          <a:p xmlns:a="http://schemas.openxmlformats.org/drawingml/2006/main">
            <a:pPr algn="ctr">
              <a:buNone/>
              <a:def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multiple bounded candidates</a:t>
            </a:r>
          </a:p>
        </p:txBody>
      </p:sp>
      <p:sp>
        <p:nvSpPr>
          <p:cNvPr id="73" name="framework-top-3">
            <a:extLst xmlns:a="http://schemas.openxmlformats.org/drawingml/2006/main">
              <a:ext uri="{FF2B5EF4-FFF2-40B4-BE49-F238E27FC236}">
                <a16:creationId xmlns:a16="http://schemas.microsoft.com/office/drawing/2014/main" id="{6FFD81F1-5B76-4240-BB18-953E0B46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1333500"/>
            <a:ext cx="1381125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1430">
            <a:solidFill>
              <a:srgbClr val="9FC2E8"/>
            </a:solidFill>
            <a:prstDash val="solid"/>
          </a:ln>
        </p:spPr>
        <p:txBody>
          <a:bodyPr xmlns:a="http://schemas.openxmlformats.org/drawingml/2006/main" wrap="square" lIns="76200" tIns="85725" rIns="76200" bIns="85725" anchor="ctr">
            <a:normAutofit fontScale="9727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Transferability Estimate</a:t>
            </a:r>
          </a:p>
          <a:p xmlns:a="http://schemas.openxmlformats.org/drawingml/2006/main">
            <a:pPr algn="ctr">
              <a:buNone/>
              <a:def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schema + source evidence</a:t>
            </a:r>
          </a:p>
        </p:txBody>
      </p:sp>
      <p:sp>
        <p:nvSpPr>
          <p:cNvPr id="74" name="framework-top-4">
            <a:extLst xmlns:a="http://schemas.openxmlformats.org/drawingml/2006/main">
              <a:ext uri="{FF2B5EF4-FFF2-40B4-BE49-F238E27FC236}">
                <a16:creationId xmlns:a16="http://schemas.microsoft.com/office/drawing/2014/main" id="{98EA5819-3CA0-4C69-8720-51C8C13A3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333500"/>
            <a:ext cx="1381125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1430">
            <a:solidFill>
              <a:srgbClr val="E0B45C"/>
            </a:solidFill>
            <a:prstDash val="solid"/>
          </a:ln>
        </p:spPr>
        <p:txBody>
          <a:bodyPr xmlns:a="http://schemas.openxmlformats.org/drawingml/2006/main" wrap="square" lIns="76200" tIns="85725" rIns="76200" bIns="857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Calibration Gate</a:t>
            </a:r>
          </a:p>
          <a:p xmlns:a="http://schemas.openxmlformats.org/drawingml/2006/main">
            <a:pPr algn="ctr">
              <a:buNone/>
              <a:def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independent dev seeds</a:t>
            </a:r>
          </a:p>
        </p:txBody>
      </p:sp>
      <p:cxnSp>
        <p:nvCxnSpPr>
          <p:cNvPr id="348" name="Straight Arrow Connector 165"/>
          <p:cNvCxnSpPr>
            <a:stCxn xmlns:a="http://schemas.openxmlformats.org/drawingml/2006/main" id="70" idx="3"/>
            <a:endCxn xmlns:a="http://schemas.openxmlformats.org/drawingml/2006/main" id="71" idx="1"/>
          </p:cNvCxnSpPr>
          <p:nvPr/>
        </p:nvCxnSpPr>
        <p:spPr>
          <a:xfrm xmlns:a="http://schemas.openxmlformats.org/drawingml/2006/main">
            <a:off x="1952625" y="170497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C2E8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349" name="Straight Arrow Connector 166"/>
          <p:cNvCxnSpPr>
            <a:stCxn xmlns:a="http://schemas.openxmlformats.org/drawingml/2006/main" id="71" idx="3"/>
            <a:endCxn xmlns:a="http://schemas.openxmlformats.org/drawingml/2006/main" id="72" idx="1"/>
          </p:cNvCxnSpPr>
          <p:nvPr/>
        </p:nvCxnSpPr>
        <p:spPr>
          <a:xfrm xmlns:a="http://schemas.openxmlformats.org/drawingml/2006/main">
            <a:off x="3505200" y="170497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C2E8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350" name="Straight Arrow Connector 167"/>
          <p:cNvCxnSpPr>
            <a:stCxn xmlns:a="http://schemas.openxmlformats.org/drawingml/2006/main" id="72" idx="3"/>
            <a:endCxn xmlns:a="http://schemas.openxmlformats.org/drawingml/2006/main" id="73" idx="1"/>
          </p:cNvCxnSpPr>
          <p:nvPr/>
        </p:nvCxnSpPr>
        <p:spPr>
          <a:xfrm xmlns:a="http://schemas.openxmlformats.org/drawingml/2006/main">
            <a:off x="5057775" y="170497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C2E8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351" name="Straight Arrow Connector 168"/>
          <p:cNvCxnSpPr>
            <a:stCxn xmlns:a="http://schemas.openxmlformats.org/drawingml/2006/main" id="73" idx="3"/>
            <a:endCxn xmlns:a="http://schemas.openxmlformats.org/drawingml/2006/main" id="74" idx="1"/>
          </p:cNvCxnSpPr>
          <p:nvPr/>
        </p:nvCxnSpPr>
        <p:spPr>
          <a:xfrm xmlns:a="http://schemas.openxmlformats.org/drawingml/2006/main">
            <a:off x="6610350" y="170497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C2E8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79" name="framework-transfer">
            <a:extLst xmlns:a="http://schemas.openxmlformats.org/drawingml/2006/main">
              <a:ext uri="{FF2B5EF4-FFF2-40B4-BE49-F238E27FC236}">
                <a16:creationId xmlns:a16="http://schemas.microsoft.com/office/drawing/2014/main" id="{5CFFF29A-260F-4CB1-8082-A84CA1594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76500"/>
            <a:ext cx="9525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11430">
            <a:solidFill>
              <a:srgbClr val="19875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rPr>
              <a:t>TRANSFER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rPr>
              <a:t>M &gt; 0</a:t>
            </a:r>
          </a:p>
        </p:txBody>
      </p:sp>
      <p:sp>
        <p:nvSpPr>
          <p:cNvPr id="80" name="framework-hold">
            <a:extLst xmlns:a="http://schemas.openxmlformats.org/drawingml/2006/main">
              <a:ext uri="{FF2B5EF4-FFF2-40B4-BE49-F238E27FC236}">
                <a16:creationId xmlns:a16="http://schemas.microsoft.com/office/drawing/2014/main" id="{1BBD49EB-F67B-4D25-843A-7272E5D1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9525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1430">
            <a:solidFill>
              <a:srgbClr val="B7791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8977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B7791F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B7791F"/>
                </a:solidFill>
                <a:latin typeface="-apple-system"/>
                <a:ea typeface="-apple-system"/>
                <a:cs typeface="-apple-system"/>
              </a:rPr>
              <a:t>HOLD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B7791F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B7791F"/>
                </a:solidFill>
                <a:latin typeface="-apple-system"/>
                <a:ea typeface="-apple-system"/>
                <a:cs typeface="-apple-system"/>
              </a:rPr>
              <a:t>collect evidence</a:t>
            </a:r>
          </a:p>
        </p:txBody>
      </p:sp>
      <p:sp>
        <p:nvSpPr>
          <p:cNvPr id="81" name="framework-freeze">
            <a:extLst xmlns:a="http://schemas.openxmlformats.org/drawingml/2006/main">
              <a:ext uri="{FF2B5EF4-FFF2-40B4-BE49-F238E27FC236}">
                <a16:creationId xmlns:a16="http://schemas.microsoft.com/office/drawing/2014/main" id="{06820836-C98F-4D49-9D43-2239385B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76500"/>
            <a:ext cx="9525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CECEC"/>
          </a:solidFill>
          <a:ln xmlns:a="http://schemas.openxmlformats.org/drawingml/2006/main" w="11430">
            <a:solidFill>
              <a:srgbClr val="D64545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9825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D64545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D64545"/>
                </a:solidFill>
                <a:latin typeface="-apple-system"/>
                <a:ea typeface="-apple-system"/>
                <a:cs typeface="-apple-system"/>
              </a:rPr>
              <a:t>FREEZE / REJECT</a:t>
            </a:r>
          </a:p>
          <a:p xmlns:a="http://schemas.openxmlformats.org/drawingml/2006/main">
            <a:pPr algn="ctr">
              <a:buNone/>
              <a:defRPr sz="863" b="1">
                <a:solidFill>
                  <a:srgbClr val="D64545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D64545"/>
                </a:solidFill>
                <a:latin typeface="-apple-system"/>
                <a:ea typeface="-apple-system"/>
                <a:cs typeface="-apple-system"/>
              </a:rPr>
              <a:t>exact fallback</a:t>
            </a:r>
          </a:p>
        </p:txBody>
      </p:sp>
      <p:cxnSp>
        <p:nvCxnSpPr>
          <p:cNvPr id="355" name="Elbow Connector 172"/>
          <p:cNvCxnSpPr>
            <a:stCxn xmlns:a="http://schemas.openxmlformats.org/drawingml/2006/main" id="74" idx="2"/>
            <a:endCxn xmlns:a="http://schemas.openxmlformats.org/drawingml/2006/main" id="79" idx="0"/>
          </p:cNvCxnSpPr>
          <p:nvPr/>
        </p:nvCxnSpPr>
        <p:spPr>
          <a:xfrm xmlns:a="http://schemas.openxmlformats.org/drawingml/2006/main" flipH="1">
            <a:off x="5905500" y="2076450"/>
            <a:ext cx="1566863" cy="4000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98754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356" name="Elbow Connector 173"/>
          <p:cNvCxnSpPr>
            <a:stCxn xmlns:a="http://schemas.openxmlformats.org/drawingml/2006/main" id="74" idx="2"/>
            <a:endCxn xmlns:a="http://schemas.openxmlformats.org/drawingml/2006/main" id="80" idx="0"/>
          </p:cNvCxnSpPr>
          <p:nvPr/>
        </p:nvCxnSpPr>
        <p:spPr>
          <a:xfrm xmlns:a="http://schemas.openxmlformats.org/drawingml/2006/main" flipH="1">
            <a:off x="7048500" y="2076450"/>
            <a:ext cx="423863" cy="4000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B7791F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357" name="Elbow Connector 174"/>
          <p:cNvCxnSpPr>
            <a:stCxn xmlns:a="http://schemas.openxmlformats.org/drawingml/2006/main" id="74" idx="2"/>
            <a:endCxn xmlns:a="http://schemas.openxmlformats.org/drawingml/2006/main" id="81" idx="0"/>
          </p:cNvCxnSpPr>
          <p:nvPr/>
        </p:nvCxnSpPr>
        <p:spPr>
          <a:xfrm xmlns:a="http://schemas.openxmlformats.org/drawingml/2006/main">
            <a:off x="7472363" y="2076450"/>
            <a:ext cx="719138" cy="4000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D64545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85" name="framework-bottom-0">
            <a:extLst xmlns:a="http://schemas.openxmlformats.org/drawingml/2006/main">
              <a:ext uri="{FF2B5EF4-FFF2-40B4-BE49-F238E27FC236}">
                <a16:creationId xmlns:a16="http://schemas.microsoft.com/office/drawing/2014/main" id="{D652F557-32F0-4439-B2B8-9679D86D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29000"/>
            <a:ext cx="17145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FC2E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Target Experiment</a:t>
            </a:r>
          </a:p>
          <a:p xmlns:a="http://schemas.openxmlformats.org/drawingml/2006/main">
            <a:pPr algn="ctr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fixed budget replay</a:t>
            </a:r>
          </a:p>
        </p:txBody>
      </p:sp>
      <p:sp>
        <p:nvSpPr>
          <p:cNvPr id="86" name="framework-bottom-1">
            <a:extLst xmlns:a="http://schemas.openxmlformats.org/drawingml/2006/main">
              <a:ext uri="{FF2B5EF4-FFF2-40B4-BE49-F238E27FC236}">
                <a16:creationId xmlns:a16="http://schemas.microsoft.com/office/drawing/2014/main" id="{B8DA8B1C-1806-4519-BACE-A0D4E5236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429000"/>
            <a:ext cx="17145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FC2E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Statistical Evaluation</a:t>
            </a:r>
          </a:p>
          <a:p xmlns:a="http://schemas.openxmlformats.org/drawingml/2006/main">
            <a:pPr algn="ctr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paired Δ · CI · stability</a:t>
            </a:r>
          </a:p>
        </p:txBody>
      </p:sp>
      <p:sp>
        <p:nvSpPr>
          <p:cNvPr id="87" name="framework-bottom-2">
            <a:extLst xmlns:a="http://schemas.openxmlformats.org/drawingml/2006/main">
              <a:ext uri="{FF2B5EF4-FFF2-40B4-BE49-F238E27FC236}">
                <a16:creationId xmlns:a16="http://schemas.microsoft.com/office/drawing/2014/main" id="{762176D5-4791-4DF9-9108-E1C18239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429000"/>
            <a:ext cx="17145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FC2E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Feedback &amp; Memory</a:t>
            </a:r>
          </a:p>
          <a:p xmlns:a="http://schemas.openxmlformats.org/drawingml/2006/main">
            <a:pPr algn="ctr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trace · outcome · route card</a:t>
            </a:r>
          </a:p>
        </p:txBody>
      </p:sp>
      <p:cxnSp>
        <p:nvCxnSpPr>
          <p:cNvPr id="361" name="Elbow Connector 178"/>
          <p:cNvCxnSpPr>
            <a:stCxn xmlns:a="http://schemas.openxmlformats.org/drawingml/2006/main" id="79" idx="2"/>
            <a:endCxn xmlns:a="http://schemas.openxmlformats.org/drawingml/2006/main" id="85" idx="0"/>
          </p:cNvCxnSpPr>
          <p:nvPr/>
        </p:nvCxnSpPr>
        <p:spPr>
          <a:xfrm xmlns:a="http://schemas.openxmlformats.org/drawingml/2006/main" flipH="1">
            <a:off x="2571750" y="2990850"/>
            <a:ext cx="3333750" cy="4381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98754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362" name="Elbow Connector 179"/>
          <p:cNvCxnSpPr>
            <a:stCxn xmlns:a="http://schemas.openxmlformats.org/drawingml/2006/main" id="81" idx="2"/>
            <a:endCxn xmlns:a="http://schemas.openxmlformats.org/drawingml/2006/main" id="85" idx="0"/>
          </p:cNvCxnSpPr>
          <p:nvPr/>
        </p:nvCxnSpPr>
        <p:spPr>
          <a:xfrm xmlns:a="http://schemas.openxmlformats.org/drawingml/2006/main" flipH="1">
            <a:off x="2571750" y="2990850"/>
            <a:ext cx="5619750" cy="4381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D64545"/>
            </a:solidFill>
            <a:prstDash val="dash"/>
            <a:headEnd type="none" w="med" len="med"/>
            <a:tailEnd type="arrow" w="sm" len="sm"/>
          </a:ln>
        </p:spPr>
      </p:cxnSp>
      <p:cxnSp>
        <p:nvCxnSpPr>
          <p:cNvPr id="363" name="Straight Arrow Connector 180"/>
          <p:cNvCxnSpPr>
            <a:stCxn xmlns:a="http://schemas.openxmlformats.org/drawingml/2006/main" id="85" idx="3"/>
            <a:endCxn xmlns:a="http://schemas.openxmlformats.org/drawingml/2006/main" id="86" idx="1"/>
          </p:cNvCxnSpPr>
          <p:nvPr/>
        </p:nvCxnSpPr>
        <p:spPr>
          <a:xfrm xmlns:a="http://schemas.openxmlformats.org/drawingml/2006/main">
            <a:off x="3429000" y="37623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C2E8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364" name="Straight Arrow Connector 181"/>
          <p:cNvCxnSpPr>
            <a:stCxn xmlns:a="http://schemas.openxmlformats.org/drawingml/2006/main" id="86" idx="3"/>
            <a:endCxn xmlns:a="http://schemas.openxmlformats.org/drawingml/2006/main" id="87" idx="1"/>
          </p:cNvCxnSpPr>
          <p:nvPr/>
        </p:nvCxnSpPr>
        <p:spPr>
          <a:xfrm xmlns:a="http://schemas.openxmlformats.org/drawingml/2006/main">
            <a:off x="5524500" y="37623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C2E8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365" name="Elbow Connector 182"/>
          <p:cNvCxnSpPr>
            <a:stCxn xmlns:a="http://schemas.openxmlformats.org/drawingml/2006/main" id="87" idx="0"/>
            <a:endCxn xmlns:a="http://schemas.openxmlformats.org/drawingml/2006/main" id="70" idx="2"/>
          </p:cNvCxnSpPr>
          <p:nvPr/>
        </p:nvCxnSpPr>
        <p:spPr>
          <a:xfrm xmlns:a="http://schemas.openxmlformats.org/drawingml/2006/main" flipH="1" flipV="1">
            <a:off x="1262063" y="2076450"/>
            <a:ext cx="5500688" cy="1352550"/>
          </a:xfrm>
          <a:prstGeom xmlns:a="http://schemas.openxmlformats.org/drawingml/2006/main" prst="bentConnector4">
            <a:avLst>
              <a:gd name="adj1" fmla="val 0"/>
              <a:gd name="adj2" fmla="val 16901"/>
            </a:avLst>
          </a:prstGeom>
          <a:ln xmlns:a="http://schemas.openxmlformats.org/drawingml/2006/main" w="19050">
            <a:solidFill>
              <a:srgbClr val="2B6CB0"/>
            </a:solidFill>
            <a:prstDash val="dash"/>
            <a:headEnd type="none" w="med" len="med"/>
            <a:tailEnd type="arrow" w="sm" len="sm"/>
          </a:ln>
        </p:spPr>
      </p:cxnSp>
      <p:sp>
        <p:nvSpPr>
          <p:cNvPr id="93" name="framework-contrib-1">
            <a:extLst xmlns:a="http://schemas.openxmlformats.org/drawingml/2006/main">
              <a:ext uri="{FF2B5EF4-FFF2-40B4-BE49-F238E27FC236}">
                <a16:creationId xmlns:a16="http://schemas.microsoft.com/office/drawing/2014/main" id="{209D8928-9092-4EF9-95CA-E01F0895F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90750"/>
            <a:ext cx="176212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90611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defRPr>
            </a:pPr>
            <a:r>
              <a:rPr sz="8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CONTRIBUTION 1 · Hypothesis</a:t>
            </a:r>
          </a:p>
        </p:txBody>
      </p:sp>
      <p:sp>
        <p:nvSpPr>
          <p:cNvPr id="94" name="framework-contrib-2">
            <a:extLst xmlns:a="http://schemas.openxmlformats.org/drawingml/2006/main">
              <a:ext uri="{FF2B5EF4-FFF2-40B4-BE49-F238E27FC236}">
                <a16:creationId xmlns:a16="http://schemas.microsoft.com/office/drawing/2014/main" id="{CA35FE5E-F375-43EB-A519-E6543358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204787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0">
            <a:solidFill>
              <a:srgbClr val="FFF7E6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90611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B7791F"/>
                </a:solidFill>
                <a:latin typeface="-apple-system"/>
                <a:ea typeface="-apple-system"/>
                <a:cs typeface="-apple-system"/>
              </a:defRPr>
            </a:pPr>
            <a:r>
              <a:rPr sz="825" b="1">
                <a:solidFill>
                  <a:srgbClr val="B7791F"/>
                </a:solidFill>
                <a:latin typeface="-apple-system"/>
                <a:ea typeface="-apple-system"/>
                <a:cs typeface="-apple-system"/>
              </a:rPr>
              <a:t>CONTRIBUTION 2 · Calibrated gate</a:t>
            </a:r>
          </a:p>
        </p:txBody>
      </p:sp>
      <p:sp>
        <p:nvSpPr>
          <p:cNvPr id="95" name="framework-caption">
            <a:extLst xmlns:a="http://schemas.openxmlformats.org/drawingml/2006/main">
              <a:ext uri="{FF2B5EF4-FFF2-40B4-BE49-F238E27FC236}">
                <a16:creationId xmlns:a16="http://schemas.microsoft.com/office/drawing/2014/main" id="{30FD3BBF-233E-4E03-9B4E-93EF387D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624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5D6874"/>
                </a:solidFill>
                <a:latin typeface="-apple-system"/>
                <a:ea typeface="-apple-system"/>
                <a:cs typeface="-apple-system"/>
              </a:defRPr>
            </a:pPr>
            <a:r>
              <a:rPr sz="1050" b="1">
                <a:solidFill>
                  <a:srgbClr val="5D6874"/>
                </a:solidFill>
                <a:latin typeface="-apple-system"/>
                <a:ea typeface="-apple-system"/>
                <a:cs typeface="-apple-system"/>
              </a:rPr>
              <a:t>输出不是一个答案，而是一条可审计的决策链：证据 → 假设 → patch → gate → target outcome → memory。</a:t>
            </a:r>
          </a:p>
        </p:txBody>
      </p:sp>
    </p:spTree>
    <p:extLst>
      <p:ext uri="{BB962C8B-B14F-4D97-AF65-F5344CB8AC3E}">
        <p14:creationId xmlns:p14="http://schemas.microsoft.com/office/powerpoint/2010/main" val="174054089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eaba6e71cb4e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6A3FF65E-8C09-4E37-981F-8360CA66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8001000" cy="1500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HYPOTHESIS GENERATION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659951B-6973-4FE2-8386-DE156EB3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494"/>
            <a:ext cx="10093789" cy="2852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800" b="1">
                <a:solidFill>
                  <a:srgbClr val="111111"/>
                </a:solidFill>
                <a:latin typeface="-apple-system"/>
                <a:ea typeface="-apple-system"/>
                <a:cs typeface="-apple-system"/>
              </a:rPr>
              <a:t>LLM 提出候选假设；held-out outcome 只用于最终评估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9D733FD-8014-43D7-B7BE-87A423A8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364" y="285750"/>
            <a:ext cx="127136" cy="1321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5B6168"/>
                </a:solidFill>
                <a:latin typeface="-apple-system"/>
                <a:ea typeface="-apple-system"/>
                <a:cs typeface="-apple-system"/>
              </a:rPr>
              <a:t>04</a:t>
            </a:r>
          </a:p>
        </p:txBody>
      </p:sp>
      <p:pic>
        <p:nvPicPr>
          <p:cNvPr id="12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3c1ccd80014b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C4E00280-A438-42ED-B08F-980CCDB2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8" name="Shape 4">
            <a:extLst xmlns:a="http://schemas.openxmlformats.org/drawingml/2006/main">
              <a:ext uri="{FF2B5EF4-FFF2-40B4-BE49-F238E27FC236}">
                <a16:creationId xmlns:a16="http://schemas.microsoft.com/office/drawing/2014/main" id="{C79BEB0E-2A5E-4AE0-AFCF-9BB34F07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22286AC4-C329-481E-A3DD-0E1C01EAC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02108" tIns="102108" rIns="102108" bIns="102108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C03B5AC4-8D0A-434A-B7B3-4BA0C974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pic>
        <p:nvPicPr>
          <p:cNvPr id="12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59ffb0a85a4c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5596AD4D-1E26-4ED4-AA58-45D6C811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3" name="Shape 8">
            <a:extLst xmlns:a="http://schemas.openxmlformats.org/drawingml/2006/main">
              <a:ext uri="{FF2B5EF4-FFF2-40B4-BE49-F238E27FC236}">
                <a16:creationId xmlns:a16="http://schemas.microsoft.com/office/drawing/2014/main" id="{25E54477-9FEE-4D8F-B34A-7E823DE4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9">
            <a:extLst xmlns:a="http://schemas.openxmlformats.org/drawingml/2006/main">
              <a:ext uri="{FF2B5EF4-FFF2-40B4-BE49-F238E27FC236}">
                <a16:creationId xmlns:a16="http://schemas.microsoft.com/office/drawing/2014/main" id="{65FF3786-F724-4552-9B20-17CBE747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583D5E0B-C6A8-4BC3-9A6D-AA4DBA20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024586E2-6273-4294-BF38-32EC59E2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6C74077E-48F8-4071-B5B0-3EF0D4AF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3">
            <a:extLst xmlns:a="http://schemas.openxmlformats.org/drawingml/2006/main">
              <a:ext uri="{FF2B5EF4-FFF2-40B4-BE49-F238E27FC236}">
                <a16:creationId xmlns:a16="http://schemas.microsoft.com/office/drawing/2014/main" id="{6F331F56-4AC5-408B-9A42-C5903351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4">
            <a:extLst xmlns:a="http://schemas.openxmlformats.org/drawingml/2006/main">
              <a:ext uri="{FF2B5EF4-FFF2-40B4-BE49-F238E27FC236}">
                <a16:creationId xmlns:a16="http://schemas.microsoft.com/office/drawing/2014/main" id="{104704D4-F558-4111-826F-7BED0DD6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929F11A3-90FE-4FCD-8B6E-39C00E9B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21" name="Shape 16">
            <a:extLst xmlns:a="http://schemas.openxmlformats.org/drawingml/2006/main">
              <a:ext uri="{FF2B5EF4-FFF2-40B4-BE49-F238E27FC236}">
                <a16:creationId xmlns:a16="http://schemas.microsoft.com/office/drawing/2014/main" id="{7BC6371B-7436-4F34-AEC1-A04C3E2A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FD651BB9-7EFF-4746-BEC3-024D7186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02108" tIns="102108" rIns="102108" bIns="102108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</a:p>
        </p:txBody>
      </p:sp>
      <p:sp>
        <p:nvSpPr>
          <p:cNvPr id="23" name="Shape 18">
            <a:extLst xmlns:a="http://schemas.openxmlformats.org/drawingml/2006/main">
              <a:ext uri="{FF2B5EF4-FFF2-40B4-BE49-F238E27FC236}">
                <a16:creationId xmlns:a16="http://schemas.microsoft.com/office/drawing/2014/main" id="{96B3E414-8E61-4A02-9F54-95E88A6D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19">
            <a:extLst xmlns:a="http://schemas.openxmlformats.org/drawingml/2006/main">
              <a:ext uri="{FF2B5EF4-FFF2-40B4-BE49-F238E27FC236}">
                <a16:creationId xmlns:a16="http://schemas.microsoft.com/office/drawing/2014/main" id="{2C497133-DC43-47EC-B665-BA9E410B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5BD459B9-90B4-43A8-8A26-F531B6B1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20EF5A0E-158C-4418-854A-46E6CBAB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30" name="hyp-input-title">
            <a:extLst xmlns:a="http://schemas.openxmlformats.org/drawingml/2006/main">
              <a:ext uri="{FF2B5EF4-FFF2-40B4-BE49-F238E27FC236}">
                <a16:creationId xmlns:a16="http://schemas.microsoft.com/office/drawing/2014/main" id="{BBC83CD6-B2D6-4F6F-8E7C-50FE9C9F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811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defRPr>
            </a:pPr>
            <a:r>
              <a:rPr sz="12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LLM 看到什么</a:t>
            </a:r>
          </a:p>
        </p:txBody>
      </p:sp>
      <p:sp>
        <p:nvSpPr>
          <p:cNvPr id="31" name="hyp-input-code">
            <a:extLst xmlns:a="http://schemas.openxmlformats.org/drawingml/2006/main">
              <a:ext uri="{FF2B5EF4-FFF2-40B4-BE49-F238E27FC236}">
                <a16:creationId xmlns:a16="http://schemas.microsoft.com/office/drawing/2014/main" id="{9458AD11-DA6A-4BAB-81E7-71F92697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3667125" cy="2571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  <p:txBody>
          <a:bodyPr xmlns:a="http://schemas.openxmlformats.org/drawingml/2006/main" wrap="square" lIns="171450" tIns="171450" rIns="171450" bIns="1714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TARGET（只看公开描述）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schema / variable roles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objective direction / budget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9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SOURCE（历史已观测）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TaskSpec / outcomes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effect summaries / uncertainty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9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MEMORY（已审计经验）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SkillCards / failed routes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constraints / prior traces</a:t>
            </a:r>
          </a:p>
        </p:txBody>
      </p:sp>
      <p:sp>
        <p:nvSpPr>
          <p:cNvPr id="32" name="hyp-output-title">
            <a:extLst xmlns:a="http://schemas.openxmlformats.org/drawingml/2006/main">
              <a:ext uri="{FF2B5EF4-FFF2-40B4-BE49-F238E27FC236}">
                <a16:creationId xmlns:a16="http://schemas.microsoft.com/office/drawing/2014/main" id="{258173B6-0327-4FCC-A19C-556E42C7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181100"/>
            <a:ext cx="3952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defRPr>
            </a:pPr>
            <a:r>
              <a:rPr sz="12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LLM 产出什么</a:t>
            </a:r>
          </a:p>
        </p:txBody>
      </p:sp>
      <p:sp>
        <p:nvSpPr>
          <p:cNvPr id="33" name="hyp-candidate-1">
            <a:extLst xmlns:a="http://schemas.openxmlformats.org/drawingml/2006/main">
              <a:ext uri="{FF2B5EF4-FFF2-40B4-BE49-F238E27FC236}">
                <a16:creationId xmlns:a16="http://schemas.microsoft.com/office/drawing/2014/main" id="{E3892933-DF07-4DA9-BEDD-71796E57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524000"/>
            <a:ext cx="1857375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9FC2E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H1 · role mapping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共享角色应提高哪些特征的权重</a:t>
            </a:r>
          </a:p>
        </p:txBody>
      </p:sp>
      <p:sp>
        <p:nvSpPr>
          <p:cNvPr id="34" name="hyp-candidate-2">
            <a:extLst xmlns:a="http://schemas.openxmlformats.org/drawingml/2006/main">
              <a:ext uri="{FF2B5EF4-FFF2-40B4-BE49-F238E27FC236}">
                <a16:creationId xmlns:a16="http://schemas.microsoft.com/office/drawing/2014/main" id="{DD4850C8-9D5A-49F5-B726-D16BA7DE4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524000"/>
            <a:ext cx="1952625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9FC2E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H2 · value prior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source outcome 只作弱先验，不替代 target observation</a:t>
            </a:r>
          </a:p>
        </p:txBody>
      </p:sp>
      <p:sp>
        <p:nvSpPr>
          <p:cNvPr id="35" name="hyp-candidate-3">
            <a:extLst xmlns:a="http://schemas.openxmlformats.org/drawingml/2006/main">
              <a:ext uri="{FF2B5EF4-FFF2-40B4-BE49-F238E27FC236}">
                <a16:creationId xmlns:a16="http://schemas.microsoft.com/office/drawing/2014/main" id="{3886FF35-BBCD-420F-B5E7-3A8E8221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05075"/>
            <a:ext cx="1857375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H3 · explore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不确定时提高 GP-UCB 探索；不能改预算</a:t>
            </a:r>
          </a:p>
        </p:txBody>
      </p:sp>
      <p:sp>
        <p:nvSpPr>
          <p:cNvPr id="36" name="hyp-rank">
            <a:extLst xmlns:a="http://schemas.openxmlformats.org/drawingml/2006/main">
              <a:ext uri="{FF2B5EF4-FFF2-40B4-BE49-F238E27FC236}">
                <a16:creationId xmlns:a16="http://schemas.microsoft.com/office/drawing/2014/main" id="{BADB61A8-9928-4935-9FDC-92722DDAF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505075"/>
            <a:ext cx="1952625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E0B45C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筛选顺序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Schema 是否兼容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Source 证据是否稳定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Calibration 是否改善</a:t>
            </a:r>
          </a:p>
        </p:txBody>
      </p:sp>
      <p:cxnSp>
        <p:nvCxnSpPr>
          <p:cNvPr id="150" name="Straight Arrow Connector 73"/>
          <p:cNvCxnSpPr>
            <a:stCxn xmlns:a="http://schemas.openxmlformats.org/drawingml/2006/main" id="33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6477000" y="1943100"/>
            <a:ext cx="142875" cy="9810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C2E8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151" name="Straight Arrow Connector 74"/>
          <p:cNvCxnSpPr>
            <a:stCxn xmlns:a="http://schemas.openxmlformats.org/drawingml/2006/main" id="34" idx="2"/>
            <a:endCxn xmlns:a="http://schemas.openxmlformats.org/drawingml/2006/main" id="36" idx="0"/>
          </p:cNvCxnSpPr>
          <p:nvPr/>
        </p:nvCxnSpPr>
        <p:spPr>
          <a:xfrm xmlns:a="http://schemas.openxmlformats.org/drawingml/2006/main">
            <a:off x="7596188" y="2362200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C2E8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152" name="Straight Arrow Connector 75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6477000" y="2924175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C2E8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40" name="hyp-contract">
            <a:extLst xmlns:a="http://schemas.openxmlformats.org/drawingml/2006/main">
              <a:ext uri="{FF2B5EF4-FFF2-40B4-BE49-F238E27FC236}">
                <a16:creationId xmlns:a16="http://schemas.microsoft.com/office/drawing/2014/main" id="{C4D079BC-1C24-4E96-9BE2-7AC1D62A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524250"/>
            <a:ext cx="3952875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9525">
            <a:solidFill>
              <a:srgbClr val="198754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7857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输出：KernelSkillPatch（可执行策略补丁）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role weight · kernel scale · gp_beta · source-prior strength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held-out outcome = 留作最终检验的 target 结果；LLM、Gate 与调参阶段均不可见。</a:t>
            </a:r>
          </a:p>
        </p:txBody>
      </p:sp>
      <p:sp>
        <p:nvSpPr>
          <p:cNvPr id="41" name="hyp-trace">
            <a:extLst xmlns:a="http://schemas.openxmlformats.org/drawingml/2006/main">
              <a:ext uri="{FF2B5EF4-FFF2-40B4-BE49-F238E27FC236}">
                <a16:creationId xmlns:a16="http://schemas.microsoft.com/office/drawing/2014/main" id="{E14D75DF-E57B-4C7E-B844-B804B10C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67200"/>
            <a:ext cx="3048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0">
            <a:solidFill>
              <a:srgbClr val="F5F8FB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83111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5D6874"/>
                </a:solidFill>
                <a:latin typeface="-apple-system"/>
                <a:ea typeface="-apple-system"/>
                <a:cs typeface="-apple-system"/>
              </a:defRPr>
            </a:pPr>
            <a:r>
              <a:rPr sz="825" b="1">
                <a:solidFill>
                  <a:srgbClr val="5D6874"/>
                </a:solidFill>
                <a:latin typeface="-apple-system"/>
                <a:ea typeface="-apple-system"/>
                <a:cs typeface="-apple-system"/>
              </a:rPr>
              <a:t>TRACE · input metadata / raw output / parsed patch / gate decision</a:t>
            </a:r>
          </a:p>
        </p:txBody>
      </p:sp>
    </p:spTree>
    <p:extLst>
      <p:ext uri="{BB962C8B-B14F-4D97-AF65-F5344CB8AC3E}">
        <p14:creationId xmlns:p14="http://schemas.microsoft.com/office/powerpoint/2010/main" val="21528501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f211384e8343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6A3FF65E-8C09-4E37-981F-8360CA66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8001000" cy="1500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HYPOTHESIS EXECUTION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659951B-6973-4FE2-8386-DE156EB3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494"/>
            <a:ext cx="8001000" cy="3343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800" b="1">
                <a:solidFill>
                  <a:srgbClr val="111111"/>
                </a:solidFill>
                <a:latin typeface="-apple-system"/>
                <a:ea typeface="-apple-system"/>
                <a:cs typeface="-apple-system"/>
              </a:rPr>
              <a:t>Hypothesis 被编译成 acquisition patch，再由 Gate 决定是否部署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9D733FD-8014-43D7-B7BE-87A423A8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364" y="285750"/>
            <a:ext cx="127136" cy="1321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5B6168"/>
                </a:solidFill>
                <a:latin typeface="-apple-system"/>
                <a:ea typeface="-apple-system"/>
                <a:cs typeface="-apple-system"/>
              </a:rPr>
              <a:t>05</a:t>
            </a:r>
          </a:p>
        </p:txBody>
      </p:sp>
      <p:pic>
        <p:nvPicPr>
          <p:cNvPr id="12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5fc53d502f41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C4E00280-A438-42ED-B08F-980CCDB2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8" name="Shape 4">
            <a:extLst xmlns:a="http://schemas.openxmlformats.org/drawingml/2006/main">
              <a:ext uri="{FF2B5EF4-FFF2-40B4-BE49-F238E27FC236}">
                <a16:creationId xmlns:a16="http://schemas.microsoft.com/office/drawing/2014/main" id="{C79BEB0E-2A5E-4AE0-AFCF-9BB34F07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22286AC4-C329-481E-A3DD-0E1C01EAC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02108" tIns="102108" rIns="102108" bIns="102108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C03B5AC4-8D0A-434A-B7B3-4BA0C974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pic>
        <p:nvPicPr>
          <p:cNvPr id="13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6494f129bb4a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5596AD4D-1E26-4ED4-AA58-45D6C811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3" name="Shape 8">
            <a:extLst xmlns:a="http://schemas.openxmlformats.org/drawingml/2006/main">
              <a:ext uri="{FF2B5EF4-FFF2-40B4-BE49-F238E27FC236}">
                <a16:creationId xmlns:a16="http://schemas.microsoft.com/office/drawing/2014/main" id="{25E54477-9FEE-4D8F-B34A-7E823DE4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9">
            <a:extLst xmlns:a="http://schemas.openxmlformats.org/drawingml/2006/main">
              <a:ext uri="{FF2B5EF4-FFF2-40B4-BE49-F238E27FC236}">
                <a16:creationId xmlns:a16="http://schemas.microsoft.com/office/drawing/2014/main" id="{65FF3786-F724-4552-9B20-17CBE747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583D5E0B-C6A8-4BC3-9A6D-AA4DBA20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024586E2-6273-4294-BF38-32EC59E2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6C74077E-48F8-4071-B5B0-3EF0D4AF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3">
            <a:extLst xmlns:a="http://schemas.openxmlformats.org/drawingml/2006/main">
              <a:ext uri="{FF2B5EF4-FFF2-40B4-BE49-F238E27FC236}">
                <a16:creationId xmlns:a16="http://schemas.microsoft.com/office/drawing/2014/main" id="{6F331F56-4AC5-408B-9A42-C5903351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4">
            <a:extLst xmlns:a="http://schemas.openxmlformats.org/drawingml/2006/main">
              <a:ext uri="{FF2B5EF4-FFF2-40B4-BE49-F238E27FC236}">
                <a16:creationId xmlns:a16="http://schemas.microsoft.com/office/drawing/2014/main" id="{104704D4-F558-4111-826F-7BED0DD6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929F11A3-90FE-4FCD-8B6E-39C00E9B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21" name="Shape 16">
            <a:extLst xmlns:a="http://schemas.openxmlformats.org/drawingml/2006/main">
              <a:ext uri="{FF2B5EF4-FFF2-40B4-BE49-F238E27FC236}">
                <a16:creationId xmlns:a16="http://schemas.microsoft.com/office/drawing/2014/main" id="{7BC6371B-7436-4F34-AEC1-A04C3E2A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FD651BB9-7EFF-4746-BEC3-024D7186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02108" tIns="102108" rIns="102108" bIns="102108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</a:p>
        </p:txBody>
      </p:sp>
      <p:sp>
        <p:nvSpPr>
          <p:cNvPr id="23" name="Shape 18">
            <a:extLst xmlns:a="http://schemas.openxmlformats.org/drawingml/2006/main">
              <a:ext uri="{FF2B5EF4-FFF2-40B4-BE49-F238E27FC236}">
                <a16:creationId xmlns:a16="http://schemas.microsoft.com/office/drawing/2014/main" id="{96B3E414-8E61-4A02-9F54-95E88A6D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19">
            <a:extLst xmlns:a="http://schemas.openxmlformats.org/drawingml/2006/main">
              <a:ext uri="{FF2B5EF4-FFF2-40B4-BE49-F238E27FC236}">
                <a16:creationId xmlns:a16="http://schemas.microsoft.com/office/drawing/2014/main" id="{2C497133-DC43-47EC-B665-BA9E410B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5BD459B9-90B4-43A8-8A26-F531B6B1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20EF5A0E-158C-4418-854A-46E6CBAB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30" name="exec-0">
            <a:extLst xmlns:a="http://schemas.openxmlformats.org/drawingml/2006/main">
              <a:ext uri="{FF2B5EF4-FFF2-40B4-BE49-F238E27FC236}">
                <a16:creationId xmlns:a16="http://schemas.microsoft.com/office/drawing/2014/main" id="{E5EBABD4-6B0B-4423-8E4E-D25602350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57325"/>
            <a:ext cx="1238250" cy="71437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9FC2E8"/>
            </a:solidFill>
            <a:prstDash val="solid"/>
          </a:ln>
        </p:spPr>
        <p:txBody>
          <a:bodyPr xmlns:a="http://schemas.openxmlformats.org/drawingml/2006/main" wrap="square" lIns="57150" tIns="76200" rIns="571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HypothesisEntry</a:t>
            </a:r>
          </a:p>
          <a:p xmlns:a="http://schemas.openxmlformats.org/drawingml/2006/main">
            <a:pPr algn="ctr">
              <a:buNone/>
              <a:def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claim + mechanism</a:t>
            </a:r>
          </a:p>
        </p:txBody>
      </p:sp>
      <p:sp>
        <p:nvSpPr>
          <p:cNvPr id="31" name="exec-1">
            <a:extLst xmlns:a="http://schemas.openxmlformats.org/drawingml/2006/main">
              <a:ext uri="{FF2B5EF4-FFF2-40B4-BE49-F238E27FC236}">
                <a16:creationId xmlns:a16="http://schemas.microsoft.com/office/drawing/2014/main" id="{465E922F-D1BE-405C-A473-B8A527F3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457325"/>
            <a:ext cx="1238250" cy="71437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9FC2E8"/>
            </a:solidFill>
            <a:prstDash val="solid"/>
          </a:ln>
        </p:spPr>
        <p:txBody>
          <a:bodyPr xmlns:a="http://schemas.openxmlformats.org/drawingml/2006/main" wrap="square" lIns="57150" tIns="76200" rIns="571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Patch Compiler</a:t>
            </a:r>
          </a:p>
          <a:p xmlns:a="http://schemas.openxmlformats.org/drawingml/2006/main">
            <a:pPr algn="ctr">
              <a:buNone/>
              <a:def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bounded parameters</a:t>
            </a:r>
          </a:p>
        </p:txBody>
      </p:sp>
      <p:sp>
        <p:nvSpPr>
          <p:cNvPr id="32" name="exec-2">
            <a:extLst xmlns:a="http://schemas.openxmlformats.org/drawingml/2006/main">
              <a:ext uri="{FF2B5EF4-FFF2-40B4-BE49-F238E27FC236}">
                <a16:creationId xmlns:a16="http://schemas.microsoft.com/office/drawing/2014/main" id="{2A240009-3AF2-4BDE-96A2-7014B250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57325"/>
            <a:ext cx="1238250" cy="71437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9FC2E8"/>
            </a:solidFill>
            <a:prstDash val="solid"/>
          </a:ln>
        </p:spPr>
        <p:txBody>
          <a:bodyPr xmlns:a="http://schemas.openxmlformats.org/drawingml/2006/main" wrap="square" lIns="57150" tIns="76200" rIns="571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GP / Acquisition</a:t>
            </a:r>
          </a:p>
          <a:p xmlns:a="http://schemas.openxmlformats.org/drawingml/2006/main">
            <a:pPr algn="ctr">
              <a:buNone/>
              <a:def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UCB / EI + prior</a:t>
            </a:r>
          </a:p>
        </p:txBody>
      </p:sp>
      <p:sp>
        <p:nvSpPr>
          <p:cNvPr id="33" name="exec-3">
            <a:extLst xmlns:a="http://schemas.openxmlformats.org/drawingml/2006/main">
              <a:ext uri="{FF2B5EF4-FFF2-40B4-BE49-F238E27FC236}">
                <a16:creationId xmlns:a16="http://schemas.microsoft.com/office/drawing/2014/main" id="{3794358F-0D47-44C8-B20D-3BD22854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57325"/>
            <a:ext cx="1238250" cy="71437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  <p:txBody>
          <a:bodyPr xmlns:a="http://schemas.openxmlformats.org/drawingml/2006/main" wrap="square" lIns="57150" tIns="76200" rIns="571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Calibration Gate</a:t>
            </a:r>
          </a:p>
          <a:p xmlns:a="http://schemas.openxmlformats.org/drawingml/2006/main">
            <a:pPr algn="ctr">
              <a:buNone/>
              <a:def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50 dev seeds</a:t>
            </a:r>
          </a:p>
        </p:txBody>
      </p:sp>
      <p:sp>
        <p:nvSpPr>
          <p:cNvPr id="34" name="exec-4">
            <a:extLst xmlns:a="http://schemas.openxmlformats.org/drawingml/2006/main">
              <a:ext uri="{FF2B5EF4-FFF2-40B4-BE49-F238E27FC236}">
                <a16:creationId xmlns:a16="http://schemas.microsoft.com/office/drawing/2014/main" id="{74CF5F6B-2055-4A8A-B2DF-7842348D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57325"/>
            <a:ext cx="1238250" cy="71437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9FC2E8"/>
            </a:solidFill>
            <a:prstDash val="solid"/>
          </a:ln>
        </p:spPr>
        <p:txBody>
          <a:bodyPr xmlns:a="http://schemas.openxmlformats.org/drawingml/2006/main" wrap="square" lIns="57150" tIns="76200" rIns="571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Target Replay</a:t>
            </a:r>
          </a:p>
          <a:p xmlns:a="http://schemas.openxmlformats.org/drawingml/2006/main">
            <a:pPr algn="ctr">
              <a:buNone/>
              <a:def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100 held-out seeds</a:t>
            </a:r>
          </a:p>
        </p:txBody>
      </p:sp>
      <p:sp>
        <p:nvSpPr>
          <p:cNvPr id="35" name="exec-5">
            <a:extLst xmlns:a="http://schemas.openxmlformats.org/drawingml/2006/main">
              <a:ext uri="{FF2B5EF4-FFF2-40B4-BE49-F238E27FC236}">
                <a16:creationId xmlns:a16="http://schemas.microsoft.com/office/drawing/2014/main" id="{7A3BFA8C-D49A-474C-9992-72882B07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457325"/>
            <a:ext cx="1238250" cy="71437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9525">
            <a:solidFill>
              <a:srgbClr val="198754"/>
            </a:solidFill>
            <a:prstDash val="solid"/>
          </a:ln>
        </p:spPr>
        <p:txBody>
          <a:bodyPr xmlns:a="http://schemas.openxmlformats.org/drawingml/2006/main" wrap="square" lIns="57150" tIns="76200" rIns="571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Metrics &amp; Audit</a:t>
            </a:r>
          </a:p>
          <a:p xmlns:a="http://schemas.openxmlformats.org/drawingml/2006/main">
            <a:pPr algn="ctr">
              <a:buNone/>
              <a:def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Δ / CI / rounds</a:t>
            </a:r>
          </a:p>
        </p:txBody>
      </p:sp>
      <p:cxnSp>
        <p:nvCxnSpPr>
          <p:cNvPr id="153" name="Straight Arrow Connector 74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714500" y="1814513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C2E8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154" name="Straight Arrow Connector 75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3143250" y="1814513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C2E8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155" name="Straight Arrow Connector 76"/>
          <p:cNvCxnSpPr>
            <a:stCxn xmlns:a="http://schemas.openxmlformats.org/drawingml/2006/main" id="32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4572000" y="1814513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C2E8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156" name="Straight Arrow Connector 77"/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6000750" y="1814513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C2E8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157" name="Straight Arrow Connector 78"/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7429500" y="1814513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C2E8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41" name="exec-transfer-params">
            <a:extLst xmlns:a="http://schemas.openxmlformats.org/drawingml/2006/main">
              <a:ext uri="{FF2B5EF4-FFF2-40B4-BE49-F238E27FC236}">
                <a16:creationId xmlns:a16="http://schemas.microsoft.com/office/drawing/2014/main" id="{6B5CACBE-A700-4F08-A8A8-AB1E1B03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3714750" cy="135255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9525">
            <a:solidFill>
              <a:srgbClr val="198754"/>
            </a:solidFill>
            <a:prstDash val="solid"/>
          </a:ln>
        </p:spPr>
        <p:txBody>
          <a:bodyPr xmlns:a="http://schemas.openxmlformats.org/drawingml/2006/main" wrap="square" lIns="152400" tIns="133350" rIns="152400" bIns="1333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允许迁移的参数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• kernel scales / role multipliers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• GP beta schedule / source-prior strength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• source-neighbor or interaction prior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• transfer mass M 与候选混合权重</a:t>
            </a:r>
          </a:p>
        </p:txBody>
      </p:sp>
      <p:sp>
        <p:nvSpPr>
          <p:cNvPr id="42" name="exec-frozen-params">
            <a:extLst xmlns:a="http://schemas.openxmlformats.org/drawingml/2006/main">
              <a:ext uri="{FF2B5EF4-FFF2-40B4-BE49-F238E27FC236}">
                <a16:creationId xmlns:a16="http://schemas.microsoft.com/office/drawing/2014/main" id="{F411B852-FFCB-4B5F-98D5-754D98F6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67000"/>
            <a:ext cx="3714750" cy="135255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FCECEC"/>
          </a:solidFill>
          <a:ln xmlns:a="http://schemas.openxmlformats.org/drawingml/2006/main" w="9525">
            <a:solidFill>
              <a:srgbClr val="D64545"/>
            </a:solidFill>
            <a:prstDash val="solid"/>
          </a:ln>
        </p:spPr>
        <p:txBody>
          <a:bodyPr xmlns:a="http://schemas.openxmlformats.org/drawingml/2006/main" wrap="square" lIns="152400" tIns="133350" rIns="152400" bIns="1333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保持冻结的实验条件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• target dataset / objective / candidate pool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• initial observations / total budget / held-out seeds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• comparator identities / evaluation metrics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• selected route identity after calibration</a:t>
            </a:r>
          </a:p>
        </p:txBody>
      </p:sp>
      <p:sp>
        <p:nvSpPr>
          <p:cNvPr id="43" name="exec-feedback">
            <a:extLst xmlns:a="http://schemas.openxmlformats.org/drawingml/2006/main">
              <a:ext uri="{FF2B5EF4-FFF2-40B4-BE49-F238E27FC236}">
                <a16:creationId xmlns:a16="http://schemas.microsoft.com/office/drawing/2014/main" id="{FE10CF0D-AE9B-4992-A68F-9669386E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05300"/>
            <a:ext cx="63817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9795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Feedback → Task Card · source-target role map · accepted/rejected case · LLM trace · gate decision · held-out outcome</a:t>
            </a:r>
          </a:p>
        </p:txBody>
      </p:sp>
    </p:spTree>
    <p:extLst>
      <p:ext uri="{BB962C8B-B14F-4D97-AF65-F5344CB8AC3E}">
        <p14:creationId xmlns:p14="http://schemas.microsoft.com/office/powerpoint/2010/main" val="21528501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3aaed7bace4d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F8F12AE9-ECF3-4937-A4FB-79ACE290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1500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END-TO-END CASES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C34C5384-D49C-4B9B-BA49-E654CE48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92944"/>
            <a:ext cx="8001000" cy="40858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250" b="1">
                <a:solidFill>
                  <a:srgbClr val="111111"/>
                </a:solidFill>
                <a:latin typeface="-apple-system"/>
                <a:ea typeface="-apple-system"/>
                <a:cs typeface="-apple-system"/>
              </a:rPr>
              <a:t>三条代表性链条：证据、Hypothesis、执行与 held-out 结果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BA878A7C-B863-4A0B-B5E2-5A6C7B0C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364" y="428625"/>
            <a:ext cx="127136" cy="1321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5B6168"/>
                </a:solidFill>
                <a:latin typeface="-apple-system"/>
                <a:ea typeface="-apple-system"/>
                <a:cs typeface="-apple-system"/>
              </a:rPr>
              <a:t>06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36F3FEE-8ED2-49DD-9C9A-F2B1D55A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117EBA2-9591-43DF-B3E2-C94BB7A3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4456C7B3-08FD-43D4-B40A-CD452B5A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4FB1F2D-6BE1-4504-9864-75A0D25B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E5BBD2C-EE94-451A-9537-568CA268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FFD746C5-D99B-4975-AB86-02F37DDE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69BE7B14-358A-4DB2-8C3D-79ADE0A5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F61E8D2-B69B-48CC-9760-756190D2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5383A96-B2EF-401F-BD7E-2B0CEF9F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6917AFD9-139A-4849-AE16-A6E88778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E85C7CE3-E900-40BA-92FF-25FD1DE1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DCCF1F94-2C8A-4594-85EF-56DE4E9C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69BFFDA0-C016-47A8-8152-EF08D718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20" name="case-tag-0">
            <a:extLst xmlns:a="http://schemas.openxmlformats.org/drawingml/2006/main">
              <a:ext uri="{FF2B5EF4-FFF2-40B4-BE49-F238E27FC236}">
                <a16:creationId xmlns:a16="http://schemas.microsoft.com/office/drawing/2014/main" id="{0EDDAA3F-7949-4BE4-9200-B807FD4D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100012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90611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defRPr>
            </a:pPr>
            <a:r>
              <a:rPr sz="8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REACTION</a:t>
            </a:r>
          </a:p>
        </p:txBody>
      </p:sp>
      <p:sp>
        <p:nvSpPr>
          <p:cNvPr id="21" name="case-card-0">
            <a:extLst xmlns:a="http://schemas.openxmlformats.org/drawingml/2006/main">
              <a:ext uri="{FF2B5EF4-FFF2-40B4-BE49-F238E27FC236}">
                <a16:creationId xmlns:a16="http://schemas.microsoft.com/office/drawing/2014/main" id="{8E3E6BE8-97D5-4899-B75A-DCC207A5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33550"/>
            <a:ext cx="2476500" cy="2324100"/>
          </a:xfrm>
          <a:prstGeom xmlns:a="http://schemas.openxmlformats.org/drawingml/2006/main" prst="roundRect">
            <a:avLst>
              <a:gd name="adj" fmla="val 24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B6CB0"/>
            </a:solidFill>
            <a:prstDash val="solid"/>
          </a:ln>
        </p:spPr>
        <p:txBody>
          <a:bodyPr xmlns:a="http://schemas.openxmlformats.org/drawingml/2006/main" wrap="square" lIns="152400" tIns="152400" rIns="152400" bIns="152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ChemLex → BH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证据：Acid-Amine wetlab outcomes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假设：反应角色与 outcome interaction 可迁移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执行：source prior + target acquisition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结果：+9.20 vs matched LLM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　　　+8.10 vs strongest BO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效率：2.99 rounds saved</a:t>
            </a:r>
          </a:p>
        </p:txBody>
      </p:sp>
      <p:sp>
        <p:nvSpPr>
          <p:cNvPr id="22" name="case-tag-1">
            <a:extLst xmlns:a="http://schemas.openxmlformats.org/drawingml/2006/main">
              <a:ext uri="{FF2B5EF4-FFF2-40B4-BE49-F238E27FC236}">
                <a16:creationId xmlns:a16="http://schemas.microsoft.com/office/drawing/2014/main" id="{A2D8C4AB-2E2F-4080-B878-B2202132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09700"/>
            <a:ext cx="100012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0">
            <a:solidFill>
              <a:srgbClr val="FFF7E6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90611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B7791F"/>
                </a:solidFill>
                <a:latin typeface="-apple-system"/>
                <a:ea typeface="-apple-system"/>
                <a:cs typeface="-apple-system"/>
              </a:defRPr>
            </a:pPr>
            <a:r>
              <a:rPr sz="825" b="1">
                <a:solidFill>
                  <a:srgbClr val="B7791F"/>
                </a:solidFill>
                <a:latin typeface="-apple-system"/>
                <a:ea typeface="-apple-system"/>
                <a:cs typeface="-apple-system"/>
              </a:rPr>
              <a:t>MATERIALS</a:t>
            </a:r>
          </a:p>
        </p:txBody>
      </p:sp>
      <p:sp>
        <p:nvSpPr>
          <p:cNvPr id="23" name="case-card-1">
            <a:extLst xmlns:a="http://schemas.openxmlformats.org/drawingml/2006/main">
              <a:ext uri="{FF2B5EF4-FFF2-40B4-BE49-F238E27FC236}">
                <a16:creationId xmlns:a16="http://schemas.microsoft.com/office/drawing/2014/main" id="{34301771-6EAF-44BD-BD92-D30936D0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33550"/>
            <a:ext cx="2476500" cy="2324100"/>
          </a:xfrm>
          <a:prstGeom xmlns:a="http://schemas.openxmlformats.org/drawingml/2006/main" prst="roundRect">
            <a:avLst>
              <a:gd name="adj" fmla="val 24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791F"/>
            </a:solidFill>
            <a:prstDash val="solid"/>
          </a:ln>
        </p:spPr>
        <p:txBody>
          <a:bodyPr xmlns:a="http://schemas.openxmlformats.org/drawingml/2006/main" wrap="square" lIns="152400" tIns="152400" rIns="152400" bIns="152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Dielectric → Gap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证据：composition/property observations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假设：共享表示可改变 kernel geometry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执行：role-weighted kernel + prior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结果：+32.70 vs matched LLM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　　　+35.46 vs strongest BO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效率：6.00 rounds saved</a:t>
            </a:r>
          </a:p>
        </p:txBody>
      </p:sp>
      <p:sp>
        <p:nvSpPr>
          <p:cNvPr id="24" name="case-tag-2">
            <a:extLst xmlns:a="http://schemas.openxmlformats.org/drawingml/2006/main">
              <a:ext uri="{FF2B5EF4-FFF2-40B4-BE49-F238E27FC236}">
                <a16:creationId xmlns:a16="http://schemas.microsoft.com/office/drawing/2014/main" id="{128C6DF0-FFF3-455E-B801-A0FA086B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09700"/>
            <a:ext cx="100012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0">
            <a:solidFill>
              <a:srgbClr val="E7F5EE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90611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defRPr>
            </a:pPr>
            <a:r>
              <a:rPr sz="825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rPr>
              <a:t>MOLECULAR</a:t>
            </a:r>
          </a:p>
        </p:txBody>
      </p:sp>
      <p:sp>
        <p:nvSpPr>
          <p:cNvPr id="25" name="case-card-2">
            <a:extLst xmlns:a="http://schemas.openxmlformats.org/drawingml/2006/main">
              <a:ext uri="{FF2B5EF4-FFF2-40B4-BE49-F238E27FC236}">
                <a16:creationId xmlns:a16="http://schemas.microsoft.com/office/drawing/2014/main" id="{D358FD8E-7306-4712-BE0D-B8A448AA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33550"/>
            <a:ext cx="2476500" cy="2324100"/>
          </a:xfrm>
          <a:prstGeom xmlns:a="http://schemas.openxmlformats.org/drawingml/2006/main" prst="roundRect">
            <a:avLst>
              <a:gd name="adj" fmla="val 24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98754"/>
            </a:solidFill>
            <a:prstDash val="solid"/>
          </a:ln>
        </p:spPr>
        <p:txBody>
          <a:bodyPr xmlns:a="http://schemas.openxmlformats.org/drawingml/2006/main" wrap="square" lIns="152400" tIns="152400" rIns="152400" bIns="152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FreeSolv → Lipo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证据：shared molecular descriptor pool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假设：solvation signal 可辅助排序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执行：bounded source-outcome prior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结果：+2.98 vs matched LLM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　　　+4.99 vs strongest BO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效率：2.23 rounds saved</a:t>
            </a:r>
          </a:p>
        </p:txBody>
      </p:sp>
      <p:sp>
        <p:nvSpPr>
          <p:cNvPr id="26" name="case-review">
            <a:extLst xmlns:a="http://schemas.openxmlformats.org/drawingml/2006/main">
              <a:ext uri="{FF2B5EF4-FFF2-40B4-BE49-F238E27FC236}">
                <a16:creationId xmlns:a16="http://schemas.microsoft.com/office/drawing/2014/main" id="{121D109E-0191-4285-A0DF-14AE31C19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14825"/>
            <a:ext cx="8001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105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每条路线均按同一证据链审阅：source evidence → hypothesis → patch → gate → independent held-out result。</a:t>
            </a:r>
          </a:p>
          <a:p xmlns:a="http://schemas.openxmlformats.org/drawingml/2006/main">
            <a:pPr algn="ctr">
              <a:buNone/>
              <a:defRPr sz="105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105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/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F57D781-AD36-3DEA-9687-D82A2117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49" y="294468"/>
            <a:ext cx="4260419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F0000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73154457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a1d15027cc46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F8F12AE9-ECF3-4937-A4FB-79ACE290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1500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END-TO-END CASES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C34C5384-D49C-4B9B-BA49-E654CE48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92944"/>
            <a:ext cx="8001000" cy="40858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250" b="1">
                <a:solidFill>
                  <a:srgbClr val="111111"/>
                </a:solidFill>
                <a:latin typeface="-apple-system"/>
                <a:ea typeface="-apple-system"/>
                <a:cs typeface="-apple-system"/>
              </a:rPr>
              <a:t>案例：ChemLex → BH 的 Hypothesis 如何被执行和验证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BA878A7C-B863-4A0B-B5E2-5A6C7B0C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364" y="428625"/>
            <a:ext cx="127136" cy="1321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5B6168"/>
                </a:solidFill>
                <a:latin typeface="-apple-system"/>
                <a:ea typeface="-apple-system"/>
                <a:cs typeface="-apple-system"/>
              </a:rPr>
              <a:t>07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36F3FEE-8ED2-49DD-9C9A-F2B1D55A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117EBA2-9591-43DF-B3E2-C94BB7A3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4456C7B3-08FD-43D4-B40A-CD452B5A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4FB1F2D-6BE1-4504-9864-75A0D25B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E5BBD2C-EE94-451A-9537-568CA268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FFD746C5-D99B-4975-AB86-02F37DDE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69BE7B14-358A-4DB2-8C3D-79ADE0A5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F61E8D2-B69B-48CC-9760-756190D2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5383A96-B2EF-401F-BD7E-2B0CEF9F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6917AFD9-139A-4849-AE16-A6E88778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E85C7CE3-E900-40BA-92FF-25FD1DE1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DCCF1F94-2C8A-4594-85EF-56DE4E9C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69BFFDA0-C016-47A8-8152-EF08D718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20" name="case-tag-0">
            <a:extLst xmlns:a="http://schemas.openxmlformats.org/drawingml/2006/main">
              <a:ext uri="{FF2B5EF4-FFF2-40B4-BE49-F238E27FC236}">
                <a16:creationId xmlns:a16="http://schemas.microsoft.com/office/drawing/2014/main" id="{0EDDAA3F-7949-4BE4-9200-B807FD4D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100012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7665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defRPr>
            </a:pPr>
            <a:r>
              <a:rPr sz="8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SOURCE EVIDENCE</a:t>
            </a:r>
          </a:p>
        </p:txBody>
      </p:sp>
      <p:sp>
        <p:nvSpPr>
          <p:cNvPr id="21" name="case-card-0">
            <a:extLst xmlns:a="http://schemas.openxmlformats.org/drawingml/2006/main">
              <a:ext uri="{FF2B5EF4-FFF2-40B4-BE49-F238E27FC236}">
                <a16:creationId xmlns:a16="http://schemas.microsoft.com/office/drawing/2014/main" id="{8E3E6BE8-97D5-4899-B75A-DCC207A5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33550"/>
            <a:ext cx="2476500" cy="2324100"/>
          </a:xfrm>
          <a:prstGeom xmlns:a="http://schemas.openxmlformats.org/drawingml/2006/main" prst="roundRect">
            <a:avLst>
              <a:gd name="adj" fmla="val 24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B6CB0"/>
            </a:solidFill>
            <a:prstDash val="solid"/>
          </a:ln>
        </p:spPr>
        <p:txBody>
          <a:bodyPr xmlns:a="http://schemas.openxmlformats.org/drawingml/2006/main" wrap="square" lIns="152400" tIns="152400" rIns="152400" bIns="1524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ChemLex Acid-Amine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历史 wetlab outcomes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acid / amine 角色 + outcome interaction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/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Target boundary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BH schema / budget / seeds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候选池预先冻结；target outcome 对 LLM 不可见。</a:t>
            </a:r>
          </a:p>
        </p:txBody>
      </p:sp>
      <p:sp>
        <p:nvSpPr>
          <p:cNvPr id="22" name="case-tag-1">
            <a:extLst xmlns:a="http://schemas.openxmlformats.org/drawingml/2006/main">
              <a:ext uri="{FF2B5EF4-FFF2-40B4-BE49-F238E27FC236}">
                <a16:creationId xmlns:a16="http://schemas.microsoft.com/office/drawing/2014/main" id="{A2D8C4AB-2E2F-4080-B878-B2202132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09700"/>
            <a:ext cx="100012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0">
            <a:solidFill>
              <a:srgbClr val="FFF7E6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83111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B7791F"/>
                </a:solidFill>
                <a:latin typeface="-apple-system"/>
                <a:ea typeface="-apple-system"/>
                <a:cs typeface="-apple-system"/>
              </a:defRPr>
            </a:pPr>
            <a:r>
              <a:rPr sz="825" b="1">
                <a:solidFill>
                  <a:srgbClr val="B7791F"/>
                </a:solidFill>
                <a:latin typeface="-apple-system"/>
                <a:ea typeface="-apple-system"/>
                <a:cs typeface="-apple-system"/>
              </a:rPr>
              <a:t>LLM HYPOTHESIS</a:t>
            </a:r>
          </a:p>
        </p:txBody>
      </p:sp>
      <p:sp>
        <p:nvSpPr>
          <p:cNvPr id="23" name="case-card-1">
            <a:extLst xmlns:a="http://schemas.openxmlformats.org/drawingml/2006/main">
              <a:ext uri="{FF2B5EF4-FFF2-40B4-BE49-F238E27FC236}">
                <a16:creationId xmlns:a16="http://schemas.microsoft.com/office/drawing/2014/main" id="{34301771-6EAF-44BD-BD92-D30936D0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33550"/>
            <a:ext cx="2476500" cy="2324100"/>
          </a:xfrm>
          <a:prstGeom xmlns:a="http://schemas.openxmlformats.org/drawingml/2006/main" prst="roundRect">
            <a:avLst>
              <a:gd name="adj" fmla="val 24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791F"/>
            </a:solidFill>
            <a:prstDash val="solid"/>
          </a:ln>
        </p:spPr>
        <p:txBody>
          <a:bodyPr xmlns:a="http://schemas.openxmlformats.org/drawingml/2006/main" wrap="square" lIns="152400" tIns="152400" rIns="152400" bIns="1524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Generated patch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H1：共享反应角色可迁移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H2：source outcome 只作弱 prior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/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Compiled parameters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role multipliers / kernel scale / gp_beta / source_prior_strength</a:t>
            </a:r>
          </a:p>
        </p:txBody>
      </p:sp>
      <p:sp>
        <p:nvSpPr>
          <p:cNvPr id="24" name="case-tag-2">
            <a:extLst xmlns:a="http://schemas.openxmlformats.org/drawingml/2006/main">
              <a:ext uri="{FF2B5EF4-FFF2-40B4-BE49-F238E27FC236}">
                <a16:creationId xmlns:a16="http://schemas.microsoft.com/office/drawing/2014/main" id="{128C6DF0-FFF3-455E-B801-A0FA086B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09700"/>
            <a:ext cx="100012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0">
            <a:solidFill>
              <a:srgbClr val="E7F5EE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69605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defRPr>
            </a:pPr>
            <a:r>
              <a:rPr sz="825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rPr>
              <a:t>FROZEN EVALUATION</a:t>
            </a:r>
          </a:p>
        </p:txBody>
      </p:sp>
      <p:sp>
        <p:nvSpPr>
          <p:cNvPr id="25" name="case-card-2">
            <a:extLst xmlns:a="http://schemas.openxmlformats.org/drawingml/2006/main">
              <a:ext uri="{FF2B5EF4-FFF2-40B4-BE49-F238E27FC236}">
                <a16:creationId xmlns:a16="http://schemas.microsoft.com/office/drawing/2014/main" id="{D358FD8E-7306-4712-BE0D-B8A448AA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33550"/>
            <a:ext cx="2476500" cy="2324100"/>
          </a:xfrm>
          <a:prstGeom xmlns:a="http://schemas.openxmlformats.org/drawingml/2006/main" prst="roundRect">
            <a:avLst>
              <a:gd name="adj" fmla="val 24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98754"/>
            </a:solidFill>
            <a:prstDash val="solid"/>
          </a:ln>
        </p:spPr>
        <p:txBody>
          <a:bodyPr xmlns:a="http://schemas.openxmlformats.org/drawingml/2006/main" wrap="square" lIns="152400" tIns="152400" rIns="152400" bIns="1524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Calibration → held-out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50 dev seeds：同时胜过两类 anchor → route frozen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/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100 independent held-out seeds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+9.20 vs matched LLM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+8.10 vs strongest BO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2.99 rounds saved</a:t>
            </a:r>
          </a:p>
        </p:txBody>
      </p:sp>
      <p:sp>
        <p:nvSpPr>
          <p:cNvPr id="26" name="case-review">
            <a:extLst xmlns:a="http://schemas.openxmlformats.org/drawingml/2006/main">
              <a:ext uri="{FF2B5EF4-FFF2-40B4-BE49-F238E27FC236}">
                <a16:creationId xmlns:a16="http://schemas.microsoft.com/office/drawing/2014/main" id="{121D109E-0191-4285-A0DF-14AE31C19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14825"/>
            <a:ext cx="8001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105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专家要判断：这种“角色映射 + 弱先验”的假设是否符合反应机理，而不是只看最终增益。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F57D781-AD36-3DEA-9687-D82A2117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49" y="294468"/>
            <a:ext cx="4260419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F0000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73154457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549734415b45f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C9A9E5D0-5652-4628-9DF3-7B554E71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8001000" cy="1500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HELD-OUT EVIDENCE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656DC98-371C-429F-82E7-A380B476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494"/>
            <a:ext cx="8001000" cy="668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800" b="1">
                <a:solidFill>
                  <a:srgbClr val="111111"/>
                </a:solidFill>
                <a:latin typeface="-apple-system"/>
                <a:ea typeface="-apple-system"/>
                <a:cs typeface="-apple-system"/>
              </a:rPr>
              <a:t>四条迁移路线同时超过 matched LLM 与 strongest target-only BO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DD53CD7-0A12-4FBA-81D4-227032266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364" y="285750"/>
            <a:ext cx="127136" cy="1321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5B6168"/>
                </a:solidFill>
                <a:latin typeface="-apple-system"/>
                <a:ea typeface="-apple-system"/>
                <a:cs typeface="-apple-system"/>
              </a:rPr>
              <a:t>08</a:t>
            </a:r>
          </a:p>
        </p:txBody>
      </p:sp>
      <p:pic>
        <p:nvPicPr>
          <p:cNvPr id="2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a9ce57d51f47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DF39B1A7-8C2C-464F-BF6E-8682173A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Shape 4">
            <a:extLst xmlns:a="http://schemas.openxmlformats.org/drawingml/2006/main">
              <a:ext uri="{FF2B5EF4-FFF2-40B4-BE49-F238E27FC236}">
                <a16:creationId xmlns:a16="http://schemas.microsoft.com/office/drawing/2014/main" id="{CFC4EBB6-FE9E-44B4-A124-984E3C14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170E8D51-6A9B-418F-AA8C-2C7EA895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E1AB6B34-6E09-4415-BB7C-06046E9D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FC76F773-962D-44AC-BEA3-8EC96508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B95D514E-1A71-4003-86E3-AE15ABB5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258272E7-D13F-4B68-946D-574813A6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EEBF8AC9-4AA8-4321-A26E-F85B1925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62F9E4A9-E2E9-4832-8E3E-A0A48274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D478172E-2B3D-41F8-B65E-2A0479D6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</a:p>
        </p:txBody>
      </p:sp>
      <p:pic>
        <p:nvPicPr>
          <p:cNvPr id="39" name="Picture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88970d013c40d1"/>
          <a:stretch xmlns:a="http://schemas.openxmlformats.org/drawingml/2006/main"/>
        </p:blipFill>
        <p:spPr>
          <a:xfrm xmlns:a="http://schemas.openxmlformats.org/drawingml/2006/main">
            <a:off x="571500" y="1187782"/>
            <a:ext cx="8001000" cy="3320387"/>
          </a:xfrm>
          <a:prstGeom xmlns:a="http://schemas.openxmlformats.org/drawingml/2006/main" prst="rect">
            <a:avLst/>
          </a:prstGeom>
        </p:spPr>
      </p:pic>
      <p:sp>
        <p:nvSpPr>
          <p:cNvPr id="20" name="results-summary">
            <a:extLst xmlns:a="http://schemas.openxmlformats.org/drawingml/2006/main">
              <a:ext uri="{FF2B5EF4-FFF2-40B4-BE49-F238E27FC236}">
                <a16:creationId xmlns:a16="http://schemas.microsoft.com/office/drawing/2014/main" id="{0A4DC387-DFA6-4ECE-8DC1-2760F0F00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52950"/>
            <a:ext cx="8001000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9525">
            <a:solidFill>
              <a:srgbClr val="19875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9793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15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defRPr>
            </a:pPr>
            <a:r>
              <a:rPr sz="915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rPr>
              <a:t>50 calibration seeds freeze the route · 100 disjoint held-out seeds evaluate it · 4/7 deploy transfer · 3/7 exact fallback · 0 negative deployed route</a:t>
            </a:r>
          </a:p>
        </p:txBody>
      </p:sp>
    </p:spTree>
    <p:extLst>
      <p:ext uri="{BB962C8B-B14F-4D97-AF65-F5344CB8AC3E}">
        <p14:creationId xmlns:p14="http://schemas.microsoft.com/office/powerpoint/2010/main" val="106769168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eca2c634f542b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D91C9427-528F-47F0-AD93-32CF18CF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8001000" cy="1500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TRANSFERABILITY MATRIX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F110D987-7891-40FF-9835-71774F83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494"/>
            <a:ext cx="8001000" cy="3343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800" b="1">
                <a:solidFill>
                  <a:srgbClr val="111111"/>
                </a:solidFill>
                <a:latin typeface="-apple-system"/>
                <a:ea typeface="-apple-system"/>
                <a:cs typeface="-apple-system"/>
              </a:rPr>
              <a:t>当前证据支持同领域跨数据集迁移，跨领域仍未建立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29A4BCC-63E9-466D-B1DF-F3125F20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364" y="285750"/>
            <a:ext cx="127136" cy="1321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5B6168"/>
                </a:solidFill>
                <a:latin typeface="-apple-system"/>
                <a:ea typeface="-apple-system"/>
                <a:cs typeface="-apple-system"/>
              </a:rPr>
              <a:t>09</a:t>
            </a:r>
          </a:p>
        </p:txBody>
      </p:sp>
      <p:pic>
        <p:nvPicPr>
          <p:cNvPr id="6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1ec0e3d2bf46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pic>
        <p:nvPicPr>
          <p:cNvPr id="6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47ed287f384b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8" name="Text 3">
            <a:extLst xmlns:a="http://schemas.openxmlformats.org/drawingml/2006/main">
              <a:ext uri="{FF2B5EF4-FFF2-40B4-BE49-F238E27FC236}">
                <a16:creationId xmlns:a16="http://schemas.microsoft.com/office/drawing/2014/main" id="{80491B41-5EE4-45F9-82BA-73A296D1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9" name="Text 4">
            <a:extLst xmlns:a="http://schemas.openxmlformats.org/drawingml/2006/main">
              <a:ext uri="{FF2B5EF4-FFF2-40B4-BE49-F238E27FC236}">
                <a16:creationId xmlns:a16="http://schemas.microsoft.com/office/drawing/2014/main" id="{14075786-AF16-4583-9C93-82D4320E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D1CF2999-8305-4036-ADA5-A33CF96D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6">
            <a:extLst xmlns:a="http://schemas.openxmlformats.org/drawingml/2006/main">
              <a:ext uri="{FF2B5EF4-FFF2-40B4-BE49-F238E27FC236}">
                <a16:creationId xmlns:a16="http://schemas.microsoft.com/office/drawing/2014/main" id="{1CE33483-FFD5-4349-8FE2-5EFBB055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0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284c43fb484b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3" name="Text 7">
            <a:extLst xmlns:a="http://schemas.openxmlformats.org/drawingml/2006/main">
              <a:ext uri="{FF2B5EF4-FFF2-40B4-BE49-F238E27FC236}">
                <a16:creationId xmlns:a16="http://schemas.microsoft.com/office/drawing/2014/main" id="{007A3873-C300-4D8A-8730-E9A6DD4E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4" name="Shape 8">
            <a:extLst xmlns:a="http://schemas.openxmlformats.org/drawingml/2006/main">
              <a:ext uri="{FF2B5EF4-FFF2-40B4-BE49-F238E27FC236}">
                <a16:creationId xmlns:a16="http://schemas.microsoft.com/office/drawing/2014/main" id="{5C87AC45-4A21-48CC-BBAE-B1A013C2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3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27abdeaaff4bb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6" name="Text 9">
            <a:extLst xmlns:a="http://schemas.openxmlformats.org/drawingml/2006/main">
              <a:ext uri="{FF2B5EF4-FFF2-40B4-BE49-F238E27FC236}">
                <a16:creationId xmlns:a16="http://schemas.microsoft.com/office/drawing/2014/main" id="{9215B3F0-4619-46F3-B645-910AEF10D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7" name="Shape 10">
            <a:extLst xmlns:a="http://schemas.openxmlformats.org/drawingml/2006/main">
              <a:ext uri="{FF2B5EF4-FFF2-40B4-BE49-F238E27FC236}">
                <a16:creationId xmlns:a16="http://schemas.microsoft.com/office/drawing/2014/main" id="{C93B43A0-26A7-43CD-9E87-22A305EA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6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b5e92eb9154d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9" name="Text 11">
            <a:extLst xmlns:a="http://schemas.openxmlformats.org/drawingml/2006/main">
              <a:ext uri="{FF2B5EF4-FFF2-40B4-BE49-F238E27FC236}">
                <a16:creationId xmlns:a16="http://schemas.microsoft.com/office/drawing/2014/main" id="{9EB62C6A-9987-423C-A913-16001795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0" name="Shape 12">
            <a:extLst xmlns:a="http://schemas.openxmlformats.org/drawingml/2006/main">
              <a:ext uri="{FF2B5EF4-FFF2-40B4-BE49-F238E27FC236}">
                <a16:creationId xmlns:a16="http://schemas.microsoft.com/office/drawing/2014/main" id="{7902E673-31E7-408C-ACC8-32F6A794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9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27abdeaaff4bb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22" name="Text 13">
            <a:extLst xmlns:a="http://schemas.openxmlformats.org/drawingml/2006/main">
              <a:ext uri="{FF2B5EF4-FFF2-40B4-BE49-F238E27FC236}">
                <a16:creationId xmlns:a16="http://schemas.microsoft.com/office/drawing/2014/main" id="{2D773A90-655B-4F0D-B90E-94B71C75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3" name="Shape 14">
            <a:extLst xmlns:a="http://schemas.openxmlformats.org/drawingml/2006/main">
              <a:ext uri="{FF2B5EF4-FFF2-40B4-BE49-F238E27FC236}">
                <a16:creationId xmlns:a16="http://schemas.microsoft.com/office/drawing/2014/main" id="{15A03FB4-3DA8-45D8-8B65-6F4138FC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2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b5e92eb9154d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25" name="Text 15">
            <a:extLst xmlns:a="http://schemas.openxmlformats.org/drawingml/2006/main">
              <a:ext uri="{FF2B5EF4-FFF2-40B4-BE49-F238E27FC236}">
                <a16:creationId xmlns:a16="http://schemas.microsoft.com/office/drawing/2014/main" id="{EB6A484C-740F-41EA-ACC3-09E8CF0D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6" name="Shape 16">
            <a:extLst xmlns:a="http://schemas.openxmlformats.org/drawingml/2006/main">
              <a:ext uri="{FF2B5EF4-FFF2-40B4-BE49-F238E27FC236}">
                <a16:creationId xmlns:a16="http://schemas.microsoft.com/office/drawing/2014/main" id="{C038DD82-A225-46E9-8715-75EAAAD8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5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27abdeaaff4bb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28" name="Text 17">
            <a:extLst xmlns:a="http://schemas.openxmlformats.org/drawingml/2006/main">
              <a:ext uri="{FF2B5EF4-FFF2-40B4-BE49-F238E27FC236}">
                <a16:creationId xmlns:a16="http://schemas.microsoft.com/office/drawing/2014/main" id="{0C53CEA0-D1A1-4CC1-9B44-3E97DC9E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9" name="Shape 18">
            <a:extLst xmlns:a="http://schemas.openxmlformats.org/drawingml/2006/main">
              <a:ext uri="{FF2B5EF4-FFF2-40B4-BE49-F238E27FC236}">
                <a16:creationId xmlns:a16="http://schemas.microsoft.com/office/drawing/2014/main" id="{2E6DD216-90A1-4192-A7F1-4EA327E3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8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b5e92eb9154d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31" name="Text 19">
            <a:extLst xmlns:a="http://schemas.openxmlformats.org/drawingml/2006/main">
              <a:ext uri="{FF2B5EF4-FFF2-40B4-BE49-F238E27FC236}">
                <a16:creationId xmlns:a16="http://schemas.microsoft.com/office/drawing/2014/main" id="{C4283D29-4D2A-4BA2-846C-BDE2036B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32" name="Text 20">
            <a:extLst xmlns:a="http://schemas.openxmlformats.org/drawingml/2006/main">
              <a:ext uri="{FF2B5EF4-FFF2-40B4-BE49-F238E27FC236}">
                <a16:creationId xmlns:a16="http://schemas.microsoft.com/office/drawing/2014/main" id="{1229E245-BB99-4280-BA18-BD319D36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pic>
        <p:nvPicPr>
          <p:cNvPr id="91" name="Picture 7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efad05b1b4462d"/>
          <a:stretch xmlns:a="http://schemas.openxmlformats.org/drawingml/2006/main"/>
        </p:blipFill>
        <p:spPr>
          <a:xfrm xmlns:a="http://schemas.openxmlformats.org/drawingml/2006/main">
            <a:off x="1216263" y="1162050"/>
            <a:ext cx="3568225" cy="3476625"/>
          </a:xfrm>
          <a:prstGeom xmlns:a="http://schemas.openxmlformats.org/drawingml/2006/main" prst="rect">
            <a:avLst/>
          </a:prstGeom>
        </p:spPr>
      </p:pic>
      <p:sp>
        <p:nvSpPr>
          <p:cNvPr id="44" name="matrix-supported">
            <a:extLst xmlns:a="http://schemas.openxmlformats.org/drawingml/2006/main">
              <a:ext uri="{FF2B5EF4-FFF2-40B4-BE49-F238E27FC236}">
                <a16:creationId xmlns:a16="http://schemas.microsoft.com/office/drawing/2014/main" id="{3056718D-3D88-4EF5-8902-3593B64A0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285875"/>
            <a:ext cx="13335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0">
            <a:solidFill>
              <a:srgbClr val="E7F5EE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90611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defRPr>
            </a:pPr>
            <a:r>
              <a:rPr sz="825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rPr>
              <a:t>SUPPORTED NOW</a:t>
            </a:r>
          </a:p>
        </p:txBody>
      </p:sp>
      <p:sp>
        <p:nvSpPr>
          <p:cNvPr id="45" name="matrix-supported-list">
            <a:extLst xmlns:a="http://schemas.openxmlformats.org/drawingml/2006/main">
              <a:ext uri="{FF2B5EF4-FFF2-40B4-BE49-F238E27FC236}">
                <a16:creationId xmlns:a16="http://schemas.microsoft.com/office/drawing/2014/main" id="{FA447F7E-425A-4A81-B0E1-9384EC8F0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38300"/>
            <a:ext cx="27146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15" indent="-9" algn="l">
              <a:spcAft>
                <a:spcPts val="5"/>
              </a:spcAft>
              <a:buChar char="•"/>
              <a:def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Reaction → Reaction: 1 positive route</a:t>
            </a:r>
          </a:p>
          <a:p xmlns:a="http://schemas.openxmlformats.org/drawingml/2006/main">
            <a:pPr marL="15" indent="-9" algn="l">
              <a:spcAft>
                <a:spcPts val="5"/>
              </a:spcAft>
              <a:buChar char="•"/>
              <a:def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Materials → Materials: 2 positive, 1 fallback</a:t>
            </a:r>
          </a:p>
          <a:p xmlns:a="http://schemas.openxmlformats.org/drawingml/2006/main">
            <a:pPr marL="15" indent="-9" algn="l">
              <a:spcAft>
                <a:spcPts val="5"/>
              </a:spcAft>
              <a:buChar char="•"/>
              <a:def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Molecular → Molecular: 1 positive, 2 fallback</a:t>
            </a:r>
          </a:p>
        </p:txBody>
      </p:sp>
      <p:sp>
        <p:nvSpPr>
          <p:cNvPr id="46" name="matrix-unverified">
            <a:extLst xmlns:a="http://schemas.openxmlformats.org/drawingml/2006/main">
              <a:ext uri="{FF2B5EF4-FFF2-40B4-BE49-F238E27FC236}">
                <a16:creationId xmlns:a16="http://schemas.microsoft.com/office/drawing/2014/main" id="{6C87124D-FD0F-4001-ADFE-EA50BF92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62250"/>
            <a:ext cx="14287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CEC"/>
          </a:solidFill>
          <a:ln xmlns:a="http://schemas.openxmlformats.org/drawingml/2006/main" w="0">
            <a:solidFill>
              <a:srgbClr val="FCECEC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90611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D64545"/>
                </a:solidFill>
                <a:latin typeface="-apple-system"/>
                <a:ea typeface="-apple-system"/>
                <a:cs typeface="-apple-system"/>
              </a:defRPr>
            </a:pPr>
            <a:r>
              <a:rPr sz="825" b="1">
                <a:solidFill>
                  <a:srgbClr val="D64545"/>
                </a:solidFill>
                <a:latin typeface="-apple-system"/>
                <a:ea typeface="-apple-system"/>
                <a:cs typeface="-apple-system"/>
              </a:rPr>
              <a:t>NOT YET VERIFIED</a:t>
            </a:r>
          </a:p>
        </p:txBody>
      </p:sp>
      <p:sp>
        <p:nvSpPr>
          <p:cNvPr id="47" name="matrix-unverified-list">
            <a:extLst xmlns:a="http://schemas.openxmlformats.org/drawingml/2006/main">
              <a:ext uri="{FF2B5EF4-FFF2-40B4-BE49-F238E27FC236}">
                <a16:creationId xmlns:a16="http://schemas.microsoft.com/office/drawing/2014/main" id="{01995625-C1BE-455D-83E6-2F4CA162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14675"/>
            <a:ext cx="2571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15" indent="-9" algn="l">
              <a:spcAft>
                <a:spcPts val="5"/>
              </a:spcAft>
              <a:buChar char="•"/>
              <a:def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Reaction ↔ Materials</a:t>
            </a:r>
          </a:p>
          <a:p xmlns:a="http://schemas.openxmlformats.org/drawingml/2006/main">
            <a:pPr marL="15" indent="-9" algn="l">
              <a:spcAft>
                <a:spcPts val="5"/>
              </a:spcAft>
              <a:buChar char="•"/>
              <a:def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Reaction ↔ Molecular</a:t>
            </a:r>
          </a:p>
          <a:p xmlns:a="http://schemas.openxmlformats.org/drawingml/2006/main">
            <a:pPr marL="15" indent="-9" algn="l">
              <a:spcAft>
                <a:spcPts val="5"/>
              </a:spcAft>
              <a:buChar char="•"/>
              <a:def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Materials ↔ Molecular</a:t>
            </a:r>
          </a:p>
        </p:txBody>
      </p:sp>
      <p:sp>
        <p:nvSpPr>
          <p:cNvPr id="48" name="matrix-mechanism">
            <a:extLst xmlns:a="http://schemas.openxmlformats.org/drawingml/2006/main">
              <a:ext uri="{FF2B5EF4-FFF2-40B4-BE49-F238E27FC236}">
                <a16:creationId xmlns:a16="http://schemas.microsoft.com/office/drawing/2014/main" id="{116EA708-C375-4EC7-86FC-ED00B8E7E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048125"/>
            <a:ext cx="28384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t">
            <a:normAutofit fontScale="98648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机制假设（尚非因果结论）</a:t>
            </a:r>
          </a:p>
          <a:p xmlns:a="http://schemas.openxmlformats.org/drawingml/2006/main">
            <a:pPr algn="l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共享 representation、相近 objective、参数空间重叠可能解释材料与分子任务的可迁移性。</a:t>
            </a:r>
          </a:p>
        </p:txBody>
      </p:sp>
    </p:spTree>
    <p:extLst>
      <p:ext uri="{BB962C8B-B14F-4D97-AF65-F5344CB8AC3E}">
        <p14:creationId xmlns:p14="http://schemas.microsoft.com/office/powerpoint/2010/main" val="14449087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420bae5e444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0805036F-08CD-41BA-AE98-3749BFC28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1500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STATISTICAL STANDARD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3CFCFA09-95BD-47E9-9C5E-F69FC76FF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92944"/>
            <a:ext cx="8001000" cy="371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000" b="1">
                <a:solidFill>
                  <a:srgbClr val="111111"/>
                </a:solidFill>
                <a:latin typeface="-apple-system"/>
                <a:ea typeface="-apple-system"/>
                <a:cs typeface="-apple-system"/>
              </a:rPr>
              <a:t>先区分三件事：有无增益、是否稳定、能否在论文中称为显著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B0CB45FB-09F8-4A37-BAA0-3C5B01FC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364" y="428625"/>
            <a:ext cx="127136" cy="1321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5B6168"/>
                </a:solidFill>
                <a:latin typeface="-apple-system"/>
                <a:ea typeface="-apple-system"/>
                <a:cs typeface="-apple-system"/>
              </a:rPr>
              <a:t>10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84CC8D8-38C0-46C2-8C44-44913871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102108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A20B47E7-3B67-49A4-A772-0153BE789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D39EBFF5-66C6-4993-9494-C33BA00A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77CA3E8-42F0-4291-BDD7-49CD8A0F7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pic>
        <p:nvPicPr>
          <p:cNvPr id="5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ed695502fc41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7D34184A-9E07-4344-846F-7845B6A30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AF9AF63A-5928-4B00-871C-E72F5335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0053" tIns="170053" rIns="170053" bIns="170053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44000"/>
              </a:lnSpc>
              <a:buNone/>
            </a:pPr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3200F606-6165-4722-B7DE-C318BCA3A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102108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EF962692-0721-4CB5-A8D1-C1AC53870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F0928568-7973-441C-950D-5E7D8471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68072" tIns="34036" rIns="68072" bIns="34036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60D8635C-FFB3-4859-849B-4FD881C9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2BDA21DA-77C1-49F9-9E3E-5242FE03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768BA74F-5CB9-4FD0-8DC7-2F97516B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02108" tIns="51054" rIns="102108" bIns="51054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4f87225a6a4d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D5253139-1933-49C3-81FB-027CF1E5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1" name="Shape 16">
            <a:extLst xmlns:a="http://schemas.openxmlformats.org/drawingml/2006/main">
              <a:ext uri="{FF2B5EF4-FFF2-40B4-BE49-F238E27FC236}">
                <a16:creationId xmlns:a16="http://schemas.microsoft.com/office/drawing/2014/main" id="{230971F0-0E80-446C-827D-E7FE529B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22D02163-60A3-406A-AFBB-7299ECDA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68072" tIns="34036" rIns="68072" bIns="34036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A64A5331-0FCC-4447-B1B3-A0FC4BA5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4" name="Shape 19">
            <a:extLst xmlns:a="http://schemas.openxmlformats.org/drawingml/2006/main">
              <a:ext uri="{FF2B5EF4-FFF2-40B4-BE49-F238E27FC236}">
                <a16:creationId xmlns:a16="http://schemas.microsoft.com/office/drawing/2014/main" id="{A99C0D1F-D60A-4AFA-AF29-8747FE23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3FF935E2-107E-411F-A5A4-4748EE32E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02108" tIns="51054" rIns="102108" bIns="51054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pic>
        <p:nvPicPr>
          <p:cNvPr id="67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4f87225a6a4d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C85FBE6E-2726-4659-A0C1-254B1A4F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32" name="stats-current-title">
            <a:extLst xmlns:a="http://schemas.openxmlformats.org/drawingml/2006/main">
              <a:ext uri="{FF2B5EF4-FFF2-40B4-BE49-F238E27FC236}">
                <a16:creationId xmlns:a16="http://schemas.microsoft.com/office/drawing/2014/main" id="{D9578CCA-FE50-42CC-BD95-BE22DBCD6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85875"/>
            <a:ext cx="3762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defRPr>
            </a:pPr>
            <a:r>
              <a:rPr sz="127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当前 replay 证明什么</a:t>
            </a:r>
          </a:p>
        </p:txBody>
      </p:sp>
      <p:sp>
        <p:nvSpPr>
          <p:cNvPr id="33" name="stats-current">
            <a:extLst xmlns:a="http://schemas.openxmlformats.org/drawingml/2006/main">
              <a:ext uri="{FF2B5EF4-FFF2-40B4-BE49-F238E27FC236}">
                <a16:creationId xmlns:a16="http://schemas.microsoft.com/office/drawing/2014/main" id="{CE9ABC14-29A2-4842-A906-BFF4418D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3762375" cy="2124075"/>
          </a:xfrm>
          <a:prstGeom xmlns:a="http://schemas.openxmlformats.org/drawingml/2006/main" prst="roundRect">
            <a:avLst>
              <a:gd name="adj" fmla="val 2691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9FC2E8"/>
            </a:solidFill>
            <a:prstDash val="solid"/>
          </a:ln>
        </p:spPr>
        <p:txBody>
          <a:bodyPr xmlns:a="http://schemas.openxmlformats.org/drawingml/2006/main" wrap="square" lIns="171450" tIns="152400" rIns="171450" bIns="1524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• 同一 held-out seed 上做 paired Δ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• 同时报 final-best 与 best-so-far AUC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• 100 个 independent held-out seeds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• 报告 95% CI、non-loss rate 与 5-fold stability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/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这回答：相对 matched baseline 是否稳定改善。</a:t>
            </a:r>
          </a:p>
        </p:txBody>
      </p:sp>
      <p:sp>
        <p:nvSpPr>
          <p:cNvPr id="34" name="stats-paper-title">
            <a:extLst xmlns:a="http://schemas.openxmlformats.org/drawingml/2006/main">
              <a:ext uri="{FF2B5EF4-FFF2-40B4-BE49-F238E27FC236}">
                <a16:creationId xmlns:a16="http://schemas.microsoft.com/office/drawing/2014/main" id="{6A7306B0-B226-4E0D-94E7-9F46340F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285875"/>
            <a:ext cx="3762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defRPr>
            </a:pPr>
            <a:r>
              <a:rPr sz="1275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rPr>
              <a:t>论文中何时称为“显著”</a:t>
            </a:r>
          </a:p>
        </p:txBody>
      </p:sp>
      <p:sp>
        <p:nvSpPr>
          <p:cNvPr id="35" name="stats-paper">
            <a:extLst xmlns:a="http://schemas.openxmlformats.org/drawingml/2006/main">
              <a:ext uri="{FF2B5EF4-FFF2-40B4-BE49-F238E27FC236}">
                <a16:creationId xmlns:a16="http://schemas.microsoft.com/office/drawing/2014/main" id="{2426F13F-69A1-4A27-9711-3E162D2D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657350"/>
            <a:ext cx="3762375" cy="2124075"/>
          </a:xfrm>
          <a:prstGeom xmlns:a="http://schemas.openxmlformats.org/drawingml/2006/main" prst="roundRect">
            <a:avLst>
              <a:gd name="adj" fmla="val 2691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9525">
            <a:solidFill>
              <a:srgbClr val="198754"/>
            </a:solidFill>
            <a:prstDash val="solid"/>
          </a:ln>
        </p:spPr>
        <p:txBody>
          <a:bodyPr xmlns:a="http://schemas.openxmlformats.org/drawingml/2006/main" wrap="square" lIns="171450" tIns="152400" rIns="171450" bIns="152400" anchor="t">
            <a:normAutofit fontScale="9602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• 统计：paired permutation test；多路线 BH-FDR q &lt; 0.05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• 不确定性：paired bootstrap 95% CI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• 实际意义：effect ≥ confirm run 前定义的 task-specific MDE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• 稳健性：seed blocks、预算点和 comparator 方向一致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/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当前结果不因“百分比很大”就直接称为统计显著。</a:t>
            </a:r>
          </a:p>
        </p:txBody>
      </p:sp>
      <p:sp>
        <p:nvSpPr>
          <p:cNvPr id="36" name="stats-example-0">
            <a:extLst xmlns:a="http://schemas.openxmlformats.org/drawingml/2006/main">
              <a:ext uri="{FF2B5EF4-FFF2-40B4-BE49-F238E27FC236}">
                <a16:creationId xmlns:a16="http://schemas.microsoft.com/office/drawing/2014/main" id="{62DC7788-3243-420D-99F9-9F16BC49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57650"/>
            <a:ext cx="247650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95% CI</a:t>
            </a:r>
          </a:p>
          <a:p xmlns:a="http://schemas.openxmlformats.org/drawingml/2006/main">
            <a:pPr algn="ctr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效果可能范围；若跨 0，方向仍不稳。</a:t>
            </a:r>
          </a:p>
        </p:txBody>
      </p:sp>
      <p:sp>
        <p:nvSpPr>
          <p:cNvPr id="37" name="stats-example-1">
            <a:extLst xmlns:a="http://schemas.openxmlformats.org/drawingml/2006/main">
              <a:ext uri="{FF2B5EF4-FFF2-40B4-BE49-F238E27FC236}">
                <a16:creationId xmlns:a16="http://schemas.microsoft.com/office/drawing/2014/main" id="{6D751D4B-1BC1-48C4-BA66-2801874F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57650"/>
            <a:ext cx="247650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q &lt; 0.05</a:t>
            </a:r>
          </a:p>
          <a:p xmlns:a="http://schemas.openxmlformats.org/drawingml/2006/main">
            <a:pPr algn="ctr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多路线比较后仍达标的统计证据。</a:t>
            </a:r>
          </a:p>
        </p:txBody>
      </p:sp>
      <p:sp>
        <p:nvSpPr>
          <p:cNvPr id="38" name="stats-example-2">
            <a:extLst xmlns:a="http://schemas.openxmlformats.org/drawingml/2006/main">
              <a:ext uri="{FF2B5EF4-FFF2-40B4-BE49-F238E27FC236}">
                <a16:creationId xmlns:a16="http://schemas.microsoft.com/office/drawing/2014/main" id="{EBB8F7ED-627F-4BBA-AFF9-A76E7DC29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57650"/>
            <a:ext cx="247650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60747"/>
          </a:bodyPr>
          <a:lstStyle xmlns:a="http://schemas.openxmlformats.org/drawingml/2006/main"/>
          <a:p xmlns:a="http://schemas.openxmlformats.org/drawingml/2006/main">
            <a:r>
              <a:t>MDE</a:t>
            </a:r>
          </a:p>
          <a:p xmlns:a="http://schemas.openxmlformats.org/drawingml/2006/main">
            <a:r>
              <a:t>任务上真正有价值的最小效果；需在 confirm run 前定义。</a:t>
            </a:r>
          </a:p>
        </p:txBody>
      </p:sp>
    </p:spTree>
    <p:extLst>
      <p:ext uri="{BB962C8B-B14F-4D97-AF65-F5344CB8AC3E}">
        <p14:creationId xmlns:p14="http://schemas.microsoft.com/office/powerpoint/2010/main" val="112075364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d894aa88404d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D91C9427-528F-47F0-AD93-32CF18CF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8001000" cy="1500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CALIBRATION GATE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F110D987-7891-40FF-9835-71774F83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494"/>
            <a:ext cx="8001000" cy="3343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800" b="1">
                <a:solidFill>
                  <a:srgbClr val="111111"/>
                </a:solidFill>
                <a:latin typeface="-apple-system"/>
                <a:ea typeface="-apple-system"/>
                <a:cs typeface="-apple-system"/>
              </a:rPr>
              <a:t>Calibration Gate 是路线准入规则，不是“学界通用指标”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29A4BCC-63E9-466D-B1DF-F3125F20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364" y="285750"/>
            <a:ext cx="127136" cy="1321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5B6168"/>
                </a:solidFill>
                <a:latin typeface="-apple-system"/>
                <a:ea typeface="-apple-system"/>
                <a:cs typeface="-apple-system"/>
              </a:rPr>
              <a:t>11</a:t>
            </a:r>
          </a:p>
        </p:txBody>
      </p:sp>
      <p:pic>
        <p:nvPicPr>
          <p:cNvPr id="7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65cc615f9f45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pic>
        <p:nvPicPr>
          <p:cNvPr id="73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01cb587e604e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8" name="Text 3">
            <a:extLst xmlns:a="http://schemas.openxmlformats.org/drawingml/2006/main">
              <a:ext uri="{FF2B5EF4-FFF2-40B4-BE49-F238E27FC236}">
                <a16:creationId xmlns:a16="http://schemas.microsoft.com/office/drawing/2014/main" id="{80491B41-5EE4-45F9-82BA-73A296D1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9" name="Text 4">
            <a:extLst xmlns:a="http://schemas.openxmlformats.org/drawingml/2006/main">
              <a:ext uri="{FF2B5EF4-FFF2-40B4-BE49-F238E27FC236}">
                <a16:creationId xmlns:a16="http://schemas.microsoft.com/office/drawing/2014/main" id="{14075786-AF16-4583-9C93-82D4320E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D1CF2999-8305-4036-ADA5-A33CF96D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6">
            <a:extLst xmlns:a="http://schemas.openxmlformats.org/drawingml/2006/main">
              <a:ext uri="{FF2B5EF4-FFF2-40B4-BE49-F238E27FC236}">
                <a16:creationId xmlns:a16="http://schemas.microsoft.com/office/drawing/2014/main" id="{1CE33483-FFD5-4349-8FE2-5EFBB055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8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fa8484f1814a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3" name="Text 7">
            <a:extLst xmlns:a="http://schemas.openxmlformats.org/drawingml/2006/main">
              <a:ext uri="{FF2B5EF4-FFF2-40B4-BE49-F238E27FC236}">
                <a16:creationId xmlns:a16="http://schemas.microsoft.com/office/drawing/2014/main" id="{007A3873-C300-4D8A-8730-E9A6DD4E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4" name="Shape 8">
            <a:extLst xmlns:a="http://schemas.openxmlformats.org/drawingml/2006/main">
              <a:ext uri="{FF2B5EF4-FFF2-40B4-BE49-F238E27FC236}">
                <a16:creationId xmlns:a16="http://schemas.microsoft.com/office/drawing/2014/main" id="{5C87AC45-4A21-48CC-BBAE-B1A013C2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1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281e66dd024a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6" name="Text 9">
            <a:extLst xmlns:a="http://schemas.openxmlformats.org/drawingml/2006/main">
              <a:ext uri="{FF2B5EF4-FFF2-40B4-BE49-F238E27FC236}">
                <a16:creationId xmlns:a16="http://schemas.microsoft.com/office/drawing/2014/main" id="{9215B3F0-4619-46F3-B645-910AEF10D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7" name="Shape 10">
            <a:extLst xmlns:a="http://schemas.openxmlformats.org/drawingml/2006/main">
              <a:ext uri="{FF2B5EF4-FFF2-40B4-BE49-F238E27FC236}">
                <a16:creationId xmlns:a16="http://schemas.microsoft.com/office/drawing/2014/main" id="{C93B43A0-26A7-43CD-9E87-22A305EA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4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e6fa0c07184f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9" name="Text 11">
            <a:extLst xmlns:a="http://schemas.openxmlformats.org/drawingml/2006/main">
              <a:ext uri="{FF2B5EF4-FFF2-40B4-BE49-F238E27FC236}">
                <a16:creationId xmlns:a16="http://schemas.microsoft.com/office/drawing/2014/main" id="{9EB62C6A-9987-423C-A913-16001795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0" name="Shape 12">
            <a:extLst xmlns:a="http://schemas.openxmlformats.org/drawingml/2006/main">
              <a:ext uri="{FF2B5EF4-FFF2-40B4-BE49-F238E27FC236}">
                <a16:creationId xmlns:a16="http://schemas.microsoft.com/office/drawing/2014/main" id="{7902E673-31E7-408C-ACC8-32F6A794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7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281e66dd024a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22" name="Text 13">
            <a:extLst xmlns:a="http://schemas.openxmlformats.org/drawingml/2006/main">
              <a:ext uri="{FF2B5EF4-FFF2-40B4-BE49-F238E27FC236}">
                <a16:creationId xmlns:a16="http://schemas.microsoft.com/office/drawing/2014/main" id="{2D773A90-655B-4F0D-B90E-94B71C75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3" name="Shape 14">
            <a:extLst xmlns:a="http://schemas.openxmlformats.org/drawingml/2006/main">
              <a:ext uri="{FF2B5EF4-FFF2-40B4-BE49-F238E27FC236}">
                <a16:creationId xmlns:a16="http://schemas.microsoft.com/office/drawing/2014/main" id="{15A03FB4-3DA8-45D8-8B65-6F4138FC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0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e6fa0c07184f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25" name="Text 15">
            <a:extLst xmlns:a="http://schemas.openxmlformats.org/drawingml/2006/main">
              <a:ext uri="{FF2B5EF4-FFF2-40B4-BE49-F238E27FC236}">
                <a16:creationId xmlns:a16="http://schemas.microsoft.com/office/drawing/2014/main" id="{EB6A484C-740F-41EA-ACC3-09E8CF0D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6" name="Shape 16">
            <a:extLst xmlns:a="http://schemas.openxmlformats.org/drawingml/2006/main">
              <a:ext uri="{FF2B5EF4-FFF2-40B4-BE49-F238E27FC236}">
                <a16:creationId xmlns:a16="http://schemas.microsoft.com/office/drawing/2014/main" id="{C038DD82-A225-46E9-8715-75EAAAD8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3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281e66dd024a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28" name="Text 17">
            <a:extLst xmlns:a="http://schemas.openxmlformats.org/drawingml/2006/main">
              <a:ext uri="{FF2B5EF4-FFF2-40B4-BE49-F238E27FC236}">
                <a16:creationId xmlns:a16="http://schemas.microsoft.com/office/drawing/2014/main" id="{0C53CEA0-D1A1-4CC1-9B44-3E97DC9E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9" name="Shape 18">
            <a:extLst xmlns:a="http://schemas.openxmlformats.org/drawingml/2006/main">
              <a:ext uri="{FF2B5EF4-FFF2-40B4-BE49-F238E27FC236}">
                <a16:creationId xmlns:a16="http://schemas.microsoft.com/office/drawing/2014/main" id="{2E6DD216-90A1-4192-A7F1-4EA327E3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6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e6fa0c07184f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31" name="Text 19">
            <a:extLst xmlns:a="http://schemas.openxmlformats.org/drawingml/2006/main">
              <a:ext uri="{FF2B5EF4-FFF2-40B4-BE49-F238E27FC236}">
                <a16:creationId xmlns:a16="http://schemas.microsoft.com/office/drawing/2014/main" id="{C4283D29-4D2A-4BA2-846C-BDE2036B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32" name="Text 20">
            <a:extLst xmlns:a="http://schemas.openxmlformats.org/drawingml/2006/main">
              <a:ext uri="{FF2B5EF4-FFF2-40B4-BE49-F238E27FC236}">
                <a16:creationId xmlns:a16="http://schemas.microsoft.com/office/drawing/2014/main" id="{1229E245-BB99-4280-BA18-BD319D36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43" name="gate-protocol">
            <a:extLst xmlns:a="http://schemas.openxmlformats.org/drawingml/2006/main">
              <a:ext uri="{FF2B5EF4-FFF2-40B4-BE49-F238E27FC236}">
                <a16:creationId xmlns:a16="http://schemas.microsoft.com/office/drawing/2014/main" id="{681504AC-DE91-4E80-9E81-520C888E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80010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9FC2E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50 calibration seeds：比较 transfer 与两类 matched anchor → 固定路由 → 100 个不重叠 held-out seeds：只评估冻结策略</a:t>
            </a:r>
          </a:p>
        </p:txBody>
      </p:sp>
      <p:sp>
        <p:nvSpPr>
          <p:cNvPr id="44" name="gate-criteria-title">
            <a:extLst xmlns:a="http://schemas.openxmlformats.org/drawingml/2006/main">
              <a:ext uri="{FF2B5EF4-FFF2-40B4-BE49-F238E27FC236}">
                <a16:creationId xmlns:a16="http://schemas.microsoft.com/office/drawing/2014/main" id="{F3B23FCF-38DC-423A-AC7E-A5C7E37B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602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defRPr>
            </a:pPr>
            <a:r>
              <a:rPr sz="1163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二态 Gate：六项全过 = Transfer；否则 = Freeze（精确回退到 target-only）</a:t>
            </a:r>
          </a:p>
        </p:txBody>
      </p:sp>
      <p:sp>
        <p:nvSpPr>
          <p:cNvPr id="45" name="gate-criterion-0">
            <a:extLst xmlns:a="http://schemas.openxmlformats.org/drawingml/2006/main">
              <a:ext uri="{FF2B5EF4-FFF2-40B4-BE49-F238E27FC236}">
                <a16:creationId xmlns:a16="http://schemas.microsoft.com/office/drawing/2014/main" id="{791DCDA0-788B-43A4-93AE-E5C3D6FD8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0"/>
            <a:ext cx="2190750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8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8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final mean ≥ 0 · 终点不亏</a:t>
            </a:r>
          </a:p>
        </p:txBody>
      </p:sp>
      <p:sp>
        <p:nvSpPr>
          <p:cNvPr id="46" name="gate-criterion-1">
            <a:extLst xmlns:a="http://schemas.openxmlformats.org/drawingml/2006/main">
              <a:ext uri="{FF2B5EF4-FFF2-40B4-BE49-F238E27FC236}">
                <a16:creationId xmlns:a16="http://schemas.microsoft.com/office/drawing/2014/main" id="{706289A8-C8E7-4D5B-87D9-7D544E67B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86000"/>
            <a:ext cx="2190750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8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8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AUC mean ≥ 0 · 全程不亏</a:t>
            </a:r>
          </a:p>
        </p:txBody>
      </p:sp>
      <p:sp>
        <p:nvSpPr>
          <p:cNvPr id="47" name="gate-criterion-2">
            <a:extLst xmlns:a="http://schemas.openxmlformats.org/drawingml/2006/main">
              <a:ext uri="{FF2B5EF4-FFF2-40B4-BE49-F238E27FC236}">
                <a16:creationId xmlns:a16="http://schemas.microsoft.com/office/drawing/2014/main" id="{25A90865-42E1-421F-B36F-C168483B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00350"/>
            <a:ext cx="2190750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8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8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non-loss ≥ 0.60 · ≥60% seeds 不亏</a:t>
            </a:r>
          </a:p>
        </p:txBody>
      </p:sp>
      <p:sp>
        <p:nvSpPr>
          <p:cNvPr id="48" name="gate-criterion-3">
            <a:extLst xmlns:a="http://schemas.openxmlformats.org/drawingml/2006/main">
              <a:ext uri="{FF2B5EF4-FFF2-40B4-BE49-F238E27FC236}">
                <a16:creationId xmlns:a16="http://schemas.microsoft.com/office/drawing/2014/main" id="{D74A92EA-1BD6-4A10-BFE6-6B43478B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00350"/>
            <a:ext cx="2190750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8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8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5-fold ≥ 0.80 · ≥4/5 blocks 为正</a:t>
            </a:r>
          </a:p>
        </p:txBody>
      </p:sp>
      <p:sp>
        <p:nvSpPr>
          <p:cNvPr id="49" name="gate-criterion-4">
            <a:extLst xmlns:a="http://schemas.openxmlformats.org/drawingml/2006/main">
              <a:ext uri="{FF2B5EF4-FFF2-40B4-BE49-F238E27FC236}">
                <a16:creationId xmlns:a16="http://schemas.microsoft.com/office/drawing/2014/main" id="{11C52446-3400-49D1-8204-737B4E89D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14700"/>
            <a:ext cx="2190750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8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8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composite − SE ≥ 0.25 · 风险缓冲</a:t>
            </a:r>
          </a:p>
        </p:txBody>
      </p:sp>
      <p:sp>
        <p:nvSpPr>
          <p:cNvPr id="50" name="gate-criterion-5">
            <a:extLst xmlns:a="http://schemas.openxmlformats.org/drawingml/2006/main">
              <a:ext uri="{FF2B5EF4-FFF2-40B4-BE49-F238E27FC236}">
                <a16:creationId xmlns:a16="http://schemas.microsoft.com/office/drawing/2014/main" id="{B0F7A4A7-82DA-4DDC-935C-FF8EF9C4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14700"/>
            <a:ext cx="2190750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8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8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CI low ≥ 0 · 下界不为负</a:t>
            </a:r>
          </a:p>
        </p:txBody>
      </p:sp>
      <p:sp>
        <p:nvSpPr>
          <p:cNvPr id="51" name="gate-provenance-title">
            <a:extLst xmlns:a="http://schemas.openxmlformats.org/drawingml/2006/main">
              <a:ext uri="{FF2B5EF4-FFF2-40B4-BE49-F238E27FC236}">
                <a16:creationId xmlns:a16="http://schemas.microsoft.com/office/drawing/2014/main" id="{7BEBBAA3-092A-4EE5-BFC9-DF4553F4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526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defRPr>
            </a:pPr>
            <a:r>
              <a:rPr sz="1163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每个参数来自哪里</a:t>
            </a:r>
          </a:p>
        </p:txBody>
      </p:sp>
      <p:sp>
        <p:nvSpPr>
          <p:cNvPr id="52" name="gate-literature">
            <a:extLst xmlns:a="http://schemas.openxmlformats.org/drawingml/2006/main">
              <a:ext uri="{FF2B5EF4-FFF2-40B4-BE49-F238E27FC236}">
                <a16:creationId xmlns:a16="http://schemas.microsoft.com/office/drawing/2014/main" id="{6DB3DEEF-CFE8-4AD5-AB34-72E8D11FB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86000"/>
            <a:ext cx="295275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9525">
            <a:solidFill>
              <a:srgbClr val="19875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EVALUATION CONVENTION</a:t>
            </a:r>
          </a:p>
          <a:p xmlns:a="http://schemas.openxmlformats.org/drawingml/2006/main">
            <a:pPr algn="l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paired comparison · uncertainty interval · matched BO / LLM anchor</a:t>
            </a:r>
          </a:p>
        </p:txBody>
      </p:sp>
      <p:sp>
        <p:nvSpPr>
          <p:cNvPr id="53" name="gate-calibrated">
            <a:extLst xmlns:a="http://schemas.openxmlformats.org/drawingml/2006/main">
              <a:ext uri="{FF2B5EF4-FFF2-40B4-BE49-F238E27FC236}">
                <a16:creationId xmlns:a16="http://schemas.microsoft.com/office/drawing/2014/main" id="{C7168FBB-FAC9-40FA-A4EC-01116821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09900"/>
            <a:ext cx="295275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CALIBRATED DEFAULTS</a:t>
            </a:r>
          </a:p>
          <a:p xmlns:a="http://schemas.openxmlformats.org/drawingml/2006/main">
            <a:pPr algn="l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0.60 / 0.80 / 0.25：在 calibration replay 中固定；不宣称是文献阈值</a:t>
            </a:r>
          </a:p>
        </p:txBody>
      </p:sp>
      <p:sp>
        <p:nvSpPr>
          <p:cNvPr id="54" name="gate-heuristic">
            <a:extLst xmlns:a="http://schemas.openxmlformats.org/drawingml/2006/main">
              <a:ext uri="{FF2B5EF4-FFF2-40B4-BE49-F238E27FC236}">
                <a16:creationId xmlns:a16="http://schemas.microsoft.com/office/drawing/2014/main" id="{D8F87C90-D771-439C-9A6F-A7FB1E68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733800"/>
            <a:ext cx="295275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CECEC"/>
          </a:solidFill>
          <a:ln xmlns:a="http://schemas.openxmlformats.org/drawingml/2006/main" w="9525">
            <a:solidFill>
              <a:srgbClr val="D64545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SENSITIVITY REQUIRED</a:t>
            </a:r>
          </a:p>
          <a:p xmlns:a="http://schemas.openxmlformats.org/drawingml/2006/main">
            <a:pPr algn="l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final + AUC weights · 5 blocks · composite form；下一轮做 grid / bootstrap sweep</a:t>
            </a:r>
          </a:p>
        </p:txBody>
      </p:sp>
      <p:sp>
        <p:nvSpPr>
          <p:cNvPr id="55" name="gate-transfer">
            <a:extLst xmlns:a="http://schemas.openxmlformats.org/drawingml/2006/main">
              <a:ext uri="{FF2B5EF4-FFF2-40B4-BE49-F238E27FC236}">
                <a16:creationId xmlns:a16="http://schemas.microsoft.com/office/drawing/2014/main" id="{0B549344-EF59-48A4-976C-3CFEC814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43375"/>
            <a:ext cx="17145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0">
            <a:solidFill>
              <a:srgbClr val="E7F5EE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83111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defRPr>
            </a:pPr>
            <a:r>
              <a:rPr sz="825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rPr>
              <a:t>TRANSFER · 六项全过</a:t>
            </a:r>
          </a:p>
        </p:txBody>
      </p:sp>
      <p:sp>
        <p:nvSpPr>
          <p:cNvPr id="56" name="gate-freeze">
            <a:extLst xmlns:a="http://schemas.openxmlformats.org/drawingml/2006/main">
              <a:ext uri="{FF2B5EF4-FFF2-40B4-BE49-F238E27FC236}">
                <a16:creationId xmlns:a16="http://schemas.microsoft.com/office/drawing/2014/main" id="{26EFCB50-E6C7-4954-A5A4-C8A06A95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143375"/>
            <a:ext cx="223837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CEC"/>
          </a:solidFill>
          <a:ln xmlns:a="http://schemas.openxmlformats.org/drawingml/2006/main" w="0">
            <a:solidFill>
              <a:srgbClr val="FCECEC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83111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D64545"/>
                </a:solidFill>
                <a:latin typeface="-apple-system"/>
                <a:ea typeface="-apple-system"/>
                <a:cs typeface="-apple-system"/>
              </a:defRPr>
            </a:pPr>
            <a:r>
              <a:rPr sz="825" b="1">
                <a:solidFill>
                  <a:srgbClr val="D64545"/>
                </a:solidFill>
                <a:latin typeface="-apple-system"/>
                <a:ea typeface="-apple-system"/>
                <a:cs typeface="-apple-system"/>
              </a:rPr>
              <a:t>FREEZE · exact target-only fallback</a:t>
            </a:r>
          </a:p>
        </p:txBody>
      </p:sp>
      <p:sp>
        <p:nvSpPr>
          <p:cNvPr id="57" name="gate-hold-note">
            <a:extLst xmlns:a="http://schemas.openxmlformats.org/drawingml/2006/main">
              <a:ext uri="{FF2B5EF4-FFF2-40B4-BE49-F238E27FC236}">
                <a16:creationId xmlns:a16="http://schemas.microsoft.com/office/drawing/2014/main" id="{8A96D726-BB51-497E-B2D2-03C71985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43425"/>
            <a:ext cx="433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D6874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0">
                <a:solidFill>
                  <a:srgbClr val="5D6874"/>
                </a:solidFill>
                <a:latin typeface="-apple-system"/>
                <a:ea typeface="-apple-system"/>
                <a:cs typeface="-apple-system"/>
              </a:rPr>
              <a:t>Hold 是下一版的“证据不足、追加 calibration”状态；不属于当前二态部署。</a:t>
            </a:r>
          </a:p>
        </p:txBody>
      </p:sp>
    </p:spTree>
    <p:extLst>
      <p:ext uri="{BB962C8B-B14F-4D97-AF65-F5344CB8AC3E}">
        <p14:creationId xmlns:p14="http://schemas.microsoft.com/office/powerpoint/2010/main" val="14449087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19a31fc4a74a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211254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0FD00398-CD2B-4A15-B5E8-0C2C9F24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8001000" cy="1500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CONTRIBUTION VERIFICATION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EFC33098-45E1-460B-80CF-EF8688CC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494"/>
            <a:ext cx="8001000" cy="3343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800" b="1">
                <a:solidFill>
                  <a:srgbClr val="111111"/>
                </a:solidFill>
                <a:latin typeface="-apple-system"/>
                <a:ea typeface="-apple-system"/>
                <a:cs typeface="-apple-system"/>
              </a:rPr>
              <a:t>每个模块都要用 matched-budget baseline 或 ablation 单独证明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F7DBC18-F29E-41B6-B05F-759D2E10A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364" y="285750"/>
            <a:ext cx="127136" cy="1321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5B6168"/>
                </a:solidFill>
                <a:latin typeface="-apple-system"/>
                <a:ea typeface="-apple-system"/>
                <a:cs typeface="-apple-system"/>
              </a:rPr>
              <a:t>12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E7E21E1E-2E61-4837-8952-2A30E70A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B3D1F7CC-E245-42EF-9A43-FEFC72983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b5dd9c2cb54a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168D176B-5139-4DAD-8A0B-A4E4C2F5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2BFB57E9-3554-4CA3-8305-320690C9F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18B03D37-5734-4AD4-940A-4C5183D0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919D1750-29FF-4CAB-AD71-04ECB839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585C4B26-A0F3-425E-8422-936B5C74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EFFC192F-CA5E-4DFC-B16E-BD39E01C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5E588DBA-BA89-41D0-B2ED-BA91A633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8DA34166-AD9A-4DB8-96F8-19930F00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102108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pic>
        <p:nvPicPr>
          <p:cNvPr id="9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4827522ae947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19AB59FA-7932-483F-84A1-18BBD23E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</a:p>
        </p:txBody>
      </p:sp>
      <p:sp>
        <p:nvSpPr>
          <p:cNvPr id="19" name="Text 14">
            <a:extLst xmlns:a="http://schemas.openxmlformats.org/drawingml/2006/main">
              <a:ext uri="{FF2B5EF4-FFF2-40B4-BE49-F238E27FC236}">
                <a16:creationId xmlns:a16="http://schemas.microsoft.com/office/drawing/2014/main" id="{61CBC67A-6486-4069-A7FE-5F5DC865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</a:p>
        </p:txBody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26D00C74-2B8B-495D-A091-E36B0ECF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</a:p>
        </p:txBody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B7D73C97-F8E2-49C1-A867-E89AB7BA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</a:p>
        </p:txBody>
      </p:sp>
      <p:pic>
        <p:nvPicPr>
          <p:cNvPr id="10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4827522ae947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486DC5AA-DFA5-4BBF-B756-A5E07C23E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</a:p>
        </p:txBody>
      </p:sp>
      <p:pic>
        <p:nvPicPr>
          <p:cNvPr id="104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4827522ae947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25" name="Text 18">
            <a:extLst xmlns:a="http://schemas.openxmlformats.org/drawingml/2006/main">
              <a:ext uri="{FF2B5EF4-FFF2-40B4-BE49-F238E27FC236}">
                <a16:creationId xmlns:a16="http://schemas.microsoft.com/office/drawing/2014/main" id="{A55FF586-E2FF-4CC0-9D78-96FCAC52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</a:p>
        </p:txBody>
      </p:sp>
      <p:sp>
        <p:nvSpPr>
          <p:cNvPr id="26" name="Text 19">
            <a:extLst xmlns:a="http://schemas.openxmlformats.org/drawingml/2006/main">
              <a:ext uri="{FF2B5EF4-FFF2-40B4-BE49-F238E27FC236}">
                <a16:creationId xmlns:a16="http://schemas.microsoft.com/office/drawing/2014/main" id="{124C1D9A-0901-422C-909E-C3452C2C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</a:p>
        </p:txBody>
      </p:sp>
      <p:sp>
        <p:nvSpPr>
          <p:cNvPr id="27" name="Text 20">
            <a:extLst xmlns:a="http://schemas.openxmlformats.org/drawingml/2006/main">
              <a:ext uri="{FF2B5EF4-FFF2-40B4-BE49-F238E27FC236}">
                <a16:creationId xmlns:a16="http://schemas.microsoft.com/office/drawing/2014/main" id="{5D7CC099-38F3-42DA-91BC-03D71116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77475182-B5ED-4D25-8E83-02BED491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</a:p>
        </p:txBody>
      </p:sp>
      <p:sp>
        <p:nvSpPr>
          <p:cNvPr id="29" name="Text 22">
            <a:extLst xmlns:a="http://schemas.openxmlformats.org/drawingml/2006/main">
              <a:ext uri="{FF2B5EF4-FFF2-40B4-BE49-F238E27FC236}">
                <a16:creationId xmlns:a16="http://schemas.microsoft.com/office/drawing/2014/main" id="{6CBC5338-8935-4965-8D1A-094AA4C22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</a:p>
        </p:txBody>
      </p:sp>
      <p:sp>
        <p:nvSpPr>
          <p:cNvPr id="30" name="Text 23">
            <a:extLst xmlns:a="http://schemas.openxmlformats.org/drawingml/2006/main">
              <a:ext uri="{FF2B5EF4-FFF2-40B4-BE49-F238E27FC236}">
                <a16:creationId xmlns:a16="http://schemas.microsoft.com/office/drawing/2014/main" id="{07FAF166-E268-408A-AA67-24F877A62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</a:p>
        </p:txBody>
      </p:sp>
      <p:sp>
        <p:nvSpPr>
          <p:cNvPr id="31" name="Text 24">
            <a:extLst xmlns:a="http://schemas.openxmlformats.org/drawingml/2006/main">
              <a:ext uri="{FF2B5EF4-FFF2-40B4-BE49-F238E27FC236}">
                <a16:creationId xmlns:a16="http://schemas.microsoft.com/office/drawing/2014/main" id="{2BB25614-CCB1-4D83-8DFE-F0B1C984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102108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pic>
        <p:nvPicPr>
          <p:cNvPr id="112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4827522ae947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33" name="Text 25">
            <a:extLst xmlns:a="http://schemas.openxmlformats.org/drawingml/2006/main">
              <a:ext uri="{FF2B5EF4-FFF2-40B4-BE49-F238E27FC236}">
                <a16:creationId xmlns:a16="http://schemas.microsoft.com/office/drawing/2014/main" id="{C1CFA854-4258-440D-8A05-B633CFFC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</a:p>
        </p:txBody>
      </p:sp>
      <p:pic>
        <p:nvPicPr>
          <p:cNvPr id="114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051d65917746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35" name="Text 26">
            <a:extLst xmlns:a="http://schemas.openxmlformats.org/drawingml/2006/main">
              <a:ext uri="{FF2B5EF4-FFF2-40B4-BE49-F238E27FC236}">
                <a16:creationId xmlns:a16="http://schemas.microsoft.com/office/drawing/2014/main" id="{110B7CB6-A313-4AEC-99B4-67C861CD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</a:p>
        </p:txBody>
      </p:sp>
      <p:sp>
        <p:nvSpPr>
          <p:cNvPr id="36" name="Shape 27">
            <a:extLst xmlns:a="http://schemas.openxmlformats.org/drawingml/2006/main">
              <a:ext uri="{FF2B5EF4-FFF2-40B4-BE49-F238E27FC236}">
                <a16:creationId xmlns:a16="http://schemas.microsoft.com/office/drawing/2014/main" id="{BE04450F-B172-4ADC-9708-839D35A5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28">
            <a:extLst xmlns:a="http://schemas.openxmlformats.org/drawingml/2006/main">
              <a:ext uri="{FF2B5EF4-FFF2-40B4-BE49-F238E27FC236}">
                <a16:creationId xmlns:a16="http://schemas.microsoft.com/office/drawing/2014/main" id="{F8EBF98A-BA59-4F86-BAD0-E65ADAC4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02108" tIns="68072" rIns="102108" bIns="68072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38" name="Text 29">
            <a:extLst xmlns:a="http://schemas.openxmlformats.org/drawingml/2006/main">
              <a:ext uri="{FF2B5EF4-FFF2-40B4-BE49-F238E27FC236}">
                <a16:creationId xmlns:a16="http://schemas.microsoft.com/office/drawing/2014/main" id="{11A183FE-4129-46A6-81B1-7900BC2A5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46" name="abl-head-0">
            <a:extLst xmlns:a="http://schemas.openxmlformats.org/drawingml/2006/main">
              <a:ext uri="{FF2B5EF4-FFF2-40B4-BE49-F238E27FC236}">
                <a16:creationId xmlns:a16="http://schemas.microsoft.com/office/drawing/2014/main" id="{40C07BA2-0929-4753-80B4-63B3B89C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85875"/>
            <a:ext cx="1571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FFFFFF"/>
                </a:solidFill>
                <a:latin typeface="-apple-system"/>
                <a:ea typeface="-apple-system"/>
                <a:cs typeface="-apple-system"/>
              </a:defRPr>
            </a:pPr>
            <a:r>
              <a:rPr sz="810" b="1">
                <a:solidFill>
                  <a:srgbClr val="FFFFFF"/>
                </a:solidFill>
                <a:latin typeface="-apple-system"/>
                <a:ea typeface="-apple-system"/>
                <a:cs typeface="-apple-system"/>
              </a:rPr>
              <a:t>METHOD</a:t>
            </a:r>
          </a:p>
        </p:txBody>
      </p:sp>
      <p:sp>
        <p:nvSpPr>
          <p:cNvPr id="47" name="abl-head-1">
            <a:extLst xmlns:a="http://schemas.openxmlformats.org/drawingml/2006/main">
              <a:ext uri="{FF2B5EF4-FFF2-40B4-BE49-F238E27FC236}">
                <a16:creationId xmlns:a16="http://schemas.microsoft.com/office/drawing/2014/main" id="{C5646A11-C93C-4F9F-A52D-677A0A6C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285875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FFFFFF"/>
                </a:solidFill>
                <a:latin typeface="-apple-system"/>
                <a:ea typeface="-apple-system"/>
                <a:cs typeface="-apple-system"/>
              </a:defRPr>
            </a:pPr>
            <a:r>
              <a:rPr sz="810" b="1">
                <a:solidFill>
                  <a:srgbClr val="FFFFFF"/>
                </a:solidFill>
                <a:latin typeface="-apple-system"/>
                <a:ea typeface="-apple-system"/>
                <a:cs typeface="-apple-system"/>
              </a:rPr>
              <a:t>COMPARATOR / ABLATION</a:t>
            </a:r>
          </a:p>
        </p:txBody>
      </p:sp>
      <p:sp>
        <p:nvSpPr>
          <p:cNvPr id="48" name="abl-head-2">
            <a:extLst xmlns:a="http://schemas.openxmlformats.org/drawingml/2006/main">
              <a:ext uri="{FF2B5EF4-FFF2-40B4-BE49-F238E27FC236}">
                <a16:creationId xmlns:a16="http://schemas.microsoft.com/office/drawing/2014/main" id="{B2ABE88B-731C-4684-A64A-7FDE0BE7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285875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FFFFFF"/>
                </a:solidFill>
                <a:latin typeface="-apple-system"/>
                <a:ea typeface="-apple-system"/>
                <a:cs typeface="-apple-system"/>
              </a:defRPr>
            </a:pPr>
            <a:r>
              <a:rPr sz="810" b="1">
                <a:solidFill>
                  <a:srgbClr val="FFFFFF"/>
                </a:solidFill>
                <a:latin typeface="-apple-system"/>
                <a:ea typeface="-apple-system"/>
                <a:cs typeface="-apple-system"/>
              </a:rPr>
              <a:t>WHAT IT PROVES</a:t>
            </a:r>
          </a:p>
        </p:txBody>
      </p:sp>
      <p:sp>
        <p:nvSpPr>
          <p:cNvPr id="49" name="abl-head-3">
            <a:extLst xmlns:a="http://schemas.openxmlformats.org/drawingml/2006/main">
              <a:ext uri="{FF2B5EF4-FFF2-40B4-BE49-F238E27FC236}">
                <a16:creationId xmlns:a16="http://schemas.microsoft.com/office/drawing/2014/main" id="{EBD526F0-C44D-4943-8E79-87E863F0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285875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FFFFFF"/>
                </a:solidFill>
                <a:latin typeface="-apple-system"/>
                <a:ea typeface="-apple-system"/>
                <a:cs typeface="-apple-system"/>
              </a:defRPr>
            </a:pPr>
            <a:r>
              <a:rPr sz="810" b="1">
                <a:solidFill>
                  <a:srgbClr val="FFFFFF"/>
                </a:solidFill>
                <a:latin typeface="-apple-system"/>
                <a:ea typeface="-apple-system"/>
                <a:cs typeface="-apple-system"/>
              </a:rPr>
              <a:t>STATUS</a:t>
            </a:r>
          </a:p>
        </p:txBody>
      </p:sp>
      <p:sp>
        <p:nvSpPr>
          <p:cNvPr id="50" name="abl-0-0">
            <a:extLst xmlns:a="http://schemas.openxmlformats.org/drawingml/2006/main">
              <a:ext uri="{FF2B5EF4-FFF2-40B4-BE49-F238E27FC236}">
                <a16:creationId xmlns:a16="http://schemas.microsoft.com/office/drawing/2014/main" id="{04DF7076-9C76-44CC-8428-EFAEB561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47825"/>
            <a:ext cx="1571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No-transfer</a:t>
            </a:r>
          </a:p>
        </p:txBody>
      </p:sp>
      <p:sp>
        <p:nvSpPr>
          <p:cNvPr id="51" name="abl-0-1">
            <a:extLst xmlns:a="http://schemas.openxmlformats.org/drawingml/2006/main">
              <a:ext uri="{FF2B5EF4-FFF2-40B4-BE49-F238E27FC236}">
                <a16:creationId xmlns:a16="http://schemas.microsoft.com/office/drawing/2014/main" id="{36A14EEC-D3A4-4749-9A34-0527666B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47825"/>
            <a:ext cx="2476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matched target-only LLM / strong BO</a:t>
            </a:r>
          </a:p>
        </p:txBody>
      </p:sp>
      <p:sp>
        <p:nvSpPr>
          <p:cNvPr id="52" name="abl-0-2">
            <a:extLst xmlns:a="http://schemas.openxmlformats.org/drawingml/2006/main">
              <a:ext uri="{FF2B5EF4-FFF2-40B4-BE49-F238E27FC236}">
                <a16:creationId xmlns:a16="http://schemas.microsoft.com/office/drawing/2014/main" id="{DC58B711-0384-417B-9065-8CE2B526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647825"/>
            <a:ext cx="2476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隔离 source evidence</a:t>
            </a:r>
          </a:p>
        </p:txBody>
      </p:sp>
      <p:sp>
        <p:nvSpPr>
          <p:cNvPr id="53" name="abl-0-3">
            <a:extLst xmlns:a="http://schemas.openxmlformats.org/drawingml/2006/main">
              <a:ext uri="{FF2B5EF4-FFF2-40B4-BE49-F238E27FC236}">
                <a16:creationId xmlns:a16="http://schemas.microsoft.com/office/drawing/2014/main" id="{D9CBB120-2A72-4D62-81CD-47E03A94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647825"/>
            <a:ext cx="1143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EE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rPr>
              <a:t>COMPLETE</a:t>
            </a:r>
          </a:p>
        </p:txBody>
      </p:sp>
      <p:sp>
        <p:nvSpPr>
          <p:cNvPr id="54" name="abl-1-0">
            <a:extLst xmlns:a="http://schemas.openxmlformats.org/drawingml/2006/main">
              <a:ext uri="{FF2B5EF4-FFF2-40B4-BE49-F238E27FC236}">
                <a16:creationId xmlns:a16="http://schemas.microsoft.com/office/drawing/2014/main" id="{2999CAB3-88B1-44D0-A4EC-FE07CB5E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1571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Random-transfer</a:t>
            </a:r>
          </a:p>
        </p:txBody>
      </p:sp>
      <p:sp>
        <p:nvSpPr>
          <p:cNvPr id="55" name="abl-1-1">
            <a:extLst xmlns:a="http://schemas.openxmlformats.org/drawingml/2006/main">
              <a:ext uri="{FF2B5EF4-FFF2-40B4-BE49-F238E27FC236}">
                <a16:creationId xmlns:a16="http://schemas.microsoft.com/office/drawing/2014/main" id="{F84FBF44-58F9-46FB-8053-045395BB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076450"/>
            <a:ext cx="2476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matched random rule</a:t>
            </a:r>
          </a:p>
        </p:txBody>
      </p:sp>
      <p:sp>
        <p:nvSpPr>
          <p:cNvPr id="56" name="abl-1-2">
            <a:extLst xmlns:a="http://schemas.openxmlformats.org/drawingml/2006/main">
              <a:ext uri="{FF2B5EF4-FFF2-40B4-BE49-F238E27FC236}">
                <a16:creationId xmlns:a16="http://schemas.microsoft.com/office/drawing/2014/main" id="{A5375C0E-6905-46F6-A97E-DFA04EF4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76450"/>
            <a:ext cx="2476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排除规则形式红利</a:t>
            </a:r>
          </a:p>
        </p:txBody>
      </p:sp>
      <p:sp>
        <p:nvSpPr>
          <p:cNvPr id="57" name="abl-1-3">
            <a:extLst xmlns:a="http://schemas.openxmlformats.org/drawingml/2006/main">
              <a:ext uri="{FF2B5EF4-FFF2-40B4-BE49-F238E27FC236}">
                <a16:creationId xmlns:a16="http://schemas.microsoft.com/office/drawing/2014/main" id="{5B05AC95-FC1F-4088-A0B0-78580340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076450"/>
            <a:ext cx="1143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B7791F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1">
                <a:solidFill>
                  <a:srgbClr val="B7791F"/>
                </a:solidFill>
                <a:latin typeface="-apple-system"/>
                <a:ea typeface="-apple-system"/>
                <a:cs typeface="-apple-system"/>
              </a:rPr>
              <a:t>PARTIAL</a:t>
            </a:r>
          </a:p>
        </p:txBody>
      </p:sp>
      <p:sp>
        <p:nvSpPr>
          <p:cNvPr id="58" name="abl-2-0">
            <a:extLst xmlns:a="http://schemas.openxmlformats.org/drawingml/2006/main">
              <a:ext uri="{FF2B5EF4-FFF2-40B4-BE49-F238E27FC236}">
                <a16:creationId xmlns:a16="http://schemas.microsoft.com/office/drawing/2014/main" id="{47CB666F-2889-4148-9CDA-4F4A14D5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05075"/>
            <a:ext cx="1571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Similarity-only</a:t>
            </a:r>
          </a:p>
        </p:txBody>
      </p:sp>
      <p:sp>
        <p:nvSpPr>
          <p:cNvPr id="59" name="abl-2-1">
            <a:extLst xmlns:a="http://schemas.openxmlformats.org/drawingml/2006/main">
              <a:ext uri="{FF2B5EF4-FFF2-40B4-BE49-F238E27FC236}">
                <a16:creationId xmlns:a16="http://schemas.microsoft.com/office/drawing/2014/main" id="{69576DAE-8512-4538-B3D7-269CBCD3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505075"/>
            <a:ext cx="2476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schema router only</a:t>
            </a:r>
          </a:p>
        </p:txBody>
      </p:sp>
      <p:sp>
        <p:nvSpPr>
          <p:cNvPr id="60" name="abl-2-2">
            <a:extLst xmlns:a="http://schemas.openxmlformats.org/drawingml/2006/main">
              <a:ext uri="{FF2B5EF4-FFF2-40B4-BE49-F238E27FC236}">
                <a16:creationId xmlns:a16="http://schemas.microsoft.com/office/drawing/2014/main" id="{BA379741-6F6B-4EC9-9583-FB623974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05075"/>
            <a:ext cx="2476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检验表面相似度</a:t>
            </a:r>
          </a:p>
        </p:txBody>
      </p:sp>
      <p:sp>
        <p:nvSpPr>
          <p:cNvPr id="61" name="abl-2-3">
            <a:extLst xmlns:a="http://schemas.openxmlformats.org/drawingml/2006/main">
              <a:ext uri="{FF2B5EF4-FFF2-40B4-BE49-F238E27FC236}">
                <a16:creationId xmlns:a16="http://schemas.microsoft.com/office/drawing/2014/main" id="{9E821850-D039-491F-BD21-1DE807A5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505075"/>
            <a:ext cx="1143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B7791F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1">
                <a:solidFill>
                  <a:srgbClr val="B7791F"/>
                </a:solidFill>
                <a:latin typeface="-apple-system"/>
                <a:ea typeface="-apple-system"/>
                <a:cs typeface="-apple-system"/>
              </a:rPr>
              <a:t>PARTIAL</a:t>
            </a:r>
          </a:p>
        </p:txBody>
      </p:sp>
      <p:sp>
        <p:nvSpPr>
          <p:cNvPr id="62" name="abl-3-0">
            <a:extLst xmlns:a="http://schemas.openxmlformats.org/drawingml/2006/main">
              <a:ext uri="{FF2B5EF4-FFF2-40B4-BE49-F238E27FC236}">
                <a16:creationId xmlns:a16="http://schemas.microsoft.com/office/drawing/2014/main" id="{4E23E829-DB73-4E42-9147-A102A39A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33700"/>
            <a:ext cx="1571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Without gate</a:t>
            </a:r>
          </a:p>
        </p:txBody>
      </p:sp>
      <p:sp>
        <p:nvSpPr>
          <p:cNvPr id="63" name="abl-3-1">
            <a:extLst xmlns:a="http://schemas.openxmlformats.org/drawingml/2006/main">
              <a:ext uri="{FF2B5EF4-FFF2-40B4-BE49-F238E27FC236}">
                <a16:creationId xmlns:a16="http://schemas.microsoft.com/office/drawing/2014/main" id="{738A0BF8-A96E-47E9-B07A-F894AFBD7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933700"/>
            <a:ext cx="2476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always deploy transfer</a:t>
            </a:r>
          </a:p>
        </p:txBody>
      </p:sp>
      <p:sp>
        <p:nvSpPr>
          <p:cNvPr id="64" name="abl-3-2">
            <a:extLst xmlns:a="http://schemas.openxmlformats.org/drawingml/2006/main">
              <a:ext uri="{FF2B5EF4-FFF2-40B4-BE49-F238E27FC236}">
                <a16:creationId xmlns:a16="http://schemas.microsoft.com/office/drawing/2014/main" id="{03DB6240-2A29-4BAB-AB32-B52A0AEA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933700"/>
            <a:ext cx="2476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量化负迁移保护</a:t>
            </a:r>
          </a:p>
        </p:txBody>
      </p:sp>
      <p:sp>
        <p:nvSpPr>
          <p:cNvPr id="65" name="abl-3-3">
            <a:extLst xmlns:a="http://schemas.openxmlformats.org/drawingml/2006/main">
              <a:ext uri="{FF2B5EF4-FFF2-40B4-BE49-F238E27FC236}">
                <a16:creationId xmlns:a16="http://schemas.microsoft.com/office/drawing/2014/main" id="{6389671C-C684-429F-81A2-BC57A786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933700"/>
            <a:ext cx="1143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IMPLEMENTED</a:t>
            </a:r>
          </a:p>
        </p:txBody>
      </p:sp>
      <p:sp>
        <p:nvSpPr>
          <p:cNvPr id="66" name="abl-4-0">
            <a:extLst xmlns:a="http://schemas.openxmlformats.org/drawingml/2006/main">
              <a:ext uri="{FF2B5EF4-FFF2-40B4-BE49-F238E27FC236}">
                <a16:creationId xmlns:a16="http://schemas.microsoft.com/office/drawing/2014/main" id="{33037348-382C-4203-B8A6-A6CC884FB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62325"/>
            <a:ext cx="1571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Without hypothesis validation</a:t>
            </a:r>
          </a:p>
        </p:txBody>
      </p:sp>
      <p:sp>
        <p:nvSpPr>
          <p:cNvPr id="67" name="abl-4-1">
            <a:extLst xmlns:a="http://schemas.openxmlformats.org/drawingml/2006/main">
              <a:ext uri="{FF2B5EF4-FFF2-40B4-BE49-F238E27FC236}">
                <a16:creationId xmlns:a16="http://schemas.microsoft.com/office/drawing/2014/main" id="{5782D3AF-11F6-4E23-9EA1-469678F7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362325"/>
            <a:ext cx="2476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direct prior / no validation</a:t>
            </a:r>
          </a:p>
        </p:txBody>
      </p:sp>
      <p:sp>
        <p:nvSpPr>
          <p:cNvPr id="68" name="abl-4-2">
            <a:extLst xmlns:a="http://schemas.openxmlformats.org/drawingml/2006/main">
              <a:ext uri="{FF2B5EF4-FFF2-40B4-BE49-F238E27FC236}">
                <a16:creationId xmlns:a16="http://schemas.microsoft.com/office/drawing/2014/main" id="{6C98C910-D68E-4DA7-9BD8-14B3DF9DD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362325"/>
            <a:ext cx="2476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检验 hypothesis 质量</a:t>
            </a:r>
          </a:p>
        </p:txBody>
      </p:sp>
      <p:sp>
        <p:nvSpPr>
          <p:cNvPr id="69" name="abl-4-3">
            <a:extLst xmlns:a="http://schemas.openxmlformats.org/drawingml/2006/main">
              <a:ext uri="{FF2B5EF4-FFF2-40B4-BE49-F238E27FC236}">
                <a16:creationId xmlns:a16="http://schemas.microsoft.com/office/drawing/2014/main" id="{747EBC8F-7107-416A-9F4C-972285CC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362325"/>
            <a:ext cx="1143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B7791F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1">
                <a:solidFill>
                  <a:srgbClr val="B7791F"/>
                </a:solidFill>
                <a:latin typeface="-apple-system"/>
                <a:ea typeface="-apple-system"/>
                <a:cs typeface="-apple-system"/>
              </a:rPr>
              <a:t>PARTIAL</a:t>
            </a:r>
          </a:p>
        </p:txBody>
      </p:sp>
      <p:sp>
        <p:nvSpPr>
          <p:cNvPr id="70" name="abl-5-0">
            <a:extLst xmlns:a="http://schemas.openxmlformats.org/drawingml/2006/main">
              <a:ext uri="{FF2B5EF4-FFF2-40B4-BE49-F238E27FC236}">
                <a16:creationId xmlns:a16="http://schemas.microsoft.com/office/drawing/2014/main" id="{F118A395-F127-4F21-B495-C2EB9BB2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90950"/>
            <a:ext cx="1571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Full framework</a:t>
            </a:r>
          </a:p>
        </p:txBody>
      </p:sp>
      <p:sp>
        <p:nvSpPr>
          <p:cNvPr id="71" name="abl-5-1">
            <a:extLst xmlns:a="http://schemas.openxmlformats.org/drawingml/2006/main">
              <a:ext uri="{FF2B5EF4-FFF2-40B4-BE49-F238E27FC236}">
                <a16:creationId xmlns:a16="http://schemas.microsoft.com/office/drawing/2014/main" id="{AA2075D4-B403-42EF-AEFF-0BF5DE1B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790950"/>
            <a:ext cx="2476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hypothesis + patch + gate</a:t>
            </a:r>
          </a:p>
        </p:txBody>
      </p:sp>
      <p:sp>
        <p:nvSpPr>
          <p:cNvPr id="72" name="abl-5-2">
            <a:extLst xmlns:a="http://schemas.openxmlformats.org/drawingml/2006/main">
              <a:ext uri="{FF2B5EF4-FFF2-40B4-BE49-F238E27FC236}">
                <a16:creationId xmlns:a16="http://schemas.microsoft.com/office/drawing/2014/main" id="{2C84BD6D-CA6C-4C91-9404-C37C973C0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790950"/>
            <a:ext cx="2476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完整方法</a:t>
            </a:r>
          </a:p>
        </p:txBody>
      </p:sp>
      <p:sp>
        <p:nvSpPr>
          <p:cNvPr id="73" name="abl-5-3">
            <a:extLst xmlns:a="http://schemas.openxmlformats.org/drawingml/2006/main">
              <a:ext uri="{FF2B5EF4-FFF2-40B4-BE49-F238E27FC236}">
                <a16:creationId xmlns:a16="http://schemas.microsoft.com/office/drawing/2014/main" id="{C6D94484-86A0-42FA-9AAE-2C7334A64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790950"/>
            <a:ext cx="1143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EE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rPr>
              <a:t>7 ROUTES</a:t>
            </a:r>
          </a:p>
        </p:txBody>
      </p:sp>
      <p:sp>
        <p:nvSpPr>
          <p:cNvPr id="74" name="abl-report">
            <a:extLst xmlns:a="http://schemas.openxmlformats.org/drawingml/2006/main">
              <a:ext uri="{FF2B5EF4-FFF2-40B4-BE49-F238E27FC236}">
                <a16:creationId xmlns:a16="http://schemas.microsoft.com/office/drawing/2014/main" id="{6AB979F5-D6A1-48F9-A86E-B752AEA6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38650"/>
            <a:ext cx="8001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统一报告：paired mean gain · 95% CI / q-value · practical effect · negative-transfer rate · acceptance rate · rounds saved</a:t>
            </a:r>
          </a:p>
        </p:txBody>
      </p:sp>
    </p:spTree>
    <p:extLst>
      <p:ext uri="{BB962C8B-B14F-4D97-AF65-F5344CB8AC3E}">
        <p14:creationId xmlns:p14="http://schemas.microsoft.com/office/powerpoint/2010/main" val="29687415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7fd45b6c024a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C2A5C301-4BFB-45C2-AD07-B0371771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8001000" cy="1500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BUDGET EFFICIENCY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77180D91-F80B-4DF3-ABF6-278977F4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494"/>
            <a:ext cx="8001000" cy="3343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800" b="1">
                <a:solidFill>
                  <a:srgbClr val="111111"/>
                </a:solidFill>
                <a:latin typeface="-apple-system"/>
                <a:ea typeface="-apple-system"/>
                <a:cs typeface="-apple-system"/>
              </a:rPr>
              <a:t>迁移的价值不仅是最终最优值，还包括少做多少轮实验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3E96B262-EBB1-4BD7-BED9-C0A7AB83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364" y="285750"/>
            <a:ext cx="127136" cy="1321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5B6168"/>
                </a:solidFill>
                <a:latin typeface="-apple-system"/>
                <a:ea typeface="-apple-system"/>
                <a:cs typeface="-apple-system"/>
              </a:rPr>
              <a:t>13</a:t>
            </a:r>
          </a:p>
        </p:txBody>
      </p:sp>
      <p:pic>
        <p:nvPicPr>
          <p:cNvPr id="5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adde594ba644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F40D5963-5A1B-4E4A-95D4-DE157791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pic>
        <p:nvPicPr>
          <p:cNvPr id="56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6cd545323b4d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1AB827B5-A027-4090-9420-A5E549B90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158E4277-42AB-48EE-BF6F-5C7B2AD6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3B45A0A3-62C3-4B08-8386-0FD29E50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0126465C-156C-4304-90CE-06794083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0C40CBF3-622C-4FE4-94C3-2FA5A76D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76995B98-5225-47D9-8AD6-C641DCDEF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53C5AE6F-5BC1-4DFA-B20D-7CECACDC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0C75F51D-3797-4BE3-BBF3-B13D600C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DCFEF9C4-30A5-4450-ACA0-7FAD60C8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3">
            <a:extLst xmlns:a="http://schemas.openxmlformats.org/drawingml/2006/main">
              <a:ext uri="{FF2B5EF4-FFF2-40B4-BE49-F238E27FC236}">
                <a16:creationId xmlns:a16="http://schemas.microsoft.com/office/drawing/2014/main" id="{79E35827-1C9D-4D6B-B576-CF381ADC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4">
            <a:extLst xmlns:a="http://schemas.openxmlformats.org/drawingml/2006/main">
              <a:ext uri="{FF2B5EF4-FFF2-40B4-BE49-F238E27FC236}">
                <a16:creationId xmlns:a16="http://schemas.microsoft.com/office/drawing/2014/main" id="{5F971E45-0B3E-4351-B8BF-432316F0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68072" tIns="34036" rIns="68072" bIns="34036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57BF00E5-AD8A-4BBE-AC41-3B376801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1F307A9C-CFE6-4FF7-BF4B-752003100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FDE11EC6-E02A-4461-8D50-340F403B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0BB54EF5-3EE6-4005-AC94-0F64CAFD0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</a:pPr>
          </a:p>
        </p:txBody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50308EBE-85B3-49D5-9CC1-A6147D1B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0E837C76-3ADF-4738-92F6-F56803AD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4C8D0A3A-449A-44A5-826A-40488361E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</a:pP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6784028E-FE47-46AE-AAAD-FCA6141B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8" name="Text 23">
            <a:extLst xmlns:a="http://schemas.openxmlformats.org/drawingml/2006/main">
              <a:ext uri="{FF2B5EF4-FFF2-40B4-BE49-F238E27FC236}">
                <a16:creationId xmlns:a16="http://schemas.microsoft.com/office/drawing/2014/main" id="{F543AFCA-2494-4E41-B5C0-B9BE0B3C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F5864C54-6772-4D8A-B9C7-8E33D5C4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</a:pPr>
          </a:p>
        </p:txBody>
      </p:sp>
      <p:pic>
        <p:nvPicPr>
          <p:cNvPr id="78" name="Picture 7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8b9826d83d4bfe"/>
          <a:stretch xmlns:a="http://schemas.openxmlformats.org/drawingml/2006/main"/>
        </p:blipFill>
        <p:spPr>
          <a:xfrm xmlns:a="http://schemas.openxmlformats.org/drawingml/2006/main">
            <a:off x="428625" y="1502725"/>
            <a:ext cx="5857875" cy="2233300"/>
          </a:xfrm>
          <a:prstGeom xmlns:a="http://schemas.openxmlformats.org/drawingml/2006/main" prst="rect">
            <a:avLst/>
          </a:prstGeom>
        </p:spPr>
      </p:pic>
      <p:sp>
        <p:nvSpPr>
          <p:cNvPr id="34" name="round-title">
            <a:extLst xmlns:a="http://schemas.openxmlformats.org/drawingml/2006/main">
              <a:ext uri="{FF2B5EF4-FFF2-40B4-BE49-F238E27FC236}">
                <a16:creationId xmlns:a16="http://schemas.microsoft.com/office/drawing/2014/main" id="{28DFF991-CA1D-4F01-9F4A-2C5162EFD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382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defRPr>
            </a:pPr>
            <a:r>
              <a:rPr sz="11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已部署路线的</a:t>
            </a:r>
            <a:r>
              <a:rPr sz="11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 paired round saving</a:t>
            </a:r>
          </a:p>
        </p:txBody>
      </p:sp>
      <p:sp>
        <p:nvSpPr>
          <p:cNvPr id="35" name="round-label-0">
            <a:extLst xmlns:a="http://schemas.openxmlformats.org/drawingml/2006/main">
              <a:ext uri="{FF2B5EF4-FFF2-40B4-BE49-F238E27FC236}">
                <a16:creationId xmlns:a16="http://schemas.microsoft.com/office/drawing/2014/main" id="{DE1429BE-83B6-4BA4-B714-0AB087B3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3355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ChemLex → BH</a:t>
            </a:r>
          </a:p>
        </p:txBody>
      </p:sp>
      <p:sp>
        <p:nvSpPr>
          <p:cNvPr id="36" name="round-value-0">
            <a:extLst xmlns:a="http://schemas.openxmlformats.org/drawingml/2006/main">
              <a:ext uri="{FF2B5EF4-FFF2-40B4-BE49-F238E27FC236}">
                <a16:creationId xmlns:a16="http://schemas.microsoft.com/office/drawing/2014/main" id="{887635FD-9270-4875-A394-B16A22FA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335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rPr>
              <a:t>2.99 / 3.62</a:t>
            </a:r>
          </a:p>
        </p:txBody>
      </p:sp>
      <p:sp>
        <p:nvSpPr>
          <p:cNvPr id="37" name="round-label-1">
            <a:extLst xmlns:a="http://schemas.openxmlformats.org/drawingml/2006/main">
              <a:ext uri="{FF2B5EF4-FFF2-40B4-BE49-F238E27FC236}">
                <a16:creationId xmlns:a16="http://schemas.microsoft.com/office/drawing/2014/main" id="{4E42CB59-FE44-472F-BB3D-F249FA3A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62175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Dielectric → Gap</a:t>
            </a:r>
          </a:p>
        </p:txBody>
      </p:sp>
      <p:sp>
        <p:nvSpPr>
          <p:cNvPr id="38" name="round-value-1">
            <a:extLst xmlns:a="http://schemas.openxmlformats.org/drawingml/2006/main">
              <a:ext uri="{FF2B5EF4-FFF2-40B4-BE49-F238E27FC236}">
                <a16:creationId xmlns:a16="http://schemas.microsoft.com/office/drawing/2014/main" id="{8629AE7D-F5C3-4595-AF3D-DA3A8A3F5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621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rPr>
              <a:t>6.00 / 9.57</a:t>
            </a:r>
          </a:p>
        </p:txBody>
      </p:sp>
      <p:sp>
        <p:nvSpPr>
          <p:cNvPr id="39" name="round-label-2">
            <a:extLst xmlns:a="http://schemas.openxmlformats.org/drawingml/2006/main">
              <a:ext uri="{FF2B5EF4-FFF2-40B4-BE49-F238E27FC236}">
                <a16:creationId xmlns:a16="http://schemas.microsoft.com/office/drawing/2014/main" id="{08F6BA6B-65FA-4902-9D50-C43DF23FB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9080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Gap → Dielectric</a:t>
            </a:r>
          </a:p>
        </p:txBody>
      </p:sp>
      <p:sp>
        <p:nvSpPr>
          <p:cNvPr id="40" name="round-value-2">
            <a:extLst xmlns:a="http://schemas.openxmlformats.org/drawingml/2006/main">
              <a:ext uri="{FF2B5EF4-FFF2-40B4-BE49-F238E27FC236}">
                <a16:creationId xmlns:a16="http://schemas.microsoft.com/office/drawing/2014/main" id="{69CFAF51-C1C7-40D4-872C-531E7D11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908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rPr>
              <a:t>5.03 / 8.46</a:t>
            </a:r>
          </a:p>
        </p:txBody>
      </p:sp>
      <p:sp>
        <p:nvSpPr>
          <p:cNvPr id="41" name="round-label-3">
            <a:extLst xmlns:a="http://schemas.openxmlformats.org/drawingml/2006/main">
              <a:ext uri="{FF2B5EF4-FFF2-40B4-BE49-F238E27FC236}">
                <a16:creationId xmlns:a16="http://schemas.microsoft.com/office/drawing/2014/main" id="{AB86BC24-A58E-4B67-A3BC-FB59CD9C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19425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FreeSolv → Lipo</a:t>
            </a:r>
          </a:p>
        </p:txBody>
      </p:sp>
      <p:sp>
        <p:nvSpPr>
          <p:cNvPr id="42" name="round-value-3">
            <a:extLst xmlns:a="http://schemas.openxmlformats.org/drawingml/2006/main">
              <a:ext uri="{FF2B5EF4-FFF2-40B4-BE49-F238E27FC236}">
                <a16:creationId xmlns:a16="http://schemas.microsoft.com/office/drawing/2014/main" id="{BBAFFDA6-7421-4275-A8B9-412451E9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1942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rPr>
              <a:t>2.23 / 4.80</a:t>
            </a:r>
          </a:p>
        </p:txBody>
      </p:sp>
      <p:sp>
        <p:nvSpPr>
          <p:cNvPr id="43" name="round-unit">
            <a:extLst xmlns:a="http://schemas.openxmlformats.org/drawingml/2006/main">
              <a:ext uri="{FF2B5EF4-FFF2-40B4-BE49-F238E27FC236}">
                <a16:creationId xmlns:a16="http://schemas.microsoft.com/office/drawing/2014/main" id="{F8A87708-1D29-4485-8670-B8C4D803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099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88" b="0">
                <a:solidFill>
                  <a:srgbClr val="5D6874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0">
                <a:solidFill>
                  <a:srgbClr val="5D6874"/>
                </a:solidFill>
                <a:latin typeface="-apple-system"/>
                <a:ea typeface="-apple-system"/>
                <a:cs typeface="-apple-system"/>
              </a:rPr>
              <a:t>matched-final / global-top10</a:t>
            </a:r>
          </a:p>
        </p:txBody>
      </p:sp>
      <p:sp>
        <p:nvSpPr>
          <p:cNvPr id="44" name="diminishing-note">
            <a:extLst xmlns:a="http://schemas.openxmlformats.org/drawingml/2006/main">
              <a:ext uri="{FF2B5EF4-FFF2-40B4-BE49-F238E27FC236}">
                <a16:creationId xmlns:a16="http://schemas.microsoft.com/office/drawing/2014/main" id="{687366F9-0A8C-4174-8C7D-BBB69687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62375"/>
            <a:ext cx="20002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t">
            <a:normAutofit fontScale="98361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1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1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边际收益递减：现有数据只显示早期 gain 通常高于 final-round gain。若要证明饱和，需要在不同历史经验数量下重跑，并以 95% CI（不确定性区间）和饱和模型比较验证。</a:t>
            </a:r>
          </a:p>
        </p:txBody>
      </p:sp>
      <p:sp>
        <p:nvSpPr>
          <p:cNvPr id="45" name="round-censor">
            <a:extLst xmlns:a="http://schemas.openxmlformats.org/drawingml/2006/main">
              <a:ext uri="{FF2B5EF4-FFF2-40B4-BE49-F238E27FC236}">
                <a16:creationId xmlns:a16="http://schemas.microsoft.com/office/drawing/2014/main" id="{261F3926-FD7E-4EBF-9F9D-3BC9DFE7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95775"/>
            <a:ext cx="5667375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9665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Round 0 = initial observations；未达到阈值的路径按 budget + 1 右删失；fallback 与 matched LLM 完全一致。</a:t>
            </a:r>
          </a:p>
        </p:txBody>
      </p:sp>
    </p:spTree>
    <p:extLst>
      <p:ext uri="{BB962C8B-B14F-4D97-AF65-F5344CB8AC3E}">
        <p14:creationId xmlns:p14="http://schemas.microsoft.com/office/powerpoint/2010/main" val="11490728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e825efdb6c4c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D0520669-97F8-40D0-9B3A-A086F147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1500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PAPER-COMPLETION PLAN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F62F0640-E4FB-4E07-9C49-6C729F8B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92944"/>
            <a:ext cx="8001000" cy="6264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000" b="1">
                <a:solidFill>
                  <a:srgbClr val="111111"/>
                </a:solidFill>
                <a:latin typeface="-apple-system"/>
                <a:ea typeface="-apple-system"/>
                <a:cs typeface="-apple-system"/>
              </a:rPr>
              <a:t>下一轮：用统一的冻结协议验证每个模块的贡献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E76441D-59B7-479D-A44F-1C569701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364" y="428625"/>
            <a:ext cx="127136" cy="1321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5B6168"/>
                </a:solidFill>
                <a:latin typeface="-apple-system"/>
                <a:ea typeface="-apple-system"/>
                <a:cs typeface="-apple-system"/>
              </a:rPr>
              <a:t>14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A9A8306B-8547-4F89-8132-9D772C1C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0000"/>
              </a:lnSpc>
              <a:buNone/>
            </a:pP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361DC85-59E4-41F2-B8AA-018A915D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5131B836-53AC-4ECB-BF79-198EB4D9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90D826FF-650E-46F0-AEDB-7D7FE226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0000"/>
              </a:lnSpc>
              <a:buNone/>
            </a:pP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A259075-DF7C-4FA4-918A-736CB9CE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F55F4C8C-0A8E-43C4-9DF4-EAB7E000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50F3D8A0-26B1-40FD-9CC3-04188CD2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0000"/>
              </a:lnSpc>
              <a:buNone/>
            </a:pP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758E9362-3885-4144-87C3-A809F668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A20DF3C7-6936-46E4-A9C6-459EABA4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8DC7EB17-5227-4B58-9F7B-FC41CB80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5DA98469-FC9D-491F-A6BF-39DDB367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4490B9D8-A947-4445-BA1F-67DC1C1A7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1B1B1256-95B6-4442-9BD0-F3F586435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</a:p>
        </p:txBody>
      </p:sp>
      <p:sp>
        <p:nvSpPr>
          <p:cNvPr id="20" name="plan-num-0">
            <a:extLst xmlns:a="http://schemas.openxmlformats.org/drawingml/2006/main">
              <a:ext uri="{FF2B5EF4-FFF2-40B4-BE49-F238E27FC236}">
                <a16:creationId xmlns:a16="http://schemas.microsoft.com/office/drawing/2014/main" id="{6C7F679B-185C-4D6F-9808-F8FC7DF4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defRPr>
            </a:pPr>
            <a:r>
              <a:rPr sz="21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01</a:t>
            </a:r>
          </a:p>
        </p:txBody>
      </p:sp>
      <p:sp>
        <p:nvSpPr>
          <p:cNvPr id="21" name="plan-title-0">
            <a:extLst xmlns:a="http://schemas.openxmlformats.org/drawingml/2006/main">
              <a:ext uri="{FF2B5EF4-FFF2-40B4-BE49-F238E27FC236}">
                <a16:creationId xmlns:a16="http://schemas.microsoft.com/office/drawing/2014/main" id="{AB76A477-2796-44C3-A40A-40AA09BA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431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135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先冻结方案</a:t>
            </a:r>
          </a:p>
        </p:txBody>
      </p:sp>
      <p:sp>
        <p:nvSpPr>
          <p:cNvPr id="22" name="plan-body-0">
            <a:extLst xmlns:a="http://schemas.openxmlformats.org/drawingml/2006/main">
              <a:ext uri="{FF2B5EF4-FFF2-40B4-BE49-F238E27FC236}">
                <a16:creationId xmlns:a16="http://schemas.microsoft.com/office/drawing/2014/main" id="{094F2DEA-FC83-4F04-913E-5E56CD1D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0375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0">
                <a:solidFill>
                  <a:srgbClr val="5D6874"/>
                </a:solidFill>
                <a:latin typeface="-apple-system"/>
                <a:ea typeface="-apple-system"/>
                <a:cs typeface="-apple-system"/>
              </a:rPr>
              <a:t>锁定 route、calibration / held-out split、threshold grid、primary metric 与 MDE；held-out 阶段不改 prompt、不改规则。</a:t>
            </a:r>
          </a:p>
        </p:txBody>
      </p:sp>
      <p:sp>
        <p:nvSpPr>
          <p:cNvPr id="23" name="plan-num-1">
            <a:extLst xmlns:a="http://schemas.openxmlformats.org/drawingml/2006/main">
              <a:ext uri="{FF2B5EF4-FFF2-40B4-BE49-F238E27FC236}">
                <a16:creationId xmlns:a16="http://schemas.microsoft.com/office/drawing/2014/main" id="{27B738C6-2992-455D-958E-349002D6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defRPr>
            </a:pPr>
            <a:r>
              <a:rPr sz="21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02</a:t>
            </a:r>
          </a:p>
        </p:txBody>
      </p:sp>
      <p:sp>
        <p:nvSpPr>
          <p:cNvPr id="24" name="plan-title-1">
            <a:extLst xmlns:a="http://schemas.openxmlformats.org/drawingml/2006/main">
              <a:ext uri="{FF2B5EF4-FFF2-40B4-BE49-F238E27FC236}">
                <a16:creationId xmlns:a16="http://schemas.microsoft.com/office/drawing/2014/main" id="{D58FFD7A-56F5-4954-A6C3-0CA04538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431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135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同条件跑对照</a:t>
            </a:r>
          </a:p>
        </p:txBody>
      </p:sp>
      <p:sp>
        <p:nvSpPr>
          <p:cNvPr id="25" name="plan-body-1">
            <a:extLst xmlns:a="http://schemas.openxmlformats.org/drawingml/2006/main">
              <a:ext uri="{FF2B5EF4-FFF2-40B4-BE49-F238E27FC236}">
                <a16:creationId xmlns:a16="http://schemas.microsoft.com/office/drawing/2014/main" id="{AB5A477F-71E0-4F0A-B26E-3066A43C8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00375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0">
                <a:solidFill>
                  <a:srgbClr val="5D6874"/>
                </a:solidFill>
                <a:latin typeface="-apple-system"/>
                <a:ea typeface="-apple-system"/>
                <a:cs typeface="-apple-system"/>
              </a:rPr>
              <a:t>7 routes × comparator / ablation；budget、initial observations、candidate pool 与 seeds 完全一致。</a:t>
            </a:r>
          </a:p>
        </p:txBody>
      </p:sp>
      <p:sp>
        <p:nvSpPr>
          <p:cNvPr id="26" name="plan-num-2">
            <a:extLst xmlns:a="http://schemas.openxmlformats.org/drawingml/2006/main">
              <a:ext uri="{FF2B5EF4-FFF2-40B4-BE49-F238E27FC236}">
                <a16:creationId xmlns:a16="http://schemas.microsoft.com/office/drawing/2014/main" id="{62EB2799-A4E3-4143-B941-66E1602F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defRPr>
            </a:pPr>
            <a:r>
              <a:rPr sz="21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03</a:t>
            </a:r>
          </a:p>
        </p:txBody>
      </p:sp>
      <p:sp>
        <p:nvSpPr>
          <p:cNvPr id="27" name="plan-title-2">
            <a:extLst xmlns:a="http://schemas.openxmlformats.org/drawingml/2006/main">
              <a:ext uri="{FF2B5EF4-FFF2-40B4-BE49-F238E27FC236}">
                <a16:creationId xmlns:a16="http://schemas.microsoft.com/office/drawing/2014/main" id="{4DD1E3E4-B0A2-4452-AE40-080B5648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431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135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回答增益从哪里来</a:t>
            </a:r>
          </a:p>
        </p:txBody>
      </p:sp>
      <p:sp>
        <p:nvSpPr>
          <p:cNvPr id="28" name="plan-body-2">
            <a:extLst xmlns:a="http://schemas.openxmlformats.org/drawingml/2006/main">
              <a:ext uri="{FF2B5EF4-FFF2-40B4-BE49-F238E27FC236}">
                <a16:creationId xmlns:a16="http://schemas.microsoft.com/office/drawing/2014/main" id="{9DA89F48-010C-4158-A3A7-82591B34C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00375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0">
                <a:solidFill>
                  <a:srgbClr val="5D6874"/>
                </a:solidFill>
                <a:latin typeface="-apple-system"/>
                <a:ea typeface="-apple-system"/>
                <a:cs typeface="-apple-system"/>
              </a:rPr>
              <a:t>Full 与五类 ablation 逐一配对比较：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0">
                <a:solidFill>
                  <a:srgbClr val="5D6874"/>
                </a:solidFill>
                <a:latin typeface="-apple-system"/>
                <a:ea typeface="-apple-system"/>
                <a:cs typeface="-apple-system"/>
              </a:rPr>
              <a:t>无迁移 / 随机迁移 / 仅相似度 / 无 Gate / 无验证。</a:t>
            </a:r>
          </a:p>
        </p:txBody>
      </p:sp>
      <p:sp>
        <p:nvSpPr>
          <p:cNvPr id="29" name="plan-reporting">
            <a:extLst xmlns:a="http://schemas.openxmlformats.org/drawingml/2006/main">
              <a:ext uri="{FF2B5EF4-FFF2-40B4-BE49-F238E27FC236}">
                <a16:creationId xmlns:a16="http://schemas.microsoft.com/office/drawing/2014/main" id="{8E89B355-F8F9-4483-9B75-D22E164D0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57625"/>
            <a:ext cx="800100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9FC2E8"/>
            </a:solidFill>
            <a:prstDash val="solid"/>
          </a:ln>
        </p:spPr>
        <p:txBody>
          <a:bodyPr xmlns:a="http://schemas.openxmlformats.org/drawingml/2006/main" wrap="square" lIns="190500" tIns="114300" rIns="190500" bIns="114300" anchor="ctr">
            <a:normAutofit fontScale="7509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论文结果</a:t>
            </a:r>
          </a:p>
          <a:p xmlns:a="http://schemas.openxmlformats.org/drawingml/2006/main">
            <a:pPr algn="ctr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effect / 95% CI / q-value / task MDE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安全性</a:t>
            </a:r>
          </a:p>
          <a:p xmlns:a="http://schemas.openxmlformats.org/drawingml/2006/main">
            <a:pPr algn="ctr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negative-transfer rate / acceptance rate / exact fallback / rounds saved</a:t>
            </a:r>
          </a:p>
        </p:txBody>
      </p:sp>
    </p:spTree>
    <p:extLst>
      <p:ext uri="{BB962C8B-B14F-4D97-AF65-F5344CB8AC3E}">
        <p14:creationId xmlns:p14="http://schemas.microsoft.com/office/powerpoint/2010/main" val="79950277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10cbb3d20942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D0520669-97F8-40D0-9B3A-A086F147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1500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CONCLUSION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F62F0640-E4FB-4E07-9C49-6C729F8B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92944"/>
            <a:ext cx="8001000" cy="742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000" b="1">
                <a:solidFill>
                  <a:srgbClr val="111111"/>
                </a:solidFill>
                <a:latin typeface="-apple-system"/>
                <a:ea typeface="-apple-system"/>
                <a:cs typeface="-apple-system"/>
              </a:rPr>
              <a:t>当前结论：CARE 2.0 已在同领域跨数据集 replay 中展示可验证的正向迁移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E76441D-59B7-479D-A44F-1C569701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364" y="428625"/>
            <a:ext cx="127136" cy="1321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5B6168"/>
                </a:solidFill>
                <a:latin typeface="-apple-system"/>
                <a:ea typeface="-apple-system"/>
                <a:cs typeface="-apple-system"/>
              </a:rPr>
              <a:t>15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A9A8306B-8547-4F89-8132-9D772C1C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0000"/>
              </a:lnSpc>
              <a:buNone/>
            </a:pP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361DC85-59E4-41F2-B8AA-018A915D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5131B836-53AC-4ECB-BF79-198EB4D9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90D826FF-650E-46F0-AEDB-7D7FE226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0000"/>
              </a:lnSpc>
              <a:buNone/>
            </a:pP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A259075-DF7C-4FA4-918A-736CB9CE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F55F4C8C-0A8E-43C4-9DF4-EAB7E000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50F3D8A0-26B1-40FD-9CC3-04188CD2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0000"/>
              </a:lnSpc>
              <a:buNone/>
            </a:pP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758E9362-3885-4144-87C3-A809F668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A20DF3C7-6936-46E4-A9C6-459EABA4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8DC7EB17-5227-4B58-9F7B-FC41CB80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5DA98469-FC9D-491F-A6BF-39DDB367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4490B9D8-A947-4445-BA1F-67DC1C1A7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1B1B1256-95B6-4442-9BD0-F3F586435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</a:p>
        </p:txBody>
      </p:sp>
      <p:sp>
        <p:nvSpPr>
          <p:cNvPr id="20" name="conclusion-num-0">
            <a:extLst xmlns:a="http://schemas.openxmlformats.org/drawingml/2006/main">
              <a:ext uri="{FF2B5EF4-FFF2-40B4-BE49-F238E27FC236}">
                <a16:creationId xmlns:a16="http://schemas.microsoft.com/office/drawing/2014/main" id="{394DDAA5-46B4-447B-A004-7544F172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66875"/>
            <a:ext cx="4762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0">
            <a:solidFill>
              <a:srgbClr val="E7F5EE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90611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defRPr>
            </a:pPr>
            <a:r>
              <a:rPr sz="825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rPr>
              <a:t>01</a:t>
            </a:r>
          </a:p>
        </p:txBody>
      </p:sp>
      <p:sp>
        <p:nvSpPr>
          <p:cNvPr id="21" name="conclusion-title-0">
            <a:extLst xmlns:a="http://schemas.openxmlformats.org/drawingml/2006/main">
              <a:ext uri="{FF2B5EF4-FFF2-40B4-BE49-F238E27FC236}">
                <a16:creationId xmlns:a16="http://schemas.microsoft.com/office/drawing/2014/main" id="{2F8FFD81-0496-498A-BE53-BC040F9A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431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defRPr>
            </a:pPr>
            <a:r>
              <a:rPr sz="1350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rPr>
              <a:t>已验证的证据</a:t>
            </a:r>
          </a:p>
        </p:txBody>
      </p:sp>
      <p:sp>
        <p:nvSpPr>
          <p:cNvPr id="22" name="conclusion-body-0">
            <a:extLst xmlns:a="http://schemas.openxmlformats.org/drawingml/2006/main">
              <a:ext uri="{FF2B5EF4-FFF2-40B4-BE49-F238E27FC236}">
                <a16:creationId xmlns:a16="http://schemas.microsoft.com/office/drawing/2014/main" id="{648FF907-A03B-4F9B-B36D-B0AD41D2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0">
                <a:solidFill>
                  <a:srgbClr val="5D6874"/>
                </a:solidFill>
                <a:latin typeface="-apple-system"/>
                <a:ea typeface="-apple-system"/>
                <a:cs typeface="-apple-system"/>
              </a:rPr>
              <a:t>反应、材料、分子三个领域内均出现同领域跨数据集正向迁移；4/7 routes 部署 transfer，3/7 精确回退；正式 held-out 没有把负迁移部署出去。</a:t>
            </a:r>
          </a:p>
        </p:txBody>
      </p:sp>
      <p:sp>
        <p:nvSpPr>
          <p:cNvPr id="23" name="conclusion-num-1">
            <a:extLst xmlns:a="http://schemas.openxmlformats.org/drawingml/2006/main">
              <a:ext uri="{FF2B5EF4-FFF2-40B4-BE49-F238E27FC236}">
                <a16:creationId xmlns:a16="http://schemas.microsoft.com/office/drawing/2014/main" id="{0B8B8F48-BDBE-4E42-B78E-B8AD33E40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66875"/>
            <a:ext cx="4762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CEC"/>
          </a:solidFill>
          <a:ln xmlns:a="http://schemas.openxmlformats.org/drawingml/2006/main" w="0">
            <a:solidFill>
              <a:srgbClr val="FCECEC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90611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D64545"/>
                </a:solidFill>
                <a:latin typeface="-apple-system"/>
                <a:ea typeface="-apple-system"/>
                <a:cs typeface="-apple-system"/>
              </a:defRPr>
            </a:pPr>
            <a:r>
              <a:rPr sz="825" b="1">
                <a:solidFill>
                  <a:srgbClr val="D64545"/>
                </a:solidFill>
                <a:latin typeface="-apple-system"/>
                <a:ea typeface="-apple-system"/>
                <a:cs typeface="-apple-system"/>
              </a:rPr>
              <a:t>02</a:t>
            </a:r>
          </a:p>
        </p:txBody>
      </p:sp>
      <p:sp>
        <p:nvSpPr>
          <p:cNvPr id="24" name="conclusion-title-1">
            <a:extLst xmlns:a="http://schemas.openxmlformats.org/drawingml/2006/main">
              <a:ext uri="{FF2B5EF4-FFF2-40B4-BE49-F238E27FC236}">
                <a16:creationId xmlns:a16="http://schemas.microsoft.com/office/drawing/2014/main" id="{3A726547-B2DC-45E4-B485-11FABB4D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431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64545"/>
                </a:solidFill>
                <a:latin typeface="-apple-system"/>
                <a:ea typeface="-apple-system"/>
                <a:cs typeface="-apple-system"/>
              </a:defRPr>
            </a:pPr>
            <a:r>
              <a:rPr sz="1350" b="1">
                <a:solidFill>
                  <a:srgbClr val="D64545"/>
                </a:solidFill>
                <a:latin typeface="-apple-system"/>
                <a:ea typeface="-apple-system"/>
                <a:cs typeface="-apple-system"/>
              </a:rPr>
              <a:t>结论边界</a:t>
            </a:r>
          </a:p>
        </p:txBody>
      </p:sp>
      <p:sp>
        <p:nvSpPr>
          <p:cNvPr id="25" name="conclusion-body-1">
            <a:extLst xmlns:a="http://schemas.openxmlformats.org/drawingml/2006/main">
              <a:ext uri="{FF2B5EF4-FFF2-40B4-BE49-F238E27FC236}">
                <a16:creationId xmlns:a16="http://schemas.microsoft.com/office/drawing/2014/main" id="{9B232404-F650-47FB-B66F-4AC1E5E5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38425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0">
                <a:solidFill>
                  <a:srgbClr val="5D6874"/>
                </a:solidFill>
                <a:latin typeface="-apple-system"/>
                <a:ea typeface="-apple-system"/>
                <a:cs typeface="-apple-system"/>
              </a:rPr>
              <a:t>当前支持可信的同领域路线选择，不等同于普适跨领域迁移。threshold 是校准默认值；统计显著性仍需 confirm run 的完整检验。</a:t>
            </a:r>
          </a:p>
        </p:txBody>
      </p:sp>
      <p:sp>
        <p:nvSpPr>
          <p:cNvPr id="26" name="conclusion-num-2">
            <a:extLst xmlns:a="http://schemas.openxmlformats.org/drawingml/2006/main">
              <a:ext uri="{FF2B5EF4-FFF2-40B4-BE49-F238E27FC236}">
                <a16:creationId xmlns:a16="http://schemas.microsoft.com/office/drawing/2014/main" id="{B00E0C95-DD97-45B9-A286-B1F5BBE0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4762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90611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defRPr>
            </a:pPr>
            <a:r>
              <a:rPr sz="8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03</a:t>
            </a:r>
          </a:p>
        </p:txBody>
      </p:sp>
      <p:sp>
        <p:nvSpPr>
          <p:cNvPr id="27" name="conclusion-title-2">
            <a:extLst xmlns:a="http://schemas.openxmlformats.org/drawingml/2006/main">
              <a:ext uri="{FF2B5EF4-FFF2-40B4-BE49-F238E27FC236}">
                <a16:creationId xmlns:a16="http://schemas.microsoft.com/office/drawing/2014/main" id="{6AA31B4A-F274-45E1-BFA6-2BA7EB65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431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defRPr>
            </a:pPr>
            <a:r>
              <a:rPr sz="135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下一批证据</a:t>
            </a:r>
          </a:p>
        </p:txBody>
      </p:sp>
      <p:sp>
        <p:nvSpPr>
          <p:cNvPr id="28" name="conclusion-body-2">
            <a:extLst xmlns:a="http://schemas.openxmlformats.org/drawingml/2006/main">
              <a:ext uri="{FF2B5EF4-FFF2-40B4-BE49-F238E27FC236}">
                <a16:creationId xmlns:a16="http://schemas.microsoft.com/office/drawing/2014/main" id="{89D74034-5C61-4CCD-9824-0A66509C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38425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0">
                <a:solidFill>
                  <a:srgbClr val="5D6874"/>
                </a:solidFill>
                <a:latin typeface="-apple-system"/>
                <a:ea typeface="-apple-system"/>
                <a:cs typeface="-apple-system"/>
              </a:rPr>
              <a:t>扩展 off-diagonal pairs；在统一 split 上补齐 random / similarity / no-gate / no-validation；请专家 review 三个完整 Hypothesis chain。</a:t>
            </a:r>
          </a:p>
        </p:txBody>
      </p:sp>
      <p:sp>
        <p:nvSpPr>
          <p:cNvPr id="29" name="conclusion-standard">
            <a:extLst xmlns:a="http://schemas.openxmlformats.org/drawingml/2006/main">
              <a:ext uri="{FF2B5EF4-FFF2-40B4-BE49-F238E27FC236}">
                <a16:creationId xmlns:a16="http://schemas.microsoft.com/office/drawing/2014/main" id="{5C2D6FCE-3C68-440A-BF27-A02463562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48125"/>
            <a:ext cx="80010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  <p:txBody>
          <a:bodyPr xmlns:a="http://schemas.openxmlformats.org/drawingml/2006/main" wrap="square" lIns="228600" tIns="152400" rIns="228600" bIns="1524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-apple-system"/>
                <a:ea typeface="-apple-system"/>
                <a:cs typeface="-apple-system"/>
              </a:defRPr>
            </a:pPr>
            <a:r>
              <a:rPr sz="1200" b="1">
                <a:solidFill>
                  <a:srgbClr val="FFFFFF"/>
                </a:solidFill>
                <a:latin typeface="-apple-system"/>
                <a:ea typeface="-apple-system"/>
                <a:cs typeface="-apple-system"/>
              </a:rPr>
              <a:t>CARE 2.0 的贡献：把 source experience 变成可解释的 Hypothesis、受约束的 patch 和可拒绝的部署决策；高质量路线与失败案例都沉淀进 knowledge base。</a:t>
            </a:r>
          </a:p>
        </p:txBody>
      </p:sp>
    </p:spTree>
    <p:extLst>
      <p:ext uri="{BB962C8B-B14F-4D97-AF65-F5344CB8AC3E}">
        <p14:creationId xmlns:p14="http://schemas.microsoft.com/office/powerpoint/2010/main" val="79950277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2026-07-30T13:57:12.2930000Z</dcterms:created>
  <dcterms:modified xsi:type="dcterms:W3CDTF">2026-07-30T13:57:12.2930000Z</dcterms:modified>
</coreProperties>
</file>