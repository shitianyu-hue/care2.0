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2d4a369f97d4855" /><Relationship Type="http://schemas.openxmlformats.org/officeDocument/2006/relationships/extended-properties" Target="/docProps/app.xml" Id="R819445705dac485f" /><Relationship Type="http://schemas.openxmlformats.org/officeDocument/2006/relationships/officeDocument" Target="/ppt/presentation.xml" Id="R5146494d83b04ac0" /></Relationships>
</file>

<file path=ppt/presentation.xml><?xml version="1.0" encoding="utf-8"?>
<p:presentation xmlns:p="http://schemas.openxmlformats.org/presentationml/2006/main">
  <p:sldMasterIdLst>
    <p:sldMasterId xmlns:r="http://schemas.openxmlformats.org/officeDocument/2006/relationships" id="2147483648" r:id="R0c5057749fec4b4b"/>
  </p:sldMasterIdLst>
  <p:notesMasterIdLst>
    <p:notesMasterId xmlns:r="http://schemas.openxmlformats.org/officeDocument/2006/relationships" r:id="R324d3a8767b847db"/>
  </p:notesMasterIdLst>
  <p:sldIdLst>
    <p:sldId xmlns:r="http://schemas.openxmlformats.org/officeDocument/2006/relationships" id="256" r:id="R38b29bd98e964f63"/>
    <p:sldId xmlns:r="http://schemas.openxmlformats.org/officeDocument/2006/relationships" id="257" r:id="R34a3159f57584aa8"/>
    <p:sldId xmlns:r="http://schemas.openxmlformats.org/officeDocument/2006/relationships" id="258" r:id="Rec5cb39c95c44650"/>
    <p:sldId xmlns:r="http://schemas.openxmlformats.org/officeDocument/2006/relationships" id="259" r:id="Rc133ff34e91344c4"/>
    <p:sldId xmlns:r="http://schemas.openxmlformats.org/officeDocument/2006/relationships" id="260" r:id="R139084dde7cf4cdc"/>
    <p:sldId xmlns:r="http://schemas.openxmlformats.org/officeDocument/2006/relationships" id="261" r:id="Rf7bbead80ce64802"/>
    <p:sldId xmlns:r="http://schemas.openxmlformats.org/officeDocument/2006/relationships" id="262" r:id="R98406c09ec524b39"/>
    <p:sldId xmlns:r="http://schemas.openxmlformats.org/officeDocument/2006/relationships" id="263" r:id="R9075668d91e043b0"/>
    <p:sldId xmlns:r="http://schemas.openxmlformats.org/officeDocument/2006/relationships" id="264" r:id="R2fc123dadc0d48a8"/>
    <p:sldId xmlns:r="http://schemas.openxmlformats.org/officeDocument/2006/relationships" id="265" r:id="R3daad6ef8f0c4c18"/>
    <p:sldId xmlns:r="http://schemas.openxmlformats.org/officeDocument/2006/relationships" id="266" r:id="R22f66aeb1b7b47e2"/>
    <p:sldId xmlns:r="http://schemas.openxmlformats.org/officeDocument/2006/relationships" id="267" r:id="Rdad60f18b4d2404f"/>
    <p:sldId xmlns:r="http://schemas.openxmlformats.org/officeDocument/2006/relationships" id="268" r:id="R9e8df3cb9da2483e"/>
    <p:sldId xmlns:r="http://schemas.openxmlformats.org/officeDocument/2006/relationships" id="269" r:id="R15c0de55d550453c"/>
    <p:sldId xmlns:r="http://schemas.openxmlformats.org/officeDocument/2006/relationships" id="270" r:id="R896dc7c1092b47d8"/>
    <p:sldId xmlns:r="http://schemas.openxmlformats.org/officeDocument/2006/relationships" id="271" r:id="R733ec1c4fff04139"/>
    <p:sldId xmlns:r="http://schemas.openxmlformats.org/officeDocument/2006/relationships" id="272" r:id="R7544bdd5206943ff"/>
    <p:sldId xmlns:r="http://schemas.openxmlformats.org/officeDocument/2006/relationships" id="273" r:id="R19aaa93499184710"/>
    <p:sldId xmlns:r="http://schemas.openxmlformats.org/officeDocument/2006/relationships" id="274" r:id="R1113667d4d2043c1"/>
    <p:sldId xmlns:r="http://schemas.openxmlformats.org/officeDocument/2006/relationships" id="275" r:id="Redeaf70159e246f5"/>
    <p:sldId xmlns:r="http://schemas.openxmlformats.org/officeDocument/2006/relationships" id="276" r:id="R4b8c7de08ebb439c"/>
    <p:sldId xmlns:r="http://schemas.openxmlformats.org/officeDocument/2006/relationships" id="277" r:id="R3d123c486bb84b51"/>
    <p:sldId xmlns:r="http://schemas.openxmlformats.org/officeDocument/2006/relationships" id="278" r:id="R84c3f0e50adc4625"/>
    <p:sldId xmlns:r="http://schemas.openxmlformats.org/officeDocument/2006/relationships" id="279" r:id="R58cc063ba9844aa4"/>
    <p:sldId xmlns:r="http://schemas.openxmlformats.org/officeDocument/2006/relationships" id="280" r:id="R833e3e6316df4ee2"/>
    <p:sldId xmlns:r="http://schemas.openxmlformats.org/officeDocument/2006/relationships" id="281" r:id="R4db2b6b3f0c74410"/>
    <p:sldId xmlns:r="http://schemas.openxmlformats.org/officeDocument/2006/relationships" id="282" r:id="R67835578b0914a4f"/>
    <p:sldId xmlns:r="http://schemas.openxmlformats.org/officeDocument/2006/relationships" id="283" r:id="Rad38e6bdf95146c3"/>
    <p:sldId xmlns:r="http://schemas.openxmlformats.org/officeDocument/2006/relationships" id="284" r:id="Ra2e60ffdc17f4661"/>
    <p:sldId xmlns:r="http://schemas.openxmlformats.org/officeDocument/2006/relationships" id="285" r:id="Red35483b7af1478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d033485ffe64c83" /><Relationship Type="http://schemas.openxmlformats.org/officeDocument/2006/relationships/slideMaster" Target="/ppt/slideMasters/slideMaster1.xml" Id="R0c5057749fec4b4b" /><Relationship Type="http://schemas.openxmlformats.org/officeDocument/2006/relationships/notesMaster" Target="/ppt/notesMasters/notesMaster1.xml" Id="R324d3a8767b847db" /><Relationship Type="http://schemas.openxmlformats.org/officeDocument/2006/relationships/presProps" Target="/ppt/presProps.xml" Id="Ra339c0c00cd846d1" /><Relationship Type="http://schemas.openxmlformats.org/officeDocument/2006/relationships/tableStyles" Target="/ppt/tableStyles.xml" Id="R6d94baa5da76403d" /><Relationship Type="http://schemas.openxmlformats.org/officeDocument/2006/relationships/slide" Target="/ppt/slides/slide1.xml" Id="R38b29bd98e964f63" /><Relationship Type="http://schemas.openxmlformats.org/officeDocument/2006/relationships/slide" Target="/ppt/slides/slide2.xml" Id="R34a3159f57584aa8" /><Relationship Type="http://schemas.openxmlformats.org/officeDocument/2006/relationships/slide" Target="/ppt/slides/slide3.xml" Id="Rec5cb39c95c44650" /><Relationship Type="http://schemas.openxmlformats.org/officeDocument/2006/relationships/slide" Target="/ppt/slides/slide4.xml" Id="Rc133ff34e91344c4" /><Relationship Type="http://schemas.openxmlformats.org/officeDocument/2006/relationships/slide" Target="/ppt/slides/slide5.xml" Id="R139084dde7cf4cdc" /><Relationship Type="http://schemas.openxmlformats.org/officeDocument/2006/relationships/slide" Target="/ppt/slides/slide6.xml" Id="Rf7bbead80ce64802" /><Relationship Type="http://schemas.openxmlformats.org/officeDocument/2006/relationships/slide" Target="/ppt/slides/slide7.xml" Id="R98406c09ec524b39" /><Relationship Type="http://schemas.openxmlformats.org/officeDocument/2006/relationships/slide" Target="/ppt/slides/slide8.xml" Id="R9075668d91e043b0" /><Relationship Type="http://schemas.openxmlformats.org/officeDocument/2006/relationships/slide" Target="/ppt/slides/slide9.xml" Id="R2fc123dadc0d48a8" /><Relationship Type="http://schemas.openxmlformats.org/officeDocument/2006/relationships/slide" Target="/ppt/slides/slide10.xml" Id="R3daad6ef8f0c4c18" /><Relationship Type="http://schemas.openxmlformats.org/officeDocument/2006/relationships/slide" Target="/ppt/slides/slide11.xml" Id="R22f66aeb1b7b47e2" /><Relationship Type="http://schemas.openxmlformats.org/officeDocument/2006/relationships/slide" Target="/ppt/slides/slide12.xml" Id="Rdad60f18b4d2404f" /><Relationship Type="http://schemas.openxmlformats.org/officeDocument/2006/relationships/slide" Target="/ppt/slides/slide13.xml" Id="R9e8df3cb9da2483e" /><Relationship Type="http://schemas.openxmlformats.org/officeDocument/2006/relationships/slide" Target="/ppt/slides/slide14.xml" Id="R15c0de55d550453c" /><Relationship Type="http://schemas.openxmlformats.org/officeDocument/2006/relationships/slide" Target="/ppt/slides/slide15.xml" Id="R896dc7c1092b47d8" /><Relationship Type="http://schemas.openxmlformats.org/officeDocument/2006/relationships/slide" Target="/ppt/slides/slide16.xml" Id="R733ec1c4fff04139" /><Relationship Type="http://schemas.openxmlformats.org/officeDocument/2006/relationships/slide" Target="/ppt/slides/slide17.xml" Id="R7544bdd5206943ff" /><Relationship Type="http://schemas.openxmlformats.org/officeDocument/2006/relationships/slide" Target="/ppt/slides/slide18.xml" Id="R19aaa93499184710" /><Relationship Type="http://schemas.openxmlformats.org/officeDocument/2006/relationships/slide" Target="/ppt/slides/slide19.xml" Id="R1113667d4d2043c1" /><Relationship Type="http://schemas.openxmlformats.org/officeDocument/2006/relationships/slide" Target="/ppt/slides/slide20.xml" Id="Redeaf70159e246f5" /><Relationship Type="http://schemas.openxmlformats.org/officeDocument/2006/relationships/slide" Target="/ppt/slides/slide21.xml" Id="R4b8c7de08ebb439c" /><Relationship Type="http://schemas.openxmlformats.org/officeDocument/2006/relationships/slide" Target="/ppt/slides/slide22.xml" Id="R3d123c486bb84b51" /><Relationship Type="http://schemas.openxmlformats.org/officeDocument/2006/relationships/slide" Target="/ppt/slides/slide23.xml" Id="R84c3f0e50adc4625" /><Relationship Type="http://schemas.openxmlformats.org/officeDocument/2006/relationships/slide" Target="/ppt/slides/slide24.xml" Id="R58cc063ba9844aa4" /><Relationship Type="http://schemas.openxmlformats.org/officeDocument/2006/relationships/slide" Target="/ppt/slides/slide25.xml" Id="R833e3e6316df4ee2" /><Relationship Type="http://schemas.openxmlformats.org/officeDocument/2006/relationships/slide" Target="/ppt/slides/slide26.xml" Id="R4db2b6b3f0c74410" /><Relationship Type="http://schemas.openxmlformats.org/officeDocument/2006/relationships/slide" Target="/ppt/slides/slide27.xml" Id="R67835578b0914a4f" /><Relationship Type="http://schemas.openxmlformats.org/officeDocument/2006/relationships/slide" Target="/ppt/slides/slide28.xml" Id="Rad38e6bdf95146c3" /><Relationship Type="http://schemas.openxmlformats.org/officeDocument/2006/relationships/slide" Target="/ppt/slides/slide29.xml" Id="Ra2e60ffdc17f4661" /><Relationship Type="http://schemas.openxmlformats.org/officeDocument/2006/relationships/slide" Target="/ppt/slides/slide30.xml" Id="Red35483b7af1478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fad0a889e59455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21dbaf974d84a0e" /><Relationship Type="http://schemas.openxmlformats.org/officeDocument/2006/relationships/notesMaster" Target="/ppt/notesMasters/notesMaster1.xml" Id="R59aa516d3cbb413d" /></Relationships>
</file>

<file path=ppt/notesSlides/_rels/notesSlide2.xml.rels>&#65279;<?xml version="1.0" encoding="utf-8"?><Relationships xmlns="http://schemas.openxmlformats.org/package/2006/relationships"><Relationship Type="http://schemas.openxmlformats.org/officeDocument/2006/relationships/slide" Target="/ppt/slides/slide2.xml" Id="R02bedd56e1684c89" /><Relationship Type="http://schemas.openxmlformats.org/officeDocument/2006/relationships/notesMaster" Target="/ppt/notesMasters/notesMaster1.xml" Id="R3c50ac9e2de244b7" /></Relationships>
</file>

<file path=ppt/notesSlides/_rels/notesSlide3.xml.rels>&#65279;<?xml version="1.0" encoding="utf-8"?><Relationships xmlns="http://schemas.openxmlformats.org/package/2006/relationships"><Relationship Type="http://schemas.openxmlformats.org/officeDocument/2006/relationships/slide" Target="/ppt/slides/slide3.xml" Id="R94e75a08c48e4d3e" /><Relationship Type="http://schemas.openxmlformats.org/officeDocument/2006/relationships/notesMaster" Target="/ppt/notesMasters/notesMaster1.xml" Id="R04f03ca131cf40c0" /></Relationships>
</file>

<file path=ppt/notesSlides/_rels/notesSlide4.xml.rels>&#65279;<?xml version="1.0" encoding="utf-8"?><Relationships xmlns="http://schemas.openxmlformats.org/package/2006/relationships"><Relationship Type="http://schemas.openxmlformats.org/officeDocument/2006/relationships/slide" Target="/ppt/slides/slide4.xml" Id="R1783c3e719f04395" /><Relationship Type="http://schemas.openxmlformats.org/officeDocument/2006/relationships/notesMaster" Target="/ppt/notesMasters/notesMaster1.xml" Id="R7479286b1b764da8" /></Relationships>
</file>

<file path=ppt/notesSlides/_rels/notesSlide5.xml.rels>&#65279;<?xml version="1.0" encoding="utf-8"?><Relationships xmlns="http://schemas.openxmlformats.org/package/2006/relationships"><Relationship Type="http://schemas.openxmlformats.org/officeDocument/2006/relationships/slide" Target="/ppt/slides/slide5.xml" Id="Ra8f9e1f89c2d4ad5" /><Relationship Type="http://schemas.openxmlformats.org/officeDocument/2006/relationships/notesMaster" Target="/ppt/notesMasters/notesMaster1.xml" Id="R2512d6a22a88441f" /></Relationships>
</file>

<file path=ppt/notesSlides/_rels/notesSlide6.xml.rels>&#65279;<?xml version="1.0" encoding="utf-8"?><Relationships xmlns="http://schemas.openxmlformats.org/package/2006/relationships"><Relationship Type="http://schemas.openxmlformats.org/officeDocument/2006/relationships/slide" Target="/ppt/slides/slide6.xml" Id="Rfb578beb1347466c" /><Relationship Type="http://schemas.openxmlformats.org/officeDocument/2006/relationships/notesMaster" Target="/ppt/notesMasters/notesMaster1.xml" Id="R182a798e25654689" /></Relationships>
</file>

<file path=ppt/notesSlides/_rels/notesSlide7.xml.rels>&#65279;<?xml version="1.0" encoding="utf-8"?><Relationships xmlns="http://schemas.openxmlformats.org/package/2006/relationships"><Relationship Type="http://schemas.openxmlformats.org/officeDocument/2006/relationships/slide" Target="/ppt/slides/slide7.xml" Id="Rac1112ca7dab4057" /><Relationship Type="http://schemas.openxmlformats.org/officeDocument/2006/relationships/notesMaster" Target="/ppt/notesMasters/notesMaster1.xml" Id="R56218ca7aa1c4f72" /></Relationships>
</file>

<file path=ppt/notesSlides/_rels/notesSlide8.xml.rels>&#65279;<?xml version="1.0" encoding="utf-8"?><Relationships xmlns="http://schemas.openxmlformats.org/package/2006/relationships"><Relationship Type="http://schemas.openxmlformats.org/officeDocument/2006/relationships/slide" Target="/ppt/slides/slide8.xml" Id="R068a1f3ba79a4fc5" /><Relationship Type="http://schemas.openxmlformats.org/officeDocument/2006/relationships/notesMaster" Target="/ppt/notesMasters/notesMaster1.xml" Id="R6a19ba20f0294a41" /></Relationships>
</file>

<file path=ppt/notesSlides/_rels/notesSlide9.xml.rels>&#65279;<?xml version="1.0" encoding="utf-8"?><Relationships xmlns="http://schemas.openxmlformats.org/package/2006/relationships"><Relationship Type="http://schemas.openxmlformats.org/officeDocument/2006/relationships/slide" Target="/ppt/slides/slide9.xml" Id="Rea7a4d45030e421d" /><Relationship Type="http://schemas.openxmlformats.org/officeDocument/2006/relationships/notesMaster" Target="/ppt/notesMasters/notesMaster1.xml" Id="R03ce11335eac408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683b2a391a64102" /><Relationship Type="http://schemas.openxmlformats.org/officeDocument/2006/relationships/notesMaster" Target="/ppt/notesMasters/notesMaster1.xml" Id="Re07d3619476b442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7516c7a24de4450" /><Relationship Type="http://schemas.openxmlformats.org/officeDocument/2006/relationships/notesMaster" Target="/ppt/notesMasters/notesMaster1.xml" Id="R8ed0c44700b8498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0049bbfd5bd4877" /><Relationship Type="http://schemas.openxmlformats.org/officeDocument/2006/relationships/notesMaster" Target="/ppt/notesMasters/notesMaster1.xml" Id="Re458d9daccb94cc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79fa6389d4a4c56" /><Relationship Type="http://schemas.openxmlformats.org/officeDocument/2006/relationships/notesMaster" Target="/ppt/notesMasters/notesMaster1.xml" Id="Rd0c0a4cdd376467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c435e768ee14523" /><Relationship Type="http://schemas.openxmlformats.org/officeDocument/2006/relationships/notesMaster" Target="/ppt/notesMasters/notesMaster1.xml" Id="R2b22ae3cf0b64fe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3d6a45ae2164451" /><Relationship Type="http://schemas.openxmlformats.org/officeDocument/2006/relationships/notesMaster" Target="/ppt/notesMasters/notesMaster1.xml" Id="Rb8fd9e8e1a124c2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259b6dc412e43f6" /><Relationship Type="http://schemas.openxmlformats.org/officeDocument/2006/relationships/notesMaster" Target="/ppt/notesMasters/notesMaster1.xml" Id="Rb2a89dbcb99540c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47432d27747459a" /><Relationship Type="http://schemas.openxmlformats.org/officeDocument/2006/relationships/notesMaster" Target="/ppt/notesMasters/notesMaster1.xml" Id="R174f251aa03a44b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f8748f3439240e6" /><Relationship Type="http://schemas.openxmlformats.org/officeDocument/2006/relationships/notesMaster" Target="/ppt/notesMasters/notesMaster1.xml" Id="R9829fe876e664d2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2c125f00dff420d" /><Relationship Type="http://schemas.openxmlformats.org/officeDocument/2006/relationships/notesMaster" Target="/ppt/notesMasters/notesMaster1.xml" Id="R72619b99b063492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bff089f1ff3c4980" /><Relationship Type="http://schemas.openxmlformats.org/officeDocument/2006/relationships/notesMaster" Target="/ppt/notesMasters/notesMaster1.xml" Id="R16390e2d868a4c74"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7e0343b7e821461f" /><Relationship Type="http://schemas.openxmlformats.org/officeDocument/2006/relationships/notesMaster" Target="/ppt/notesMasters/notesMaster1.xml" Id="R351866c658ba477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005cdcd8f8054b91" /><Relationship Type="http://schemas.openxmlformats.org/officeDocument/2006/relationships/notesMaster" Target="/ppt/notesMasters/notesMaster1.xml" Id="R375a92a969924552"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1b1820b515e04c6c" /><Relationship Type="http://schemas.openxmlformats.org/officeDocument/2006/relationships/notesMaster" Target="/ppt/notesMasters/notesMaster1.xml" Id="R68a79569b8314bb4"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dcfa19b575464c00" /><Relationship Type="http://schemas.openxmlformats.org/officeDocument/2006/relationships/notesMaster" Target="/ppt/notesMasters/notesMaster1.xml" Id="R48a87905e1c44d2a"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081be39809ee4843" /><Relationship Type="http://schemas.openxmlformats.org/officeDocument/2006/relationships/notesMaster" Target="/ppt/notesMasters/notesMaster1.xml" Id="Rbea5377a6b314bba"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94c486bc3ddc4dd0" /><Relationship Type="http://schemas.openxmlformats.org/officeDocument/2006/relationships/notesMaster" Target="/ppt/notesMasters/notesMaster1.xml" Id="Rfeb5d461280c4e33"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9903e90fc3574f29" /><Relationship Type="http://schemas.openxmlformats.org/officeDocument/2006/relationships/notesMaster" Target="/ppt/notesMasters/notesMaster1.xml" Id="R4d0594e118204b60"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9804f4cea83b4a7c" /><Relationship Type="http://schemas.openxmlformats.org/officeDocument/2006/relationships/notesMaster" Target="/ppt/notesMasters/notesMaster1.xml" Id="Rea3c4fd02a394bd0"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9a1c84938ed74a2b" /><Relationship Type="http://schemas.openxmlformats.org/officeDocument/2006/relationships/notesMaster" Target="/ppt/notesMasters/notesMaster1.xml" Id="R3c540948472a4d85"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d1d5ee219c4e4227" /><Relationship Type="http://schemas.openxmlformats.org/officeDocument/2006/relationships/notesMaster" Target="/ppt/notesMasters/notesMaster1.xml" Id="R6db4e4b7787f4cc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今天介绍 CARE 2.0 的最新状态。我们的目标不是让一个固定算法在所有数据集上都赢，而是建立一套可信的实验知识迁移框架：历史实验如何进入新任务，什么时候允许迁移，什么时候应该拒绝，以及迁移结果如何被审计和沉淀。最近最重要的进展，是在修正 v1 失败后，v2 在一个冻结后才执行的外部 Suzuki target 上取得了明显的搜索效率提升。</a:t>
            </a:r>
          </a:p>
          <a:p xmlns:a="http://schemas.openxmlformats.org/drawingml/2006/main">
            <a:r>
              <a:t/>
            </a:r>
          </a:p>
          <a:p xmlns:a="http://schemas.openxmlformats.org/drawingml/2006/main">
            <a:r>
              <a:t>[Sources]</a:t>
            </a:r>
          </a:p>
          <a:p xmlns:a="http://schemas.openxmlformats.org/drawingml/2006/main">
            <a:r>
              <a:t>- /Users/rentamac/Documents/Codex/2026-05-12/CARE2.0/experiments/care_replay/results/2026-08-12-status-and-ppt/CARE2_CURRENT_STATUS_CN.md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这一页先把结论讲清楚。v1 在开发任务上为正，但独立验证失败；v2 针对这个 failure mode 加入 source quality floor，随后在新的 Suzuki MINLP2 target 上取得 AUC 8.66 的提升，并更早找到 100% 产率。需要强调的是，这还是一个外部 target 的结果，而且 v2 本轮没有使用 LLM，所以不能把它表述成 LLM 的普遍泛化。</a:t>
            </a:r>
          </a:p>
          <a:p xmlns:a="http://schemas.openxmlformats.org/drawingml/2006/main">
            <a:r>
              <a:t/>
            </a:r>
          </a:p>
          <a:p xmlns:a="http://schemas.openxmlformats.org/drawingml/2006/main">
            <a:r>
              <a:t>[Sources]</a:t>
            </a:r>
          </a:p>
          <a:p xmlns:a="http://schemas.openxmlformats.org/drawingml/2006/main">
            <a:r>
              <a:t>- /Users/rentamac/Documents/Codex/2026-05-12/CARE2.0/experiments/care_replay/results/2026-08-10-baumgartner-warmstart-v2-external-confirmation/README.md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 2.0 研究的是有限预算下的逐轮决策问题，而不是普通的监督学习。每轮只能选择一个新实验，只有被选择的候选才会揭示真实结果。我们既关心最后能否找到好条件，也关心是否能更早进入高质量区域。</a:t>
            </a:r>
          </a:p>
          <a:p xmlns:a="http://schemas.openxmlformats.org/drawingml/2006/main">
            <a:r>
              <a:t/>
            </a:r>
          </a:p>
          <a:p xmlns:a="http://schemas.openxmlformats.org/drawingml/2006/main">
            <a:r>
              <a:t>[Sources]</a:t>
            </a:r>
          </a:p>
          <a:p xmlns:a="http://schemas.openxmlformats.org/drawingml/2006/main">
            <a:r>
              <a:t>- /Users/rentamac/Documents/Codex/2026-05-12/CARE2.0/experiments/care_replay/CARE2_METHOD.md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第一层证明系统能在多个真实数据集上统一运行、选择迁移或精确回退，但它使用 archived target calibration，属于离线 benchmark。第二层加入 RGPE 和 multi-task ICM 等经典 transfer BO，说明没有单一 transfer family 在所有任务上可靠。第三层是最新 v2，它不使用 target calibration，策略冻结后才运行外部 target，因此更接近真实部署。LLM 贡献需要单独做因果对照。</a:t>
            </a:r>
          </a:p>
          <a:p xmlns:a="http://schemas.openxmlformats.org/drawingml/2006/main">
            <a:r>
              <a:t/>
            </a:r>
          </a:p>
          <a:p xmlns:a="http://schemas.openxmlformats.org/drawingml/2006/main">
            <a:r>
              <a:t>[Sources]</a:t>
            </a:r>
          </a:p>
          <a:p xmlns:a="http://schemas.openxmlformats.org/drawingml/2006/main">
            <a:r>
              <a:t>- /Users/rentamac/Documents/Codex/2026-05-12/CARE2.0/experiments/care_replay/CARE2_METHOD.md</a:t>
            </a:r>
          </a:p>
          <a:p xmlns:a="http://schemas.openxmlformats.org/drawingml/2006/main">
            <a:r>
              <a:t>- /Users/rentamac/Documents/Codex/2026-05-12/CARE2.0/experiments/care_replay/results/2026-08-08-classical-transfer-confirmation/README.md</a:t>
            </a:r>
          </a:p>
          <a:p xmlns:a="http://schemas.openxmlformats.org/drawingml/2006/main">
            <a:r>
              <a:t>- /Users/rentamac/Documents/Codex/2026-05-12/CARE2.0/experiments/care_replay/results/2026-08-10-baumgartner-warmstart-v2-external-confirmation/README.md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前几轮 code review 最核心的质疑有四类：开发和测试边界是否清楚；baseline 是否足够强；规则是否手工调得过强；skill 和 trace 是否真的可检查。对应修改包括 campaign-level 划分、冻结 selection record、100-seed random GP-UCB、space filling、RGPE 和 ICM GP，以及完整 SkillBank 和 JSONL audit。最新 external target 专门回应了‘先看 target 再决定迁移’的问题。</a:t>
            </a:r>
          </a:p>
          <a:p xmlns:a="http://schemas.openxmlformats.org/drawingml/2006/main">
            <a:r>
              <a:t/>
            </a:r>
          </a:p>
          <a:p xmlns:a="http://schemas.openxmlformats.org/drawingml/2006/main">
            <a:r>
              <a:t>[Sources]</a:t>
            </a:r>
          </a:p>
          <a:p xmlns:a="http://schemas.openxmlformats.org/drawingml/2006/main">
            <a:r>
              <a:t>- /Users/rentamac/Documents/Codex/2026-05-12/CARE2.0/experiments/care_replay/results/2026-08-10-baumgartner-warmstart-confirmation/README.md</a:t>
            </a:r>
          </a:p>
          <a:p xmlns:a="http://schemas.openxmlformats.org/drawingml/2006/main">
            <a:r>
              <a:t>- /Users/rentamac/Documents/Codex/2026-05-12/CARE2.0/experiments/care_replay/results/2026-08-08-classical-transfer-confirmation/README.md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最新 v2 的执行链路非常清楚。历史 campaign 被转换成 source experts，预测转成归一化排序并聚合成共识。TransferSkill 用这个共识选择三个初始点。之后 source 信息退出，所有方法都使用相同的 target-only GP-UCB。这样如果结果不同，只能来自前三个点。</a:t>
            </a:r>
          </a:p>
          <a:p xmlns:a="http://schemas.openxmlformats.org/drawingml/2006/main">
            <a:r>
              <a:t/>
            </a:r>
          </a:p>
          <a:p xmlns:a="http://schemas.openxmlformats.org/drawingml/2006/main">
            <a:r>
              <a:t>[Sources]</a:t>
            </a:r>
          </a:p>
          <a:p xmlns:a="http://schemas.openxmlformats.org/drawingml/2006/main">
            <a:r>
              <a:t>- /Users/rentamac/Documents/Codex/2026-05-12/CARE2.0/experiments/care_replay/BAUMGARTNER_WARMSTART_V2_PROTOCOL.md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过去的汇报容易让人误解为所有模块都参与了最新结果。完整 CARE 2.0 平台已经实现 LLM hypothesis、source prior、kernel patch 和 router；但最新 external confirmation 只验证最小可解释路径。先证明 initial-design transfer，再逐步增加 LLM，避免增益无法归因。</a:t>
            </a:r>
          </a:p>
          <a:p xmlns:a="http://schemas.openxmlformats.org/drawingml/2006/main">
            <a:r>
              <a:t/>
            </a:r>
          </a:p>
          <a:p xmlns:a="http://schemas.openxmlformats.org/drawingml/2006/main">
            <a:r>
              <a:t>[Sources]</a:t>
            </a:r>
          </a:p>
          <a:p xmlns:a="http://schemas.openxmlformats.org/drawingml/2006/main">
            <a:r>
              <a:t>- /Users/rentamac/Documents/Codex/2026-05-12/CARE2.0/experiments/care_replay/CARE2_METHOD.md</a:t>
            </a:r>
          </a:p>
          <a:p xmlns:a="http://schemas.openxmlformats.org/drawingml/2006/main">
            <a:r>
              <a:t>- /Users/rentamac/Documents/Codex/2026-05-12/CARE2.0/experiments/care_replay/BAUMGARTNER_WARMSTART_V2_PROTOCOL.md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Replay harness 不会一次性把 target dataset 交给算法，而是像真实实验一样按轮揭示。每轮只允许看到已经做过的实验结果，因此可以检查 outcome leakage，并计算第 1、3、5 轮的 best-so-far。它仍然是离线评测，但比普通 train/test split 更接近 sequential experiment design。</a:t>
            </a:r>
          </a:p>
          <a:p xmlns:a="http://schemas.openxmlformats.org/drawingml/2006/main">
            <a:r>
              <a:t/>
            </a:r>
          </a:p>
          <a:p xmlns:a="http://schemas.openxmlformats.org/drawingml/2006/main">
            <a:r>
              <a:t>[Sources]</a:t>
            </a:r>
          </a:p>
          <a:p xmlns:a="http://schemas.openxmlformats.org/drawingml/2006/main">
            <a:r>
              <a:t>- /Users/rentamac/Documents/Codex/2026-05-12/CARE2.0/experiments/care_replay/CARE2_METHOD.md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分子和材料数据为 schema transfer、source-outcome transfer 和 baseline 对照提供了丰富路径；反应方向的真实 campaign 更接近 wet-lab 主线。不能把数据集列表本身当成所有领域都已经成功的证据。</a:t>
            </a:r>
          </a:p>
          <a:p xmlns:a="http://schemas.openxmlformats.org/drawingml/2006/main">
            <a:r>
              <a:t/>
            </a:r>
          </a:p>
          <a:p xmlns:a="http://schemas.openxmlformats.org/drawingml/2006/main">
            <a:r>
              <a:t>[Sources]</a:t>
            </a:r>
          </a:p>
          <a:p xmlns:a="http://schemas.openxmlformats.org/drawingml/2006/main">
            <a:r>
              <a:t>- /Users/rentamac/Documents/Codex/2026-05-12/CARE2.0/overview.md</a:t>
            </a:r>
          </a:p>
          <a:p xmlns:a="http://schemas.openxmlformats.org/drawingml/2006/main">
            <a:r>
              <a:t>- /Users/rentamac/Documents/Codex/2026-05-12/CARE2.0/experiments/care_replay/CARE2_METHOD.md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完整平台中，hypothesis 可以由 LLM 提出，但必须经过结构化编译。比如‘相同 substrate 的 campaign 更值得参考’要转换成 source scope；‘优先高质量同时保持多样性’要转换成 quality region 和 maximin 规则；失败条件要转换成 abstention 或 fallback。最新 v2 的 hypothesis 是固定、非 LLM 的。</a:t>
            </a:r>
          </a:p>
          <a:p xmlns:a="http://schemas.openxmlformats.org/drawingml/2006/main">
            <a:r>
              <a:t/>
            </a:r>
          </a:p>
          <a:p xmlns:a="http://schemas.openxmlformats.org/drawingml/2006/main">
            <a:r>
              <a:t>[Sources]</a:t>
            </a:r>
          </a:p>
          <a:p xmlns:a="http://schemas.openxmlformats.org/drawingml/2006/main">
            <a:r>
              <a:t>- /Users/rentamac/Documents/Codex/2026-05-12/CARE2.0/experiments/care_replay/CARE2_METHOD.md</a:t>
            </a:r>
          </a:p>
          <a:p xmlns:a="http://schemas.openxmlformats.org/drawingml/2006/main">
            <a:r>
              <a:t>- /Users/rentamac/Documents/Codex/2026-05-12/CARE2.0/experiments/care_replay/BAUMGARTNER_WARMSTART_V2_PROTOCOL.md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Skill 不是 prompt 集合，而是能够重放的策略包。它既包含执行参数，也包含来源和限制。一个 skill 必须说明在哪些任务上开发、在哪些任务上失败，以及能否外推。Baumgartner v2 目前只能标记为在一个外部 target 上得到支持，不能标记为普遍有效。</a:t>
            </a:r>
          </a:p>
          <a:p xmlns:a="http://schemas.openxmlformats.org/drawingml/2006/main">
            <a:r>
              <a:t/>
            </a:r>
          </a:p>
          <a:p xmlns:a="http://schemas.openxmlformats.org/drawingml/2006/main">
            <a:r>
              <a:t>[Sources]</a:t>
            </a:r>
          </a:p>
          <a:p xmlns:a="http://schemas.openxmlformats.org/drawingml/2006/main">
            <a:r>
              <a:t>- /Users/rentamac/Documents/Codex/2026-05-12/CARE2.0/experiments/care_replay/CARE2_METHOD.md</a:t>
            </a:r>
          </a:p>
          <a:p xmlns:a="http://schemas.openxmlformats.org/drawingml/2006/main">
            <a:r>
              <a:t>- /Users/rentamac/Documents/Codex/2026-05-12/CARE2.0/skill_banks/care2-baumgartner-initial-design/SKILL.md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不同 campaign 的产率尺度和噪声可能不同，直接平均预测值不可靠。因此系统把每个 source 的预测转换成相对排序，再取中位数。这个 prior 表示多个历史实验共同认为哪些候选更值得先试，而不是预测 target 的绝对产率。</a:t>
            </a:r>
          </a:p>
          <a:p xmlns:a="http://schemas.openxmlformats.org/drawingml/2006/main">
            <a:r>
              <a:t/>
            </a:r>
          </a:p>
          <a:p xmlns:a="http://schemas.openxmlformats.org/drawingml/2006/main">
            <a:r>
              <a:t>[Sources]</a:t>
            </a:r>
          </a:p>
          <a:p xmlns:a="http://schemas.openxmlformats.org/drawingml/2006/main">
            <a:r>
              <a:t>- /Users/rentamac/Documents/Codex/2026-05-12/CARE2.0/experiments/care_replay/BAUMGARTNER_WARMSTART_V2_PROTOCOL.md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v1 将 source score 和 diversity 线性加权，diversity 权重较高时，第二和第三个点可能进入所有 source 都认为很差的区域。v2 改成两阶段约束：先定义 source 排名前 50% 的可接受区域，再在区域内追求 maximin coverage。这是从 v1 失败中提炼出的可复用 skill。</a:t>
            </a:r>
          </a:p>
          <a:p xmlns:a="http://schemas.openxmlformats.org/drawingml/2006/main">
            <a:r>
              <a:t/>
            </a:r>
          </a:p>
          <a:p xmlns:a="http://schemas.openxmlformats.org/drawingml/2006/main">
            <a:r>
              <a:t>[Sources]</a:t>
            </a:r>
          </a:p>
          <a:p xmlns:a="http://schemas.openxmlformats.org/drawingml/2006/main">
            <a:r>
              <a:t>- /Users/rentamac/Documents/Codex/2026-05-12/CARE2.0/experiments/care_replay/BAUMGARTNER_WARMSTART_V2_PROTOCOL.md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GP-UCB 同时考虑预测均值和不确定性。这里的重要点不是公式本身，而是三种方法只有前三个点的来源不同，之后代码路径完全一致。因此 external result 可以解释为历史经验让 target 从更好的位置开始。</a:t>
            </a:r>
          </a:p>
          <a:p xmlns:a="http://schemas.openxmlformats.org/drawingml/2006/main">
            <a:r>
              <a:t/>
            </a:r>
          </a:p>
          <a:p xmlns:a="http://schemas.openxmlformats.org/drawingml/2006/main">
            <a:r>
              <a:t>[Sources]</a:t>
            </a:r>
          </a:p>
          <a:p xmlns:a="http://schemas.openxmlformats.org/drawingml/2006/main">
            <a:r>
              <a:t>- /Users/rentamac/Documents/Codex/2026-05-12/CARE2.0/experiments/care_replay/BAUMGARTNER_WARMSTART_V2_PROTOCOL.md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如果只看 final best，一个方法在最后一轮才找到高产率，与第五轮就找到高产率可能得到相同分数，但实际实验成本完全不同。因此把 best-so-far AUC 作为主要指标。多 campaign 时以 campaign 为统计单位；只有一个 external target 时报告 effect size 和随机分布，不夸大成跨任务显著性。</a:t>
            </a:r>
          </a:p>
          <a:p xmlns:a="http://schemas.openxmlformats.org/drawingml/2006/main">
            <a:r>
              <a:t/>
            </a:r>
          </a:p>
          <a:p xmlns:a="http://schemas.openxmlformats.org/drawingml/2006/main">
            <a:r>
              <a:t>[Sources]</a:t>
            </a:r>
          </a:p>
          <a:p xmlns:a="http://schemas.openxmlformats.org/drawingml/2006/main">
            <a:r>
              <a:t>- /Users/rentamac/Documents/Codex/2026-05-12/CARE2.0/experiments/care_replay/BAUMGARTNER_WARMSTART_V2_PROTOCOL.md</a:t>
            </a:r>
          </a:p>
          <a:p xmlns:a="http://schemas.openxmlformats.org/drawingml/2006/main">
            <a:r>
              <a:t>- /Users/rentamac/Documents/Codex/2026-05-12/CARE2.0/experiments/care_replay/results/2026-08-10-baumgartner-warmstart-v2-external-confirmation/README.md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Gate 分两步。第一步只检查稳定性，拒绝平均值高但任务间波动大的路线。第二步才在稳定候选中比较预期 AUC。non-loss 0.8 是为了控制负迁移风险而设定的经验阈值，需要通过 sensitivity analysis 继续验证。external target 不参与这个选择。</a:t>
            </a:r>
          </a:p>
          <a:p xmlns:a="http://schemas.openxmlformats.org/drawingml/2006/main">
            <a:r>
              <a:t/>
            </a:r>
          </a:p>
          <a:p xmlns:a="http://schemas.openxmlformats.org/drawingml/2006/main">
            <a:r>
              <a:t>[Sources]</a:t>
            </a:r>
          </a:p>
          <a:p xmlns:a="http://schemas.openxmlformats.org/drawingml/2006/main">
            <a:r>
              <a:t>- /Users/rentamac/Documents/Codex/2026-05-12/CARE2.0/experiments/care_replay/BAUMGARTNER_WARMSTART_V2_PROTOCOL.md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随机 baseline 不是弱随机搜索，它只是随机选择前三个点，后续仍运行同样的 GP-UCB；space filling 是另一个较强的确定性初始设计。CARE 必须超过两者中更强的一个。所有方法的 target 实验次数完全一致。</a:t>
            </a:r>
          </a:p>
          <a:p xmlns:a="http://schemas.openxmlformats.org/drawingml/2006/main">
            <a:r>
              <a:t/>
            </a:r>
          </a:p>
          <a:p xmlns:a="http://schemas.openxmlformats.org/drawingml/2006/main">
            <a:r>
              <a:t>[Sources]</a:t>
            </a:r>
          </a:p>
          <a:p xmlns:a="http://schemas.openxmlformats.org/drawingml/2006/main">
            <a:r>
              <a:t>- /Users/rentamac/Documents/Codex/2026-05-12/CARE2.0/experiments/care_replay/BAUMGARTNER_WARMSTART_V2_PROTOCOL.md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如果只看开发结果，v1 很有说服力：平均提升为正，CI 不跨零，而且所有开发 campaign 都不输。但开发任务中的 source availability 有偏差，大部分 target 都能找到 same-substrate source，导致 fallback 路线没有被充分检验。</a:t>
            </a:r>
          </a:p>
          <a:p xmlns:a="http://schemas.openxmlformats.org/drawingml/2006/main">
            <a:r>
              <a:t/>
            </a:r>
          </a:p>
          <a:p xmlns:a="http://schemas.openxmlformats.org/drawingml/2006/main">
            <a:r>
              <a:t>[Sources]</a:t>
            </a:r>
          </a:p>
          <a:p xmlns:a="http://schemas.openxmlformats.org/drawingml/2006/main">
            <a:r>
              <a:t>- /Users/rentamac/Documents/Codex/2026-05-12/CARE2.0/experiments/care_replay/results/2026-08-10-baumgartner-warmstart-confirmation/README.md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这里要主动讲负结果。v1 在四个独立 campaign 上平均转为负值，不能说成功。最大的失败任务没有 same-substrate source，只能使用 same-precatalyst fallback。这个失败说明在开发集上选择一个平均效果好的权重不足以保证迁移。</a:t>
            </a:r>
          </a:p>
          <a:p xmlns:a="http://schemas.openxmlformats.org/drawingml/2006/main">
            <a:r>
              <a:t/>
            </a:r>
          </a:p>
          <a:p xmlns:a="http://schemas.openxmlformats.org/drawingml/2006/main">
            <a:r>
              <a:t>[Sources]</a:t>
            </a:r>
          </a:p>
          <a:p xmlns:a="http://schemas.openxmlformats.org/drawingml/2006/main">
            <a:r>
              <a:t>- /Users/rentamac/Documents/Codex/2026-05-12/CARE2.0/experiments/care_replay/results/2026-08-10-baumgartner-warmstart-confirmation/README.md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项目没有把 v1 失败归结为随机波动，也没有放宽 gate 把结果做成正值，而是分析选点 trace，发现第二、第三个点可能进入 source 低质量区。旧四个任务只能用于 stress test，新的外部 Suzuki target 才是确认性证据。</a:t>
            </a:r>
          </a:p>
          <a:p xmlns:a="http://schemas.openxmlformats.org/drawingml/2006/main">
            <a:r>
              <a:t/>
            </a:r>
          </a:p>
          <a:p xmlns:a="http://schemas.openxmlformats.org/drawingml/2006/main">
            <a:r>
              <a:t>[Sources]</a:t>
            </a:r>
          </a:p>
          <a:p xmlns:a="http://schemas.openxmlformats.org/drawingml/2006/main">
            <a:r>
              <a:t>- /Users/rentamac/Documents/Codex/2026-05-12/CARE2.0/experiments/care_replay/results/2026-08-10-baumgartner-warmstart-confirmation/README.md</a:t>
            </a:r>
          </a:p>
          <a:p xmlns:a="http://schemas.openxmlformats.org/drawingml/2006/main">
            <a:r>
              <a:t>- /Users/rentamac/Documents/Codex/2026-05-12/CARE2.0/experiments/care_replay/BAUMGARTNER_WARMSTART_V2_PROTOCOL.md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v1 开发为正但独立验证失败，说明冻结协议有必要。v2 开发仍然只是策略选择，真正改变项目状态的是 frozen v2 在外部 target 上取得大幅正向结果。最右侧 post-hoc 只说明修复方向合理，不能和 external result 等价。</a:t>
            </a:r>
          </a:p>
          <a:p xmlns:a="http://schemas.openxmlformats.org/drawingml/2006/main">
            <a:r>
              <a:t/>
            </a:r>
          </a:p>
          <a:p xmlns:a="http://schemas.openxmlformats.org/drawingml/2006/main">
            <a:r>
              <a:t>[Sources]</a:t>
            </a:r>
          </a:p>
          <a:p xmlns:a="http://schemas.openxmlformats.org/drawingml/2006/main">
            <a:r>
              <a:t>- /Users/rentamac/Documents/Codex/2026-05-12/CARE2.0/experiments/care_replay/results/2026-08-10-baumgartner-warmstart-confirmation/README.md</a:t>
            </a:r>
          </a:p>
          <a:p xmlns:a="http://schemas.openxmlformats.org/drawingml/2006/main">
            <a:r>
              <a:t>- /Users/rentamac/Documents/Codex/2026-05-12/CARE2.0/experiments/care_replay/results/2026-08-10-baumgartner-warmstart-v2-external-confirmation/README.md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MINLP1 是完整 source，MINLP2 是新 target。两者共享主要实验变量，因此迁移有明确的科学和表示基础。MINLP2 outcome 没有进入开发选择；代码、配置和 skill 在运行之前已经冻结。这使结果不再依赖看过 target 后再决定迁移。</a:t>
            </a:r>
          </a:p>
          <a:p xmlns:a="http://schemas.openxmlformats.org/drawingml/2006/main">
            <a:r>
              <a:t/>
            </a:r>
          </a:p>
          <a:p xmlns:a="http://schemas.openxmlformats.org/drawingml/2006/main">
            <a:r>
              <a:t>[Sources]</a:t>
            </a:r>
          </a:p>
          <a:p xmlns:a="http://schemas.openxmlformats.org/drawingml/2006/main">
            <a:r>
              <a:t>- /Users/rentamac/Documents/Codex/2026-05-12/CARE2.0/experiments/care_replay/BAUMGARTNER_WARMSTART_V2_PROTOCOL.md</a:t>
            </a:r>
          </a:p>
          <a:p xmlns:a="http://schemas.openxmlformats.org/drawingml/2006/main">
            <a:r>
              <a:t>- /Users/rentamac/Documents/Codex/2026-05-12/CARE2.0/experiments/care_replay/results/2026-08-10-baumgartner-warmstart-v2-external-confirmation/README.md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Frozen v2 的 AUC 为 98.06，stronger baseline 是 space filling，AUC 为 89.40。最终 v2 找到 100% 产率，随机初始化平均最终最佳为 94.77。100 个随机运行中只有 15 个的 AUC 达到或超过 frozen v2。这是一个大的实际 effect，但只有一个 external target，不能写成 task-level 统计显著。</a:t>
            </a:r>
          </a:p>
          <a:p xmlns:a="http://schemas.openxmlformats.org/drawingml/2006/main">
            <a:r>
              <a:t/>
            </a:r>
          </a:p>
          <a:p xmlns:a="http://schemas.openxmlformats.org/drawingml/2006/main">
            <a:r>
              <a:t>[Sources]</a:t>
            </a:r>
          </a:p>
          <a:p xmlns:a="http://schemas.openxmlformats.org/drawingml/2006/main">
            <a:r>
              <a:t>- /Users/rentamac/Documents/Codex/2026-05-12/CARE2.0/experiments/care_replay/results/2026-08-10-baumgartner-warmstart-v2-external-confirmation/README.md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v2 在前三个初始点后，只用两轮 target GP-UCB 就找到 100% 产率。随机初始化即使最终成功，中位数也需要七次总观测；超过一半的随机运行在 13 次预算内都没有达到 100%。因此可以说在这个 target 上少做了两次实验。</a:t>
            </a:r>
          </a:p>
          <a:p xmlns:a="http://schemas.openxmlformats.org/drawingml/2006/main">
            <a:r>
              <a:t/>
            </a:r>
          </a:p>
          <a:p xmlns:a="http://schemas.openxmlformats.org/drawingml/2006/main">
            <a:r>
              <a:t>[Sources]</a:t>
            </a:r>
          </a:p>
          <a:p xmlns:a="http://schemas.openxmlformats.org/drawingml/2006/main">
            <a:r>
              <a:t>- /Users/rentamac/Documents/Codex/2026-05-12/CARE2.0/experiments/care_replay/results/2026-08-10-baumgartner-warmstart-v2-external-confirmation/README.md</a:t>
            </a:r>
          </a:p>
          <a:p xmlns:a="http://schemas.openxmlformats.org/drawingml/2006/main">
            <a:r>
              <a:t>- /Users/rentamac/Documents/Codex/2026-05-12/CARE2.0/experiments/care_replay/results/2026-08-10-baumgartner-warmstart-v2-external-confirmation/confirmation/efficiency_summary.json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Canonical source-outcome suite 证明完整平台可以在多个领域使用统一协议并精确回退。四条路径部署迁移，三条回退。但它使用 target calibration seeds，因此解决的是离线方法选择，而不是一个全新实验开始前如何零成本判断。</a:t>
            </a:r>
          </a:p>
          <a:p xmlns:a="http://schemas.openxmlformats.org/drawingml/2006/main">
            <a:r>
              <a:t/>
            </a:r>
          </a:p>
          <a:p xmlns:a="http://schemas.openxmlformats.org/drawingml/2006/main">
            <a:r>
              <a:t>[Sources]</a:t>
            </a:r>
          </a:p>
          <a:p xmlns:a="http://schemas.openxmlformats.org/drawingml/2006/main">
            <a:r>
              <a:t>- /Users/rentamac/Documents/Codex/2026-05-12/CARE2.0/experiments/care_replay/results/2026-07-24-source-outcome-transfer/README.md</a:t>
            </a:r>
          </a:p>
          <a:p xmlns:a="http://schemas.openxmlformats.org/drawingml/2006/main">
            <a:r>
              <a:t>- /Users/rentamac/Documents/Codex/2026-05-12/CARE2.0/overview.md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经典 transfer suite 回答了 baseline 是否足够强。RGPE 在一个材料方向非常强，但在另外四条 final-score 比较中显著变差；ICM 更保守，但也不是普遍最优。Hybrid router 支持方法路由的价值，不过它仍然使用 calibration。还要说明 CARE source-transfer candidate 在五条路径都被拒绝，不能把 target-only fallback 的优势写成 source transfer。</a:t>
            </a:r>
          </a:p>
          <a:p xmlns:a="http://schemas.openxmlformats.org/drawingml/2006/main">
            <a:r>
              <a:t/>
            </a:r>
          </a:p>
          <a:p xmlns:a="http://schemas.openxmlformats.org/drawingml/2006/main">
            <a:r>
              <a:t>[Sources]</a:t>
            </a:r>
          </a:p>
          <a:p xmlns:a="http://schemas.openxmlformats.org/drawingml/2006/main">
            <a:r>
              <a:t>- /Users/rentamac/Documents/Codex/2026-05-12/CARE2.0/experiments/care_replay/results/2026-08-08-classical-transfer-confirmation/README.md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LLM 在完整平台中扮演策略专家和 hypothesis compiler，而不是每轮直接猜实验结果。此前多个路径出现过 LLM 正向信号，但 random-rule warm start 也能带来收益，部分 CARE 结果与 target-only LLM 相同，因此还不能声称 LLM 在多数任务上有独立因果优势。知识库保存的是带证据边界的可执行 skill，不是会议文档集合。</a:t>
            </a:r>
          </a:p>
          <a:p xmlns:a="http://schemas.openxmlformats.org/drawingml/2006/main">
            <a:r>
              <a:t/>
            </a:r>
          </a:p>
          <a:p xmlns:a="http://schemas.openxmlformats.org/drawingml/2006/main">
            <a:r>
              <a:t>[Sources]</a:t>
            </a:r>
          </a:p>
          <a:p xmlns:a="http://schemas.openxmlformats.org/drawingml/2006/main">
            <a:r>
              <a:t>- /Users/rentamac/Documents/Codex/2026-05-12/CARE2.0/experiments/care_replay/CARE2_METHOD.md</a:t>
            </a:r>
          </a:p>
          <a:p xmlns:a="http://schemas.openxmlformats.org/drawingml/2006/main">
            <a:r>
              <a:t>- /Users/rentamac/Documents/Codex/2026-05-12/CARE2.0/skill_banks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项目已经完成的不只是一个实验脚本，而是从数据适配、逐轮决策、baseline、冻结验证、审计到知识沉淀的一整套框架。最新外部结果证明这种迁移在真实 reaction-optimization 数据上有实际价值。结论必须克制：这不是所有领域都提升，也不是 LLM 优越性的证明。</a:t>
            </a:r>
          </a:p>
          <a:p xmlns:a="http://schemas.openxmlformats.org/drawingml/2006/main">
            <a:r>
              <a:t/>
            </a:r>
          </a:p>
          <a:p xmlns:a="http://schemas.openxmlformats.org/drawingml/2006/main">
            <a:r>
              <a:t>[Sources]</a:t>
            </a:r>
          </a:p>
          <a:p xmlns:a="http://schemas.openxmlformats.org/drawingml/2006/main">
            <a:r>
              <a:t>- /Users/rentamac/Documents/Codex/2026-05-12/CARE2.0/experiments/care_replay/results/2026-08-12-status-and-ppt/CARE2_CURRENT_STATUS_CN.md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下一阶段最关键的是扩大 external target，并在相同协议下重新引入 LLM，直接检验它是否能超过 fixed v2，而不是继续依靠离线 calibration 做更好看的数字。多个独立 target 才能形成 task-level CI 和可发表的泛化结论。</a:t>
            </a:r>
          </a:p>
          <a:p xmlns:a="http://schemas.openxmlformats.org/drawingml/2006/main">
            <a:r>
              <a:t/>
            </a:r>
          </a:p>
          <a:p xmlns:a="http://schemas.openxmlformats.org/drawingml/2006/main">
            <a:r>
              <a:t>[Sources]</a:t>
            </a:r>
          </a:p>
          <a:p xmlns:a="http://schemas.openxmlformats.org/drawingml/2006/main">
            <a:r>
              <a:t>- /Users/rentamac/Documents/Codex/2026-05-12/CARE2.0/experiments/care_replay/results/2026-08-12-status-and-ppt/CARE2_CURRENT_STATUS_CN.md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这页用于答疑和讨论。汇报结束时不要落在一个泛泛的‘谢谢’，而要把讨论收束到下一轮怎样冻结外部验证、怎样隔离 LLM 增量，以及怎样将新证据写回 SkillBank。</a:t>
            </a:r>
          </a:p>
          <a:p xmlns:a="http://schemas.openxmlformats.org/drawingml/2006/main">
            <a:r>
              <a:t/>
            </a:r>
          </a:p>
          <a:p xmlns:a="http://schemas.openxmlformats.org/drawingml/2006/main">
            <a:r>
              <a:t>[Sources]</a:t>
            </a:r>
          </a:p>
          <a:p xmlns:a="http://schemas.openxmlformats.org/drawingml/2006/main">
            <a:r>
              <a:t>- /Users/rentamac/Documents/Codex/2026-05-12/CARE2.0/experiments/care_replay/results/2026-08-12-status-and-ppt/CARE2_CURRENT_STATUS_CN.md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28b94ca6ed84de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4acdf2b008a4793" /><Relationship Type="http://schemas.openxmlformats.org/officeDocument/2006/relationships/slideLayout" Target="/ppt/slideLayouts/slideLayout1.xml" Id="R24ac0804a6e44e3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4ac0804a6e44e3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e8df10671184935" /><Relationship Type="http://schemas.openxmlformats.org/officeDocument/2006/relationships/notesSlide" Target="/ppt/notesSlides/notesSlide1.xml" Id="Rbd16116460d5452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8f8c8521e8849a9" /><Relationship Type="http://schemas.openxmlformats.org/officeDocument/2006/relationships/notesSlide" Target="/ppt/notesSlides/notesSlide2.xml" Id="R1f5cf0fe12f943a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3ab475f84b54ed6" /><Relationship Type="http://schemas.openxmlformats.org/officeDocument/2006/relationships/notesSlide" Target="/ppt/notesSlides/notesSlide3.xml" Id="R0c151082eba54d0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c7fde3298b34583" /><Relationship Type="http://schemas.openxmlformats.org/officeDocument/2006/relationships/image" Target="/ppt/media/image.png" Id="R3079d63922bf4170" /><Relationship Type="http://schemas.openxmlformats.org/officeDocument/2006/relationships/notesSlide" Target="/ppt/notesSlides/notesSlide4.xml" Id="Rc113943706b24b2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6150ba1d3c24418" /><Relationship Type="http://schemas.openxmlformats.org/officeDocument/2006/relationships/image" Target="/ppt/media/image2.png" Id="Ra376f7768ef04d05" /><Relationship Type="http://schemas.openxmlformats.org/officeDocument/2006/relationships/notesSlide" Target="/ppt/notesSlides/notesSlide5.xml" Id="R9a0cfdc5e073449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f5ae3fc41d64e96" /><Relationship Type="http://schemas.openxmlformats.org/officeDocument/2006/relationships/image" Target="/ppt/media/image3.png" Id="Re2e181ec7ee044a0" /><Relationship Type="http://schemas.openxmlformats.org/officeDocument/2006/relationships/notesSlide" Target="/ppt/notesSlides/notesSlide6.xml" Id="Rf91fecebffb347d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409d975e51b4f3b" /><Relationship Type="http://schemas.openxmlformats.org/officeDocument/2006/relationships/notesSlide" Target="/ppt/notesSlides/notesSlide7.xml" Id="R8a75a611d356462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f39f514cd7d4fb4" /><Relationship Type="http://schemas.openxmlformats.org/officeDocument/2006/relationships/notesSlide" Target="/ppt/notesSlides/notesSlide8.xml" Id="R7f961a297a4b4f3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b8f202d343145a4" /><Relationship Type="http://schemas.openxmlformats.org/officeDocument/2006/relationships/notesSlide" Target="/ppt/notesSlides/notesSlide9.xml" Id="R104c1a56f11f4ac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e5e1a0d872947b2" /><Relationship Type="http://schemas.openxmlformats.org/officeDocument/2006/relationships/notesSlide" Target="/ppt/notesSlides/notesSlide10.xml" Id="R3a1c6b146d0a4f1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04ae129ae294944" /><Relationship Type="http://schemas.openxmlformats.org/officeDocument/2006/relationships/notesSlide" Target="/ppt/notesSlides/notesSlide11.xml" Id="R064b0607569e47a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be7009ede114bf5" /><Relationship Type="http://schemas.openxmlformats.org/officeDocument/2006/relationships/notesSlide" Target="/ppt/notesSlides/notesSlide12.xml" Id="R59f3d0de7f8349e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68eda87960e44f5" /><Relationship Type="http://schemas.openxmlformats.org/officeDocument/2006/relationships/image" Target="/ppt/media/image4.png" Id="Rc1b2a9433c3645f4" /><Relationship Type="http://schemas.openxmlformats.org/officeDocument/2006/relationships/notesSlide" Target="/ppt/notesSlides/notesSlide13.xml" Id="Re8a6b81100f147b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2697a63ae1d84635" /><Relationship Type="http://schemas.openxmlformats.org/officeDocument/2006/relationships/notesSlide" Target="/ppt/notesSlides/notesSlide14.xml" Id="R356cb0f7cf5c4b1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34d283fdb053460b" /><Relationship Type="http://schemas.openxmlformats.org/officeDocument/2006/relationships/notesSlide" Target="/ppt/notesSlides/notesSlide15.xml" Id="R84b581f8ea454b3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e846ac0ae29b493f" /><Relationship Type="http://schemas.openxmlformats.org/officeDocument/2006/relationships/notesSlide" Target="/ppt/notesSlides/notesSlide16.xml" Id="Rece11d3a46bb464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0a68e6b35fe54d5d" /><Relationship Type="http://schemas.openxmlformats.org/officeDocument/2006/relationships/notesSlide" Target="/ppt/notesSlides/notesSlide17.xml" Id="R1657a9fcf3214e6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3b89f93f44f04fac" /><Relationship Type="http://schemas.openxmlformats.org/officeDocument/2006/relationships/notesSlide" Target="/ppt/notesSlides/notesSlide18.xml" Id="Rc1d45b85822b4794"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506bb0ed0d954835" /><Relationship Type="http://schemas.openxmlformats.org/officeDocument/2006/relationships/notesSlide" Target="/ppt/notesSlides/notesSlide19.xml" Id="R3b2a439e17194c7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d65aa7b9214f4685" /><Relationship Type="http://schemas.openxmlformats.org/officeDocument/2006/relationships/notesSlide" Target="/ppt/notesSlides/notesSlide20.xml" Id="R2af8381733584bf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e080a376d5e64c30" /><Relationship Type="http://schemas.openxmlformats.org/officeDocument/2006/relationships/image" Target="/ppt/media/image5.png" Id="R88f2bf63e90d46eb" /><Relationship Type="http://schemas.openxmlformats.org/officeDocument/2006/relationships/notesSlide" Target="/ppt/notesSlides/notesSlide21.xml" Id="R98b9dc65f1da401b"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0b072c8bcd3b48d0" /><Relationship Type="http://schemas.openxmlformats.org/officeDocument/2006/relationships/notesSlide" Target="/ppt/notesSlides/notesSlide22.xml" Id="R69d7c4fb653a45d2"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92f8132d067a41bc" /><Relationship Type="http://schemas.openxmlformats.org/officeDocument/2006/relationships/image" Target="/ppt/media/image6.png" Id="R4b81a1c3ba3c4e94" /><Relationship Type="http://schemas.openxmlformats.org/officeDocument/2006/relationships/notesSlide" Target="/ppt/notesSlides/notesSlide23.xml" Id="R90df05b3e9084197"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7ab32ae686a7452f" /><Relationship Type="http://schemas.openxmlformats.org/officeDocument/2006/relationships/notesSlide" Target="/ppt/notesSlides/notesSlide24.xml" Id="R3f012bb9b32c49c8"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415d2f6a0d1e4a22" /><Relationship Type="http://schemas.openxmlformats.org/officeDocument/2006/relationships/notesSlide" Target="/ppt/notesSlides/notesSlide25.xml" Id="R389afbcbf6764e0e"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4749e68322a0470d" /><Relationship Type="http://schemas.openxmlformats.org/officeDocument/2006/relationships/notesSlide" Target="/ppt/notesSlides/notesSlide26.xml" Id="R162e01aecb4f4eb7"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ed924bd688594fc2" /><Relationship Type="http://schemas.openxmlformats.org/officeDocument/2006/relationships/notesSlide" Target="/ppt/notesSlides/notesSlide27.xml" Id="Ra122412375ac42f4"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47042ac553454093" /><Relationship Type="http://schemas.openxmlformats.org/officeDocument/2006/relationships/notesSlide" Target="/ppt/notesSlides/notesSlide28.xml" Id="R07e9ff6ba7734517"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317415d790884281" /><Relationship Type="http://schemas.openxmlformats.org/officeDocument/2006/relationships/notesSlide" Target="/ppt/notesSlides/notesSlide29.xml" Id="R95ab4970ebcc454b"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536f254cc4fe4013" /><Relationship Type="http://schemas.openxmlformats.org/officeDocument/2006/relationships/notesSlide" Target="/ppt/notesSlides/notesSlide30.xml" Id="Re21ca17033be44c7"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C2EC3578-A880-4944-8840-4B98C62C2116}"/>
              </a:ext>
            </a:extLst>
          </p:cNvPr>
          <p:cNvSpPr>
            <a:spLocks xmlns:a="http://schemas.openxmlformats.org/drawingml/2006/main" noGrp="1"/>
          </p:cNvSpPr>
          <p:nvPr/>
        </p:nvSpPr>
        <p:spPr>
          <a:xfrm xmlns:a="http://schemas.openxmlformats.org/drawingml/2006/main">
            <a:off x="647700" y="6858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350" b="1">
                <a:solidFill>
                  <a:srgbClr val="2F6FB6"/>
                </a:solidFill>
                <a:latin typeface="Arial Unicode MS"/>
                <a:ea typeface="Arial Unicode MS"/>
                <a:cs typeface="Arial Unicode MS"/>
              </a:defRPr>
            </a:pPr>
            <a:r>
              <a:rPr sz="1350" b="1">
                <a:solidFill>
                  <a:srgbClr val="2F6FB6"/>
                </a:solidFill>
                <a:latin typeface="Arial Unicode MS"/>
                <a:ea typeface="Arial Unicode MS"/>
                <a:cs typeface="Arial Unicode MS"/>
              </a:rPr>
              <a:t>CARE 2.0</a:t>
            </a:r>
          </a:p>
        </p:txBody>
      </p:sp>
      <p:sp>
        <p:nvSpPr>
          <p:cNvPr id="2" name="">
            <a:extLst xmlns:a="http://schemas.openxmlformats.org/drawingml/2006/main">
              <a:ext uri="{FF2B5EF4-FFF2-40B4-BE49-F238E27FC236}">
                <a16:creationId xmlns:a16="http://schemas.microsoft.com/office/drawing/2014/main" id="{CEA19710-781B-44A9-9A72-D9D2624CE3B2}"/>
              </a:ext>
            </a:extLst>
          </p:cNvPr>
          <p:cNvSpPr>
            <a:spLocks xmlns:a="http://schemas.openxmlformats.org/drawingml/2006/main" noGrp="1"/>
          </p:cNvSpPr>
          <p:nvPr/>
        </p:nvSpPr>
        <p:spPr>
          <a:xfrm xmlns:a="http://schemas.openxmlformats.org/drawingml/2006/main">
            <a:off x="647700" y="1447800"/>
            <a:ext cx="6762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4200" b="1">
                <a:solidFill>
                  <a:srgbClr val="17232E"/>
                </a:solidFill>
                <a:latin typeface="Arial Unicode MS"/>
                <a:ea typeface="Arial Unicode MS"/>
                <a:cs typeface="Arial Unicode MS"/>
              </a:defRPr>
            </a:pPr>
            <a:r>
              <a:rPr sz="4200" b="1">
                <a:solidFill>
                  <a:srgbClr val="17232E"/>
                </a:solidFill>
                <a:latin typeface="Arial Unicode MS"/>
                <a:ea typeface="Arial Unicode MS"/>
                <a:cs typeface="Arial Unicode MS"/>
              </a:rPr>
              <a:t>面向科学实验的</a:t>
            </a:r>
          </a:p>
          <a:p xmlns:a="http://schemas.openxmlformats.org/drawingml/2006/main">
            <a:pPr algn="l">
              <a:lnSpc>
                <a:spcPct val="92000"/>
              </a:lnSpc>
              <a:buNone/>
              <a:defRPr sz="4200" b="1">
                <a:solidFill>
                  <a:srgbClr val="17232E"/>
                </a:solidFill>
                <a:latin typeface="Arial Unicode MS"/>
                <a:ea typeface="Arial Unicode MS"/>
                <a:cs typeface="Arial Unicode MS"/>
              </a:defRPr>
            </a:pPr>
            <a:r>
              <a:rPr sz="4200" b="1">
                <a:solidFill>
                  <a:srgbClr val="17232E"/>
                </a:solidFill>
                <a:latin typeface="Arial Unicode MS"/>
                <a:ea typeface="Arial Unicode MS"/>
                <a:cs typeface="Arial Unicode MS"/>
              </a:rPr>
              <a:t>可信知识迁移框架</a:t>
            </a:r>
          </a:p>
        </p:txBody>
      </p:sp>
      <p:sp>
        <p:nvSpPr>
          <p:cNvPr id="3" name="">
            <a:extLst xmlns:a="http://schemas.openxmlformats.org/drawingml/2006/main">
              <a:ext uri="{FF2B5EF4-FFF2-40B4-BE49-F238E27FC236}">
                <a16:creationId xmlns:a16="http://schemas.microsoft.com/office/drawing/2014/main" id="{D832A61D-B8A3-4A24-AB6E-4D5BA766DB43}"/>
              </a:ext>
            </a:extLst>
          </p:cNvPr>
          <p:cNvSpPr>
            <a:spLocks xmlns:a="http://schemas.openxmlformats.org/drawingml/2006/main" noGrp="1"/>
          </p:cNvSpPr>
          <p:nvPr/>
        </p:nvSpPr>
        <p:spPr>
          <a:xfrm xmlns:a="http://schemas.openxmlformats.org/drawingml/2006/main">
            <a:off x="647700" y="3295650"/>
            <a:ext cx="685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0">
                <a:solidFill>
                  <a:srgbClr val="687681"/>
                </a:solidFill>
                <a:latin typeface="Arial Unicode MS"/>
                <a:ea typeface="Arial Unicode MS"/>
                <a:cs typeface="Arial Unicode MS"/>
              </a:defRPr>
            </a:pPr>
            <a:r>
              <a:rPr sz="1800" b="0">
                <a:solidFill>
                  <a:srgbClr val="687681"/>
                </a:solidFill>
                <a:latin typeface="Arial Unicode MS"/>
                <a:ea typeface="Arial Unicode MS"/>
                <a:cs typeface="Arial Unicode MS"/>
              </a:rPr>
              <a:t>从 source-outcome skill 到冻结外部验证</a:t>
            </a:r>
          </a:p>
        </p:txBody>
      </p:sp>
      <p:sp>
        <p:nvSpPr>
          <p:cNvPr id="4" name="">
            <a:extLst xmlns:a="http://schemas.openxmlformats.org/drawingml/2006/main">
              <a:ext uri="{FF2B5EF4-FFF2-40B4-BE49-F238E27FC236}">
                <a16:creationId xmlns:a16="http://schemas.microsoft.com/office/drawing/2014/main" id="{29D15DB7-012F-4554-A987-C8762849F727}"/>
              </a:ext>
            </a:extLst>
          </p:cNvPr>
          <p:cNvSpPr>
            <a:spLocks xmlns:a="http://schemas.openxmlformats.org/drawingml/2006/main" noGrp="1"/>
          </p:cNvSpPr>
          <p:nvPr/>
        </p:nvSpPr>
        <p:spPr>
          <a:xfrm xmlns:a="http://schemas.openxmlformats.org/drawingml/2006/main">
            <a:off x="647700" y="4038600"/>
            <a:ext cx="571500" cy="38100"/>
          </a:xfrm>
          <a:prstGeom xmlns:a="http://schemas.openxmlformats.org/drawingml/2006/main" prst="rect">
            <a:avLst/>
          </a:prstGeom>
          <a:solidFill xmlns:a="http://schemas.openxmlformats.org/drawingml/2006/main">
            <a:srgbClr val="2F6FB6"/>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70A5D38-4573-4DFF-A7ED-46A7C8FDF58B}"/>
              </a:ext>
            </a:extLst>
          </p:cNvPr>
          <p:cNvSpPr>
            <a:spLocks xmlns:a="http://schemas.openxmlformats.org/drawingml/2006/main" noGrp="1"/>
          </p:cNvSpPr>
          <p:nvPr/>
        </p:nvSpPr>
        <p:spPr>
          <a:xfrm xmlns:a="http://schemas.openxmlformats.org/drawingml/2006/main">
            <a:off x="647700" y="4400550"/>
            <a:ext cx="533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275" b="0">
                <a:solidFill>
                  <a:srgbClr val="687681"/>
                </a:solidFill>
                <a:latin typeface="Arial Unicode MS"/>
                <a:ea typeface="Arial Unicode MS"/>
                <a:cs typeface="Arial Unicode MS"/>
              </a:defRPr>
            </a:pPr>
            <a:r>
              <a:rPr sz="1275" b="0">
                <a:solidFill>
                  <a:srgbClr val="687681"/>
                </a:solidFill>
                <a:latin typeface="Arial Unicode MS"/>
                <a:ea typeface="Arial Unicode MS"/>
                <a:cs typeface="Arial Unicode MS"/>
              </a:rPr>
              <a:t>项目现状与方法更新 · 2026-08-12</a:t>
            </a:r>
          </a:p>
        </p:txBody>
      </p:sp>
      <p:sp>
        <p:nvSpPr>
          <p:cNvPr id="6" name="">
            <a:extLst xmlns:a="http://schemas.openxmlformats.org/drawingml/2006/main">
              <a:ext uri="{FF2B5EF4-FFF2-40B4-BE49-F238E27FC236}">
                <a16:creationId xmlns:a16="http://schemas.microsoft.com/office/drawing/2014/main" id="{50FE5331-901A-46AD-A430-E388B99964DB}"/>
              </a:ext>
            </a:extLst>
          </p:cNvPr>
          <p:cNvSpPr>
            <a:spLocks xmlns:a="http://schemas.openxmlformats.org/drawingml/2006/main" noGrp="1"/>
          </p:cNvSpPr>
          <p:nvPr/>
        </p:nvSpPr>
        <p:spPr>
          <a:xfrm xmlns:a="http://schemas.openxmlformats.org/drawingml/2006/main">
            <a:off x="8572500" y="0"/>
            <a:ext cx="3619500" cy="6858000"/>
          </a:xfrm>
          <a:prstGeom xmlns:a="http://schemas.openxmlformats.org/drawingml/2006/main" prst="rect">
            <a:avLst/>
          </a:prstGeom>
          <a:solidFill xmlns:a="http://schemas.openxmlformats.org/drawingml/2006/main">
            <a:srgbClr val="EDF3F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4119D812-1622-477C-B0FF-AB3DC5A07E17}"/>
              </a:ext>
            </a:extLst>
          </p:cNvPr>
          <p:cNvSpPr>
            <a:spLocks xmlns:a="http://schemas.openxmlformats.org/drawingml/2006/main" noGrp="1"/>
          </p:cNvSpPr>
          <p:nvPr/>
        </p:nvSpPr>
        <p:spPr>
          <a:xfrm xmlns:a="http://schemas.openxmlformats.org/drawingml/2006/main">
            <a:off x="9067800" y="1200150"/>
            <a:ext cx="209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17324D"/>
                </a:solidFill>
                <a:latin typeface="Arial Unicode MS"/>
                <a:ea typeface="Arial Unicode MS"/>
                <a:cs typeface="Arial Unicode MS"/>
              </a:defRPr>
            </a:pPr>
            <a:r>
              <a:rPr sz="1800" b="1">
                <a:solidFill>
                  <a:srgbClr val="17324D"/>
                </a:solidFill>
                <a:latin typeface="Arial Unicode MS"/>
                <a:ea typeface="Arial Unicode MS"/>
                <a:cs typeface="Arial Unicode MS"/>
              </a:rPr>
              <a:t>历史实验</a:t>
            </a:r>
          </a:p>
        </p:txBody>
      </p:sp>
      <p:sp>
        <p:nvSpPr>
          <p:cNvPr id="8" name="">
            <a:extLst xmlns:a="http://schemas.openxmlformats.org/drawingml/2006/main">
              <a:ext uri="{FF2B5EF4-FFF2-40B4-BE49-F238E27FC236}">
                <a16:creationId xmlns:a16="http://schemas.microsoft.com/office/drawing/2014/main" id="{DB485558-2C3E-4F28-93EA-2864877978B9}"/>
              </a:ext>
            </a:extLst>
          </p:cNvPr>
          <p:cNvSpPr>
            <a:spLocks xmlns:a="http://schemas.openxmlformats.org/drawingml/2006/main" noGrp="1"/>
          </p:cNvSpPr>
          <p:nvPr/>
        </p:nvSpPr>
        <p:spPr>
          <a:xfrm xmlns:a="http://schemas.openxmlformats.org/drawingml/2006/main">
            <a:off x="9686925" y="1743075"/>
            <a:ext cx="857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2550" b="1">
                <a:solidFill>
                  <a:srgbClr val="2F6FB6"/>
                </a:solidFill>
                <a:latin typeface="Arial Unicode MS"/>
                <a:ea typeface="Arial Unicode MS"/>
                <a:cs typeface="Arial Unicode MS"/>
              </a:defRPr>
            </a:pPr>
            <a:r>
              <a:rPr sz="2550" b="1">
                <a:solidFill>
                  <a:srgbClr val="2F6FB6"/>
                </a:solidFill>
                <a:latin typeface="Arial Unicode MS"/>
                <a:ea typeface="Arial Unicode MS"/>
                <a:cs typeface="Arial Unicode MS"/>
              </a:rPr>
              <a:t>↓</a:t>
            </a:r>
          </a:p>
        </p:txBody>
      </p:sp>
      <p:sp>
        <p:nvSpPr>
          <p:cNvPr id="9" name="">
            <a:extLst xmlns:a="http://schemas.openxmlformats.org/drawingml/2006/main">
              <a:ext uri="{FF2B5EF4-FFF2-40B4-BE49-F238E27FC236}">
                <a16:creationId xmlns:a16="http://schemas.microsoft.com/office/drawing/2014/main" id="{FE7033FD-C3C2-47F7-B23A-B93FAFE31322}"/>
              </a:ext>
            </a:extLst>
          </p:cNvPr>
          <p:cNvSpPr>
            <a:spLocks xmlns:a="http://schemas.openxmlformats.org/drawingml/2006/main" noGrp="1"/>
          </p:cNvSpPr>
          <p:nvPr/>
        </p:nvSpPr>
        <p:spPr>
          <a:xfrm xmlns:a="http://schemas.openxmlformats.org/drawingml/2006/main">
            <a:off x="9067800" y="2333625"/>
            <a:ext cx="209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2C8A62"/>
                </a:solidFill>
                <a:latin typeface="Arial Unicode MS"/>
                <a:ea typeface="Arial Unicode MS"/>
                <a:cs typeface="Arial Unicode MS"/>
              </a:defRPr>
            </a:pPr>
            <a:r>
              <a:rPr sz="1800" b="1">
                <a:solidFill>
                  <a:srgbClr val="2C8A62"/>
                </a:solidFill>
                <a:latin typeface="Arial Unicode MS"/>
                <a:ea typeface="Arial Unicode MS"/>
                <a:cs typeface="Arial Unicode MS"/>
              </a:rPr>
              <a:t>可执行 Skill</a:t>
            </a:r>
          </a:p>
        </p:txBody>
      </p:sp>
      <p:sp>
        <p:nvSpPr>
          <p:cNvPr id="10" name="">
            <a:extLst xmlns:a="http://schemas.openxmlformats.org/drawingml/2006/main">
              <a:ext uri="{FF2B5EF4-FFF2-40B4-BE49-F238E27FC236}">
                <a16:creationId xmlns:a16="http://schemas.microsoft.com/office/drawing/2014/main" id="{4A026E2A-D45A-4DB4-AEC4-540572D287FD}"/>
              </a:ext>
            </a:extLst>
          </p:cNvPr>
          <p:cNvSpPr>
            <a:spLocks xmlns:a="http://schemas.openxmlformats.org/drawingml/2006/main" noGrp="1"/>
          </p:cNvSpPr>
          <p:nvPr/>
        </p:nvSpPr>
        <p:spPr>
          <a:xfrm xmlns:a="http://schemas.openxmlformats.org/drawingml/2006/main">
            <a:off x="9686925" y="2876550"/>
            <a:ext cx="857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2550" b="1">
                <a:solidFill>
                  <a:srgbClr val="2F6FB6"/>
                </a:solidFill>
                <a:latin typeface="Arial Unicode MS"/>
                <a:ea typeface="Arial Unicode MS"/>
                <a:cs typeface="Arial Unicode MS"/>
              </a:defRPr>
            </a:pPr>
            <a:r>
              <a:rPr sz="2550" b="1">
                <a:solidFill>
                  <a:srgbClr val="2F6FB6"/>
                </a:solidFill>
                <a:latin typeface="Arial Unicode MS"/>
                <a:ea typeface="Arial Unicode MS"/>
                <a:cs typeface="Arial Unicode MS"/>
              </a:rPr>
              <a:t>↓</a:t>
            </a:r>
          </a:p>
        </p:txBody>
      </p:sp>
      <p:sp>
        <p:nvSpPr>
          <p:cNvPr id="11" name="">
            <a:extLst xmlns:a="http://schemas.openxmlformats.org/drawingml/2006/main">
              <a:ext uri="{FF2B5EF4-FFF2-40B4-BE49-F238E27FC236}">
                <a16:creationId xmlns:a16="http://schemas.microsoft.com/office/drawing/2014/main" id="{D6ABB93C-EDDE-49A9-997F-18E364634669}"/>
              </a:ext>
            </a:extLst>
          </p:cNvPr>
          <p:cNvSpPr>
            <a:spLocks xmlns:a="http://schemas.openxmlformats.org/drawingml/2006/main" noGrp="1"/>
          </p:cNvSpPr>
          <p:nvPr/>
        </p:nvSpPr>
        <p:spPr>
          <a:xfrm xmlns:a="http://schemas.openxmlformats.org/drawingml/2006/main">
            <a:off x="9067800" y="3467100"/>
            <a:ext cx="209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D99A33"/>
                </a:solidFill>
                <a:latin typeface="Arial Unicode MS"/>
                <a:ea typeface="Arial Unicode MS"/>
                <a:cs typeface="Arial Unicode MS"/>
              </a:defRPr>
            </a:pPr>
            <a:r>
              <a:rPr sz="1800" b="1">
                <a:solidFill>
                  <a:srgbClr val="D99A33"/>
                </a:solidFill>
                <a:latin typeface="Arial Unicode MS"/>
                <a:ea typeface="Arial Unicode MS"/>
                <a:cs typeface="Arial Unicode MS"/>
              </a:rPr>
              <a:t>新实验决策</a:t>
            </a:r>
          </a:p>
        </p:txBody>
      </p:sp>
      <p:sp>
        <p:nvSpPr>
          <p:cNvPr id="12" name="">
            <a:extLst xmlns:a="http://schemas.openxmlformats.org/drawingml/2006/main">
              <a:ext uri="{FF2B5EF4-FFF2-40B4-BE49-F238E27FC236}">
                <a16:creationId xmlns:a16="http://schemas.microsoft.com/office/drawing/2014/main" id="{87313FFF-DCD2-4717-8076-C36B350F237F}"/>
              </a:ext>
            </a:extLst>
          </p:cNvPr>
          <p:cNvSpPr>
            <a:spLocks xmlns:a="http://schemas.openxmlformats.org/drawingml/2006/main" noGrp="1"/>
          </p:cNvSpPr>
          <p:nvPr/>
        </p:nvSpPr>
        <p:spPr>
          <a:xfrm xmlns:a="http://schemas.openxmlformats.org/drawingml/2006/main">
            <a:off x="9686925" y="4010025"/>
            <a:ext cx="857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2550" b="1">
                <a:solidFill>
                  <a:srgbClr val="2F6FB6"/>
                </a:solidFill>
                <a:latin typeface="Arial Unicode MS"/>
                <a:ea typeface="Arial Unicode MS"/>
                <a:cs typeface="Arial Unicode MS"/>
              </a:defRPr>
            </a:pPr>
            <a:r>
              <a:rPr sz="2550" b="1">
                <a:solidFill>
                  <a:srgbClr val="2F6FB6"/>
                </a:solidFill>
                <a:latin typeface="Arial Unicode MS"/>
                <a:ea typeface="Arial Unicode MS"/>
                <a:cs typeface="Arial Unicode MS"/>
              </a:rPr>
              <a:t>↓</a:t>
            </a:r>
          </a:p>
        </p:txBody>
      </p:sp>
      <p:sp>
        <p:nvSpPr>
          <p:cNvPr id="13" name="">
            <a:extLst xmlns:a="http://schemas.openxmlformats.org/drawingml/2006/main">
              <a:ext uri="{FF2B5EF4-FFF2-40B4-BE49-F238E27FC236}">
                <a16:creationId xmlns:a16="http://schemas.microsoft.com/office/drawing/2014/main" id="{422720EB-2ECC-45ED-8429-C21C1F1929A3}"/>
              </a:ext>
            </a:extLst>
          </p:cNvPr>
          <p:cNvSpPr>
            <a:spLocks xmlns:a="http://schemas.openxmlformats.org/drawingml/2006/main" noGrp="1"/>
          </p:cNvSpPr>
          <p:nvPr/>
        </p:nvSpPr>
        <p:spPr>
          <a:xfrm xmlns:a="http://schemas.openxmlformats.org/drawingml/2006/main">
            <a:off x="9067800" y="4591050"/>
            <a:ext cx="209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17324D"/>
                </a:solidFill>
                <a:latin typeface="Arial Unicode MS"/>
                <a:ea typeface="Arial Unicode MS"/>
                <a:cs typeface="Arial Unicode MS"/>
              </a:defRPr>
            </a:pPr>
            <a:r>
              <a:rPr sz="1800" b="1">
                <a:solidFill>
                  <a:srgbClr val="17324D"/>
                </a:solidFill>
                <a:latin typeface="Arial Unicode MS"/>
                <a:ea typeface="Arial Unicode MS"/>
                <a:cs typeface="Arial Unicode MS"/>
              </a:rPr>
              <a:t>证据沉淀</a:t>
            </a:r>
          </a:p>
        </p:txBody>
      </p:sp>
    </p:spTree>
    <p:extLst>
      <p:ext uri="{BB962C8B-B14F-4D97-AF65-F5344CB8AC3E}">
        <p14:creationId xmlns:p14="http://schemas.microsoft.com/office/powerpoint/2010/main" val="207762970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BE1F261C-7A9C-4C48-BC57-4E04E1D31874}"/>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CURRENT STATUS</a:t>
            </a:r>
          </a:p>
        </p:txBody>
      </p:sp>
      <p:sp>
        <p:nvSpPr>
          <p:cNvPr id="2" name="">
            <a:extLst xmlns:a="http://schemas.openxmlformats.org/drawingml/2006/main">
              <a:ext uri="{FF2B5EF4-FFF2-40B4-BE49-F238E27FC236}">
                <a16:creationId xmlns:a16="http://schemas.microsoft.com/office/drawing/2014/main" id="{55D36D7C-E5B3-422A-AE2C-BB6890BA95FD}"/>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02</a:t>
            </a:r>
          </a:p>
        </p:txBody>
      </p:sp>
      <p:sp>
        <p:nvSpPr>
          <p:cNvPr id="3" name="">
            <a:extLst xmlns:a="http://schemas.openxmlformats.org/drawingml/2006/main">
              <a:ext uri="{FF2B5EF4-FFF2-40B4-BE49-F238E27FC236}">
                <a16:creationId xmlns:a16="http://schemas.microsoft.com/office/drawing/2014/main" id="{BC280D76-99A0-4B3A-9DFE-2B2E4DCDC9BE}"/>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550" b="1">
                <a:solidFill>
                  <a:srgbClr val="17232E"/>
                </a:solidFill>
                <a:latin typeface="Arial Unicode MS"/>
                <a:ea typeface="Arial Unicode MS"/>
                <a:cs typeface="Arial Unicode MS"/>
              </a:defRPr>
            </a:pPr>
            <a:r>
              <a:rPr sz="2550" b="1">
                <a:solidFill>
                  <a:srgbClr val="17232E"/>
                </a:solidFill>
                <a:latin typeface="Arial Unicode MS"/>
                <a:ea typeface="Arial Unicode MS"/>
                <a:cs typeface="Arial Unicode MS"/>
              </a:rPr>
              <a:t>最新结果已经从“开发集正向”走到“外部目标验证”</a:t>
            </a:r>
          </a:p>
        </p:txBody>
      </p:sp>
      <p:sp>
        <p:nvSpPr>
          <p:cNvPr id="4" name="">
            <a:extLst xmlns:a="http://schemas.openxmlformats.org/drawingml/2006/main">
              <a:ext uri="{FF2B5EF4-FFF2-40B4-BE49-F238E27FC236}">
                <a16:creationId xmlns:a16="http://schemas.microsoft.com/office/drawing/2014/main" id="{DCE57ECB-B810-456D-80E2-DCA0B5A08E14}"/>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7B20D4A0-EFFB-4F49-9E50-D341F7286294}"/>
              </a:ext>
            </a:extLst>
          </p:cNvPr>
          <p:cNvSpPr>
            <a:spLocks xmlns:a="http://schemas.openxmlformats.org/drawingml/2006/main" noGrp="1"/>
          </p:cNvSpPr>
          <p:nvPr/>
        </p:nvSpPr>
        <p:spPr>
          <a:xfrm xmlns:a="http://schemas.openxmlformats.org/drawingml/2006/main">
            <a:off x="647700" y="1790700"/>
            <a:ext cx="23622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3450" b="1">
                <a:solidFill>
                  <a:srgbClr val="2C8A62"/>
                </a:solidFill>
                <a:latin typeface="Arial Unicode MS"/>
                <a:ea typeface="Arial Unicode MS"/>
                <a:cs typeface="Arial Unicode MS"/>
              </a:defRPr>
            </a:pPr>
            <a:r>
              <a:rPr sz="3450" b="1">
                <a:solidFill>
                  <a:srgbClr val="2C8A62"/>
                </a:solidFill>
                <a:latin typeface="Arial Unicode MS"/>
                <a:ea typeface="Arial Unicode MS"/>
                <a:cs typeface="Arial Unicode MS"/>
              </a:rPr>
              <a:t>+8.66</a:t>
            </a:r>
          </a:p>
        </p:txBody>
      </p:sp>
      <p:sp>
        <p:nvSpPr>
          <p:cNvPr id="6" name="">
            <a:extLst xmlns:a="http://schemas.openxmlformats.org/drawingml/2006/main">
              <a:ext uri="{FF2B5EF4-FFF2-40B4-BE49-F238E27FC236}">
                <a16:creationId xmlns:a16="http://schemas.microsoft.com/office/drawing/2014/main" id="{D0F43698-58C2-4640-9324-A01250384E41}"/>
              </a:ext>
            </a:extLst>
          </p:cNvPr>
          <p:cNvSpPr>
            <a:spLocks xmlns:a="http://schemas.openxmlformats.org/drawingml/2006/main" noGrp="1"/>
          </p:cNvSpPr>
          <p:nvPr/>
        </p:nvSpPr>
        <p:spPr>
          <a:xfrm xmlns:a="http://schemas.openxmlformats.org/drawingml/2006/main">
            <a:off x="647700" y="2419350"/>
            <a:ext cx="2362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350" b="1">
                <a:solidFill>
                  <a:srgbClr val="17232E"/>
                </a:solidFill>
                <a:latin typeface="Arial Unicode MS"/>
                <a:ea typeface="Arial Unicode MS"/>
                <a:cs typeface="Arial Unicode MS"/>
              </a:defRPr>
            </a:pPr>
            <a:r>
              <a:rPr sz="1350" b="1">
                <a:solidFill>
                  <a:srgbClr val="17232E"/>
                </a:solidFill>
                <a:latin typeface="Arial Unicode MS"/>
                <a:ea typeface="Arial Unicode MS"/>
                <a:cs typeface="Arial Unicode MS"/>
              </a:rPr>
              <a:t>AUC 相对更强 baseline</a:t>
            </a:r>
          </a:p>
        </p:txBody>
      </p:sp>
      <p:sp>
        <p:nvSpPr>
          <p:cNvPr id="7" name="">
            <a:extLst xmlns:a="http://schemas.openxmlformats.org/drawingml/2006/main">
              <a:ext uri="{FF2B5EF4-FFF2-40B4-BE49-F238E27FC236}">
                <a16:creationId xmlns:a16="http://schemas.microsoft.com/office/drawing/2014/main" id="{B0B0B36F-8887-46EB-8353-F13D1FB3961E}"/>
              </a:ext>
            </a:extLst>
          </p:cNvPr>
          <p:cNvSpPr>
            <a:spLocks xmlns:a="http://schemas.openxmlformats.org/drawingml/2006/main" noGrp="1"/>
          </p:cNvSpPr>
          <p:nvPr/>
        </p:nvSpPr>
        <p:spPr>
          <a:xfrm xmlns:a="http://schemas.openxmlformats.org/drawingml/2006/main">
            <a:off x="647700" y="2819400"/>
            <a:ext cx="2362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050" b="0">
                <a:solidFill>
                  <a:srgbClr val="687681"/>
                </a:solidFill>
                <a:latin typeface="Arial Unicode MS"/>
                <a:ea typeface="Arial Unicode MS"/>
                <a:cs typeface="Arial Unicode MS"/>
              </a:defRPr>
            </a:pPr>
            <a:r>
              <a:rPr sz="1050" b="0">
                <a:solidFill>
                  <a:srgbClr val="687681"/>
                </a:solidFill>
                <a:latin typeface="Arial Unicode MS"/>
                <a:ea typeface="Arial Unicode MS"/>
                <a:cs typeface="Arial Unicode MS"/>
              </a:rPr>
              <a:t>外部 Suzuki MINLP2</a:t>
            </a:r>
          </a:p>
        </p:txBody>
      </p:sp>
      <p:sp>
        <p:nvSpPr>
          <p:cNvPr id="8" name="">
            <a:extLst xmlns:a="http://schemas.openxmlformats.org/drawingml/2006/main">
              <a:ext uri="{FF2B5EF4-FFF2-40B4-BE49-F238E27FC236}">
                <a16:creationId xmlns:a16="http://schemas.microsoft.com/office/drawing/2014/main" id="{B16D9B26-9B6A-401D-A4B0-F8898D75C4B2}"/>
              </a:ext>
            </a:extLst>
          </p:cNvPr>
          <p:cNvSpPr>
            <a:spLocks xmlns:a="http://schemas.openxmlformats.org/drawingml/2006/main" noGrp="1"/>
          </p:cNvSpPr>
          <p:nvPr/>
        </p:nvSpPr>
        <p:spPr>
          <a:xfrm xmlns:a="http://schemas.openxmlformats.org/drawingml/2006/main">
            <a:off x="3333750" y="1790700"/>
            <a:ext cx="2190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3450" b="1">
                <a:solidFill>
                  <a:srgbClr val="2C8A62"/>
                </a:solidFill>
                <a:latin typeface="Arial Unicode MS"/>
                <a:ea typeface="Arial Unicode MS"/>
                <a:cs typeface="Arial Unicode MS"/>
              </a:defRPr>
            </a:pPr>
            <a:r>
              <a:rPr sz="3450" b="1">
                <a:solidFill>
                  <a:srgbClr val="2C8A62"/>
                </a:solidFill>
                <a:latin typeface="Arial Unicode MS"/>
                <a:ea typeface="Arial Unicode MS"/>
                <a:cs typeface="Arial Unicode MS"/>
              </a:rPr>
              <a:t>100%</a:t>
            </a:r>
          </a:p>
        </p:txBody>
      </p:sp>
      <p:sp>
        <p:nvSpPr>
          <p:cNvPr id="9" name="">
            <a:extLst xmlns:a="http://schemas.openxmlformats.org/drawingml/2006/main">
              <a:ext uri="{FF2B5EF4-FFF2-40B4-BE49-F238E27FC236}">
                <a16:creationId xmlns:a16="http://schemas.microsoft.com/office/drawing/2014/main" id="{3C8B886F-96E8-4083-ADD3-11D821ADCA36}"/>
              </a:ext>
            </a:extLst>
          </p:cNvPr>
          <p:cNvSpPr>
            <a:spLocks xmlns:a="http://schemas.openxmlformats.org/drawingml/2006/main" noGrp="1"/>
          </p:cNvSpPr>
          <p:nvPr/>
        </p:nvSpPr>
        <p:spPr>
          <a:xfrm xmlns:a="http://schemas.openxmlformats.org/drawingml/2006/main">
            <a:off x="3333750" y="2419350"/>
            <a:ext cx="219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350" b="1">
                <a:solidFill>
                  <a:srgbClr val="17232E"/>
                </a:solidFill>
                <a:latin typeface="Arial Unicode MS"/>
                <a:ea typeface="Arial Unicode MS"/>
                <a:cs typeface="Arial Unicode MS"/>
              </a:defRPr>
            </a:pPr>
            <a:r>
              <a:rPr sz="1350" b="1">
                <a:solidFill>
                  <a:srgbClr val="17232E"/>
                </a:solidFill>
                <a:latin typeface="Arial Unicode MS"/>
                <a:ea typeface="Arial Unicode MS"/>
                <a:cs typeface="Arial Unicode MS"/>
              </a:rPr>
              <a:t>最终找到的最高产率</a:t>
            </a:r>
          </a:p>
        </p:txBody>
      </p:sp>
      <p:sp>
        <p:nvSpPr>
          <p:cNvPr id="10" name="">
            <a:extLst xmlns:a="http://schemas.openxmlformats.org/drawingml/2006/main">
              <a:ext uri="{FF2B5EF4-FFF2-40B4-BE49-F238E27FC236}">
                <a16:creationId xmlns:a16="http://schemas.microsoft.com/office/drawing/2014/main" id="{DC77051B-848B-4C71-A5C2-DDCF635BB180}"/>
              </a:ext>
            </a:extLst>
          </p:cNvPr>
          <p:cNvSpPr>
            <a:spLocks xmlns:a="http://schemas.openxmlformats.org/drawingml/2006/main" noGrp="1"/>
          </p:cNvSpPr>
          <p:nvPr/>
        </p:nvSpPr>
        <p:spPr>
          <a:xfrm xmlns:a="http://schemas.openxmlformats.org/drawingml/2006/main">
            <a:off x="3333750" y="2819400"/>
            <a:ext cx="219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050" b="0">
                <a:solidFill>
                  <a:srgbClr val="687681"/>
                </a:solidFill>
                <a:latin typeface="Arial Unicode MS"/>
                <a:ea typeface="Arial Unicode MS"/>
                <a:cs typeface="Arial Unicode MS"/>
              </a:defRPr>
            </a:pPr>
            <a:r>
              <a:rPr sz="1050" b="0">
                <a:solidFill>
                  <a:srgbClr val="687681"/>
                </a:solidFill>
                <a:latin typeface="Arial Unicode MS"/>
                <a:ea typeface="Arial Unicode MS"/>
                <a:cs typeface="Arial Unicode MS"/>
              </a:rPr>
              <a:t>第 5 次总观测达到</a:t>
            </a:r>
          </a:p>
        </p:txBody>
      </p:sp>
      <p:sp>
        <p:nvSpPr>
          <p:cNvPr id="11" name="">
            <a:extLst xmlns:a="http://schemas.openxmlformats.org/drawingml/2006/main">
              <a:ext uri="{FF2B5EF4-FFF2-40B4-BE49-F238E27FC236}">
                <a16:creationId xmlns:a16="http://schemas.microsoft.com/office/drawing/2014/main" id="{04C5CDF7-0D8F-4235-B0A0-73D2DF132EB3}"/>
              </a:ext>
            </a:extLst>
          </p:cNvPr>
          <p:cNvSpPr>
            <a:spLocks xmlns:a="http://schemas.openxmlformats.org/drawingml/2006/main" noGrp="1"/>
          </p:cNvSpPr>
          <p:nvPr/>
        </p:nvSpPr>
        <p:spPr>
          <a:xfrm xmlns:a="http://schemas.openxmlformats.org/drawingml/2006/main">
            <a:off x="6029325" y="1790700"/>
            <a:ext cx="2190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3450" b="1">
                <a:solidFill>
                  <a:srgbClr val="2F6FB6"/>
                </a:solidFill>
                <a:latin typeface="Arial Unicode MS"/>
                <a:ea typeface="Arial Unicode MS"/>
                <a:cs typeface="Arial Unicode MS"/>
              </a:defRPr>
            </a:pPr>
            <a:r>
              <a:rPr sz="3450" b="1">
                <a:solidFill>
                  <a:srgbClr val="2F6FB6"/>
                </a:solidFill>
                <a:latin typeface="Arial Unicode MS"/>
                <a:ea typeface="Arial Unicode MS"/>
                <a:cs typeface="Arial Unicode MS"/>
              </a:rPr>
              <a:t>2 次</a:t>
            </a:r>
          </a:p>
        </p:txBody>
      </p:sp>
      <p:sp>
        <p:nvSpPr>
          <p:cNvPr id="12" name="">
            <a:extLst xmlns:a="http://schemas.openxmlformats.org/drawingml/2006/main">
              <a:ext uri="{FF2B5EF4-FFF2-40B4-BE49-F238E27FC236}">
                <a16:creationId xmlns:a16="http://schemas.microsoft.com/office/drawing/2014/main" id="{7710E2DD-84D9-47D2-A9C9-8866C59ED5C0}"/>
              </a:ext>
            </a:extLst>
          </p:cNvPr>
          <p:cNvSpPr>
            <a:spLocks xmlns:a="http://schemas.openxmlformats.org/drawingml/2006/main" noGrp="1"/>
          </p:cNvSpPr>
          <p:nvPr/>
        </p:nvSpPr>
        <p:spPr>
          <a:xfrm xmlns:a="http://schemas.openxmlformats.org/drawingml/2006/main">
            <a:off x="6029325" y="2419350"/>
            <a:ext cx="219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350" b="1">
                <a:solidFill>
                  <a:srgbClr val="17232E"/>
                </a:solidFill>
                <a:latin typeface="Arial Unicode MS"/>
                <a:ea typeface="Arial Unicode MS"/>
                <a:cs typeface="Arial Unicode MS"/>
              </a:defRPr>
            </a:pPr>
            <a:r>
              <a:rPr sz="1350" b="1">
                <a:solidFill>
                  <a:srgbClr val="17232E"/>
                </a:solidFill>
                <a:latin typeface="Arial Unicode MS"/>
                <a:ea typeface="Arial Unicode MS"/>
                <a:cs typeface="Arial Unicode MS"/>
              </a:rPr>
              <a:t>节省 target observations</a:t>
            </a:r>
          </a:p>
        </p:txBody>
      </p:sp>
      <p:sp>
        <p:nvSpPr>
          <p:cNvPr id="13" name="">
            <a:extLst xmlns:a="http://schemas.openxmlformats.org/drawingml/2006/main">
              <a:ext uri="{FF2B5EF4-FFF2-40B4-BE49-F238E27FC236}">
                <a16:creationId xmlns:a16="http://schemas.microsoft.com/office/drawing/2014/main" id="{6CD4E882-F37D-4D00-94CD-29A2B199384E}"/>
              </a:ext>
            </a:extLst>
          </p:cNvPr>
          <p:cNvSpPr>
            <a:spLocks xmlns:a="http://schemas.openxmlformats.org/drawingml/2006/main" noGrp="1"/>
          </p:cNvSpPr>
          <p:nvPr/>
        </p:nvSpPr>
        <p:spPr>
          <a:xfrm xmlns:a="http://schemas.openxmlformats.org/drawingml/2006/main">
            <a:off x="6029325" y="2819400"/>
            <a:ext cx="219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050" b="0">
                <a:solidFill>
                  <a:srgbClr val="687681"/>
                </a:solidFill>
                <a:latin typeface="Arial Unicode MS"/>
                <a:ea typeface="Arial Unicode MS"/>
                <a:cs typeface="Arial Unicode MS"/>
              </a:defRPr>
            </a:pPr>
            <a:r>
              <a:rPr sz="1050" b="0">
                <a:solidFill>
                  <a:srgbClr val="687681"/>
                </a:solidFill>
                <a:latin typeface="Arial Unicode MS"/>
                <a:ea typeface="Arial Unicode MS"/>
                <a:cs typeface="Arial Unicode MS"/>
              </a:rPr>
              <a:t>相对成功 random 的中位数</a:t>
            </a:r>
          </a:p>
        </p:txBody>
      </p:sp>
      <p:sp>
        <p:nvSpPr>
          <p:cNvPr id="14" name="">
            <a:extLst xmlns:a="http://schemas.openxmlformats.org/drawingml/2006/main">
              <a:ext uri="{FF2B5EF4-FFF2-40B4-BE49-F238E27FC236}">
                <a16:creationId xmlns:a16="http://schemas.microsoft.com/office/drawing/2014/main" id="{CF52A96E-0B84-4F53-BC11-E2A594124E63}"/>
              </a:ext>
            </a:extLst>
          </p:cNvPr>
          <p:cNvSpPr>
            <a:spLocks xmlns:a="http://schemas.openxmlformats.org/drawingml/2006/main" noGrp="1"/>
          </p:cNvSpPr>
          <p:nvPr/>
        </p:nvSpPr>
        <p:spPr>
          <a:xfrm xmlns:a="http://schemas.openxmlformats.org/drawingml/2006/main">
            <a:off x="8696325" y="1790700"/>
            <a:ext cx="2190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3450" b="1">
                <a:solidFill>
                  <a:srgbClr val="D99A33"/>
                </a:solidFill>
                <a:latin typeface="Arial Unicode MS"/>
                <a:ea typeface="Arial Unicode MS"/>
                <a:cs typeface="Arial Unicode MS"/>
              </a:defRPr>
            </a:pPr>
            <a:r>
              <a:rPr sz="3450" b="1">
                <a:solidFill>
                  <a:srgbClr val="D99A33"/>
                </a:solidFill>
                <a:latin typeface="Arial Unicode MS"/>
                <a:ea typeface="Arial Unicode MS"/>
                <a:cs typeface="Arial Unicode MS"/>
              </a:rPr>
              <a:t>1 个</a:t>
            </a:r>
          </a:p>
        </p:txBody>
      </p:sp>
      <p:sp>
        <p:nvSpPr>
          <p:cNvPr id="15" name="">
            <a:extLst xmlns:a="http://schemas.openxmlformats.org/drawingml/2006/main">
              <a:ext uri="{FF2B5EF4-FFF2-40B4-BE49-F238E27FC236}">
                <a16:creationId xmlns:a16="http://schemas.microsoft.com/office/drawing/2014/main" id="{495BCCAE-5914-4DCB-933C-F9740BD5C92F}"/>
              </a:ext>
            </a:extLst>
          </p:cNvPr>
          <p:cNvSpPr>
            <a:spLocks xmlns:a="http://schemas.openxmlformats.org/drawingml/2006/main" noGrp="1"/>
          </p:cNvSpPr>
          <p:nvPr/>
        </p:nvSpPr>
        <p:spPr>
          <a:xfrm xmlns:a="http://schemas.openxmlformats.org/drawingml/2006/main">
            <a:off x="8696325" y="2419350"/>
            <a:ext cx="219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350" b="1">
                <a:solidFill>
                  <a:srgbClr val="17232E"/>
                </a:solidFill>
                <a:latin typeface="Arial Unicode MS"/>
                <a:ea typeface="Arial Unicode MS"/>
                <a:cs typeface="Arial Unicode MS"/>
              </a:defRPr>
            </a:pPr>
            <a:r>
              <a:rPr sz="1350" b="1">
                <a:solidFill>
                  <a:srgbClr val="17232E"/>
                </a:solidFill>
                <a:latin typeface="Arial Unicode MS"/>
                <a:ea typeface="Arial Unicode MS"/>
                <a:cs typeface="Arial Unicode MS"/>
              </a:rPr>
              <a:t>冻结外部 target</a:t>
            </a:r>
          </a:p>
        </p:txBody>
      </p:sp>
      <p:sp>
        <p:nvSpPr>
          <p:cNvPr id="16" name="">
            <a:extLst xmlns:a="http://schemas.openxmlformats.org/drawingml/2006/main">
              <a:ext uri="{FF2B5EF4-FFF2-40B4-BE49-F238E27FC236}">
                <a16:creationId xmlns:a16="http://schemas.microsoft.com/office/drawing/2014/main" id="{D3B64EC1-7F82-4B99-AD46-E0F16AC9005D}"/>
              </a:ext>
            </a:extLst>
          </p:cNvPr>
          <p:cNvSpPr>
            <a:spLocks xmlns:a="http://schemas.openxmlformats.org/drawingml/2006/main" noGrp="1"/>
          </p:cNvSpPr>
          <p:nvPr/>
        </p:nvSpPr>
        <p:spPr>
          <a:xfrm xmlns:a="http://schemas.openxmlformats.org/drawingml/2006/main">
            <a:off x="8696325" y="2819400"/>
            <a:ext cx="219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050" b="0">
                <a:solidFill>
                  <a:srgbClr val="687681"/>
                </a:solidFill>
                <a:latin typeface="Arial Unicode MS"/>
                <a:ea typeface="Arial Unicode MS"/>
                <a:cs typeface="Arial Unicode MS"/>
              </a:defRPr>
            </a:pPr>
            <a:r>
              <a:rPr sz="1050" b="0">
                <a:solidFill>
                  <a:srgbClr val="687681"/>
                </a:solidFill>
                <a:latin typeface="Arial Unicode MS"/>
                <a:ea typeface="Arial Unicode MS"/>
                <a:cs typeface="Arial Unicode MS"/>
              </a:rPr>
              <a:t>仍需扩大独立任务数量</a:t>
            </a:r>
          </a:p>
        </p:txBody>
      </p:sp>
      <p:sp>
        <p:nvSpPr>
          <p:cNvPr id="17" name="">
            <a:extLst xmlns:a="http://schemas.openxmlformats.org/drawingml/2006/main">
              <a:ext uri="{FF2B5EF4-FFF2-40B4-BE49-F238E27FC236}">
                <a16:creationId xmlns:a16="http://schemas.microsoft.com/office/drawing/2014/main" id="{431D7BE7-0D7F-4A5F-8211-BDDC5C558BC0}"/>
              </a:ext>
            </a:extLst>
          </p:cNvPr>
          <p:cNvSpPr>
            <a:spLocks xmlns:a="http://schemas.openxmlformats.org/drawingml/2006/main" noGrp="1"/>
          </p:cNvSpPr>
          <p:nvPr/>
        </p:nvSpPr>
        <p:spPr>
          <a:xfrm xmlns:a="http://schemas.openxmlformats.org/drawingml/2006/main">
            <a:off x="647700" y="4095750"/>
            <a:ext cx="10896600" cy="1466850"/>
          </a:xfrm>
          <a:prstGeom xmlns:a="http://schemas.openxmlformats.org/drawingml/2006/main" prst="rect">
            <a:avLst/>
          </a:prstGeom>
          <a:solidFill xmlns:a="http://schemas.openxmlformats.org/drawingml/2006/main">
            <a:srgbClr val="F1F4F6"/>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48DAF95E-CF3D-493D-9CF6-C668FDC87C4A}"/>
              </a:ext>
            </a:extLst>
          </p:cNvPr>
          <p:cNvSpPr>
            <a:spLocks xmlns:a="http://schemas.openxmlformats.org/drawingml/2006/main" noGrp="1"/>
          </p:cNvSpPr>
          <p:nvPr/>
        </p:nvSpPr>
        <p:spPr>
          <a:xfrm xmlns:a="http://schemas.openxmlformats.org/drawingml/2006/main">
            <a:off x="895350" y="4305300"/>
            <a:ext cx="266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650" b="1">
                <a:solidFill>
                  <a:srgbClr val="17324D"/>
                </a:solidFill>
                <a:latin typeface="Arial Unicode MS"/>
                <a:ea typeface="Arial Unicode MS"/>
                <a:cs typeface="Arial Unicode MS"/>
              </a:defRPr>
            </a:pPr>
            <a:r>
              <a:rPr sz="1650" b="1">
                <a:solidFill>
                  <a:srgbClr val="17324D"/>
                </a:solidFill>
                <a:latin typeface="Arial Unicode MS"/>
                <a:ea typeface="Arial Unicode MS"/>
                <a:cs typeface="Arial Unicode MS"/>
              </a:rPr>
              <a:t>目前最准确的结论</a:t>
            </a:r>
          </a:p>
        </p:txBody>
      </p:sp>
      <p:sp>
        <p:nvSpPr>
          <p:cNvPr id="19" name="">
            <a:extLst xmlns:a="http://schemas.openxmlformats.org/drawingml/2006/main">
              <a:ext uri="{FF2B5EF4-FFF2-40B4-BE49-F238E27FC236}">
                <a16:creationId xmlns:a16="http://schemas.microsoft.com/office/drawing/2014/main" id="{D21B0A94-A136-4483-A168-9FBEED671254}"/>
              </a:ext>
            </a:extLst>
          </p:cNvPr>
          <p:cNvSpPr>
            <a:spLocks xmlns:a="http://schemas.openxmlformats.org/drawingml/2006/main" noGrp="1"/>
          </p:cNvSpPr>
          <p:nvPr/>
        </p:nvSpPr>
        <p:spPr>
          <a:xfrm xmlns:a="http://schemas.openxmlformats.org/drawingml/2006/main">
            <a:off x="3676650" y="4267200"/>
            <a:ext cx="75628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3428"/>
          </a:bodyPr>
          <a:lstStyle xmlns:a="http://schemas.openxmlformats.org/drawingml/2006/main"/>
          <a:p xmlns:a="http://schemas.openxmlformats.org/drawingml/2006/main">
            <a:pPr algn="l">
              <a:lnSpc>
                <a:spcPct val="106000"/>
              </a:lnSpc>
              <a:buNone/>
              <a:defRPr sz="1725" b="1">
                <a:solidFill>
                  <a:srgbClr val="17232E"/>
                </a:solidFill>
                <a:latin typeface="Arial Unicode MS"/>
                <a:ea typeface="Arial Unicode MS"/>
                <a:cs typeface="Arial Unicode MS"/>
              </a:defRPr>
            </a:pPr>
            <a:r>
              <a:rPr sz="1725" b="1">
                <a:solidFill>
                  <a:srgbClr val="17232E"/>
                </a:solidFill>
                <a:latin typeface="Arial Unicode MS"/>
                <a:ea typeface="Arial Unicode MS"/>
                <a:cs typeface="Arial Unicode MS"/>
              </a:rPr>
              <a:t>CARE 2.0 已证明 source-outcome initial-design transfer 在真实 reaction-optimization 数据上具有实际价值；</a:t>
            </a:r>
          </a:p>
          <a:p xmlns:a="http://schemas.openxmlformats.org/drawingml/2006/main">
            <a:pPr algn="l">
              <a:lnSpc>
                <a:spcPct val="106000"/>
              </a:lnSpc>
              <a:buNone/>
              <a:defRPr sz="1725" b="1">
                <a:solidFill>
                  <a:srgbClr val="17232E"/>
                </a:solidFill>
                <a:latin typeface="Arial Unicode MS"/>
                <a:ea typeface="Arial Unicode MS"/>
                <a:cs typeface="Arial Unicode MS"/>
              </a:defRPr>
            </a:pPr>
            <a:r>
              <a:rPr sz="1725" b="1">
                <a:solidFill>
                  <a:srgbClr val="17232E"/>
                </a:solidFill>
                <a:latin typeface="Arial Unicode MS"/>
                <a:ea typeface="Arial Unicode MS"/>
                <a:cs typeface="Arial Unicode MS"/>
              </a:rPr>
              <a:t>本轮没有使用 LLM，暂不能声称任意跨领域迁移或 LLM 普遍优越。</a:t>
            </a:r>
          </a:p>
        </p:txBody>
      </p:sp>
      <p:sp>
        <p:nvSpPr>
          <p:cNvPr id="20" name="">
            <a:extLst xmlns:a="http://schemas.openxmlformats.org/drawingml/2006/main">
              <a:ext uri="{FF2B5EF4-FFF2-40B4-BE49-F238E27FC236}">
                <a16:creationId xmlns:a16="http://schemas.microsoft.com/office/drawing/2014/main" id="{4992ED3F-C308-4711-97C1-BF9C11FAB6A3}"/>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frozen evidence update · 2026-08-12</a:t>
            </a:r>
          </a:p>
        </p:txBody>
      </p:sp>
    </p:spTree>
    <p:extLst>
      <p:ext uri="{BB962C8B-B14F-4D97-AF65-F5344CB8AC3E}">
        <p14:creationId xmlns:p14="http://schemas.microsoft.com/office/powerpoint/2010/main" val="134078471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7DAE4CD2-4C6A-4660-AC7A-BCADBF54A655}"/>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RESEARCH PROBLEM</a:t>
            </a:r>
          </a:p>
        </p:txBody>
      </p:sp>
      <p:sp>
        <p:nvSpPr>
          <p:cNvPr id="2" name="">
            <a:extLst xmlns:a="http://schemas.openxmlformats.org/drawingml/2006/main">
              <a:ext uri="{FF2B5EF4-FFF2-40B4-BE49-F238E27FC236}">
                <a16:creationId xmlns:a16="http://schemas.microsoft.com/office/drawing/2014/main" id="{4BE37DBE-2626-4A79-A349-F22286E38C7C}"/>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03</a:t>
            </a:r>
          </a:p>
        </p:txBody>
      </p:sp>
      <p:sp>
        <p:nvSpPr>
          <p:cNvPr id="3" name="">
            <a:extLst xmlns:a="http://schemas.openxmlformats.org/drawingml/2006/main">
              <a:ext uri="{FF2B5EF4-FFF2-40B4-BE49-F238E27FC236}">
                <a16:creationId xmlns:a16="http://schemas.microsoft.com/office/drawing/2014/main" id="{41795305-E2D0-4D02-A1FF-E1B2984542A0}"/>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700" b="1">
                <a:solidFill>
                  <a:srgbClr val="17232E"/>
                </a:solidFill>
                <a:latin typeface="Arial Unicode MS"/>
                <a:ea typeface="Arial Unicode MS"/>
                <a:cs typeface="Arial Unicode MS"/>
              </a:defRPr>
            </a:pPr>
            <a:r>
              <a:rPr sz="2700" b="1">
                <a:solidFill>
                  <a:srgbClr val="17232E"/>
                </a:solidFill>
                <a:latin typeface="Arial Unicode MS"/>
                <a:ea typeface="Arial Unicode MS"/>
                <a:cs typeface="Arial Unicode MS"/>
              </a:rPr>
              <a:t>昂贵实验中，历史经验能否真正减少试错？</a:t>
            </a:r>
          </a:p>
        </p:txBody>
      </p:sp>
      <p:sp>
        <p:nvSpPr>
          <p:cNvPr id="4" name="">
            <a:extLst xmlns:a="http://schemas.openxmlformats.org/drawingml/2006/main">
              <a:ext uri="{FF2B5EF4-FFF2-40B4-BE49-F238E27FC236}">
                <a16:creationId xmlns:a16="http://schemas.microsoft.com/office/drawing/2014/main" id="{38CDE073-6B22-4866-9B22-3729AEF666CA}"/>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F55C1274-4C62-4F20-907E-C3E3145A6F41}"/>
              </a:ext>
            </a:extLst>
          </p:cNvPr>
          <p:cNvSpPr>
            <a:spLocks xmlns:a="http://schemas.openxmlformats.org/drawingml/2006/main" noGrp="1"/>
          </p:cNvSpPr>
          <p:nvPr/>
        </p:nvSpPr>
        <p:spPr>
          <a:xfrm xmlns:a="http://schemas.openxmlformats.org/drawingml/2006/main">
            <a:off x="647700" y="1695450"/>
            <a:ext cx="276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2F6FB6"/>
                </a:solidFill>
                <a:latin typeface="Arial Unicode MS"/>
                <a:ea typeface="Arial Unicode MS"/>
                <a:cs typeface="Arial Unicode MS"/>
              </a:defRPr>
            </a:pPr>
            <a:r>
              <a:rPr sz="1800" b="1">
                <a:solidFill>
                  <a:srgbClr val="2F6FB6"/>
                </a:solidFill>
                <a:latin typeface="Arial Unicode MS"/>
                <a:ea typeface="Arial Unicode MS"/>
                <a:cs typeface="Arial Unicode MS"/>
              </a:rPr>
              <a:t>01</a:t>
            </a:r>
          </a:p>
        </p:txBody>
      </p:sp>
      <p:sp>
        <p:nvSpPr>
          <p:cNvPr id="6" name="">
            <a:extLst xmlns:a="http://schemas.openxmlformats.org/drawingml/2006/main">
              <a:ext uri="{FF2B5EF4-FFF2-40B4-BE49-F238E27FC236}">
                <a16:creationId xmlns:a16="http://schemas.microsoft.com/office/drawing/2014/main" id="{5E11FC55-F930-4FE1-9476-D556585C7471}"/>
              </a:ext>
            </a:extLst>
          </p:cNvPr>
          <p:cNvSpPr>
            <a:spLocks xmlns:a="http://schemas.openxmlformats.org/drawingml/2006/main" noGrp="1"/>
          </p:cNvSpPr>
          <p:nvPr/>
        </p:nvSpPr>
        <p:spPr>
          <a:xfrm xmlns:a="http://schemas.openxmlformats.org/drawingml/2006/main">
            <a:off x="647700" y="2095500"/>
            <a:ext cx="342900" cy="28575"/>
          </a:xfrm>
          <a:prstGeom xmlns:a="http://schemas.openxmlformats.org/drawingml/2006/main" prst="rect">
            <a:avLst/>
          </a:prstGeom>
          <a:solidFill xmlns:a="http://schemas.openxmlformats.org/drawingml/2006/main">
            <a:srgbClr val="2F6FB6"/>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B9437FCD-1733-4609-B3E3-12D5CDA2DAC4}"/>
              </a:ext>
            </a:extLst>
          </p:cNvPr>
          <p:cNvSpPr>
            <a:spLocks xmlns:a="http://schemas.openxmlformats.org/drawingml/2006/main" noGrp="1"/>
          </p:cNvSpPr>
          <p:nvPr/>
        </p:nvSpPr>
        <p:spPr>
          <a:xfrm xmlns:a="http://schemas.openxmlformats.org/drawingml/2006/main">
            <a:off x="647700" y="2228850"/>
            <a:ext cx="2762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17232E"/>
                </a:solidFill>
                <a:latin typeface="Arial Unicode MS"/>
                <a:ea typeface="Arial Unicode MS"/>
                <a:cs typeface="Arial Unicode MS"/>
              </a:defRPr>
            </a:pPr>
            <a:r>
              <a:rPr sz="1800" b="1">
                <a:solidFill>
                  <a:srgbClr val="17232E"/>
                </a:solidFill>
                <a:latin typeface="Arial Unicode MS"/>
                <a:ea typeface="Arial Unicode MS"/>
                <a:cs typeface="Arial Unicode MS"/>
              </a:rPr>
              <a:t>已知信息</a:t>
            </a:r>
          </a:p>
        </p:txBody>
      </p:sp>
      <p:sp>
        <p:nvSpPr>
          <p:cNvPr id="8" name="">
            <a:extLst xmlns:a="http://schemas.openxmlformats.org/drawingml/2006/main">
              <a:ext uri="{FF2B5EF4-FFF2-40B4-BE49-F238E27FC236}">
                <a16:creationId xmlns:a16="http://schemas.microsoft.com/office/drawing/2014/main" id="{EECF7E09-F8D5-49CA-A53D-1E5E8F7C6F55}"/>
              </a:ext>
            </a:extLst>
          </p:cNvPr>
          <p:cNvSpPr>
            <a:spLocks xmlns:a="http://schemas.openxmlformats.org/drawingml/2006/main" noGrp="1"/>
          </p:cNvSpPr>
          <p:nvPr/>
        </p:nvSpPr>
        <p:spPr>
          <a:xfrm xmlns:a="http://schemas.openxmlformats.org/drawingml/2006/main">
            <a:off x="647700" y="2705100"/>
            <a:ext cx="28575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8000"/>
              </a:lnSpc>
              <a:buNone/>
              <a:defRPr sz="1500" b="0">
                <a:solidFill>
                  <a:srgbClr val="687681"/>
                </a:solidFill>
                <a:latin typeface="Arial Unicode MS"/>
                <a:ea typeface="Arial Unicode MS"/>
                <a:cs typeface="Arial Unicode MS"/>
              </a:defRPr>
            </a:pPr>
            <a:r>
              <a:rPr sz="1500" b="0">
                <a:solidFill>
                  <a:srgbClr val="687681"/>
                </a:solidFill>
                <a:latin typeface="Arial Unicode MS"/>
                <a:ea typeface="Arial Unicode MS"/>
                <a:cs typeface="Arial Unicode MS"/>
              </a:rPr>
              <a:t>• 已经完成的 source experiments</a:t>
            </a:r>
          </a:p>
          <a:p xmlns:a="http://schemas.openxmlformats.org/drawingml/2006/main">
            <a:pPr algn="l">
              <a:lnSpc>
                <a:spcPct val="118000"/>
              </a:lnSpc>
              <a:buNone/>
              <a:defRPr sz="1500" b="0">
                <a:solidFill>
                  <a:srgbClr val="687681"/>
                </a:solidFill>
                <a:latin typeface="Arial Unicode MS"/>
                <a:ea typeface="Arial Unicode MS"/>
                <a:cs typeface="Arial Unicode MS"/>
              </a:defRPr>
            </a:pPr>
            <a:r>
              <a:rPr sz="1500" b="0">
                <a:solidFill>
                  <a:srgbClr val="687681"/>
                </a:solidFill>
                <a:latin typeface="Arial Unicode MS"/>
                <a:ea typeface="Arial Unicode MS"/>
                <a:cs typeface="Arial Unicode MS"/>
              </a:rPr>
              <a:t>• target 的公开候选条件与变量</a:t>
            </a:r>
          </a:p>
          <a:p xmlns:a="http://schemas.openxmlformats.org/drawingml/2006/main">
            <a:pPr algn="l">
              <a:lnSpc>
                <a:spcPct val="118000"/>
              </a:lnSpc>
              <a:buNone/>
              <a:defRPr sz="1500" b="0">
                <a:solidFill>
                  <a:srgbClr val="687681"/>
                </a:solidFill>
                <a:latin typeface="Arial Unicode MS"/>
                <a:ea typeface="Arial Unicode MS"/>
                <a:cs typeface="Arial Unicode MS"/>
              </a:defRPr>
            </a:pPr>
            <a:r>
              <a:rPr sz="1500" b="0">
                <a:solidFill>
                  <a:srgbClr val="687681"/>
                </a:solidFill>
                <a:latin typeface="Arial Unicode MS"/>
                <a:ea typeface="Arial Unicode MS"/>
                <a:cs typeface="Arial Unicode MS"/>
              </a:rPr>
              <a:t>• 固定、有限的实验预算</a:t>
            </a:r>
          </a:p>
          <a:p xmlns:a="http://schemas.openxmlformats.org/drawingml/2006/main">
            <a:pPr algn="l">
              <a:lnSpc>
                <a:spcPct val="118000"/>
              </a:lnSpc>
              <a:buNone/>
              <a:defRPr sz="1500" b="0">
                <a:solidFill>
                  <a:srgbClr val="687681"/>
                </a:solidFill>
                <a:latin typeface="Arial Unicode MS"/>
                <a:ea typeface="Arial Unicode MS"/>
                <a:cs typeface="Arial Unicode MS"/>
              </a:defRPr>
            </a:pPr>
            <a:r>
              <a:rPr sz="1500" b="0">
                <a:solidFill>
                  <a:srgbClr val="687681"/>
                </a:solidFill>
                <a:latin typeface="Arial Unicode MS"/>
                <a:ea typeface="Arial Unicode MS"/>
                <a:cs typeface="Arial Unicode MS"/>
              </a:rPr>
              <a:t>• 尚未揭示的 target outcome</a:t>
            </a:r>
          </a:p>
        </p:txBody>
      </p:sp>
      <p:sp>
        <p:nvSpPr>
          <p:cNvPr id="9" name="">
            <a:extLst xmlns:a="http://schemas.openxmlformats.org/drawingml/2006/main">
              <a:ext uri="{FF2B5EF4-FFF2-40B4-BE49-F238E27FC236}">
                <a16:creationId xmlns:a16="http://schemas.microsoft.com/office/drawing/2014/main" id="{55795EC2-6326-443C-AA72-AC9A13F0B7E6}"/>
              </a:ext>
            </a:extLst>
          </p:cNvPr>
          <p:cNvSpPr>
            <a:spLocks xmlns:a="http://schemas.openxmlformats.org/drawingml/2006/main" noGrp="1"/>
          </p:cNvSpPr>
          <p:nvPr/>
        </p:nvSpPr>
        <p:spPr>
          <a:xfrm xmlns:a="http://schemas.openxmlformats.org/drawingml/2006/main">
            <a:off x="4552950" y="1695450"/>
            <a:ext cx="276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D99A33"/>
                </a:solidFill>
                <a:latin typeface="Arial Unicode MS"/>
                <a:ea typeface="Arial Unicode MS"/>
                <a:cs typeface="Arial Unicode MS"/>
              </a:defRPr>
            </a:pPr>
            <a:r>
              <a:rPr sz="1800" b="1">
                <a:solidFill>
                  <a:srgbClr val="D99A33"/>
                </a:solidFill>
                <a:latin typeface="Arial Unicode MS"/>
                <a:ea typeface="Arial Unicode MS"/>
                <a:cs typeface="Arial Unicode MS"/>
              </a:rPr>
              <a:t>02</a:t>
            </a:r>
          </a:p>
        </p:txBody>
      </p:sp>
      <p:sp>
        <p:nvSpPr>
          <p:cNvPr id="10" name="">
            <a:extLst xmlns:a="http://schemas.openxmlformats.org/drawingml/2006/main">
              <a:ext uri="{FF2B5EF4-FFF2-40B4-BE49-F238E27FC236}">
                <a16:creationId xmlns:a16="http://schemas.microsoft.com/office/drawing/2014/main" id="{789728B8-98A2-4C88-A46F-D495113C76AB}"/>
              </a:ext>
            </a:extLst>
          </p:cNvPr>
          <p:cNvSpPr>
            <a:spLocks xmlns:a="http://schemas.openxmlformats.org/drawingml/2006/main" noGrp="1"/>
          </p:cNvSpPr>
          <p:nvPr/>
        </p:nvSpPr>
        <p:spPr>
          <a:xfrm xmlns:a="http://schemas.openxmlformats.org/drawingml/2006/main">
            <a:off x="4552950" y="2095500"/>
            <a:ext cx="342900" cy="28575"/>
          </a:xfrm>
          <a:prstGeom xmlns:a="http://schemas.openxmlformats.org/drawingml/2006/main" prst="rect">
            <a:avLst/>
          </a:prstGeom>
          <a:solidFill xmlns:a="http://schemas.openxmlformats.org/drawingml/2006/main">
            <a:srgbClr val="D99A33"/>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8B4F2BE4-6249-4E3A-B8AD-8C217B08F1F2}"/>
              </a:ext>
            </a:extLst>
          </p:cNvPr>
          <p:cNvSpPr>
            <a:spLocks xmlns:a="http://schemas.openxmlformats.org/drawingml/2006/main" noGrp="1"/>
          </p:cNvSpPr>
          <p:nvPr/>
        </p:nvSpPr>
        <p:spPr>
          <a:xfrm xmlns:a="http://schemas.openxmlformats.org/drawingml/2006/main">
            <a:off x="4552950" y="2228850"/>
            <a:ext cx="2762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17232E"/>
                </a:solidFill>
                <a:latin typeface="Arial Unicode MS"/>
                <a:ea typeface="Arial Unicode MS"/>
                <a:cs typeface="Arial Unicode MS"/>
              </a:defRPr>
            </a:pPr>
            <a:r>
              <a:rPr sz="1800" b="1">
                <a:solidFill>
                  <a:srgbClr val="17232E"/>
                </a:solidFill>
                <a:latin typeface="Arial Unicode MS"/>
                <a:ea typeface="Arial Unicode MS"/>
                <a:cs typeface="Arial Unicode MS"/>
              </a:rPr>
              <a:t>每轮决策</a:t>
            </a:r>
          </a:p>
        </p:txBody>
      </p:sp>
      <p:sp>
        <p:nvSpPr>
          <p:cNvPr id="12" name="">
            <a:extLst xmlns:a="http://schemas.openxmlformats.org/drawingml/2006/main">
              <a:ext uri="{FF2B5EF4-FFF2-40B4-BE49-F238E27FC236}">
                <a16:creationId xmlns:a16="http://schemas.microsoft.com/office/drawing/2014/main" id="{896E263B-2E69-425B-8E01-B2A7296731AA}"/>
              </a:ext>
            </a:extLst>
          </p:cNvPr>
          <p:cNvSpPr>
            <a:spLocks xmlns:a="http://schemas.openxmlformats.org/drawingml/2006/main" noGrp="1"/>
          </p:cNvSpPr>
          <p:nvPr/>
        </p:nvSpPr>
        <p:spPr>
          <a:xfrm xmlns:a="http://schemas.openxmlformats.org/drawingml/2006/main">
            <a:off x="4552950" y="2705100"/>
            <a:ext cx="28575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8000"/>
              </a:lnSpc>
              <a:buNone/>
              <a:defRPr sz="1500" b="0">
                <a:solidFill>
                  <a:srgbClr val="687681"/>
                </a:solidFill>
                <a:latin typeface="Arial Unicode MS"/>
                <a:ea typeface="Arial Unicode MS"/>
                <a:cs typeface="Arial Unicode MS"/>
              </a:defRPr>
            </a:pPr>
            <a:r>
              <a:rPr sz="1500" b="0">
                <a:solidFill>
                  <a:srgbClr val="687681"/>
                </a:solidFill>
                <a:latin typeface="Arial Unicode MS"/>
                <a:ea typeface="Arial Unicode MS"/>
                <a:cs typeface="Arial Unicode MS"/>
              </a:rPr>
              <a:t>• 选择一个候选实验</a:t>
            </a:r>
          </a:p>
          <a:p xmlns:a="http://schemas.openxmlformats.org/drawingml/2006/main">
            <a:pPr algn="l">
              <a:lnSpc>
                <a:spcPct val="118000"/>
              </a:lnSpc>
              <a:buNone/>
              <a:defRPr sz="1500" b="0">
                <a:solidFill>
                  <a:srgbClr val="687681"/>
                </a:solidFill>
                <a:latin typeface="Arial Unicode MS"/>
                <a:ea typeface="Arial Unicode MS"/>
                <a:cs typeface="Arial Unicode MS"/>
              </a:defRPr>
            </a:pPr>
            <a:r>
              <a:rPr sz="1500" b="0">
                <a:solidFill>
                  <a:srgbClr val="687681"/>
                </a:solidFill>
                <a:latin typeface="Arial Unicode MS"/>
                <a:ea typeface="Arial Unicode MS"/>
                <a:cs typeface="Arial Unicode MS"/>
              </a:rPr>
              <a:t>• 只观察被选点的真实结果</a:t>
            </a:r>
          </a:p>
          <a:p xmlns:a="http://schemas.openxmlformats.org/drawingml/2006/main">
            <a:pPr algn="l">
              <a:lnSpc>
                <a:spcPct val="118000"/>
              </a:lnSpc>
              <a:buNone/>
              <a:defRPr sz="1500" b="0">
                <a:solidFill>
                  <a:srgbClr val="687681"/>
                </a:solidFill>
                <a:latin typeface="Arial Unicode MS"/>
                <a:ea typeface="Arial Unicode MS"/>
                <a:cs typeface="Arial Unicode MS"/>
              </a:defRPr>
            </a:pPr>
            <a:r>
              <a:rPr sz="1500" b="0">
                <a:solidFill>
                  <a:srgbClr val="687681"/>
                </a:solidFill>
                <a:latin typeface="Arial Unicode MS"/>
                <a:ea typeface="Arial Unicode MS"/>
                <a:cs typeface="Arial Unicode MS"/>
              </a:rPr>
              <a:t>• 更新 target model</a:t>
            </a:r>
          </a:p>
          <a:p xmlns:a="http://schemas.openxmlformats.org/drawingml/2006/main">
            <a:pPr algn="l">
              <a:lnSpc>
                <a:spcPct val="118000"/>
              </a:lnSpc>
              <a:buNone/>
              <a:defRPr sz="1500" b="0">
                <a:solidFill>
                  <a:srgbClr val="687681"/>
                </a:solidFill>
                <a:latin typeface="Arial Unicode MS"/>
                <a:ea typeface="Arial Unicode MS"/>
                <a:cs typeface="Arial Unicode MS"/>
              </a:defRPr>
            </a:pPr>
            <a:r>
              <a:rPr sz="1500" b="0">
                <a:solidFill>
                  <a:srgbClr val="687681"/>
                </a:solidFill>
                <a:latin typeface="Arial Unicode MS"/>
                <a:ea typeface="Arial Unicode MS"/>
                <a:cs typeface="Arial Unicode MS"/>
              </a:rPr>
              <a:t>• 决定迁移、持有或回退</a:t>
            </a:r>
          </a:p>
        </p:txBody>
      </p:sp>
      <p:sp>
        <p:nvSpPr>
          <p:cNvPr id="13" name="">
            <a:extLst xmlns:a="http://schemas.openxmlformats.org/drawingml/2006/main">
              <a:ext uri="{FF2B5EF4-FFF2-40B4-BE49-F238E27FC236}">
                <a16:creationId xmlns:a16="http://schemas.microsoft.com/office/drawing/2014/main" id="{73D2E7DB-B2E7-4919-9168-EE8A40389E57}"/>
              </a:ext>
            </a:extLst>
          </p:cNvPr>
          <p:cNvSpPr>
            <a:spLocks xmlns:a="http://schemas.openxmlformats.org/drawingml/2006/main" noGrp="1"/>
          </p:cNvSpPr>
          <p:nvPr/>
        </p:nvSpPr>
        <p:spPr>
          <a:xfrm xmlns:a="http://schemas.openxmlformats.org/drawingml/2006/main">
            <a:off x="8458200" y="1695450"/>
            <a:ext cx="276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2C8A62"/>
                </a:solidFill>
                <a:latin typeface="Arial Unicode MS"/>
                <a:ea typeface="Arial Unicode MS"/>
                <a:cs typeface="Arial Unicode MS"/>
              </a:defRPr>
            </a:pPr>
            <a:r>
              <a:rPr sz="1800" b="1">
                <a:solidFill>
                  <a:srgbClr val="2C8A62"/>
                </a:solidFill>
                <a:latin typeface="Arial Unicode MS"/>
                <a:ea typeface="Arial Unicode MS"/>
                <a:cs typeface="Arial Unicode MS"/>
              </a:rPr>
              <a:t>03</a:t>
            </a:r>
          </a:p>
        </p:txBody>
      </p:sp>
      <p:sp>
        <p:nvSpPr>
          <p:cNvPr id="14" name="">
            <a:extLst xmlns:a="http://schemas.openxmlformats.org/drawingml/2006/main">
              <a:ext uri="{FF2B5EF4-FFF2-40B4-BE49-F238E27FC236}">
                <a16:creationId xmlns:a16="http://schemas.microsoft.com/office/drawing/2014/main" id="{98454496-8E74-48D7-9FB9-8F37D46C8822}"/>
              </a:ext>
            </a:extLst>
          </p:cNvPr>
          <p:cNvSpPr>
            <a:spLocks xmlns:a="http://schemas.openxmlformats.org/drawingml/2006/main" noGrp="1"/>
          </p:cNvSpPr>
          <p:nvPr/>
        </p:nvSpPr>
        <p:spPr>
          <a:xfrm xmlns:a="http://schemas.openxmlformats.org/drawingml/2006/main">
            <a:off x="8458200" y="2095500"/>
            <a:ext cx="342900" cy="28575"/>
          </a:xfrm>
          <a:prstGeom xmlns:a="http://schemas.openxmlformats.org/drawingml/2006/main" prst="rect">
            <a:avLst/>
          </a:prstGeom>
          <a:solidFill xmlns:a="http://schemas.openxmlformats.org/drawingml/2006/main">
            <a:srgbClr val="2C8A62"/>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DC392606-5609-420A-B43C-C8CD6FBA291D}"/>
              </a:ext>
            </a:extLst>
          </p:cNvPr>
          <p:cNvSpPr>
            <a:spLocks xmlns:a="http://schemas.openxmlformats.org/drawingml/2006/main" noGrp="1"/>
          </p:cNvSpPr>
          <p:nvPr/>
        </p:nvSpPr>
        <p:spPr>
          <a:xfrm xmlns:a="http://schemas.openxmlformats.org/drawingml/2006/main">
            <a:off x="8458200" y="2228850"/>
            <a:ext cx="2762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17232E"/>
                </a:solidFill>
                <a:latin typeface="Arial Unicode MS"/>
                <a:ea typeface="Arial Unicode MS"/>
                <a:cs typeface="Arial Unicode MS"/>
              </a:defRPr>
            </a:pPr>
            <a:r>
              <a:rPr sz="1800" b="1">
                <a:solidFill>
                  <a:srgbClr val="17232E"/>
                </a:solidFill>
                <a:latin typeface="Arial Unicode MS"/>
                <a:ea typeface="Arial Unicode MS"/>
                <a:cs typeface="Arial Unicode MS"/>
              </a:rPr>
              <a:t>目标</a:t>
            </a:r>
          </a:p>
        </p:txBody>
      </p:sp>
      <p:sp>
        <p:nvSpPr>
          <p:cNvPr id="16" name="">
            <a:extLst xmlns:a="http://schemas.openxmlformats.org/drawingml/2006/main">
              <a:ext uri="{FF2B5EF4-FFF2-40B4-BE49-F238E27FC236}">
                <a16:creationId xmlns:a16="http://schemas.microsoft.com/office/drawing/2014/main" id="{91768E2C-C1E6-4FE4-88FB-692AC98A21A8}"/>
              </a:ext>
            </a:extLst>
          </p:cNvPr>
          <p:cNvSpPr>
            <a:spLocks xmlns:a="http://schemas.openxmlformats.org/drawingml/2006/main" noGrp="1"/>
          </p:cNvSpPr>
          <p:nvPr/>
        </p:nvSpPr>
        <p:spPr>
          <a:xfrm xmlns:a="http://schemas.openxmlformats.org/drawingml/2006/main">
            <a:off x="8458200" y="2705100"/>
            <a:ext cx="28575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8000"/>
              </a:lnSpc>
              <a:buNone/>
              <a:defRPr sz="1500" b="0">
                <a:solidFill>
                  <a:srgbClr val="687681"/>
                </a:solidFill>
                <a:latin typeface="Arial Unicode MS"/>
                <a:ea typeface="Arial Unicode MS"/>
                <a:cs typeface="Arial Unicode MS"/>
              </a:defRPr>
            </a:pPr>
            <a:r>
              <a:rPr sz="1500" b="0">
                <a:solidFill>
                  <a:srgbClr val="687681"/>
                </a:solidFill>
                <a:latin typeface="Arial Unicode MS"/>
                <a:ea typeface="Arial Unicode MS"/>
                <a:cs typeface="Arial Unicode MS"/>
              </a:rPr>
              <a:t>• 更早找到高质量候选</a:t>
            </a:r>
          </a:p>
          <a:p xmlns:a="http://schemas.openxmlformats.org/drawingml/2006/main">
            <a:pPr algn="l">
              <a:lnSpc>
                <a:spcPct val="118000"/>
              </a:lnSpc>
              <a:buNone/>
              <a:defRPr sz="1500" b="0">
                <a:solidFill>
                  <a:srgbClr val="687681"/>
                </a:solidFill>
                <a:latin typeface="Arial Unicode MS"/>
                <a:ea typeface="Arial Unicode MS"/>
                <a:cs typeface="Arial Unicode MS"/>
              </a:defRPr>
            </a:pPr>
            <a:r>
              <a:rPr sz="1500" b="0">
                <a:solidFill>
                  <a:srgbClr val="687681"/>
                </a:solidFill>
                <a:latin typeface="Arial Unicode MS"/>
                <a:ea typeface="Arial Unicode MS"/>
                <a:cs typeface="Arial Unicode MS"/>
              </a:rPr>
              <a:t>• 相同预算下提高 final best</a:t>
            </a:r>
          </a:p>
          <a:p xmlns:a="http://schemas.openxmlformats.org/drawingml/2006/main">
            <a:pPr algn="l">
              <a:lnSpc>
                <a:spcPct val="118000"/>
              </a:lnSpc>
              <a:buNone/>
              <a:defRPr sz="1500" b="0">
                <a:solidFill>
                  <a:srgbClr val="687681"/>
                </a:solidFill>
                <a:latin typeface="Arial Unicode MS"/>
                <a:ea typeface="Arial Unicode MS"/>
                <a:cs typeface="Arial Unicode MS"/>
              </a:defRPr>
            </a:pPr>
            <a:r>
              <a:rPr sz="1500" b="0">
                <a:solidFill>
                  <a:srgbClr val="687681"/>
                </a:solidFill>
                <a:latin typeface="Arial Unicode MS"/>
                <a:ea typeface="Arial Unicode MS"/>
                <a:cs typeface="Arial Unicode MS"/>
              </a:rPr>
              <a:t>• 不偷看 target outcome</a:t>
            </a:r>
          </a:p>
          <a:p xmlns:a="http://schemas.openxmlformats.org/drawingml/2006/main">
            <a:pPr algn="l">
              <a:lnSpc>
                <a:spcPct val="118000"/>
              </a:lnSpc>
              <a:buNone/>
              <a:defRPr sz="1500" b="0">
                <a:solidFill>
                  <a:srgbClr val="687681"/>
                </a:solidFill>
                <a:latin typeface="Arial Unicode MS"/>
                <a:ea typeface="Arial Unicode MS"/>
                <a:cs typeface="Arial Unicode MS"/>
              </a:defRPr>
            </a:pPr>
            <a:r>
              <a:rPr sz="1500" b="0">
                <a:solidFill>
                  <a:srgbClr val="687681"/>
                </a:solidFill>
                <a:latin typeface="Arial Unicode MS"/>
                <a:ea typeface="Arial Unicode MS"/>
                <a:cs typeface="Arial Unicode MS"/>
              </a:rPr>
              <a:t>• 避免负迁移并留下 trace</a:t>
            </a:r>
          </a:p>
        </p:txBody>
      </p:sp>
      <p:sp>
        <p:nvSpPr>
          <p:cNvPr id="17" name="">
            <a:extLst xmlns:a="http://schemas.openxmlformats.org/drawingml/2006/main">
              <a:ext uri="{FF2B5EF4-FFF2-40B4-BE49-F238E27FC236}">
                <a16:creationId xmlns:a16="http://schemas.microsoft.com/office/drawing/2014/main" id="{B2B04CEB-9B02-41A4-9D13-0221310545A8}"/>
              </a:ext>
            </a:extLst>
          </p:cNvPr>
          <p:cNvSpPr>
            <a:spLocks xmlns:a="http://schemas.openxmlformats.org/drawingml/2006/main" noGrp="1"/>
          </p:cNvSpPr>
          <p:nvPr/>
        </p:nvSpPr>
        <p:spPr>
          <a:xfrm xmlns:a="http://schemas.openxmlformats.org/drawingml/2006/main">
            <a:off x="647700" y="5200650"/>
            <a:ext cx="10896600" cy="762000"/>
          </a:xfrm>
          <a:prstGeom xmlns:a="http://schemas.openxmlformats.org/drawingml/2006/main" prst="rect">
            <a:avLst/>
          </a:prstGeom>
          <a:solidFill xmlns:a="http://schemas.openxmlformats.org/drawingml/2006/main">
            <a:srgbClr val="17324D"/>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414C9B6B-8CD0-4088-8888-9135839B850A}"/>
              </a:ext>
            </a:extLst>
          </p:cNvPr>
          <p:cNvSpPr>
            <a:spLocks xmlns:a="http://schemas.openxmlformats.org/drawingml/2006/main" noGrp="1"/>
          </p:cNvSpPr>
          <p:nvPr/>
        </p:nvSpPr>
        <p:spPr>
          <a:xfrm xmlns:a="http://schemas.openxmlformats.org/drawingml/2006/main">
            <a:off x="876300" y="5391150"/>
            <a:ext cx="10439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6000"/>
              </a:lnSpc>
              <a:buNone/>
              <a:defRPr sz="1800" b="1">
                <a:solidFill>
                  <a:srgbClr val="FFFFFF"/>
                </a:solidFill>
                <a:latin typeface="Arial Unicode MS"/>
                <a:ea typeface="Arial Unicode MS"/>
                <a:cs typeface="Arial Unicode MS"/>
              </a:defRPr>
            </a:pPr>
            <a:r>
              <a:rPr sz="1800" b="1">
                <a:solidFill>
                  <a:srgbClr val="FFFFFF"/>
                </a:solidFill>
                <a:latin typeface="Arial Unicode MS"/>
                <a:ea typeface="Arial Unicode MS"/>
                <a:cs typeface="Arial Unicode MS"/>
              </a:rPr>
              <a:t>核心问题：source history 是否改变 target 的选择顺序，并让有效实验更早发生？</a:t>
            </a:r>
          </a:p>
        </p:txBody>
      </p:sp>
      <p:sp>
        <p:nvSpPr>
          <p:cNvPr id="19" name="">
            <a:extLst xmlns:a="http://schemas.openxmlformats.org/drawingml/2006/main">
              <a:ext uri="{FF2B5EF4-FFF2-40B4-BE49-F238E27FC236}">
                <a16:creationId xmlns:a16="http://schemas.microsoft.com/office/drawing/2014/main" id="{1FDBA831-F0F6-45F2-811E-A44D77387DBC}"/>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frozen evidence update · 2026-08-12</a:t>
            </a:r>
          </a:p>
        </p:txBody>
      </p:sp>
    </p:spTree>
    <p:extLst>
      <p:ext uri="{BB962C8B-B14F-4D97-AF65-F5344CB8AC3E}">
        <p14:creationId xmlns:p14="http://schemas.microsoft.com/office/powerpoint/2010/main" val="100551222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0ED223B-7E5E-46DC-A127-8B90CA26E844}"/>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EVIDENCE LADDER</a:t>
            </a:r>
          </a:p>
        </p:txBody>
      </p:sp>
      <p:sp>
        <p:nvSpPr>
          <p:cNvPr id="2" name="">
            <a:extLst xmlns:a="http://schemas.openxmlformats.org/drawingml/2006/main">
              <a:ext uri="{FF2B5EF4-FFF2-40B4-BE49-F238E27FC236}">
                <a16:creationId xmlns:a16="http://schemas.microsoft.com/office/drawing/2014/main" id="{463E82A2-DDED-4757-986A-B47F70B56E16}"/>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04</a:t>
            </a:r>
          </a:p>
        </p:txBody>
      </p:sp>
      <p:sp>
        <p:nvSpPr>
          <p:cNvPr id="3" name="">
            <a:extLst xmlns:a="http://schemas.openxmlformats.org/drawingml/2006/main">
              <a:ext uri="{FF2B5EF4-FFF2-40B4-BE49-F238E27FC236}">
                <a16:creationId xmlns:a16="http://schemas.microsoft.com/office/drawing/2014/main" id="{3EF81617-959B-46B2-A910-FD7D58E0151F}"/>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550" b="1">
                <a:solidFill>
                  <a:srgbClr val="17232E"/>
                </a:solidFill>
                <a:latin typeface="Arial Unicode MS"/>
                <a:ea typeface="Arial Unicode MS"/>
                <a:cs typeface="Arial Unicode MS"/>
              </a:defRPr>
            </a:pPr>
            <a:r>
              <a:rPr sz="2550" b="1">
                <a:solidFill>
                  <a:srgbClr val="17232E"/>
                </a:solidFill>
                <a:latin typeface="Arial Unicode MS"/>
                <a:ea typeface="Arial Unicode MS"/>
                <a:cs typeface="Arial Unicode MS"/>
              </a:rPr>
              <a:t>当前证据分三层，不能把所有正结果混成一个结论</a:t>
            </a:r>
          </a:p>
        </p:txBody>
      </p:sp>
      <p:sp>
        <p:nvSpPr>
          <p:cNvPr id="4" name="">
            <a:extLst xmlns:a="http://schemas.openxmlformats.org/drawingml/2006/main">
              <a:ext uri="{FF2B5EF4-FFF2-40B4-BE49-F238E27FC236}">
                <a16:creationId xmlns:a16="http://schemas.microsoft.com/office/drawing/2014/main" id="{D44B3588-EFEA-4CEE-B334-A7F4B76FDAB4}"/>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3079d63922bf4170"/>
          <a:stretch xmlns:a="http://schemas.openxmlformats.org/drawingml/2006/main"/>
        </p:blipFill>
        <p:spPr>
          <a:xfrm xmlns:a="http://schemas.openxmlformats.org/drawingml/2006/main">
            <a:off x="1566960" y="1238250"/>
            <a:ext cx="9058080" cy="51054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F3DB039B-D9B9-427C-85F4-C35728018439}"/>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frozen evidence update · 2026-08-12</a:t>
            </a:r>
          </a:p>
        </p:txBody>
      </p:sp>
    </p:spTree>
    <p:extLst>
      <p:ext uri="{BB962C8B-B14F-4D97-AF65-F5344CB8AC3E}">
        <p14:creationId xmlns:p14="http://schemas.microsoft.com/office/powerpoint/2010/main" val="109418890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542D76A-5D08-4CF6-9CD9-9726A19CB315}"/>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REVIEW-DRIVEN REVISION</a:t>
            </a:r>
          </a:p>
        </p:txBody>
      </p:sp>
      <p:sp>
        <p:nvSpPr>
          <p:cNvPr id="2" name="">
            <a:extLst xmlns:a="http://schemas.openxmlformats.org/drawingml/2006/main">
              <a:ext uri="{FF2B5EF4-FFF2-40B4-BE49-F238E27FC236}">
                <a16:creationId xmlns:a16="http://schemas.microsoft.com/office/drawing/2014/main" id="{DA6108A9-881D-4AA0-8E2D-02EC5916241A}"/>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05</a:t>
            </a:r>
          </a:p>
        </p:txBody>
      </p:sp>
      <p:sp>
        <p:nvSpPr>
          <p:cNvPr id="3" name="">
            <a:extLst xmlns:a="http://schemas.openxmlformats.org/drawingml/2006/main">
              <a:ext uri="{FF2B5EF4-FFF2-40B4-BE49-F238E27FC236}">
                <a16:creationId xmlns:a16="http://schemas.microsoft.com/office/drawing/2014/main" id="{3F2670E5-D31F-4714-A21A-268F1D64B998}"/>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700" b="1">
                <a:solidFill>
                  <a:srgbClr val="17232E"/>
                </a:solidFill>
                <a:latin typeface="Arial Unicode MS"/>
                <a:ea typeface="Arial Unicode MS"/>
                <a:cs typeface="Arial Unicode MS"/>
              </a:defRPr>
            </a:pPr>
            <a:r>
              <a:rPr sz="2700" b="1">
                <a:solidFill>
                  <a:srgbClr val="17232E"/>
                </a:solidFill>
                <a:latin typeface="Arial Unicode MS"/>
                <a:ea typeface="Arial Unicode MS"/>
                <a:cs typeface="Arial Unicode MS"/>
              </a:rPr>
              <a:t>我们把关键质疑直接变成了实验协议</a:t>
            </a:r>
          </a:p>
        </p:txBody>
      </p:sp>
      <p:sp>
        <p:nvSpPr>
          <p:cNvPr id="4" name="">
            <a:extLst xmlns:a="http://schemas.openxmlformats.org/drawingml/2006/main">
              <a:ext uri="{FF2B5EF4-FFF2-40B4-BE49-F238E27FC236}">
                <a16:creationId xmlns:a16="http://schemas.microsoft.com/office/drawing/2014/main" id="{7BD7BD38-2DF1-44E8-9F3A-FB38143B05A3}"/>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a376f7768ef04d05"/>
          <a:stretch xmlns:a="http://schemas.openxmlformats.org/drawingml/2006/main"/>
        </p:blipFill>
        <p:spPr>
          <a:xfrm xmlns:a="http://schemas.openxmlformats.org/drawingml/2006/main">
            <a:off x="1575410" y="1257300"/>
            <a:ext cx="9041181" cy="50958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C891F9D6-5938-4EAF-BACF-E6B19599D389}"/>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frozen evidence update · 2026-08-12</a:t>
            </a:r>
          </a:p>
        </p:txBody>
      </p:sp>
    </p:spTree>
    <p:extLst>
      <p:ext uri="{BB962C8B-B14F-4D97-AF65-F5344CB8AC3E}">
        <p14:creationId xmlns:p14="http://schemas.microsoft.com/office/powerpoint/2010/main" val="43528903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920C631-8ED4-476E-8EE4-C35A879BEB0C}"/>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EXECUTION ARCHITECTURE</a:t>
            </a:r>
          </a:p>
        </p:txBody>
      </p:sp>
      <p:sp>
        <p:nvSpPr>
          <p:cNvPr id="2" name="">
            <a:extLst xmlns:a="http://schemas.openxmlformats.org/drawingml/2006/main">
              <a:ext uri="{FF2B5EF4-FFF2-40B4-BE49-F238E27FC236}">
                <a16:creationId xmlns:a16="http://schemas.microsoft.com/office/drawing/2014/main" id="{CE4ACECE-B1BD-45DA-A5D1-C036A826B550}"/>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06</a:t>
            </a:r>
          </a:p>
        </p:txBody>
      </p:sp>
      <p:sp>
        <p:nvSpPr>
          <p:cNvPr id="3" name="">
            <a:extLst xmlns:a="http://schemas.openxmlformats.org/drawingml/2006/main">
              <a:ext uri="{FF2B5EF4-FFF2-40B4-BE49-F238E27FC236}">
                <a16:creationId xmlns:a16="http://schemas.microsoft.com/office/drawing/2014/main" id="{8DAC7010-9426-480C-A74B-99F38BE4584C}"/>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75" b="1">
                <a:solidFill>
                  <a:srgbClr val="17232E"/>
                </a:solidFill>
                <a:latin typeface="Arial Unicode MS"/>
                <a:ea typeface="Arial Unicode MS"/>
                <a:cs typeface="Arial Unicode MS"/>
              </a:defRPr>
            </a:pPr>
            <a:r>
              <a:rPr sz="2475" b="1">
                <a:solidFill>
                  <a:srgbClr val="17232E"/>
                </a:solidFill>
                <a:latin typeface="Arial Unicode MS"/>
                <a:ea typeface="Arial Unicode MS"/>
                <a:cs typeface="Arial Unicode MS"/>
              </a:rPr>
              <a:t>历史实验只影响开局，目标观测开始后统一使用 target-only GP-UCB</a:t>
            </a:r>
          </a:p>
        </p:txBody>
      </p:sp>
      <p:sp>
        <p:nvSpPr>
          <p:cNvPr id="4" name="">
            <a:extLst xmlns:a="http://schemas.openxmlformats.org/drawingml/2006/main">
              <a:ext uri="{FF2B5EF4-FFF2-40B4-BE49-F238E27FC236}">
                <a16:creationId xmlns:a16="http://schemas.microsoft.com/office/drawing/2014/main" id="{7E1CFAC5-F6BF-46D1-8D1A-23D2E25A3DDF}"/>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e2e181ec7ee044a0"/>
          <a:stretch xmlns:a="http://schemas.openxmlformats.org/drawingml/2006/main"/>
        </p:blipFill>
        <p:spPr>
          <a:xfrm xmlns:a="http://schemas.openxmlformats.org/drawingml/2006/main">
            <a:off x="1575410" y="1257300"/>
            <a:ext cx="9041181" cy="50958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5EF5EB4D-85F4-4618-AB37-2A4DCD899E3D}"/>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frozen evidence update · 2026-08-12</a:t>
            </a:r>
          </a:p>
        </p:txBody>
      </p:sp>
    </p:spTree>
    <p:extLst>
      <p:ext uri="{BB962C8B-B14F-4D97-AF65-F5344CB8AC3E}">
        <p14:creationId xmlns:p14="http://schemas.microsoft.com/office/powerpoint/2010/main" val="148806681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B4D3FA62-2339-4EB9-92C9-DA1AE83B074A}"/>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SCOPE</a:t>
            </a:r>
          </a:p>
        </p:txBody>
      </p:sp>
      <p:sp>
        <p:nvSpPr>
          <p:cNvPr id="2" name="">
            <a:extLst xmlns:a="http://schemas.openxmlformats.org/drawingml/2006/main">
              <a:ext uri="{FF2B5EF4-FFF2-40B4-BE49-F238E27FC236}">
                <a16:creationId xmlns:a16="http://schemas.microsoft.com/office/drawing/2014/main" id="{D5AD219F-AB84-420B-B2C7-76446FED1A5A}"/>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07</a:t>
            </a:r>
          </a:p>
        </p:txBody>
      </p:sp>
      <p:sp>
        <p:nvSpPr>
          <p:cNvPr id="3" name="">
            <a:extLst xmlns:a="http://schemas.openxmlformats.org/drawingml/2006/main">
              <a:ext uri="{FF2B5EF4-FFF2-40B4-BE49-F238E27FC236}">
                <a16:creationId xmlns:a16="http://schemas.microsoft.com/office/drawing/2014/main" id="{53B41AB4-026D-4016-91FD-3D3F24EFFF02}"/>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550" b="1">
                <a:solidFill>
                  <a:srgbClr val="17232E"/>
                </a:solidFill>
                <a:latin typeface="Arial Unicode MS"/>
                <a:ea typeface="Arial Unicode MS"/>
                <a:cs typeface="Arial Unicode MS"/>
              </a:defRPr>
            </a:pPr>
            <a:r>
              <a:rPr sz="2550" b="1">
                <a:solidFill>
                  <a:srgbClr val="17232E"/>
                </a:solidFill>
                <a:latin typeface="Arial Unicode MS"/>
                <a:ea typeface="Arial Unicode MS"/>
                <a:cs typeface="Arial Unicode MS"/>
              </a:rPr>
              <a:t>CARE 2.0 是完整平台；v2 是当前最干净的验证切片</a:t>
            </a:r>
          </a:p>
        </p:txBody>
      </p:sp>
      <p:sp>
        <p:nvSpPr>
          <p:cNvPr id="4" name="">
            <a:extLst xmlns:a="http://schemas.openxmlformats.org/drawingml/2006/main">
              <a:ext uri="{FF2B5EF4-FFF2-40B4-BE49-F238E27FC236}">
                <a16:creationId xmlns:a16="http://schemas.microsoft.com/office/drawing/2014/main" id="{896DEE5E-0CD9-462F-8CBC-310B122C243E}"/>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9EE6146-AC14-48AA-B0F6-9187F1E891AE}"/>
              </a:ext>
            </a:extLst>
          </p:cNvPr>
          <p:cNvSpPr>
            <a:spLocks xmlns:a="http://schemas.openxmlformats.org/drawingml/2006/main" noGrp="1"/>
          </p:cNvSpPr>
          <p:nvPr/>
        </p:nvSpPr>
        <p:spPr>
          <a:xfrm xmlns:a="http://schemas.openxmlformats.org/drawingml/2006/main">
            <a:off x="647700" y="1638300"/>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2F6FB6"/>
                </a:solidFill>
                <a:latin typeface="Arial Unicode MS"/>
                <a:ea typeface="Arial Unicode MS"/>
                <a:cs typeface="Arial Unicode MS"/>
              </a:defRPr>
            </a:pPr>
            <a:r>
              <a:rPr sz="1800" b="1">
                <a:solidFill>
                  <a:srgbClr val="2F6FB6"/>
                </a:solidFill>
                <a:latin typeface="Arial Unicode MS"/>
                <a:ea typeface="Arial Unicode MS"/>
                <a:cs typeface="Arial Unicode MS"/>
              </a:rPr>
              <a:t>完整平台路线</a:t>
            </a:r>
          </a:p>
        </p:txBody>
      </p:sp>
      <p:sp>
        <p:nvSpPr>
          <p:cNvPr id="6" name="">
            <a:extLst xmlns:a="http://schemas.openxmlformats.org/drawingml/2006/main">
              <a:ext uri="{FF2B5EF4-FFF2-40B4-BE49-F238E27FC236}">
                <a16:creationId xmlns:a16="http://schemas.microsoft.com/office/drawing/2014/main" id="{F820A799-F9F6-41D5-B752-3C0913FB341E}"/>
              </a:ext>
            </a:extLst>
          </p:cNvPr>
          <p:cNvSpPr>
            <a:spLocks xmlns:a="http://schemas.openxmlformats.org/drawingml/2006/main" noGrp="1"/>
          </p:cNvSpPr>
          <p:nvPr/>
        </p:nvSpPr>
        <p:spPr>
          <a:xfrm xmlns:a="http://schemas.openxmlformats.org/drawingml/2006/main">
            <a:off x="647700" y="2095500"/>
            <a:ext cx="4953000" cy="3143250"/>
          </a:xfrm>
          <a:prstGeom xmlns:a="http://schemas.openxmlformats.org/drawingml/2006/main" prst="rect">
            <a:avLst/>
          </a:prstGeom>
          <a:solidFill xmlns:a="http://schemas.openxmlformats.org/drawingml/2006/main">
            <a:srgbClr val="EAF3FB"/>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66D7217C-0CD5-4D8B-9E63-A719052D0402}"/>
              </a:ext>
            </a:extLst>
          </p:cNvPr>
          <p:cNvSpPr>
            <a:spLocks xmlns:a="http://schemas.openxmlformats.org/drawingml/2006/main" noGrp="1"/>
          </p:cNvSpPr>
          <p:nvPr/>
        </p:nvSpPr>
        <p:spPr>
          <a:xfrm xmlns:a="http://schemas.openxmlformats.org/drawingml/2006/main">
            <a:off x="914400" y="2381250"/>
            <a:ext cx="44196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8000"/>
              </a:lnSpc>
              <a:buNone/>
              <a:defRPr sz="1575" b="0">
                <a:solidFill>
                  <a:srgbClr val="17232E"/>
                </a:solidFill>
                <a:latin typeface="Arial Unicode MS"/>
                <a:ea typeface="Arial Unicode MS"/>
                <a:cs typeface="Arial Unicode MS"/>
              </a:defRPr>
            </a:pPr>
            <a:r>
              <a:rPr sz="1575" b="0">
                <a:solidFill>
                  <a:srgbClr val="17232E"/>
                </a:solidFill>
                <a:latin typeface="Arial Unicode MS"/>
                <a:ea typeface="Arial Unicode MS"/>
                <a:cs typeface="Arial Unicode MS"/>
              </a:rPr>
              <a:t>• LLM hypothesis 与 source-target role mapping</a:t>
            </a:r>
          </a:p>
          <a:p xmlns:a="http://schemas.openxmlformats.org/drawingml/2006/main">
            <a:pPr algn="l">
              <a:lnSpc>
                <a:spcPct val="118000"/>
              </a:lnSpc>
              <a:buNone/>
              <a:defRPr sz="1575" b="0">
                <a:solidFill>
                  <a:srgbClr val="17232E"/>
                </a:solidFill>
                <a:latin typeface="Arial Unicode MS"/>
                <a:ea typeface="Arial Unicode MS"/>
                <a:cs typeface="Arial Unicode MS"/>
              </a:defRPr>
            </a:pPr>
            <a:r>
              <a:rPr sz="1575" b="0">
                <a:solidFill>
                  <a:srgbClr val="17232E"/>
                </a:solidFill>
                <a:latin typeface="Arial Unicode MS"/>
                <a:ea typeface="Arial Unicode MS"/>
                <a:cs typeface="Arial Unicode MS"/>
              </a:rPr>
              <a:t>• neighbor / additive / interaction source priors</a:t>
            </a:r>
          </a:p>
          <a:p xmlns:a="http://schemas.openxmlformats.org/drawingml/2006/main">
            <a:pPr algn="l">
              <a:lnSpc>
                <a:spcPct val="118000"/>
              </a:lnSpc>
              <a:buNone/>
              <a:defRPr sz="1575" b="0">
                <a:solidFill>
                  <a:srgbClr val="17232E"/>
                </a:solidFill>
                <a:latin typeface="Arial Unicode MS"/>
                <a:ea typeface="Arial Unicode MS"/>
                <a:cs typeface="Arial Unicode MS"/>
              </a:defRPr>
            </a:pPr>
            <a:r>
              <a:rPr sz="1575" b="0">
                <a:solidFill>
                  <a:srgbClr val="17232E"/>
                </a:solidFill>
                <a:latin typeface="Arial Unicode MS"/>
                <a:ea typeface="Arial Unicode MS"/>
                <a:cs typeface="Arial Unicode MS"/>
              </a:rPr>
              <a:t>• kernel geometry patch 与 online routing</a:t>
            </a:r>
          </a:p>
          <a:p xmlns:a="http://schemas.openxmlformats.org/drawingml/2006/main">
            <a:pPr algn="l">
              <a:lnSpc>
                <a:spcPct val="118000"/>
              </a:lnSpc>
              <a:buNone/>
              <a:defRPr sz="1575" b="0">
                <a:solidFill>
                  <a:srgbClr val="17232E"/>
                </a:solidFill>
                <a:latin typeface="Arial Unicode MS"/>
                <a:ea typeface="Arial Unicode MS"/>
                <a:cs typeface="Arial Unicode MS"/>
              </a:defRPr>
            </a:pPr>
            <a:r>
              <a:rPr sz="1575" b="0">
                <a:solidFill>
                  <a:srgbClr val="17232E"/>
                </a:solidFill>
                <a:latin typeface="Arial Unicode MS"/>
                <a:ea typeface="Arial Unicode MS"/>
                <a:cs typeface="Arial Unicode MS"/>
              </a:rPr>
              <a:t>• calibration gate、exact fallback 和 audit</a:t>
            </a:r>
          </a:p>
          <a:p xmlns:a="http://schemas.openxmlformats.org/drawingml/2006/main">
            <a:pPr algn="l">
              <a:lnSpc>
                <a:spcPct val="118000"/>
              </a:lnSpc>
              <a:buNone/>
              <a:defRPr sz="1575" b="0">
                <a:solidFill>
                  <a:srgbClr val="17232E"/>
                </a:solidFill>
                <a:latin typeface="Arial Unicode MS"/>
                <a:ea typeface="Arial Unicode MS"/>
                <a:cs typeface="Arial Unicode MS"/>
              </a:defRPr>
            </a:pPr>
            <a:r>
              <a:rPr sz="1575" b="0">
                <a:solidFill>
                  <a:srgbClr val="17232E"/>
                </a:solidFill>
                <a:latin typeface="Arial Unicode MS"/>
                <a:ea typeface="Arial Unicode MS"/>
                <a:cs typeface="Arial Unicode MS"/>
              </a:rPr>
              <a:t>• 用于研究不同模块如何组合</a:t>
            </a:r>
          </a:p>
        </p:txBody>
      </p:sp>
      <p:sp>
        <p:nvSpPr>
          <p:cNvPr id="8" name="">
            <a:extLst xmlns:a="http://schemas.openxmlformats.org/drawingml/2006/main">
              <a:ext uri="{FF2B5EF4-FFF2-40B4-BE49-F238E27FC236}">
                <a16:creationId xmlns:a16="http://schemas.microsoft.com/office/drawing/2014/main" id="{7B6A9AC2-F6F1-4388-B3A6-D936E7B70B16}"/>
              </a:ext>
            </a:extLst>
          </p:cNvPr>
          <p:cNvSpPr>
            <a:spLocks xmlns:a="http://schemas.openxmlformats.org/drawingml/2006/main" noGrp="1"/>
          </p:cNvSpPr>
          <p:nvPr/>
        </p:nvSpPr>
        <p:spPr>
          <a:xfrm xmlns:a="http://schemas.openxmlformats.org/drawingml/2006/main">
            <a:off x="6515100" y="1638300"/>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2C8A62"/>
                </a:solidFill>
                <a:latin typeface="Arial Unicode MS"/>
                <a:ea typeface="Arial Unicode MS"/>
                <a:cs typeface="Arial Unicode MS"/>
              </a:defRPr>
            </a:pPr>
            <a:r>
              <a:rPr sz="1800" b="1">
                <a:solidFill>
                  <a:srgbClr val="2C8A62"/>
                </a:solidFill>
                <a:latin typeface="Arial Unicode MS"/>
                <a:ea typeface="Arial Unicode MS"/>
                <a:cs typeface="Arial Unicode MS"/>
              </a:rPr>
              <a:t>最新 v2 外部验证</a:t>
            </a:r>
          </a:p>
        </p:txBody>
      </p:sp>
      <p:sp>
        <p:nvSpPr>
          <p:cNvPr id="9" name="">
            <a:extLst xmlns:a="http://schemas.openxmlformats.org/drawingml/2006/main">
              <a:ext uri="{FF2B5EF4-FFF2-40B4-BE49-F238E27FC236}">
                <a16:creationId xmlns:a16="http://schemas.microsoft.com/office/drawing/2014/main" id="{96721ADF-9502-4017-B3E0-6CF7DBE64507}"/>
              </a:ext>
            </a:extLst>
          </p:cNvPr>
          <p:cNvSpPr>
            <a:spLocks xmlns:a="http://schemas.openxmlformats.org/drawingml/2006/main" noGrp="1"/>
          </p:cNvSpPr>
          <p:nvPr/>
        </p:nvSpPr>
        <p:spPr>
          <a:xfrm xmlns:a="http://schemas.openxmlformats.org/drawingml/2006/main">
            <a:off x="6515100" y="2095500"/>
            <a:ext cx="4953000" cy="3143250"/>
          </a:xfrm>
          <a:prstGeom xmlns:a="http://schemas.openxmlformats.org/drawingml/2006/main" prst="rect">
            <a:avLst/>
          </a:prstGeom>
          <a:solidFill xmlns:a="http://schemas.openxmlformats.org/drawingml/2006/main">
            <a:srgbClr val="EAF6F0"/>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4E0EAEA-1A6B-40FB-8C3C-D13C450B4311}"/>
              </a:ext>
            </a:extLst>
          </p:cNvPr>
          <p:cNvSpPr>
            <a:spLocks xmlns:a="http://schemas.openxmlformats.org/drawingml/2006/main" noGrp="1"/>
          </p:cNvSpPr>
          <p:nvPr/>
        </p:nvSpPr>
        <p:spPr>
          <a:xfrm xmlns:a="http://schemas.openxmlformats.org/drawingml/2006/main">
            <a:off x="6781800" y="2381250"/>
            <a:ext cx="44196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8000"/>
              </a:lnSpc>
              <a:buNone/>
              <a:defRPr sz="1575" b="0">
                <a:solidFill>
                  <a:srgbClr val="17232E"/>
                </a:solidFill>
                <a:latin typeface="Arial Unicode MS"/>
                <a:ea typeface="Arial Unicode MS"/>
                <a:cs typeface="Arial Unicode MS"/>
              </a:defRPr>
            </a:pPr>
            <a:r>
              <a:rPr sz="1575" b="0">
                <a:solidFill>
                  <a:srgbClr val="17232E"/>
                </a:solidFill>
                <a:latin typeface="Arial Unicode MS"/>
                <a:ea typeface="Arial Unicode MS"/>
                <a:cs typeface="Arial Unicode MS"/>
              </a:rPr>
              <a:t>• 只使用真实 source outcomes</a:t>
            </a:r>
          </a:p>
          <a:p xmlns:a="http://schemas.openxmlformats.org/drawingml/2006/main">
            <a:pPr algn="l">
              <a:lnSpc>
                <a:spcPct val="118000"/>
              </a:lnSpc>
              <a:buNone/>
              <a:defRPr sz="1575" b="0">
                <a:solidFill>
                  <a:srgbClr val="17232E"/>
                </a:solidFill>
                <a:latin typeface="Arial Unicode MS"/>
                <a:ea typeface="Arial Unicode MS"/>
                <a:cs typeface="Arial Unicode MS"/>
              </a:defRPr>
            </a:pPr>
            <a:r>
              <a:rPr sz="1575" b="0">
                <a:solidFill>
                  <a:srgbClr val="17232E"/>
                </a:solidFill>
                <a:latin typeface="Arial Unicode MS"/>
                <a:ea typeface="Arial Unicode MS"/>
                <a:cs typeface="Arial Unicode MS"/>
              </a:rPr>
              <a:t>• quality-bounded initial design</a:t>
            </a:r>
          </a:p>
          <a:p xmlns:a="http://schemas.openxmlformats.org/drawingml/2006/main">
            <a:pPr algn="l">
              <a:lnSpc>
                <a:spcPct val="118000"/>
              </a:lnSpc>
              <a:buNone/>
              <a:defRPr sz="1575" b="0">
                <a:solidFill>
                  <a:srgbClr val="17232E"/>
                </a:solidFill>
                <a:latin typeface="Arial Unicode MS"/>
                <a:ea typeface="Arial Unicode MS"/>
                <a:cs typeface="Arial Unicode MS"/>
              </a:defRPr>
            </a:pPr>
            <a:r>
              <a:rPr sz="1575" b="0">
                <a:solidFill>
                  <a:srgbClr val="17232E"/>
                </a:solidFill>
                <a:latin typeface="Arial Unicode MS"/>
                <a:ea typeface="Arial Unicode MS"/>
                <a:cs typeface="Arial Unicode MS"/>
              </a:rPr>
              <a:t>• 3 个初始点后 source 完全退出</a:t>
            </a:r>
          </a:p>
          <a:p xmlns:a="http://schemas.openxmlformats.org/drawingml/2006/main">
            <a:pPr algn="l">
              <a:lnSpc>
                <a:spcPct val="118000"/>
              </a:lnSpc>
              <a:buNone/>
              <a:defRPr sz="1575" b="0">
                <a:solidFill>
                  <a:srgbClr val="17232E"/>
                </a:solidFill>
                <a:latin typeface="Arial Unicode MS"/>
                <a:ea typeface="Arial Unicode MS"/>
                <a:cs typeface="Arial Unicode MS"/>
              </a:defRPr>
            </a:pPr>
            <a:r>
              <a:rPr sz="1575" b="0">
                <a:solidFill>
                  <a:srgbClr val="17232E"/>
                </a:solidFill>
                <a:latin typeface="Arial Unicode MS"/>
                <a:ea typeface="Arial Unicode MS"/>
                <a:cs typeface="Arial Unicode MS"/>
              </a:rPr>
              <a:t>• 后续统一使用 target-only GP-UCB</a:t>
            </a:r>
          </a:p>
          <a:p xmlns:a="http://schemas.openxmlformats.org/drawingml/2006/main">
            <a:pPr algn="l">
              <a:lnSpc>
                <a:spcPct val="118000"/>
              </a:lnSpc>
              <a:buNone/>
              <a:defRPr sz="1575" b="0">
                <a:solidFill>
                  <a:srgbClr val="17232E"/>
                </a:solidFill>
                <a:latin typeface="Arial Unicode MS"/>
                <a:ea typeface="Arial Unicode MS"/>
                <a:cs typeface="Arial Unicode MS"/>
              </a:defRPr>
            </a:pPr>
            <a:r>
              <a:rPr sz="1575" b="0">
                <a:solidFill>
                  <a:srgbClr val="17232E"/>
                </a:solidFill>
                <a:latin typeface="Arial Unicode MS"/>
                <a:ea typeface="Arial Unicode MS"/>
                <a:cs typeface="Arial Unicode MS"/>
              </a:rPr>
              <a:t>• 本轮 LLM 不参与选点或调分</a:t>
            </a:r>
          </a:p>
        </p:txBody>
      </p:sp>
      <p:sp>
        <p:nvSpPr>
          <p:cNvPr id="11" name="">
            <a:extLst xmlns:a="http://schemas.openxmlformats.org/drawingml/2006/main">
              <a:ext uri="{FF2B5EF4-FFF2-40B4-BE49-F238E27FC236}">
                <a16:creationId xmlns:a16="http://schemas.microsoft.com/office/drawing/2014/main" id="{91D0DB92-0A5A-4B23-95BD-13BC6B52F23B}"/>
              </a:ext>
            </a:extLst>
          </p:cNvPr>
          <p:cNvSpPr>
            <a:spLocks xmlns:a="http://schemas.openxmlformats.org/drawingml/2006/main" noGrp="1"/>
          </p:cNvSpPr>
          <p:nvPr/>
        </p:nvSpPr>
        <p:spPr>
          <a:xfrm xmlns:a="http://schemas.openxmlformats.org/drawingml/2006/main">
            <a:off x="3505200" y="5524500"/>
            <a:ext cx="5181600" cy="533400"/>
          </a:xfrm>
          <a:prstGeom xmlns:a="http://schemas.openxmlformats.org/drawingml/2006/main" prst="rect">
            <a:avLst/>
          </a:prstGeom>
          <a:solidFill xmlns:a="http://schemas.openxmlformats.org/drawingml/2006/main">
            <a:srgbClr val="17324D"/>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F0EBEB24-12C2-45F1-AB18-B343D2098DC9}"/>
              </a:ext>
            </a:extLst>
          </p:cNvPr>
          <p:cNvSpPr>
            <a:spLocks xmlns:a="http://schemas.openxmlformats.org/drawingml/2006/main" noGrp="1"/>
          </p:cNvSpPr>
          <p:nvPr/>
        </p:nvSpPr>
        <p:spPr>
          <a:xfrm xmlns:a="http://schemas.openxmlformats.org/drawingml/2006/main">
            <a:off x="3714750" y="565785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222"/>
          </a:bodyPr>
          <a:lstStyle xmlns:a="http://schemas.openxmlformats.org/drawingml/2006/main"/>
          <a:p xmlns:a="http://schemas.openxmlformats.org/drawingml/2006/main">
            <a:pPr algn="ctr">
              <a:lnSpc>
                <a:spcPct val="106000"/>
              </a:lnSpc>
              <a:buNone/>
              <a:defRPr sz="1500" b="1">
                <a:solidFill>
                  <a:srgbClr val="FFFFFF"/>
                </a:solidFill>
                <a:latin typeface="Arial Unicode MS"/>
                <a:ea typeface="Arial Unicode MS"/>
                <a:cs typeface="Arial Unicode MS"/>
              </a:defRPr>
            </a:pPr>
            <a:r>
              <a:rPr sz="1500" b="1">
                <a:solidFill>
                  <a:srgbClr val="FFFFFF"/>
                </a:solidFill>
                <a:latin typeface="Arial Unicode MS"/>
                <a:ea typeface="Arial Unicode MS"/>
                <a:cs typeface="Arial Unicode MS"/>
              </a:rPr>
              <a:t>先把 source-outcome 的因果贡献钉牢，再重新加入 LLM。</a:t>
            </a:r>
          </a:p>
        </p:txBody>
      </p:sp>
      <p:sp>
        <p:nvSpPr>
          <p:cNvPr id="13" name="">
            <a:extLst xmlns:a="http://schemas.openxmlformats.org/drawingml/2006/main">
              <a:ext uri="{FF2B5EF4-FFF2-40B4-BE49-F238E27FC236}">
                <a16:creationId xmlns:a16="http://schemas.microsoft.com/office/drawing/2014/main" id="{7B858C81-97B9-4B74-9C35-149B75EAAB23}"/>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frozen evidence update · 2026-08-12</a:t>
            </a:r>
          </a:p>
        </p:txBody>
      </p:sp>
    </p:spTree>
    <p:extLst>
      <p:ext uri="{BB962C8B-B14F-4D97-AF65-F5344CB8AC3E}">
        <p14:creationId xmlns:p14="http://schemas.microsoft.com/office/powerpoint/2010/main" val="114129793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515BCAC7-8850-495D-A792-B152DF465BC6}"/>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REPLAY HARNESS</a:t>
            </a:r>
          </a:p>
        </p:txBody>
      </p:sp>
      <p:sp>
        <p:nvSpPr>
          <p:cNvPr id="2" name="">
            <a:extLst xmlns:a="http://schemas.openxmlformats.org/drawingml/2006/main">
              <a:ext uri="{FF2B5EF4-FFF2-40B4-BE49-F238E27FC236}">
                <a16:creationId xmlns:a16="http://schemas.microsoft.com/office/drawing/2014/main" id="{EAF118C4-061B-43D8-8B85-E450BEF37255}"/>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08</a:t>
            </a:r>
          </a:p>
        </p:txBody>
      </p:sp>
      <p:sp>
        <p:nvSpPr>
          <p:cNvPr id="3" name="">
            <a:extLst xmlns:a="http://schemas.openxmlformats.org/drawingml/2006/main">
              <a:ext uri="{FF2B5EF4-FFF2-40B4-BE49-F238E27FC236}">
                <a16:creationId xmlns:a16="http://schemas.microsoft.com/office/drawing/2014/main" id="{EAAB7364-16BB-48DD-8CBC-64BC67D2FB23}"/>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75" b="1">
                <a:solidFill>
                  <a:srgbClr val="17232E"/>
                </a:solidFill>
                <a:latin typeface="Arial Unicode MS"/>
                <a:ea typeface="Arial Unicode MS"/>
                <a:cs typeface="Arial Unicode MS"/>
              </a:defRPr>
            </a:pPr>
            <a:r>
              <a:rPr sz="2475" b="1">
                <a:solidFill>
                  <a:srgbClr val="17232E"/>
                </a:solidFill>
                <a:latin typeface="Arial Unicode MS"/>
                <a:ea typeface="Arial Unicode MS"/>
                <a:cs typeface="Arial Unicode MS"/>
              </a:rPr>
              <a:t>历史数据按真实实验节奏逐轮揭示，而不是一次性看完整答案</a:t>
            </a:r>
          </a:p>
        </p:txBody>
      </p:sp>
      <p:sp>
        <p:nvSpPr>
          <p:cNvPr id="4" name="">
            <a:extLst xmlns:a="http://schemas.openxmlformats.org/drawingml/2006/main">
              <a:ext uri="{FF2B5EF4-FFF2-40B4-BE49-F238E27FC236}">
                <a16:creationId xmlns:a16="http://schemas.microsoft.com/office/drawing/2014/main" id="{C4C93E76-281A-4C91-8C2E-3BD15B69A9E4}"/>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A809FDE1-1409-45CF-8C26-38C2631D0B61}"/>
              </a:ext>
            </a:extLst>
          </p:cNvPr>
          <p:cNvSpPr>
            <a:spLocks xmlns:a="http://schemas.openxmlformats.org/drawingml/2006/main" noGrp="1"/>
          </p:cNvSpPr>
          <p:nvPr/>
        </p:nvSpPr>
        <p:spPr>
          <a:xfrm xmlns:a="http://schemas.openxmlformats.org/drawingml/2006/main">
            <a:off x="2533650" y="2552700"/>
            <a:ext cx="3619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2250" b="1">
                <a:solidFill>
                  <a:srgbClr val="2F6FB6"/>
                </a:solidFill>
                <a:latin typeface="Arial Unicode MS"/>
                <a:ea typeface="Arial Unicode MS"/>
                <a:cs typeface="Arial Unicode MS"/>
              </a:defRPr>
            </a:pPr>
            <a:r>
              <a:rPr sz="2250" b="1">
                <a:solidFill>
                  <a:srgbClr val="2F6FB6"/>
                </a:solidFill>
                <a:latin typeface="Arial Unicode MS"/>
                <a:ea typeface="Arial Unicode MS"/>
                <a:cs typeface="Arial Unicode MS"/>
              </a:rPr>
              <a:t>→</a:t>
            </a:r>
          </a:p>
        </p:txBody>
      </p:sp>
      <p:sp>
        <p:nvSpPr>
          <p:cNvPr id="6" name="">
            <a:extLst xmlns:a="http://schemas.openxmlformats.org/drawingml/2006/main">
              <a:ext uri="{FF2B5EF4-FFF2-40B4-BE49-F238E27FC236}">
                <a16:creationId xmlns:a16="http://schemas.microsoft.com/office/drawing/2014/main" id="{EBF23743-4CA0-42BD-8CDF-0F7DC4955462}"/>
              </a:ext>
            </a:extLst>
          </p:cNvPr>
          <p:cNvSpPr>
            <a:spLocks xmlns:a="http://schemas.openxmlformats.org/drawingml/2006/main" noGrp="1"/>
          </p:cNvSpPr>
          <p:nvPr/>
        </p:nvSpPr>
        <p:spPr>
          <a:xfrm xmlns:a="http://schemas.openxmlformats.org/drawingml/2006/main">
            <a:off x="647700" y="2152650"/>
            <a:ext cx="1809750" cy="1181100"/>
          </a:xfrm>
          <a:prstGeom xmlns:a="http://schemas.openxmlformats.org/drawingml/2006/main" prst="rect">
            <a:avLst/>
          </a:prstGeom>
          <a:solidFill xmlns:a="http://schemas.openxmlformats.org/drawingml/2006/main">
            <a:srgbClr val="F1F4F6"/>
          </a:solidFill>
          <a:ln xmlns:a="http://schemas.openxmlformats.org/drawingml/2006/main" w="9525">
            <a:solidFill>
              <a:srgbClr val="C9D0D6"/>
            </a:solidFill>
            <a:prstDash val="solid"/>
          </a:ln>
        </p:spPr>
      </p:sp>
      <p:sp>
        <p:nvSpPr>
          <p:cNvPr id="7" name="">
            <a:extLst xmlns:a="http://schemas.openxmlformats.org/drawingml/2006/main">
              <a:ext uri="{FF2B5EF4-FFF2-40B4-BE49-F238E27FC236}">
                <a16:creationId xmlns:a16="http://schemas.microsoft.com/office/drawing/2014/main" id="{D04BB8A4-F49D-4B3F-A4E5-F88E7805C85F}"/>
              </a:ext>
            </a:extLst>
          </p:cNvPr>
          <p:cNvSpPr>
            <a:spLocks xmlns:a="http://schemas.openxmlformats.org/drawingml/2006/main" noGrp="1"/>
          </p:cNvSpPr>
          <p:nvPr/>
        </p:nvSpPr>
        <p:spPr>
          <a:xfrm xmlns:a="http://schemas.openxmlformats.org/drawingml/2006/main">
            <a:off x="781050" y="2428875"/>
            <a:ext cx="15430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6000"/>
              </a:lnSpc>
              <a:buNone/>
              <a:defRPr sz="1575" b="1">
                <a:solidFill>
                  <a:srgbClr val="17232E"/>
                </a:solidFill>
                <a:latin typeface="Arial Unicode MS"/>
                <a:ea typeface="Arial Unicode MS"/>
                <a:cs typeface="Arial Unicode MS"/>
              </a:defRPr>
            </a:pPr>
            <a:r>
              <a:rPr sz="1575" b="1">
                <a:solidFill>
                  <a:srgbClr val="17232E"/>
                </a:solidFill>
                <a:latin typeface="Arial Unicode MS"/>
                <a:ea typeface="Arial Unicode MS"/>
                <a:cs typeface="Arial Unicode MS"/>
              </a:rPr>
              <a:t>隐藏 target</a:t>
            </a:r>
          </a:p>
          <a:p xmlns:a="http://schemas.openxmlformats.org/drawingml/2006/main">
            <a:pPr algn="ctr">
              <a:lnSpc>
                <a:spcPct val="106000"/>
              </a:lnSpc>
              <a:buNone/>
              <a:defRPr sz="1575" b="1">
                <a:solidFill>
                  <a:srgbClr val="17232E"/>
                </a:solidFill>
                <a:latin typeface="Arial Unicode MS"/>
                <a:ea typeface="Arial Unicode MS"/>
                <a:cs typeface="Arial Unicode MS"/>
              </a:defRPr>
            </a:pPr>
            <a:r>
              <a:rPr sz="1575" b="1">
                <a:solidFill>
                  <a:srgbClr val="17232E"/>
                </a:solidFill>
                <a:latin typeface="Arial Unicode MS"/>
                <a:ea typeface="Arial Unicode MS"/>
                <a:cs typeface="Arial Unicode MS"/>
              </a:rPr>
              <a:t>outcomes</a:t>
            </a:r>
          </a:p>
        </p:txBody>
      </p:sp>
      <p:sp>
        <p:nvSpPr>
          <p:cNvPr id="8" name="">
            <a:extLst xmlns:a="http://schemas.openxmlformats.org/drawingml/2006/main">
              <a:ext uri="{FF2B5EF4-FFF2-40B4-BE49-F238E27FC236}">
                <a16:creationId xmlns:a16="http://schemas.microsoft.com/office/drawing/2014/main" id="{1C57D29D-4B6B-4FB2-9A5B-CD562338C709}"/>
              </a:ext>
            </a:extLst>
          </p:cNvPr>
          <p:cNvSpPr>
            <a:spLocks xmlns:a="http://schemas.openxmlformats.org/drawingml/2006/main" noGrp="1"/>
          </p:cNvSpPr>
          <p:nvPr/>
        </p:nvSpPr>
        <p:spPr>
          <a:xfrm xmlns:a="http://schemas.openxmlformats.org/drawingml/2006/main">
            <a:off x="4857750" y="2552700"/>
            <a:ext cx="3619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2250" b="1">
                <a:solidFill>
                  <a:srgbClr val="2F6FB6"/>
                </a:solidFill>
                <a:latin typeface="Arial Unicode MS"/>
                <a:ea typeface="Arial Unicode MS"/>
                <a:cs typeface="Arial Unicode MS"/>
              </a:defRPr>
            </a:pPr>
            <a:r>
              <a:rPr sz="2250" b="1">
                <a:solidFill>
                  <a:srgbClr val="2F6FB6"/>
                </a:solidFill>
                <a:latin typeface="Arial Unicode MS"/>
                <a:ea typeface="Arial Unicode MS"/>
                <a:cs typeface="Arial Unicode MS"/>
              </a:rPr>
              <a:t>→</a:t>
            </a:r>
          </a:p>
        </p:txBody>
      </p:sp>
      <p:sp>
        <p:nvSpPr>
          <p:cNvPr id="9" name="">
            <a:extLst xmlns:a="http://schemas.openxmlformats.org/drawingml/2006/main">
              <a:ext uri="{FF2B5EF4-FFF2-40B4-BE49-F238E27FC236}">
                <a16:creationId xmlns:a16="http://schemas.microsoft.com/office/drawing/2014/main" id="{ADEDD6AB-E33E-4ECD-8F52-AF96F1E83464}"/>
              </a:ext>
            </a:extLst>
          </p:cNvPr>
          <p:cNvSpPr>
            <a:spLocks xmlns:a="http://schemas.openxmlformats.org/drawingml/2006/main" noGrp="1"/>
          </p:cNvSpPr>
          <p:nvPr/>
        </p:nvSpPr>
        <p:spPr>
          <a:xfrm xmlns:a="http://schemas.openxmlformats.org/drawingml/2006/main">
            <a:off x="2971800" y="2152650"/>
            <a:ext cx="1809750" cy="1181100"/>
          </a:xfrm>
          <a:prstGeom xmlns:a="http://schemas.openxmlformats.org/drawingml/2006/main" prst="rect">
            <a:avLst/>
          </a:prstGeom>
          <a:solidFill xmlns:a="http://schemas.openxmlformats.org/drawingml/2006/main">
            <a:srgbClr val="EAF3FB"/>
          </a:solidFill>
          <a:ln xmlns:a="http://schemas.openxmlformats.org/drawingml/2006/main" w="9525">
            <a:solidFill>
              <a:srgbClr val="C9D0D6"/>
            </a:solidFill>
            <a:prstDash val="solid"/>
          </a:ln>
        </p:spPr>
      </p:sp>
      <p:sp>
        <p:nvSpPr>
          <p:cNvPr id="10" name="">
            <a:extLst xmlns:a="http://schemas.openxmlformats.org/drawingml/2006/main">
              <a:ext uri="{FF2B5EF4-FFF2-40B4-BE49-F238E27FC236}">
                <a16:creationId xmlns:a16="http://schemas.microsoft.com/office/drawing/2014/main" id="{4D495897-D552-40F1-B8DA-5AC2F5E387DE}"/>
              </a:ext>
            </a:extLst>
          </p:cNvPr>
          <p:cNvSpPr>
            <a:spLocks xmlns:a="http://schemas.openxmlformats.org/drawingml/2006/main" noGrp="1"/>
          </p:cNvSpPr>
          <p:nvPr/>
        </p:nvSpPr>
        <p:spPr>
          <a:xfrm xmlns:a="http://schemas.openxmlformats.org/drawingml/2006/main">
            <a:off x="3105150" y="2428875"/>
            <a:ext cx="15430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6000"/>
              </a:lnSpc>
              <a:buNone/>
              <a:defRPr sz="1575" b="1">
                <a:solidFill>
                  <a:srgbClr val="17232E"/>
                </a:solidFill>
                <a:latin typeface="Arial Unicode MS"/>
                <a:ea typeface="Arial Unicode MS"/>
                <a:cs typeface="Arial Unicode MS"/>
              </a:defRPr>
            </a:pPr>
            <a:r>
              <a:rPr sz="1575" b="1">
                <a:solidFill>
                  <a:srgbClr val="17232E"/>
                </a:solidFill>
                <a:latin typeface="Arial Unicode MS"/>
                <a:ea typeface="Arial Unicode MS"/>
                <a:cs typeface="Arial Unicode MS"/>
              </a:rPr>
              <a:t>选择一个</a:t>
            </a:r>
          </a:p>
          <a:p xmlns:a="http://schemas.openxmlformats.org/drawingml/2006/main">
            <a:pPr algn="ctr">
              <a:lnSpc>
                <a:spcPct val="106000"/>
              </a:lnSpc>
              <a:buNone/>
              <a:defRPr sz="1575" b="1">
                <a:solidFill>
                  <a:srgbClr val="17232E"/>
                </a:solidFill>
                <a:latin typeface="Arial Unicode MS"/>
                <a:ea typeface="Arial Unicode MS"/>
                <a:cs typeface="Arial Unicode MS"/>
              </a:defRPr>
            </a:pPr>
            <a:r>
              <a:rPr sz="1575" b="1">
                <a:solidFill>
                  <a:srgbClr val="17232E"/>
                </a:solidFill>
                <a:latin typeface="Arial Unicode MS"/>
                <a:ea typeface="Arial Unicode MS"/>
                <a:cs typeface="Arial Unicode MS"/>
              </a:rPr>
              <a:t>candidate</a:t>
            </a:r>
          </a:p>
        </p:txBody>
      </p:sp>
      <p:sp>
        <p:nvSpPr>
          <p:cNvPr id="11" name="">
            <a:extLst xmlns:a="http://schemas.openxmlformats.org/drawingml/2006/main">
              <a:ext uri="{FF2B5EF4-FFF2-40B4-BE49-F238E27FC236}">
                <a16:creationId xmlns:a16="http://schemas.microsoft.com/office/drawing/2014/main" id="{F1D8E67E-322D-4F9A-B606-AE48A4378F8F}"/>
              </a:ext>
            </a:extLst>
          </p:cNvPr>
          <p:cNvSpPr>
            <a:spLocks xmlns:a="http://schemas.openxmlformats.org/drawingml/2006/main" noGrp="1"/>
          </p:cNvSpPr>
          <p:nvPr/>
        </p:nvSpPr>
        <p:spPr>
          <a:xfrm xmlns:a="http://schemas.openxmlformats.org/drawingml/2006/main">
            <a:off x="7181850" y="2552700"/>
            <a:ext cx="3619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2250" b="1">
                <a:solidFill>
                  <a:srgbClr val="2F6FB6"/>
                </a:solidFill>
                <a:latin typeface="Arial Unicode MS"/>
                <a:ea typeface="Arial Unicode MS"/>
                <a:cs typeface="Arial Unicode MS"/>
              </a:defRPr>
            </a:pPr>
            <a:r>
              <a:rPr sz="2250" b="1">
                <a:solidFill>
                  <a:srgbClr val="2F6FB6"/>
                </a:solidFill>
                <a:latin typeface="Arial Unicode MS"/>
                <a:ea typeface="Arial Unicode MS"/>
                <a:cs typeface="Arial Unicode MS"/>
              </a:rPr>
              <a:t>→</a:t>
            </a:r>
          </a:p>
        </p:txBody>
      </p:sp>
      <p:sp>
        <p:nvSpPr>
          <p:cNvPr id="12" name="">
            <a:extLst xmlns:a="http://schemas.openxmlformats.org/drawingml/2006/main">
              <a:ext uri="{FF2B5EF4-FFF2-40B4-BE49-F238E27FC236}">
                <a16:creationId xmlns:a16="http://schemas.microsoft.com/office/drawing/2014/main" id="{E8562182-88A2-4118-87D4-AC6CADBF19DE}"/>
              </a:ext>
            </a:extLst>
          </p:cNvPr>
          <p:cNvSpPr>
            <a:spLocks xmlns:a="http://schemas.openxmlformats.org/drawingml/2006/main" noGrp="1"/>
          </p:cNvSpPr>
          <p:nvPr/>
        </p:nvSpPr>
        <p:spPr>
          <a:xfrm xmlns:a="http://schemas.openxmlformats.org/drawingml/2006/main">
            <a:off x="5295900" y="2152650"/>
            <a:ext cx="1809750" cy="1181100"/>
          </a:xfrm>
          <a:prstGeom xmlns:a="http://schemas.openxmlformats.org/drawingml/2006/main" prst="rect">
            <a:avLst/>
          </a:prstGeom>
          <a:solidFill xmlns:a="http://schemas.openxmlformats.org/drawingml/2006/main">
            <a:srgbClr val="FBF3E5"/>
          </a:solidFill>
          <a:ln xmlns:a="http://schemas.openxmlformats.org/drawingml/2006/main" w="9525">
            <a:solidFill>
              <a:srgbClr val="C9D0D6"/>
            </a:solidFill>
            <a:prstDash val="solid"/>
          </a:ln>
        </p:spPr>
      </p:sp>
      <p:sp>
        <p:nvSpPr>
          <p:cNvPr id="13" name="">
            <a:extLst xmlns:a="http://schemas.openxmlformats.org/drawingml/2006/main">
              <a:ext uri="{FF2B5EF4-FFF2-40B4-BE49-F238E27FC236}">
                <a16:creationId xmlns:a16="http://schemas.microsoft.com/office/drawing/2014/main" id="{B6B111B7-9FE6-4A42-902C-F6E9EDD11ED2}"/>
              </a:ext>
            </a:extLst>
          </p:cNvPr>
          <p:cNvSpPr>
            <a:spLocks xmlns:a="http://schemas.openxmlformats.org/drawingml/2006/main" noGrp="1"/>
          </p:cNvSpPr>
          <p:nvPr/>
        </p:nvSpPr>
        <p:spPr>
          <a:xfrm xmlns:a="http://schemas.openxmlformats.org/drawingml/2006/main">
            <a:off x="5429250" y="2428875"/>
            <a:ext cx="15430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6000"/>
              </a:lnSpc>
              <a:buNone/>
              <a:defRPr sz="1575" b="1">
                <a:solidFill>
                  <a:srgbClr val="17232E"/>
                </a:solidFill>
                <a:latin typeface="Arial Unicode MS"/>
                <a:ea typeface="Arial Unicode MS"/>
                <a:cs typeface="Arial Unicode MS"/>
              </a:defRPr>
            </a:pPr>
            <a:r>
              <a:rPr sz="1575" b="1">
                <a:solidFill>
                  <a:srgbClr val="17232E"/>
                </a:solidFill>
                <a:latin typeface="Arial Unicode MS"/>
                <a:ea typeface="Arial Unicode MS"/>
                <a:cs typeface="Arial Unicode MS"/>
              </a:rPr>
              <a:t>只揭示该点</a:t>
            </a:r>
          </a:p>
          <a:p xmlns:a="http://schemas.openxmlformats.org/drawingml/2006/main">
            <a:pPr algn="ctr">
              <a:lnSpc>
                <a:spcPct val="106000"/>
              </a:lnSpc>
              <a:buNone/>
              <a:defRPr sz="1575" b="1">
                <a:solidFill>
                  <a:srgbClr val="17232E"/>
                </a:solidFill>
                <a:latin typeface="Arial Unicode MS"/>
                <a:ea typeface="Arial Unicode MS"/>
                <a:cs typeface="Arial Unicode MS"/>
              </a:defRPr>
            </a:pPr>
            <a:r>
              <a:rPr sz="1575" b="1">
                <a:solidFill>
                  <a:srgbClr val="17232E"/>
                </a:solidFill>
                <a:latin typeface="Arial Unicode MS"/>
                <a:ea typeface="Arial Unicode MS"/>
                <a:cs typeface="Arial Unicode MS"/>
              </a:rPr>
              <a:t>真实 outcome</a:t>
            </a:r>
          </a:p>
        </p:txBody>
      </p:sp>
      <p:sp>
        <p:nvSpPr>
          <p:cNvPr id="14" name="">
            <a:extLst xmlns:a="http://schemas.openxmlformats.org/drawingml/2006/main">
              <a:ext uri="{FF2B5EF4-FFF2-40B4-BE49-F238E27FC236}">
                <a16:creationId xmlns:a16="http://schemas.microsoft.com/office/drawing/2014/main" id="{339C4654-7363-4AB9-9921-4D612F2AF705}"/>
              </a:ext>
            </a:extLst>
          </p:cNvPr>
          <p:cNvSpPr>
            <a:spLocks xmlns:a="http://schemas.openxmlformats.org/drawingml/2006/main" noGrp="1"/>
          </p:cNvSpPr>
          <p:nvPr/>
        </p:nvSpPr>
        <p:spPr>
          <a:xfrm xmlns:a="http://schemas.openxmlformats.org/drawingml/2006/main">
            <a:off x="9505950" y="2552700"/>
            <a:ext cx="3619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2250" b="1">
                <a:solidFill>
                  <a:srgbClr val="2F6FB6"/>
                </a:solidFill>
                <a:latin typeface="Arial Unicode MS"/>
                <a:ea typeface="Arial Unicode MS"/>
                <a:cs typeface="Arial Unicode MS"/>
              </a:defRPr>
            </a:pPr>
            <a:r>
              <a:rPr sz="2250" b="1">
                <a:solidFill>
                  <a:srgbClr val="2F6FB6"/>
                </a:solidFill>
                <a:latin typeface="Arial Unicode MS"/>
                <a:ea typeface="Arial Unicode MS"/>
                <a:cs typeface="Arial Unicode MS"/>
              </a:rPr>
              <a:t>→</a:t>
            </a:r>
          </a:p>
        </p:txBody>
      </p:sp>
      <p:sp>
        <p:nvSpPr>
          <p:cNvPr id="15" name="">
            <a:extLst xmlns:a="http://schemas.openxmlformats.org/drawingml/2006/main">
              <a:ext uri="{FF2B5EF4-FFF2-40B4-BE49-F238E27FC236}">
                <a16:creationId xmlns:a16="http://schemas.microsoft.com/office/drawing/2014/main" id="{42EA4696-DB29-4D8C-8D52-EDFB47D41601}"/>
              </a:ext>
            </a:extLst>
          </p:cNvPr>
          <p:cNvSpPr>
            <a:spLocks xmlns:a="http://schemas.openxmlformats.org/drawingml/2006/main" noGrp="1"/>
          </p:cNvSpPr>
          <p:nvPr/>
        </p:nvSpPr>
        <p:spPr>
          <a:xfrm xmlns:a="http://schemas.openxmlformats.org/drawingml/2006/main">
            <a:off x="7620000" y="2152650"/>
            <a:ext cx="1809750" cy="1181100"/>
          </a:xfrm>
          <a:prstGeom xmlns:a="http://schemas.openxmlformats.org/drawingml/2006/main" prst="rect">
            <a:avLst/>
          </a:prstGeom>
          <a:solidFill xmlns:a="http://schemas.openxmlformats.org/drawingml/2006/main">
            <a:srgbClr val="EAF6F0"/>
          </a:solidFill>
          <a:ln xmlns:a="http://schemas.openxmlformats.org/drawingml/2006/main" w="9525">
            <a:solidFill>
              <a:srgbClr val="C9D0D6"/>
            </a:solidFill>
            <a:prstDash val="solid"/>
          </a:ln>
        </p:spPr>
      </p:sp>
      <p:sp>
        <p:nvSpPr>
          <p:cNvPr id="16" name="">
            <a:extLst xmlns:a="http://schemas.openxmlformats.org/drawingml/2006/main">
              <a:ext uri="{FF2B5EF4-FFF2-40B4-BE49-F238E27FC236}">
                <a16:creationId xmlns:a16="http://schemas.microsoft.com/office/drawing/2014/main" id="{AE2EDCCC-DAF7-4F51-9450-40CB671D5AF4}"/>
              </a:ext>
            </a:extLst>
          </p:cNvPr>
          <p:cNvSpPr>
            <a:spLocks xmlns:a="http://schemas.openxmlformats.org/drawingml/2006/main" noGrp="1"/>
          </p:cNvSpPr>
          <p:nvPr/>
        </p:nvSpPr>
        <p:spPr>
          <a:xfrm xmlns:a="http://schemas.openxmlformats.org/drawingml/2006/main">
            <a:off x="7753350" y="2428875"/>
            <a:ext cx="15430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6000"/>
              </a:lnSpc>
              <a:buNone/>
              <a:defRPr sz="1575" b="1">
                <a:solidFill>
                  <a:srgbClr val="17232E"/>
                </a:solidFill>
                <a:latin typeface="Arial Unicode MS"/>
                <a:ea typeface="Arial Unicode MS"/>
                <a:cs typeface="Arial Unicode MS"/>
              </a:defRPr>
            </a:pPr>
            <a:r>
              <a:rPr sz="1575" b="1">
                <a:solidFill>
                  <a:srgbClr val="17232E"/>
                </a:solidFill>
                <a:latin typeface="Arial Unicode MS"/>
                <a:ea typeface="Arial Unicode MS"/>
                <a:cs typeface="Arial Unicode MS"/>
              </a:rPr>
              <a:t>更新 target</a:t>
            </a:r>
          </a:p>
          <a:p xmlns:a="http://schemas.openxmlformats.org/drawingml/2006/main">
            <a:pPr algn="ctr">
              <a:lnSpc>
                <a:spcPct val="106000"/>
              </a:lnSpc>
              <a:buNone/>
              <a:defRPr sz="1575" b="1">
                <a:solidFill>
                  <a:srgbClr val="17232E"/>
                </a:solidFill>
                <a:latin typeface="Arial Unicode MS"/>
                <a:ea typeface="Arial Unicode MS"/>
                <a:cs typeface="Arial Unicode MS"/>
              </a:defRPr>
            </a:pPr>
            <a:r>
              <a:rPr sz="1575" b="1">
                <a:solidFill>
                  <a:srgbClr val="17232E"/>
                </a:solidFill>
                <a:latin typeface="Arial Unicode MS"/>
                <a:ea typeface="Arial Unicode MS"/>
                <a:cs typeface="Arial Unicode MS"/>
              </a:rPr>
              <a:t>model</a:t>
            </a:r>
          </a:p>
        </p:txBody>
      </p:sp>
      <p:sp>
        <p:nvSpPr>
          <p:cNvPr id="17" name="">
            <a:extLst xmlns:a="http://schemas.openxmlformats.org/drawingml/2006/main">
              <a:ext uri="{FF2B5EF4-FFF2-40B4-BE49-F238E27FC236}">
                <a16:creationId xmlns:a16="http://schemas.microsoft.com/office/drawing/2014/main" id="{517CF3DD-2809-4E8C-902E-FB7AA32170BF}"/>
              </a:ext>
            </a:extLst>
          </p:cNvPr>
          <p:cNvSpPr>
            <a:spLocks xmlns:a="http://schemas.openxmlformats.org/drawingml/2006/main" noGrp="1"/>
          </p:cNvSpPr>
          <p:nvPr/>
        </p:nvSpPr>
        <p:spPr>
          <a:xfrm xmlns:a="http://schemas.openxmlformats.org/drawingml/2006/main">
            <a:off x="9944100" y="2152650"/>
            <a:ext cx="1809750" cy="1181100"/>
          </a:xfrm>
          <a:prstGeom xmlns:a="http://schemas.openxmlformats.org/drawingml/2006/main" prst="rect">
            <a:avLst/>
          </a:prstGeom>
          <a:solidFill xmlns:a="http://schemas.openxmlformats.org/drawingml/2006/main">
            <a:srgbClr val="F1F4F6"/>
          </a:solidFill>
          <a:ln xmlns:a="http://schemas.openxmlformats.org/drawingml/2006/main" w="9525">
            <a:solidFill>
              <a:srgbClr val="C9D0D6"/>
            </a:solidFill>
            <a:prstDash val="solid"/>
          </a:ln>
        </p:spPr>
      </p:sp>
      <p:sp>
        <p:nvSpPr>
          <p:cNvPr id="18" name="">
            <a:extLst xmlns:a="http://schemas.openxmlformats.org/drawingml/2006/main">
              <a:ext uri="{FF2B5EF4-FFF2-40B4-BE49-F238E27FC236}">
                <a16:creationId xmlns:a16="http://schemas.microsoft.com/office/drawing/2014/main" id="{55AB33BC-E238-4390-8209-878E9390D113}"/>
              </a:ext>
            </a:extLst>
          </p:cNvPr>
          <p:cNvSpPr>
            <a:spLocks xmlns:a="http://schemas.openxmlformats.org/drawingml/2006/main" noGrp="1"/>
          </p:cNvSpPr>
          <p:nvPr/>
        </p:nvSpPr>
        <p:spPr>
          <a:xfrm xmlns:a="http://schemas.openxmlformats.org/drawingml/2006/main">
            <a:off x="10077450" y="2428875"/>
            <a:ext cx="15430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6000"/>
              </a:lnSpc>
              <a:buNone/>
              <a:defRPr sz="1575" b="1">
                <a:solidFill>
                  <a:srgbClr val="17232E"/>
                </a:solidFill>
                <a:latin typeface="Arial Unicode MS"/>
                <a:ea typeface="Arial Unicode MS"/>
                <a:cs typeface="Arial Unicode MS"/>
              </a:defRPr>
            </a:pPr>
            <a:r>
              <a:rPr sz="1575" b="1">
                <a:solidFill>
                  <a:srgbClr val="17232E"/>
                </a:solidFill>
                <a:latin typeface="Arial Unicode MS"/>
                <a:ea typeface="Arial Unicode MS"/>
                <a:cs typeface="Arial Unicode MS"/>
              </a:rPr>
              <a:t>记录 metric</a:t>
            </a:r>
          </a:p>
          <a:p xmlns:a="http://schemas.openxmlformats.org/drawingml/2006/main">
            <a:pPr algn="ctr">
              <a:lnSpc>
                <a:spcPct val="106000"/>
              </a:lnSpc>
              <a:buNone/>
              <a:defRPr sz="1575" b="1">
                <a:solidFill>
                  <a:srgbClr val="17232E"/>
                </a:solidFill>
                <a:latin typeface="Arial Unicode MS"/>
                <a:ea typeface="Arial Unicode MS"/>
                <a:cs typeface="Arial Unicode MS"/>
              </a:defRPr>
            </a:pPr>
            <a:r>
              <a:rPr sz="1575" b="1">
                <a:solidFill>
                  <a:srgbClr val="17232E"/>
                </a:solidFill>
                <a:latin typeface="Arial Unicode MS"/>
                <a:ea typeface="Arial Unicode MS"/>
                <a:cs typeface="Arial Unicode MS"/>
              </a:rPr>
              <a:t>与 trace</a:t>
            </a:r>
          </a:p>
        </p:txBody>
      </p:sp>
      <p:sp>
        <p:nvSpPr>
          <p:cNvPr id="19" name="">
            <a:extLst xmlns:a="http://schemas.openxmlformats.org/drawingml/2006/main">
              <a:ext uri="{FF2B5EF4-FFF2-40B4-BE49-F238E27FC236}">
                <a16:creationId xmlns:a16="http://schemas.microsoft.com/office/drawing/2014/main" id="{59358F53-76CC-4648-8CB2-7B5B71365A0A}"/>
              </a:ext>
            </a:extLst>
          </p:cNvPr>
          <p:cNvSpPr>
            <a:spLocks xmlns:a="http://schemas.openxmlformats.org/drawingml/2006/main" noGrp="1"/>
          </p:cNvSpPr>
          <p:nvPr/>
        </p:nvSpPr>
        <p:spPr>
          <a:xfrm xmlns:a="http://schemas.openxmlformats.org/drawingml/2006/main">
            <a:off x="647700" y="4000500"/>
            <a:ext cx="10896600" cy="1238250"/>
          </a:xfrm>
          <a:prstGeom xmlns:a="http://schemas.openxmlformats.org/drawingml/2006/main" prst="rect">
            <a:avLst/>
          </a:prstGeom>
          <a:solidFill xmlns:a="http://schemas.openxmlformats.org/drawingml/2006/main">
            <a:srgbClr val="17324D"/>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6D42908F-9A95-42DF-90E2-74A2C7B2CF0A}"/>
              </a:ext>
            </a:extLst>
          </p:cNvPr>
          <p:cNvSpPr>
            <a:spLocks xmlns:a="http://schemas.openxmlformats.org/drawingml/2006/main" noGrp="1"/>
          </p:cNvSpPr>
          <p:nvPr/>
        </p:nvSpPr>
        <p:spPr>
          <a:xfrm xmlns:a="http://schemas.openxmlformats.org/drawingml/2006/main">
            <a:off x="895350" y="422910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650" b="1">
                <a:solidFill>
                  <a:srgbClr val="6DCBF4"/>
                </a:solidFill>
                <a:latin typeface="Arial Unicode MS"/>
                <a:ea typeface="Arial Unicode MS"/>
                <a:cs typeface="Arial Unicode MS"/>
              </a:defRPr>
            </a:pPr>
            <a:r>
              <a:rPr sz="1650" b="1">
                <a:solidFill>
                  <a:srgbClr val="6DCBF4"/>
                </a:solidFill>
                <a:latin typeface="Arial Unicode MS"/>
                <a:ea typeface="Arial Unicode MS"/>
                <a:cs typeface="Arial Unicode MS"/>
              </a:rPr>
              <a:t>公平性约束</a:t>
            </a:r>
          </a:p>
        </p:txBody>
      </p:sp>
      <p:sp>
        <p:nvSpPr>
          <p:cNvPr id="21" name="">
            <a:extLst xmlns:a="http://schemas.openxmlformats.org/drawingml/2006/main">
              <a:ext uri="{FF2B5EF4-FFF2-40B4-BE49-F238E27FC236}">
                <a16:creationId xmlns:a16="http://schemas.microsoft.com/office/drawing/2014/main" id="{2B31C775-C50C-4CF3-B914-525F431C50A7}"/>
              </a:ext>
            </a:extLst>
          </p:cNvPr>
          <p:cNvSpPr>
            <a:spLocks xmlns:a="http://schemas.openxmlformats.org/drawingml/2006/main" noGrp="1"/>
          </p:cNvSpPr>
          <p:nvPr/>
        </p:nvSpPr>
        <p:spPr>
          <a:xfrm xmlns:a="http://schemas.openxmlformats.org/drawingml/2006/main">
            <a:off x="2800350" y="4171950"/>
            <a:ext cx="84963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650" b="1">
                <a:solidFill>
                  <a:srgbClr val="FFFFFF"/>
                </a:solidFill>
                <a:latin typeface="Arial Unicode MS"/>
                <a:ea typeface="Arial Unicode MS"/>
                <a:cs typeface="Arial Unicode MS"/>
              </a:defRPr>
            </a:pPr>
            <a:r>
              <a:rPr sz="1650" b="1">
                <a:solidFill>
                  <a:srgbClr val="FFFFFF"/>
                </a:solidFill>
                <a:latin typeface="Arial Unicode MS"/>
                <a:ea typeface="Arial Unicode MS"/>
                <a:cs typeface="Arial Unicode MS"/>
              </a:rPr>
              <a:t>相同 candidate pool · 相同初始点数量 · 相同 reveal budget · 相同 seeds · 未选点 outcome 始终不可见</a:t>
            </a:r>
          </a:p>
        </p:txBody>
      </p:sp>
      <p:sp>
        <p:nvSpPr>
          <p:cNvPr id="22" name="">
            <a:extLst xmlns:a="http://schemas.openxmlformats.org/drawingml/2006/main">
              <a:ext uri="{FF2B5EF4-FFF2-40B4-BE49-F238E27FC236}">
                <a16:creationId xmlns:a16="http://schemas.microsoft.com/office/drawing/2014/main" id="{9D4C06A3-6099-4847-99E7-0355A9AF9933}"/>
              </a:ext>
            </a:extLst>
          </p:cNvPr>
          <p:cNvSpPr>
            <a:spLocks xmlns:a="http://schemas.openxmlformats.org/drawingml/2006/main" noGrp="1"/>
          </p:cNvSpPr>
          <p:nvPr/>
        </p:nvSpPr>
        <p:spPr>
          <a:xfrm xmlns:a="http://schemas.openxmlformats.org/drawingml/2006/main">
            <a:off x="647700" y="5562600"/>
            <a:ext cx="10896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1425" b="0">
                <a:solidFill>
                  <a:srgbClr val="687681"/>
                </a:solidFill>
                <a:latin typeface="Arial Unicode MS"/>
                <a:ea typeface="Arial Unicode MS"/>
                <a:cs typeface="Arial Unicode MS"/>
              </a:defRPr>
            </a:pPr>
            <a:r>
              <a:rPr sz="1425" b="0">
                <a:solidFill>
                  <a:srgbClr val="687681"/>
                </a:solidFill>
                <a:latin typeface="Arial Unicode MS"/>
                <a:ea typeface="Arial Unicode MS"/>
                <a:cs typeface="Arial Unicode MS"/>
              </a:rPr>
              <a:t>Replay 不能替代新 wet-lab 实验，但能严格测试有限预算下的逐轮决策与数据泄漏。</a:t>
            </a:r>
          </a:p>
        </p:txBody>
      </p:sp>
      <p:sp>
        <p:nvSpPr>
          <p:cNvPr id="23" name="">
            <a:extLst xmlns:a="http://schemas.openxmlformats.org/drawingml/2006/main">
              <a:ext uri="{FF2B5EF4-FFF2-40B4-BE49-F238E27FC236}">
                <a16:creationId xmlns:a16="http://schemas.microsoft.com/office/drawing/2014/main" id="{280AA46B-7EDC-4151-A9D7-6BFFFBDCDC48}"/>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frozen evidence update · 2026-08-12</a:t>
            </a:r>
          </a:p>
        </p:txBody>
      </p:sp>
    </p:spTree>
    <p:extLst>
      <p:ext uri="{BB962C8B-B14F-4D97-AF65-F5344CB8AC3E}">
        <p14:creationId xmlns:p14="http://schemas.microsoft.com/office/powerpoint/2010/main" val="197145774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C35F2AE0-067D-490E-BECF-D73AEC5BC786}"/>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DATASET COVERAGE</a:t>
            </a:r>
          </a:p>
        </p:txBody>
      </p:sp>
      <p:sp>
        <p:nvSpPr>
          <p:cNvPr id="2" name="">
            <a:extLst xmlns:a="http://schemas.openxmlformats.org/drawingml/2006/main">
              <a:ext uri="{FF2B5EF4-FFF2-40B4-BE49-F238E27FC236}">
                <a16:creationId xmlns:a16="http://schemas.microsoft.com/office/drawing/2014/main" id="{99844714-E5B5-4DC6-A6AD-D4AD10373559}"/>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09</a:t>
            </a:r>
          </a:p>
        </p:txBody>
      </p:sp>
      <p:sp>
        <p:nvSpPr>
          <p:cNvPr id="3" name="">
            <a:extLst xmlns:a="http://schemas.openxmlformats.org/drawingml/2006/main">
              <a:ext uri="{FF2B5EF4-FFF2-40B4-BE49-F238E27FC236}">
                <a16:creationId xmlns:a16="http://schemas.microsoft.com/office/drawing/2014/main" id="{16DC361B-D4DE-42EA-8A1E-4B518F246354}"/>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700" b="1">
                <a:solidFill>
                  <a:srgbClr val="17232E"/>
                </a:solidFill>
                <a:latin typeface="Arial Unicode MS"/>
                <a:ea typeface="Arial Unicode MS"/>
                <a:cs typeface="Arial Unicode MS"/>
              </a:defRPr>
            </a:pPr>
            <a:r>
              <a:rPr sz="2700" b="1">
                <a:solidFill>
                  <a:srgbClr val="17232E"/>
                </a:solidFill>
                <a:latin typeface="Arial Unicode MS"/>
                <a:ea typeface="Arial Unicode MS"/>
                <a:cs typeface="Arial Unicode MS"/>
              </a:rPr>
              <a:t>接口已经跨三个领域运行，但证据等级并不相同</a:t>
            </a:r>
          </a:p>
        </p:txBody>
      </p:sp>
      <p:sp>
        <p:nvSpPr>
          <p:cNvPr id="4" name="">
            <a:extLst xmlns:a="http://schemas.openxmlformats.org/drawingml/2006/main">
              <a:ext uri="{FF2B5EF4-FFF2-40B4-BE49-F238E27FC236}">
                <a16:creationId xmlns:a16="http://schemas.microsoft.com/office/drawing/2014/main" id="{51455309-8BD2-4AFF-A51E-AD28F2388F0B}"/>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381DA133-9029-452D-B1E5-4A00DCD19CEE}"/>
              </a:ext>
            </a:extLst>
          </p:cNvPr>
          <p:cNvSpPr>
            <a:spLocks xmlns:a="http://schemas.openxmlformats.org/drawingml/2006/main" noGrp="1"/>
          </p:cNvSpPr>
          <p:nvPr/>
        </p:nvSpPr>
        <p:spPr>
          <a:xfrm xmlns:a="http://schemas.openxmlformats.org/drawingml/2006/main">
            <a:off x="647700" y="1695450"/>
            <a:ext cx="3009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2F6FB6"/>
                </a:solidFill>
                <a:latin typeface="Arial Unicode MS"/>
                <a:ea typeface="Arial Unicode MS"/>
                <a:cs typeface="Arial Unicode MS"/>
              </a:defRPr>
            </a:pPr>
            <a:r>
              <a:rPr sz="1800" b="1">
                <a:solidFill>
                  <a:srgbClr val="2F6FB6"/>
                </a:solidFill>
                <a:latin typeface="Arial Unicode MS"/>
                <a:ea typeface="Arial Unicode MS"/>
                <a:cs typeface="Arial Unicode MS"/>
              </a:rPr>
              <a:t>反应优化</a:t>
            </a:r>
          </a:p>
        </p:txBody>
      </p:sp>
      <p:sp>
        <p:nvSpPr>
          <p:cNvPr id="6" name="">
            <a:extLst xmlns:a="http://schemas.openxmlformats.org/drawingml/2006/main">
              <a:ext uri="{FF2B5EF4-FFF2-40B4-BE49-F238E27FC236}">
                <a16:creationId xmlns:a16="http://schemas.microsoft.com/office/drawing/2014/main" id="{E1B5868D-E9AC-4B96-82DC-C1EF339D2CFC}"/>
              </a:ext>
            </a:extLst>
          </p:cNvPr>
          <p:cNvSpPr>
            <a:spLocks xmlns:a="http://schemas.openxmlformats.org/drawingml/2006/main" noGrp="1"/>
          </p:cNvSpPr>
          <p:nvPr/>
        </p:nvSpPr>
        <p:spPr>
          <a:xfrm xmlns:a="http://schemas.openxmlformats.org/drawingml/2006/main">
            <a:off x="647700" y="2133600"/>
            <a:ext cx="3009900" cy="28575"/>
          </a:xfrm>
          <a:prstGeom xmlns:a="http://schemas.openxmlformats.org/drawingml/2006/main" prst="rect">
            <a:avLst/>
          </a:prstGeom>
          <a:solidFill xmlns:a="http://schemas.openxmlformats.org/drawingml/2006/main">
            <a:srgbClr val="2F6FB6"/>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A839EC5F-B612-49B0-BB30-47E6484FE890}"/>
              </a:ext>
            </a:extLst>
          </p:cNvPr>
          <p:cNvSpPr>
            <a:spLocks xmlns:a="http://schemas.openxmlformats.org/drawingml/2006/main" noGrp="1"/>
          </p:cNvSpPr>
          <p:nvPr/>
        </p:nvSpPr>
        <p:spPr>
          <a:xfrm xmlns:a="http://schemas.openxmlformats.org/drawingml/2006/main">
            <a:off x="647700" y="2400300"/>
            <a:ext cx="30099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2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ChemLex Acid-Amine Wetlab</a:t>
            </a:r>
          </a:p>
          <a:p xmlns:a="http://schemas.openxmlformats.org/drawingml/2006/main">
            <a:pPr algn="l">
              <a:lnSpc>
                <a:spcPct val="122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Buchwald-Hartwig HTE</a:t>
            </a:r>
          </a:p>
          <a:p xmlns:a="http://schemas.openxmlformats.org/drawingml/2006/main">
            <a:pPr algn="l">
              <a:lnSpc>
                <a:spcPct val="122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Baumgartner C-N campaigns</a:t>
            </a:r>
          </a:p>
          <a:p xmlns:a="http://schemas.openxmlformats.org/drawingml/2006/main">
            <a:pPr algn="l">
              <a:lnSpc>
                <a:spcPct val="122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Suzuki MINLP1 / MINLP2</a:t>
            </a:r>
          </a:p>
        </p:txBody>
      </p:sp>
      <p:sp>
        <p:nvSpPr>
          <p:cNvPr id="8" name="">
            <a:extLst xmlns:a="http://schemas.openxmlformats.org/drawingml/2006/main">
              <a:ext uri="{FF2B5EF4-FFF2-40B4-BE49-F238E27FC236}">
                <a16:creationId xmlns:a16="http://schemas.microsoft.com/office/drawing/2014/main" id="{D90A95CB-EAE3-4F3D-B93B-D810762B6684}"/>
              </a:ext>
            </a:extLst>
          </p:cNvPr>
          <p:cNvSpPr>
            <a:spLocks xmlns:a="http://schemas.openxmlformats.org/drawingml/2006/main" noGrp="1"/>
          </p:cNvSpPr>
          <p:nvPr/>
        </p:nvSpPr>
        <p:spPr>
          <a:xfrm xmlns:a="http://schemas.openxmlformats.org/drawingml/2006/main">
            <a:off x="4114800" y="1695450"/>
            <a:ext cx="3009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2C8A62"/>
                </a:solidFill>
                <a:latin typeface="Arial Unicode MS"/>
                <a:ea typeface="Arial Unicode MS"/>
                <a:cs typeface="Arial Unicode MS"/>
              </a:defRPr>
            </a:pPr>
            <a:r>
              <a:rPr sz="1800" b="1">
                <a:solidFill>
                  <a:srgbClr val="2C8A62"/>
                </a:solidFill>
                <a:latin typeface="Arial Unicode MS"/>
                <a:ea typeface="Arial Unicode MS"/>
                <a:cs typeface="Arial Unicode MS"/>
              </a:rPr>
              <a:t>分子性质</a:t>
            </a:r>
          </a:p>
        </p:txBody>
      </p:sp>
      <p:sp>
        <p:nvSpPr>
          <p:cNvPr id="9" name="">
            <a:extLst xmlns:a="http://schemas.openxmlformats.org/drawingml/2006/main">
              <a:ext uri="{FF2B5EF4-FFF2-40B4-BE49-F238E27FC236}">
                <a16:creationId xmlns:a16="http://schemas.microsoft.com/office/drawing/2014/main" id="{4D507578-046A-4638-A7EB-F784A7A08B2C}"/>
              </a:ext>
            </a:extLst>
          </p:cNvPr>
          <p:cNvSpPr>
            <a:spLocks xmlns:a="http://schemas.openxmlformats.org/drawingml/2006/main" noGrp="1"/>
          </p:cNvSpPr>
          <p:nvPr/>
        </p:nvSpPr>
        <p:spPr>
          <a:xfrm xmlns:a="http://schemas.openxmlformats.org/drawingml/2006/main">
            <a:off x="4114800" y="2133600"/>
            <a:ext cx="3009900" cy="28575"/>
          </a:xfrm>
          <a:prstGeom xmlns:a="http://schemas.openxmlformats.org/drawingml/2006/main" prst="rect">
            <a:avLst/>
          </a:prstGeom>
          <a:solidFill xmlns:a="http://schemas.openxmlformats.org/drawingml/2006/main">
            <a:srgbClr val="2C8A62"/>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728E91A-3AEF-4192-A1DA-7B929F2478B5}"/>
              </a:ext>
            </a:extLst>
          </p:cNvPr>
          <p:cNvSpPr>
            <a:spLocks xmlns:a="http://schemas.openxmlformats.org/drawingml/2006/main" noGrp="1"/>
          </p:cNvSpPr>
          <p:nvPr/>
        </p:nvSpPr>
        <p:spPr>
          <a:xfrm xmlns:a="http://schemas.openxmlformats.org/drawingml/2006/main">
            <a:off x="4114800" y="2400300"/>
            <a:ext cx="30099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2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MoleculeNet ESOL</a:t>
            </a:r>
          </a:p>
          <a:p xmlns:a="http://schemas.openxmlformats.org/drawingml/2006/main">
            <a:pPr algn="l">
              <a:lnSpc>
                <a:spcPct val="122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MoleculeNet FreeSolv</a:t>
            </a:r>
          </a:p>
          <a:p xmlns:a="http://schemas.openxmlformats.org/drawingml/2006/main">
            <a:pPr algn="l">
              <a:lnSpc>
                <a:spcPct val="122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MoleculeNet Lipophilicity</a:t>
            </a:r>
          </a:p>
          <a:p xmlns:a="http://schemas.openxmlformats.org/drawingml/2006/main">
            <a:pPr algn="l">
              <a:lnSpc>
                <a:spcPct val="122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用于 schema / outcome transfer</a:t>
            </a:r>
          </a:p>
        </p:txBody>
      </p:sp>
      <p:sp>
        <p:nvSpPr>
          <p:cNvPr id="11" name="">
            <a:extLst xmlns:a="http://schemas.openxmlformats.org/drawingml/2006/main">
              <a:ext uri="{FF2B5EF4-FFF2-40B4-BE49-F238E27FC236}">
                <a16:creationId xmlns:a16="http://schemas.microsoft.com/office/drawing/2014/main" id="{17446E0E-9BDE-48F4-B7D1-A4ECDDA869F5}"/>
              </a:ext>
            </a:extLst>
          </p:cNvPr>
          <p:cNvSpPr>
            <a:spLocks xmlns:a="http://schemas.openxmlformats.org/drawingml/2006/main" noGrp="1"/>
          </p:cNvSpPr>
          <p:nvPr/>
        </p:nvSpPr>
        <p:spPr>
          <a:xfrm xmlns:a="http://schemas.openxmlformats.org/drawingml/2006/main">
            <a:off x="7581900" y="1695450"/>
            <a:ext cx="3962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D99A33"/>
                </a:solidFill>
                <a:latin typeface="Arial Unicode MS"/>
                <a:ea typeface="Arial Unicode MS"/>
                <a:cs typeface="Arial Unicode MS"/>
              </a:defRPr>
            </a:pPr>
            <a:r>
              <a:rPr sz="1800" b="1">
                <a:solidFill>
                  <a:srgbClr val="D99A33"/>
                </a:solidFill>
                <a:latin typeface="Arial Unicode MS"/>
                <a:ea typeface="Arial Unicode MS"/>
                <a:cs typeface="Arial Unicode MS"/>
              </a:rPr>
              <a:t>材料性质</a:t>
            </a:r>
          </a:p>
        </p:txBody>
      </p:sp>
      <p:sp>
        <p:nvSpPr>
          <p:cNvPr id="12" name="">
            <a:extLst xmlns:a="http://schemas.openxmlformats.org/drawingml/2006/main">
              <a:ext uri="{FF2B5EF4-FFF2-40B4-BE49-F238E27FC236}">
                <a16:creationId xmlns:a16="http://schemas.microsoft.com/office/drawing/2014/main" id="{C7C0D540-3639-4226-932C-39EADB710EF7}"/>
              </a:ext>
            </a:extLst>
          </p:cNvPr>
          <p:cNvSpPr>
            <a:spLocks xmlns:a="http://schemas.openxmlformats.org/drawingml/2006/main" noGrp="1"/>
          </p:cNvSpPr>
          <p:nvPr/>
        </p:nvSpPr>
        <p:spPr>
          <a:xfrm xmlns:a="http://schemas.openxmlformats.org/drawingml/2006/main">
            <a:off x="7581900" y="2133600"/>
            <a:ext cx="3962400" cy="28575"/>
          </a:xfrm>
          <a:prstGeom xmlns:a="http://schemas.openxmlformats.org/drawingml/2006/main" prst="rect">
            <a:avLst/>
          </a:prstGeom>
          <a:solidFill xmlns:a="http://schemas.openxmlformats.org/drawingml/2006/main">
            <a:srgbClr val="D99A33"/>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4AF17E91-9725-4666-B092-F1CB33AD20F4}"/>
              </a:ext>
            </a:extLst>
          </p:cNvPr>
          <p:cNvSpPr>
            <a:spLocks xmlns:a="http://schemas.openxmlformats.org/drawingml/2006/main" noGrp="1"/>
          </p:cNvSpPr>
          <p:nvPr/>
        </p:nvSpPr>
        <p:spPr>
          <a:xfrm xmlns:a="http://schemas.openxmlformats.org/drawingml/2006/main">
            <a:off x="7581900" y="2400300"/>
            <a:ext cx="39624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2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Matbench experimental gap</a:t>
            </a:r>
          </a:p>
          <a:p xmlns:a="http://schemas.openxmlformats.org/drawingml/2006/main">
            <a:pPr algn="l">
              <a:lnSpc>
                <a:spcPct val="122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Matbench dielectric</a:t>
            </a:r>
          </a:p>
          <a:p xmlns:a="http://schemas.openxmlformats.org/drawingml/2006/main">
            <a:pPr algn="l">
              <a:lnSpc>
                <a:spcPct val="122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Matbench phonons</a:t>
            </a:r>
          </a:p>
          <a:p xmlns:a="http://schemas.openxmlformats.org/drawingml/2006/main">
            <a:pPr algn="l">
              <a:lnSpc>
                <a:spcPct val="122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用于 materials transfer BO</a:t>
            </a:r>
          </a:p>
        </p:txBody>
      </p:sp>
      <p:sp>
        <p:nvSpPr>
          <p:cNvPr id="14" name="">
            <a:extLst xmlns:a="http://schemas.openxmlformats.org/drawingml/2006/main">
              <a:ext uri="{FF2B5EF4-FFF2-40B4-BE49-F238E27FC236}">
                <a16:creationId xmlns:a16="http://schemas.microsoft.com/office/drawing/2014/main" id="{0703361C-0B58-47BF-BB2C-8C943DED5CBE}"/>
              </a:ext>
            </a:extLst>
          </p:cNvPr>
          <p:cNvSpPr>
            <a:spLocks xmlns:a="http://schemas.openxmlformats.org/drawingml/2006/main" noGrp="1"/>
          </p:cNvSpPr>
          <p:nvPr/>
        </p:nvSpPr>
        <p:spPr>
          <a:xfrm xmlns:a="http://schemas.openxmlformats.org/drawingml/2006/main">
            <a:off x="647700" y="4857750"/>
            <a:ext cx="10896600" cy="1028700"/>
          </a:xfrm>
          <a:prstGeom xmlns:a="http://schemas.openxmlformats.org/drawingml/2006/main" prst="rect">
            <a:avLst/>
          </a:prstGeom>
          <a:solidFill xmlns:a="http://schemas.openxmlformats.org/drawingml/2006/main">
            <a:srgbClr val="F1F4F6"/>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82045C75-4E0E-4EB2-9A3F-AC284E19A37C}"/>
              </a:ext>
            </a:extLst>
          </p:cNvPr>
          <p:cNvSpPr>
            <a:spLocks xmlns:a="http://schemas.openxmlformats.org/drawingml/2006/main" noGrp="1"/>
          </p:cNvSpPr>
          <p:nvPr/>
        </p:nvSpPr>
        <p:spPr>
          <a:xfrm xmlns:a="http://schemas.openxmlformats.org/drawingml/2006/main">
            <a:off x="876300" y="506730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575" b="1">
                <a:solidFill>
                  <a:srgbClr val="C94D4D"/>
                </a:solidFill>
                <a:latin typeface="Arial Unicode MS"/>
                <a:ea typeface="Arial Unicode MS"/>
                <a:cs typeface="Arial Unicode MS"/>
              </a:defRPr>
            </a:pPr>
            <a:r>
              <a:rPr sz="1575" b="1">
                <a:solidFill>
                  <a:srgbClr val="C94D4D"/>
                </a:solidFill>
                <a:latin typeface="Arial Unicode MS"/>
                <a:ea typeface="Arial Unicode MS"/>
                <a:cs typeface="Arial Unicode MS"/>
              </a:rPr>
              <a:t>证据边界</a:t>
            </a:r>
          </a:p>
        </p:txBody>
      </p:sp>
      <p:sp>
        <p:nvSpPr>
          <p:cNvPr id="16" name="">
            <a:extLst xmlns:a="http://schemas.openxmlformats.org/drawingml/2006/main">
              <a:ext uri="{FF2B5EF4-FFF2-40B4-BE49-F238E27FC236}">
                <a16:creationId xmlns:a16="http://schemas.microsoft.com/office/drawing/2014/main" id="{D9E21296-43E9-433E-BC3A-BBBC0B5B9370}"/>
              </a:ext>
            </a:extLst>
          </p:cNvPr>
          <p:cNvSpPr>
            <a:spLocks xmlns:a="http://schemas.openxmlformats.org/drawingml/2006/main" noGrp="1"/>
          </p:cNvSpPr>
          <p:nvPr/>
        </p:nvSpPr>
        <p:spPr>
          <a:xfrm xmlns:a="http://schemas.openxmlformats.org/drawingml/2006/main">
            <a:off x="2457450" y="5029200"/>
            <a:ext cx="88011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725" b="1">
                <a:solidFill>
                  <a:srgbClr val="17232E"/>
                </a:solidFill>
                <a:latin typeface="Arial Unicode MS"/>
                <a:ea typeface="Arial Unicode MS"/>
                <a:cs typeface="Arial Unicode MS"/>
              </a:defRPr>
            </a:pPr>
            <a:r>
              <a:rPr sz="1725" b="1">
                <a:solidFill>
                  <a:srgbClr val="17232E"/>
                </a:solidFill>
                <a:latin typeface="Arial Unicode MS"/>
                <a:ea typeface="Arial Unicode MS"/>
                <a:cs typeface="Arial Unicode MS"/>
              </a:rPr>
              <a:t>多领域数据证明平台能统一运行；冻结后外部正例目前只来自 Suzuki MINLP2。</a:t>
            </a:r>
          </a:p>
        </p:txBody>
      </p:sp>
      <p:sp>
        <p:nvSpPr>
          <p:cNvPr id="17" name="">
            <a:extLst xmlns:a="http://schemas.openxmlformats.org/drawingml/2006/main">
              <a:ext uri="{FF2B5EF4-FFF2-40B4-BE49-F238E27FC236}">
                <a16:creationId xmlns:a16="http://schemas.microsoft.com/office/drawing/2014/main" id="{773B48A4-73CA-47CC-B745-B749602BBEC8}"/>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frozen evidence update · 2026-08-12</a:t>
            </a:r>
          </a:p>
        </p:txBody>
      </p:sp>
    </p:spTree>
    <p:extLst>
      <p:ext uri="{BB962C8B-B14F-4D97-AF65-F5344CB8AC3E}">
        <p14:creationId xmlns:p14="http://schemas.microsoft.com/office/powerpoint/2010/main" val="147110266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C16EDF39-801B-4280-826C-3726817B6A55}"/>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HYPOTHESIS GENERATION</a:t>
            </a:r>
          </a:p>
        </p:txBody>
      </p:sp>
      <p:sp>
        <p:nvSpPr>
          <p:cNvPr id="2" name="">
            <a:extLst xmlns:a="http://schemas.openxmlformats.org/drawingml/2006/main">
              <a:ext uri="{FF2B5EF4-FFF2-40B4-BE49-F238E27FC236}">
                <a16:creationId xmlns:a16="http://schemas.microsoft.com/office/drawing/2014/main" id="{7D1D4BA8-3968-4986-A4FC-46842EA160A4}"/>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10</a:t>
            </a:r>
          </a:p>
        </p:txBody>
      </p:sp>
      <p:sp>
        <p:nvSpPr>
          <p:cNvPr id="3" name="">
            <a:extLst xmlns:a="http://schemas.openxmlformats.org/drawingml/2006/main">
              <a:ext uri="{FF2B5EF4-FFF2-40B4-BE49-F238E27FC236}">
                <a16:creationId xmlns:a16="http://schemas.microsoft.com/office/drawing/2014/main" id="{4E18AE30-D0F2-4EE8-9DA6-07E8CB8BF4F4}"/>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00" b="1">
                <a:solidFill>
                  <a:srgbClr val="17232E"/>
                </a:solidFill>
                <a:latin typeface="Arial Unicode MS"/>
                <a:ea typeface="Arial Unicode MS"/>
                <a:cs typeface="Arial Unicode MS"/>
              </a:defRPr>
            </a:pPr>
            <a:r>
              <a:rPr sz="2400" b="1">
                <a:solidFill>
                  <a:srgbClr val="17232E"/>
                </a:solidFill>
                <a:latin typeface="Arial Unicode MS"/>
                <a:ea typeface="Arial Unicode MS"/>
                <a:cs typeface="Arial Unicode MS"/>
              </a:rPr>
              <a:t>Hypothesis 必须落到可执行决策，而不是停留在自然语言描述</a:t>
            </a:r>
          </a:p>
        </p:txBody>
      </p:sp>
      <p:sp>
        <p:nvSpPr>
          <p:cNvPr id="4" name="">
            <a:extLst xmlns:a="http://schemas.openxmlformats.org/drawingml/2006/main">
              <a:ext uri="{FF2B5EF4-FFF2-40B4-BE49-F238E27FC236}">
                <a16:creationId xmlns:a16="http://schemas.microsoft.com/office/drawing/2014/main" id="{75CEA334-A3D7-48DA-A0AC-E427E7BF4779}"/>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5A2BBF9-46BA-48A2-BE34-1F43F6A2A14A}"/>
              </a:ext>
            </a:extLst>
          </p:cNvPr>
          <p:cNvSpPr>
            <a:spLocks xmlns:a="http://schemas.openxmlformats.org/drawingml/2006/main" noGrp="1"/>
          </p:cNvSpPr>
          <p:nvPr/>
        </p:nvSpPr>
        <p:spPr>
          <a:xfrm xmlns:a="http://schemas.openxmlformats.org/drawingml/2006/main">
            <a:off x="647700" y="1619250"/>
            <a:ext cx="219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2F6FB6"/>
                </a:solidFill>
                <a:latin typeface="Arial Unicode MS"/>
                <a:ea typeface="Arial Unicode MS"/>
                <a:cs typeface="Arial Unicode MS"/>
              </a:defRPr>
            </a:pPr>
            <a:r>
              <a:rPr sz="1800" b="1">
                <a:solidFill>
                  <a:srgbClr val="2F6FB6"/>
                </a:solidFill>
                <a:latin typeface="Arial Unicode MS"/>
                <a:ea typeface="Arial Unicode MS"/>
                <a:cs typeface="Arial Unicode MS"/>
              </a:rPr>
              <a:t>输入</a:t>
            </a:r>
          </a:p>
        </p:txBody>
      </p:sp>
      <p:sp>
        <p:nvSpPr>
          <p:cNvPr id="6" name="">
            <a:extLst xmlns:a="http://schemas.openxmlformats.org/drawingml/2006/main">
              <a:ext uri="{FF2B5EF4-FFF2-40B4-BE49-F238E27FC236}">
                <a16:creationId xmlns:a16="http://schemas.microsoft.com/office/drawing/2014/main" id="{A48395F4-C2AB-46F1-9DA9-672873074AAC}"/>
              </a:ext>
            </a:extLst>
          </p:cNvPr>
          <p:cNvSpPr>
            <a:spLocks xmlns:a="http://schemas.openxmlformats.org/drawingml/2006/main" noGrp="1"/>
          </p:cNvSpPr>
          <p:nvPr/>
        </p:nvSpPr>
        <p:spPr>
          <a:xfrm xmlns:a="http://schemas.openxmlformats.org/drawingml/2006/main">
            <a:off x="647700" y="2076450"/>
            <a:ext cx="3143250" cy="2857500"/>
          </a:xfrm>
          <a:prstGeom xmlns:a="http://schemas.openxmlformats.org/drawingml/2006/main" prst="rect">
            <a:avLst/>
          </a:prstGeom>
          <a:solidFill xmlns:a="http://schemas.openxmlformats.org/drawingml/2006/main">
            <a:srgbClr val="17324D"/>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A9D74593-F96D-46E7-8DED-3C7F4F1C9C89}"/>
              </a:ext>
            </a:extLst>
          </p:cNvPr>
          <p:cNvSpPr>
            <a:spLocks xmlns:a="http://schemas.openxmlformats.org/drawingml/2006/main" noGrp="1"/>
          </p:cNvSpPr>
          <p:nvPr/>
        </p:nvSpPr>
        <p:spPr>
          <a:xfrm xmlns:a="http://schemas.openxmlformats.org/drawingml/2006/main">
            <a:off x="895350" y="2400300"/>
            <a:ext cx="264795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2000"/>
              </a:lnSpc>
              <a:buNone/>
              <a:defRPr sz="1500" b="0">
                <a:solidFill>
                  <a:srgbClr val="FFFFFF"/>
                </a:solidFill>
                <a:latin typeface="Arial Unicode MS"/>
                <a:ea typeface="Arial Unicode MS"/>
                <a:cs typeface="Arial Unicode MS"/>
              </a:defRPr>
            </a:pPr>
            <a:r>
              <a:rPr sz="1500" b="0">
                <a:solidFill>
                  <a:srgbClr val="FFFFFF"/>
                </a:solidFill>
                <a:latin typeface="Arial Unicode MS"/>
                <a:ea typeface="Arial Unicode MS"/>
                <a:cs typeface="Arial Unicode MS"/>
              </a:rPr>
              <a:t>• source history 与 outcome</a:t>
            </a:r>
          </a:p>
          <a:p xmlns:a="http://schemas.openxmlformats.org/drawingml/2006/main">
            <a:pPr algn="l">
              <a:lnSpc>
                <a:spcPct val="122000"/>
              </a:lnSpc>
              <a:buNone/>
              <a:defRPr sz="1500" b="0">
                <a:solidFill>
                  <a:srgbClr val="FFFFFF"/>
                </a:solidFill>
                <a:latin typeface="Arial Unicode MS"/>
                <a:ea typeface="Arial Unicode MS"/>
                <a:cs typeface="Arial Unicode MS"/>
              </a:defRPr>
            </a:pPr>
            <a:r>
              <a:rPr sz="1500" b="0">
                <a:solidFill>
                  <a:srgbClr val="FFFFFF"/>
                </a:solidFill>
                <a:latin typeface="Arial Unicode MS"/>
                <a:ea typeface="Arial Unicode MS"/>
                <a:cs typeface="Arial Unicode MS"/>
              </a:rPr>
              <a:t>• target schema / variable roles</a:t>
            </a:r>
          </a:p>
          <a:p xmlns:a="http://schemas.openxmlformats.org/drawingml/2006/main">
            <a:pPr algn="l">
              <a:lnSpc>
                <a:spcPct val="122000"/>
              </a:lnSpc>
              <a:buNone/>
              <a:defRPr sz="1500" b="0">
                <a:solidFill>
                  <a:srgbClr val="FFFFFF"/>
                </a:solidFill>
                <a:latin typeface="Arial Unicode MS"/>
                <a:ea typeface="Arial Unicode MS"/>
                <a:cs typeface="Arial Unicode MS"/>
              </a:defRPr>
            </a:pPr>
            <a:r>
              <a:rPr sz="1500" b="0">
                <a:solidFill>
                  <a:srgbClr val="FFFFFF"/>
                </a:solidFill>
                <a:latin typeface="Arial Unicode MS"/>
                <a:ea typeface="Arial Unicode MS"/>
                <a:cs typeface="Arial Unicode MS"/>
              </a:rPr>
              <a:t>• 候选空间与实验预算</a:t>
            </a:r>
          </a:p>
          <a:p xmlns:a="http://schemas.openxmlformats.org/drawingml/2006/main">
            <a:pPr algn="l">
              <a:lnSpc>
                <a:spcPct val="122000"/>
              </a:lnSpc>
              <a:buNone/>
              <a:defRPr sz="1500" b="0">
                <a:solidFill>
                  <a:srgbClr val="FFFFFF"/>
                </a:solidFill>
                <a:latin typeface="Arial Unicode MS"/>
                <a:ea typeface="Arial Unicode MS"/>
                <a:cs typeface="Arial Unicode MS"/>
              </a:defRPr>
            </a:pPr>
            <a:r>
              <a:rPr sz="1500" b="0">
                <a:solidFill>
                  <a:srgbClr val="FFFFFF"/>
                </a:solidFill>
                <a:latin typeface="Arial Unicode MS"/>
                <a:ea typeface="Arial Unicode MS"/>
                <a:cs typeface="Arial Unicode MS"/>
              </a:rPr>
              <a:t>• 已有 SkillBank 与失败案例</a:t>
            </a:r>
          </a:p>
        </p:txBody>
      </p:sp>
      <p:sp>
        <p:nvSpPr>
          <p:cNvPr id="8" name="">
            <a:extLst xmlns:a="http://schemas.openxmlformats.org/drawingml/2006/main">
              <a:ext uri="{FF2B5EF4-FFF2-40B4-BE49-F238E27FC236}">
                <a16:creationId xmlns:a16="http://schemas.microsoft.com/office/drawing/2014/main" id="{CE0917F7-C498-411F-9257-DEC12246F134}"/>
              </a:ext>
            </a:extLst>
          </p:cNvPr>
          <p:cNvSpPr>
            <a:spLocks xmlns:a="http://schemas.openxmlformats.org/drawingml/2006/main" noGrp="1"/>
          </p:cNvSpPr>
          <p:nvPr/>
        </p:nvSpPr>
        <p:spPr>
          <a:xfrm xmlns:a="http://schemas.openxmlformats.org/drawingml/2006/main">
            <a:off x="4095750" y="3143250"/>
            <a:ext cx="514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305"/>
          </a:bodyPr>
          <a:lstStyle xmlns:a="http://schemas.openxmlformats.org/drawingml/2006/main"/>
          <a:p xmlns:a="http://schemas.openxmlformats.org/drawingml/2006/main">
            <a:pPr algn="ctr">
              <a:lnSpc>
                <a:spcPct val="106000"/>
              </a:lnSpc>
              <a:buNone/>
              <a:defRPr sz="2850" b="1">
                <a:solidFill>
                  <a:srgbClr val="2F6FB6"/>
                </a:solidFill>
                <a:latin typeface="Arial Unicode MS"/>
                <a:ea typeface="Arial Unicode MS"/>
                <a:cs typeface="Arial Unicode MS"/>
              </a:defRPr>
            </a:pPr>
            <a:r>
              <a:rPr sz="2850" b="1">
                <a:solidFill>
                  <a:srgbClr val="2F6FB6"/>
                </a:solidFill>
                <a:latin typeface="Arial Unicode MS"/>
                <a:ea typeface="Arial Unicode MS"/>
                <a:cs typeface="Arial Unicode MS"/>
              </a:rPr>
              <a:t>→</a:t>
            </a:r>
          </a:p>
        </p:txBody>
      </p:sp>
      <p:sp>
        <p:nvSpPr>
          <p:cNvPr id="9" name="">
            <a:extLst xmlns:a="http://schemas.openxmlformats.org/drawingml/2006/main">
              <a:ext uri="{FF2B5EF4-FFF2-40B4-BE49-F238E27FC236}">
                <a16:creationId xmlns:a16="http://schemas.microsoft.com/office/drawing/2014/main" id="{D08600A3-292B-4D6E-873E-5A2E928CB008}"/>
              </a:ext>
            </a:extLst>
          </p:cNvPr>
          <p:cNvSpPr>
            <a:spLocks xmlns:a="http://schemas.openxmlformats.org/drawingml/2006/main" noGrp="1"/>
          </p:cNvSpPr>
          <p:nvPr/>
        </p:nvSpPr>
        <p:spPr>
          <a:xfrm xmlns:a="http://schemas.openxmlformats.org/drawingml/2006/main">
            <a:off x="4857750" y="16192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D99A33"/>
                </a:solidFill>
                <a:latin typeface="Arial Unicode MS"/>
                <a:ea typeface="Arial Unicode MS"/>
                <a:cs typeface="Arial Unicode MS"/>
              </a:defRPr>
            </a:pPr>
            <a:r>
              <a:rPr sz="1800" b="1">
                <a:solidFill>
                  <a:srgbClr val="D99A33"/>
                </a:solidFill>
                <a:latin typeface="Arial Unicode MS"/>
                <a:ea typeface="Arial Unicode MS"/>
                <a:cs typeface="Arial Unicode MS"/>
              </a:rPr>
              <a:t>结构化输出</a:t>
            </a:r>
          </a:p>
        </p:txBody>
      </p:sp>
      <p:sp>
        <p:nvSpPr>
          <p:cNvPr id="10" name="">
            <a:extLst xmlns:a="http://schemas.openxmlformats.org/drawingml/2006/main">
              <a:ext uri="{FF2B5EF4-FFF2-40B4-BE49-F238E27FC236}">
                <a16:creationId xmlns:a16="http://schemas.microsoft.com/office/drawing/2014/main" id="{AC939B70-CE04-49F5-AFD4-CDD9C864463C}"/>
              </a:ext>
            </a:extLst>
          </p:cNvPr>
          <p:cNvSpPr>
            <a:spLocks xmlns:a="http://schemas.openxmlformats.org/drawingml/2006/main" noGrp="1"/>
          </p:cNvSpPr>
          <p:nvPr/>
        </p:nvSpPr>
        <p:spPr>
          <a:xfrm xmlns:a="http://schemas.openxmlformats.org/drawingml/2006/main">
            <a:off x="4857750" y="2076450"/>
            <a:ext cx="3143250" cy="2857500"/>
          </a:xfrm>
          <a:prstGeom xmlns:a="http://schemas.openxmlformats.org/drawingml/2006/main" prst="rect">
            <a:avLst/>
          </a:prstGeom>
          <a:solidFill xmlns:a="http://schemas.openxmlformats.org/drawingml/2006/main">
            <a:srgbClr val="FBF3E5"/>
          </a:solidFill>
          <a:ln xmlns:a="http://schemas.openxmlformats.org/drawingml/2006/main" w="9525">
            <a:solidFill>
              <a:srgbClr val="D99A33"/>
            </a:solidFill>
            <a:prstDash val="solid"/>
          </a:ln>
        </p:spPr>
      </p:sp>
      <p:sp>
        <p:nvSpPr>
          <p:cNvPr id="11" name="">
            <a:extLst xmlns:a="http://schemas.openxmlformats.org/drawingml/2006/main">
              <a:ext uri="{FF2B5EF4-FFF2-40B4-BE49-F238E27FC236}">
                <a16:creationId xmlns:a16="http://schemas.microsoft.com/office/drawing/2014/main" id="{88EBE032-AF81-4193-A3D5-9E9FBF24479F}"/>
              </a:ext>
            </a:extLst>
          </p:cNvPr>
          <p:cNvSpPr>
            <a:spLocks xmlns:a="http://schemas.openxmlformats.org/drawingml/2006/main" noGrp="1"/>
          </p:cNvSpPr>
          <p:nvPr/>
        </p:nvSpPr>
        <p:spPr>
          <a:xfrm xmlns:a="http://schemas.openxmlformats.org/drawingml/2006/main">
            <a:off x="5105400" y="2400300"/>
            <a:ext cx="264795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2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source scope 与 role map</a:t>
            </a:r>
          </a:p>
          <a:p xmlns:a="http://schemas.openxmlformats.org/drawingml/2006/main">
            <a:pPr algn="l">
              <a:lnSpc>
                <a:spcPct val="122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prefer / penalize 条件</a:t>
            </a:r>
          </a:p>
          <a:p xmlns:a="http://schemas.openxmlformats.org/drawingml/2006/main">
            <a:pPr algn="l">
              <a:lnSpc>
                <a:spcPct val="122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quality region 与 operator</a:t>
            </a:r>
          </a:p>
          <a:p xmlns:a="http://schemas.openxmlformats.org/drawingml/2006/main">
            <a:pPr algn="l">
              <a:lnSpc>
                <a:spcPct val="122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confidence / failure condition</a:t>
            </a:r>
          </a:p>
        </p:txBody>
      </p:sp>
      <p:sp>
        <p:nvSpPr>
          <p:cNvPr id="12" name="">
            <a:extLst xmlns:a="http://schemas.openxmlformats.org/drawingml/2006/main">
              <a:ext uri="{FF2B5EF4-FFF2-40B4-BE49-F238E27FC236}">
                <a16:creationId xmlns:a16="http://schemas.microsoft.com/office/drawing/2014/main" id="{885763F6-0C77-4EA4-ADCC-5F312C5AAFFA}"/>
              </a:ext>
            </a:extLst>
          </p:cNvPr>
          <p:cNvSpPr>
            <a:spLocks xmlns:a="http://schemas.openxmlformats.org/drawingml/2006/main" noGrp="1"/>
          </p:cNvSpPr>
          <p:nvPr/>
        </p:nvSpPr>
        <p:spPr>
          <a:xfrm xmlns:a="http://schemas.openxmlformats.org/drawingml/2006/main">
            <a:off x="8286750" y="3143250"/>
            <a:ext cx="514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305"/>
          </a:bodyPr>
          <a:lstStyle xmlns:a="http://schemas.openxmlformats.org/drawingml/2006/main"/>
          <a:p xmlns:a="http://schemas.openxmlformats.org/drawingml/2006/main">
            <a:pPr algn="ctr">
              <a:lnSpc>
                <a:spcPct val="106000"/>
              </a:lnSpc>
              <a:buNone/>
              <a:defRPr sz="2850" b="1">
                <a:solidFill>
                  <a:srgbClr val="2F6FB6"/>
                </a:solidFill>
                <a:latin typeface="Arial Unicode MS"/>
                <a:ea typeface="Arial Unicode MS"/>
                <a:cs typeface="Arial Unicode MS"/>
              </a:defRPr>
            </a:pPr>
            <a:r>
              <a:rPr sz="2850" b="1">
                <a:solidFill>
                  <a:srgbClr val="2F6FB6"/>
                </a:solidFill>
                <a:latin typeface="Arial Unicode MS"/>
                <a:ea typeface="Arial Unicode MS"/>
                <a:cs typeface="Arial Unicode MS"/>
              </a:rPr>
              <a:t>→</a:t>
            </a:r>
          </a:p>
        </p:txBody>
      </p:sp>
      <p:sp>
        <p:nvSpPr>
          <p:cNvPr id="13" name="">
            <a:extLst xmlns:a="http://schemas.openxmlformats.org/drawingml/2006/main">
              <a:ext uri="{FF2B5EF4-FFF2-40B4-BE49-F238E27FC236}">
                <a16:creationId xmlns:a16="http://schemas.microsoft.com/office/drawing/2014/main" id="{572968BE-6FFA-4B07-BB22-EB4985612C61}"/>
              </a:ext>
            </a:extLst>
          </p:cNvPr>
          <p:cNvSpPr>
            <a:spLocks xmlns:a="http://schemas.openxmlformats.org/drawingml/2006/main" noGrp="1"/>
          </p:cNvSpPr>
          <p:nvPr/>
        </p:nvSpPr>
        <p:spPr>
          <a:xfrm xmlns:a="http://schemas.openxmlformats.org/drawingml/2006/main">
            <a:off x="9048750" y="1619250"/>
            <a:ext cx="219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2C8A62"/>
                </a:solidFill>
                <a:latin typeface="Arial Unicode MS"/>
                <a:ea typeface="Arial Unicode MS"/>
                <a:cs typeface="Arial Unicode MS"/>
              </a:defRPr>
            </a:pPr>
            <a:r>
              <a:rPr sz="1800" b="1">
                <a:solidFill>
                  <a:srgbClr val="2C8A62"/>
                </a:solidFill>
                <a:latin typeface="Arial Unicode MS"/>
                <a:ea typeface="Arial Unicode MS"/>
                <a:cs typeface="Arial Unicode MS"/>
              </a:rPr>
              <a:t>执行</a:t>
            </a:r>
          </a:p>
        </p:txBody>
      </p:sp>
      <p:sp>
        <p:nvSpPr>
          <p:cNvPr id="14" name="">
            <a:extLst xmlns:a="http://schemas.openxmlformats.org/drawingml/2006/main">
              <a:ext uri="{FF2B5EF4-FFF2-40B4-BE49-F238E27FC236}">
                <a16:creationId xmlns:a16="http://schemas.microsoft.com/office/drawing/2014/main" id="{C9FA9C13-85D0-427A-8A0D-AD030525FBE1}"/>
              </a:ext>
            </a:extLst>
          </p:cNvPr>
          <p:cNvSpPr>
            <a:spLocks xmlns:a="http://schemas.openxmlformats.org/drawingml/2006/main" noGrp="1"/>
          </p:cNvSpPr>
          <p:nvPr/>
        </p:nvSpPr>
        <p:spPr>
          <a:xfrm xmlns:a="http://schemas.openxmlformats.org/drawingml/2006/main">
            <a:off x="9048750" y="2076450"/>
            <a:ext cx="2419350" cy="2857500"/>
          </a:xfrm>
          <a:prstGeom xmlns:a="http://schemas.openxmlformats.org/drawingml/2006/main" prst="rect">
            <a:avLst/>
          </a:prstGeom>
          <a:solidFill xmlns:a="http://schemas.openxmlformats.org/drawingml/2006/main">
            <a:srgbClr val="EAF6F0"/>
          </a:solidFill>
          <a:ln xmlns:a="http://schemas.openxmlformats.org/drawingml/2006/main" w="9525">
            <a:solidFill>
              <a:srgbClr val="2C8A62"/>
            </a:solidFill>
            <a:prstDash val="solid"/>
          </a:ln>
        </p:spPr>
      </p:sp>
      <p:sp>
        <p:nvSpPr>
          <p:cNvPr id="15" name="">
            <a:extLst xmlns:a="http://schemas.openxmlformats.org/drawingml/2006/main">
              <a:ext uri="{FF2B5EF4-FFF2-40B4-BE49-F238E27FC236}">
                <a16:creationId xmlns:a16="http://schemas.microsoft.com/office/drawing/2014/main" id="{AC4FD50A-4483-4677-8A16-49BC0DF7D8BE}"/>
              </a:ext>
            </a:extLst>
          </p:cNvPr>
          <p:cNvSpPr>
            <a:spLocks xmlns:a="http://schemas.openxmlformats.org/drawingml/2006/main" noGrp="1"/>
          </p:cNvSpPr>
          <p:nvPr/>
        </p:nvSpPr>
        <p:spPr>
          <a:xfrm xmlns:a="http://schemas.openxmlformats.org/drawingml/2006/main">
            <a:off x="9296400" y="2400300"/>
            <a:ext cx="196215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2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1. 编译为 TransferSkill</a:t>
            </a:r>
          </a:p>
          <a:p xmlns:a="http://schemas.openxmlformats.org/drawingml/2006/main">
            <a:pPr algn="l">
              <a:lnSpc>
                <a:spcPct val="122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2. 选择 candidate</a:t>
            </a:r>
          </a:p>
          <a:p xmlns:a="http://schemas.openxmlformats.org/drawingml/2006/main">
            <a:pPr algn="l">
              <a:lnSpc>
                <a:spcPct val="122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3. 揭示 target outcome</a:t>
            </a:r>
          </a:p>
          <a:p xmlns:a="http://schemas.openxmlformats.org/drawingml/2006/main">
            <a:pPr algn="l">
              <a:lnSpc>
                <a:spcPct val="122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4. 更新 evidence status</a:t>
            </a:r>
          </a:p>
        </p:txBody>
      </p:sp>
      <p:sp>
        <p:nvSpPr>
          <p:cNvPr id="16" name="">
            <a:extLst xmlns:a="http://schemas.openxmlformats.org/drawingml/2006/main">
              <a:ext uri="{FF2B5EF4-FFF2-40B4-BE49-F238E27FC236}">
                <a16:creationId xmlns:a16="http://schemas.microsoft.com/office/drawing/2014/main" id="{71F57155-0EFE-41E9-9869-51FDDDA3565C}"/>
              </a:ext>
            </a:extLst>
          </p:cNvPr>
          <p:cNvSpPr>
            <a:spLocks xmlns:a="http://schemas.openxmlformats.org/drawingml/2006/main" noGrp="1"/>
          </p:cNvSpPr>
          <p:nvPr/>
        </p:nvSpPr>
        <p:spPr>
          <a:xfrm xmlns:a="http://schemas.openxmlformats.org/drawingml/2006/main">
            <a:off x="647700" y="5314950"/>
            <a:ext cx="10896600" cy="590550"/>
          </a:xfrm>
          <a:prstGeom xmlns:a="http://schemas.openxmlformats.org/drawingml/2006/main" prst="rect">
            <a:avLst/>
          </a:prstGeom>
          <a:solidFill xmlns:a="http://schemas.openxmlformats.org/drawingml/2006/main">
            <a:srgbClr val="F1F4F6"/>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62089372-3838-4D47-BE0B-E0381793F41B}"/>
              </a:ext>
            </a:extLst>
          </p:cNvPr>
          <p:cNvSpPr>
            <a:spLocks xmlns:a="http://schemas.openxmlformats.org/drawingml/2006/main" noGrp="1"/>
          </p:cNvSpPr>
          <p:nvPr/>
        </p:nvSpPr>
        <p:spPr>
          <a:xfrm xmlns:a="http://schemas.openxmlformats.org/drawingml/2006/main">
            <a:off x="819150" y="5476875"/>
            <a:ext cx="10553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1500" b="1">
                <a:solidFill>
                  <a:srgbClr val="17232E"/>
                </a:solidFill>
                <a:latin typeface="Arial Unicode MS"/>
                <a:ea typeface="Arial Unicode MS"/>
                <a:cs typeface="Arial Unicode MS"/>
              </a:defRPr>
            </a:pPr>
            <a:r>
              <a:rPr sz="1500" b="1">
                <a:solidFill>
                  <a:srgbClr val="17232E"/>
                </a:solidFill>
                <a:latin typeface="Arial Unicode MS"/>
                <a:ea typeface="Arial Unicode MS"/>
                <a:cs typeface="Arial Unicode MS"/>
              </a:rPr>
              <a:t>最新 v2 的 hypothesis 为固定规则，非 LLM 生成；目的是先验证执行链本身。</a:t>
            </a:r>
          </a:p>
        </p:txBody>
      </p:sp>
      <p:sp>
        <p:nvSpPr>
          <p:cNvPr id="18" name="">
            <a:extLst xmlns:a="http://schemas.openxmlformats.org/drawingml/2006/main">
              <a:ext uri="{FF2B5EF4-FFF2-40B4-BE49-F238E27FC236}">
                <a16:creationId xmlns:a16="http://schemas.microsoft.com/office/drawing/2014/main" id="{E608E187-7503-4B60-A4B0-96BABDCE8918}"/>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frozen evidence update · 2026-08-12</a:t>
            </a:r>
          </a:p>
        </p:txBody>
      </p:sp>
    </p:spTree>
    <p:extLst>
      <p:ext uri="{BB962C8B-B14F-4D97-AF65-F5344CB8AC3E}">
        <p14:creationId xmlns:p14="http://schemas.microsoft.com/office/powerpoint/2010/main" val="114109255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3E73A66A-825E-4C3A-9A43-F1EE69B642A9}"/>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TRANSFERSKILL</a:t>
            </a:r>
          </a:p>
        </p:txBody>
      </p:sp>
      <p:sp>
        <p:nvSpPr>
          <p:cNvPr id="2" name="">
            <a:extLst xmlns:a="http://schemas.openxmlformats.org/drawingml/2006/main">
              <a:ext uri="{FF2B5EF4-FFF2-40B4-BE49-F238E27FC236}">
                <a16:creationId xmlns:a16="http://schemas.microsoft.com/office/drawing/2014/main" id="{29079C8B-C190-4E09-A99D-C87330DEF2F9}"/>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11</a:t>
            </a:r>
          </a:p>
        </p:txBody>
      </p:sp>
      <p:sp>
        <p:nvSpPr>
          <p:cNvPr id="3" name="">
            <a:extLst xmlns:a="http://schemas.openxmlformats.org/drawingml/2006/main">
              <a:ext uri="{FF2B5EF4-FFF2-40B4-BE49-F238E27FC236}">
                <a16:creationId xmlns:a16="http://schemas.microsoft.com/office/drawing/2014/main" id="{3D7DDCD5-F525-4637-B4B5-86229CDBA661}"/>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700" b="1">
                <a:solidFill>
                  <a:srgbClr val="17232E"/>
                </a:solidFill>
                <a:latin typeface="Arial Unicode MS"/>
                <a:ea typeface="Arial Unicode MS"/>
                <a:cs typeface="Arial Unicode MS"/>
              </a:defRPr>
            </a:pPr>
            <a:r>
              <a:rPr sz="2700" b="1">
                <a:solidFill>
                  <a:srgbClr val="17232E"/>
                </a:solidFill>
                <a:latin typeface="Arial Unicode MS"/>
                <a:ea typeface="Arial Unicode MS"/>
                <a:cs typeface="Arial Unicode MS"/>
              </a:rPr>
              <a:t>Skill 是带证据边界的可执行对象，不是一段 prompt</a:t>
            </a:r>
          </a:p>
        </p:txBody>
      </p:sp>
      <p:sp>
        <p:nvSpPr>
          <p:cNvPr id="4" name="">
            <a:extLst xmlns:a="http://schemas.openxmlformats.org/drawingml/2006/main">
              <a:ext uri="{FF2B5EF4-FFF2-40B4-BE49-F238E27FC236}">
                <a16:creationId xmlns:a16="http://schemas.microsoft.com/office/drawing/2014/main" id="{17539A08-FA37-43C0-A844-FB8EA7D2BB0E}"/>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79FD8C8-4EE2-4802-AFA5-73C0300E555E}"/>
              </a:ext>
            </a:extLst>
          </p:cNvPr>
          <p:cNvSpPr>
            <a:spLocks xmlns:a="http://schemas.openxmlformats.org/drawingml/2006/main" noGrp="1"/>
          </p:cNvSpPr>
          <p:nvPr/>
        </p:nvSpPr>
        <p:spPr>
          <a:xfrm xmlns:a="http://schemas.openxmlformats.org/drawingml/2006/main">
            <a:off x="647700" y="16573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575" b="1">
                <a:solidFill>
                  <a:srgbClr val="2F6FB6"/>
                </a:solidFill>
                <a:latin typeface="Arial Unicode MS"/>
                <a:ea typeface="Arial Unicode MS"/>
                <a:cs typeface="Arial Unicode MS"/>
              </a:defRPr>
            </a:pPr>
            <a:r>
              <a:rPr sz="1575" b="1">
                <a:solidFill>
                  <a:srgbClr val="2F6FB6"/>
                </a:solidFill>
                <a:latin typeface="Arial Unicode MS"/>
                <a:ea typeface="Arial Unicode MS"/>
                <a:cs typeface="Arial Unicode MS"/>
              </a:rPr>
              <a:t>01</a:t>
            </a:r>
          </a:p>
        </p:txBody>
      </p:sp>
      <p:sp>
        <p:nvSpPr>
          <p:cNvPr id="6" name="">
            <a:extLst xmlns:a="http://schemas.openxmlformats.org/drawingml/2006/main">
              <a:ext uri="{FF2B5EF4-FFF2-40B4-BE49-F238E27FC236}">
                <a16:creationId xmlns:a16="http://schemas.microsoft.com/office/drawing/2014/main" id="{B90C1852-2D2B-48AA-87BB-B8CDE6EB6262}"/>
              </a:ext>
            </a:extLst>
          </p:cNvPr>
          <p:cNvSpPr>
            <a:spLocks xmlns:a="http://schemas.openxmlformats.org/drawingml/2006/main" noGrp="1"/>
          </p:cNvSpPr>
          <p:nvPr/>
        </p:nvSpPr>
        <p:spPr>
          <a:xfrm xmlns:a="http://schemas.openxmlformats.org/drawingml/2006/main">
            <a:off x="1181100" y="1638300"/>
            <a:ext cx="1733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650" b="1">
                <a:solidFill>
                  <a:srgbClr val="17232E"/>
                </a:solidFill>
                <a:latin typeface="Arial Unicode MS"/>
                <a:ea typeface="Arial Unicode MS"/>
                <a:cs typeface="Arial Unicode MS"/>
              </a:defRPr>
            </a:pPr>
            <a:r>
              <a:rPr sz="1650" b="1">
                <a:solidFill>
                  <a:srgbClr val="17232E"/>
                </a:solidFill>
                <a:latin typeface="Arial Unicode MS"/>
                <a:ea typeface="Arial Unicode MS"/>
                <a:cs typeface="Arial Unicode MS"/>
              </a:rPr>
              <a:t>任务边界</a:t>
            </a:r>
          </a:p>
        </p:txBody>
      </p:sp>
      <p:sp>
        <p:nvSpPr>
          <p:cNvPr id="7" name="">
            <a:extLst xmlns:a="http://schemas.openxmlformats.org/drawingml/2006/main">
              <a:ext uri="{FF2B5EF4-FFF2-40B4-BE49-F238E27FC236}">
                <a16:creationId xmlns:a16="http://schemas.microsoft.com/office/drawing/2014/main" id="{9FF56E7B-CA01-4C34-8A93-31069A1BFE45}"/>
              </a:ext>
            </a:extLst>
          </p:cNvPr>
          <p:cNvSpPr>
            <a:spLocks xmlns:a="http://schemas.openxmlformats.org/drawingml/2006/main" noGrp="1"/>
          </p:cNvSpPr>
          <p:nvPr/>
        </p:nvSpPr>
        <p:spPr>
          <a:xfrm xmlns:a="http://schemas.openxmlformats.org/drawingml/2006/main">
            <a:off x="2990850" y="1638300"/>
            <a:ext cx="581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425" b="0">
                <a:solidFill>
                  <a:srgbClr val="687681"/>
                </a:solidFill>
                <a:latin typeface="Arial Unicode MS"/>
                <a:ea typeface="Arial Unicode MS"/>
                <a:cs typeface="Arial Unicode MS"/>
              </a:defRPr>
            </a:pPr>
            <a:r>
              <a:rPr sz="1425" b="0">
                <a:solidFill>
                  <a:srgbClr val="687681"/>
                </a:solidFill>
                <a:latin typeface="Arial Unicode MS"/>
                <a:ea typeface="Arial Unicode MS"/>
                <a:cs typeface="Arial Unicode MS"/>
              </a:rPr>
              <a:t>source、target、变量角色与不可对齐字段</a:t>
            </a:r>
          </a:p>
        </p:txBody>
      </p:sp>
      <p:sp>
        <p:nvSpPr>
          <p:cNvPr id="8" name="">
            <a:extLst xmlns:a="http://schemas.openxmlformats.org/drawingml/2006/main">
              <a:ext uri="{FF2B5EF4-FFF2-40B4-BE49-F238E27FC236}">
                <a16:creationId xmlns:a16="http://schemas.microsoft.com/office/drawing/2014/main" id="{9A345B6F-D424-410A-B70A-B90BCEC5ECEE}"/>
              </a:ext>
            </a:extLst>
          </p:cNvPr>
          <p:cNvSpPr>
            <a:spLocks xmlns:a="http://schemas.openxmlformats.org/drawingml/2006/main" noGrp="1"/>
          </p:cNvSpPr>
          <p:nvPr/>
        </p:nvSpPr>
        <p:spPr>
          <a:xfrm xmlns:a="http://schemas.openxmlformats.org/drawingml/2006/main">
            <a:off x="1181100" y="2133600"/>
            <a:ext cx="7620000" cy="9525"/>
          </a:xfrm>
          <a:prstGeom xmlns:a="http://schemas.openxmlformats.org/drawingml/2006/main" prst="rect">
            <a:avLst/>
          </a:prstGeom>
          <a:solidFill xmlns:a="http://schemas.openxmlformats.org/drawingml/2006/main">
            <a:srgbClr val="C9D0D6"/>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BD9B844F-848F-46B5-8BED-D70CC175FD5D}"/>
              </a:ext>
            </a:extLst>
          </p:cNvPr>
          <p:cNvSpPr>
            <a:spLocks xmlns:a="http://schemas.openxmlformats.org/drawingml/2006/main" noGrp="1"/>
          </p:cNvSpPr>
          <p:nvPr/>
        </p:nvSpPr>
        <p:spPr>
          <a:xfrm xmlns:a="http://schemas.openxmlformats.org/drawingml/2006/main">
            <a:off x="647700" y="246697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575" b="1">
                <a:solidFill>
                  <a:srgbClr val="2F6FB6"/>
                </a:solidFill>
                <a:latin typeface="Arial Unicode MS"/>
                <a:ea typeface="Arial Unicode MS"/>
                <a:cs typeface="Arial Unicode MS"/>
              </a:defRPr>
            </a:pPr>
            <a:r>
              <a:rPr sz="1575" b="1">
                <a:solidFill>
                  <a:srgbClr val="2F6FB6"/>
                </a:solidFill>
                <a:latin typeface="Arial Unicode MS"/>
                <a:ea typeface="Arial Unicode MS"/>
                <a:cs typeface="Arial Unicode MS"/>
              </a:rPr>
              <a:t>02</a:t>
            </a:r>
          </a:p>
        </p:txBody>
      </p:sp>
      <p:sp>
        <p:nvSpPr>
          <p:cNvPr id="10" name="">
            <a:extLst xmlns:a="http://schemas.openxmlformats.org/drawingml/2006/main">
              <a:ext uri="{FF2B5EF4-FFF2-40B4-BE49-F238E27FC236}">
                <a16:creationId xmlns:a16="http://schemas.microsoft.com/office/drawing/2014/main" id="{6DFA1AE9-DE16-4D31-B10C-2E2E01D498B0}"/>
              </a:ext>
            </a:extLst>
          </p:cNvPr>
          <p:cNvSpPr>
            <a:spLocks xmlns:a="http://schemas.openxmlformats.org/drawingml/2006/main" noGrp="1"/>
          </p:cNvSpPr>
          <p:nvPr/>
        </p:nvSpPr>
        <p:spPr>
          <a:xfrm xmlns:a="http://schemas.openxmlformats.org/drawingml/2006/main">
            <a:off x="1181100" y="2447925"/>
            <a:ext cx="1733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650" b="1">
                <a:solidFill>
                  <a:srgbClr val="17232E"/>
                </a:solidFill>
                <a:latin typeface="Arial Unicode MS"/>
                <a:ea typeface="Arial Unicode MS"/>
                <a:cs typeface="Arial Unicode MS"/>
              </a:defRPr>
            </a:pPr>
            <a:r>
              <a:rPr sz="1650" b="1">
                <a:solidFill>
                  <a:srgbClr val="17232E"/>
                </a:solidFill>
                <a:latin typeface="Arial Unicode MS"/>
                <a:ea typeface="Arial Unicode MS"/>
                <a:cs typeface="Arial Unicode MS"/>
              </a:rPr>
              <a:t>执行逻辑</a:t>
            </a:r>
          </a:p>
        </p:txBody>
      </p:sp>
      <p:sp>
        <p:nvSpPr>
          <p:cNvPr id="11" name="">
            <a:extLst xmlns:a="http://schemas.openxmlformats.org/drawingml/2006/main">
              <a:ext uri="{FF2B5EF4-FFF2-40B4-BE49-F238E27FC236}">
                <a16:creationId xmlns:a16="http://schemas.microsoft.com/office/drawing/2014/main" id="{98ED4BE3-C609-49E4-BCC2-649C3E3DF3B1}"/>
              </a:ext>
            </a:extLst>
          </p:cNvPr>
          <p:cNvSpPr>
            <a:spLocks xmlns:a="http://schemas.openxmlformats.org/drawingml/2006/main" noGrp="1"/>
          </p:cNvSpPr>
          <p:nvPr/>
        </p:nvSpPr>
        <p:spPr>
          <a:xfrm xmlns:a="http://schemas.openxmlformats.org/drawingml/2006/main">
            <a:off x="2990850" y="2447925"/>
            <a:ext cx="581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425" b="0">
                <a:solidFill>
                  <a:srgbClr val="687681"/>
                </a:solidFill>
                <a:latin typeface="Arial Unicode MS"/>
                <a:ea typeface="Arial Unicode MS"/>
                <a:cs typeface="Arial Unicode MS"/>
              </a:defRPr>
            </a:pPr>
            <a:r>
              <a:rPr sz="1425" b="0">
                <a:solidFill>
                  <a:srgbClr val="687681"/>
                </a:solidFill>
                <a:latin typeface="Arial Unicode MS"/>
                <a:ea typeface="Arial Unicode MS"/>
                <a:cs typeface="Arial Unicode MS"/>
              </a:rPr>
              <a:t>initial design、prior、kernel patch 或 router</a:t>
            </a:r>
          </a:p>
        </p:txBody>
      </p:sp>
      <p:sp>
        <p:nvSpPr>
          <p:cNvPr id="12" name="">
            <a:extLst xmlns:a="http://schemas.openxmlformats.org/drawingml/2006/main">
              <a:ext uri="{FF2B5EF4-FFF2-40B4-BE49-F238E27FC236}">
                <a16:creationId xmlns:a16="http://schemas.microsoft.com/office/drawing/2014/main" id="{FF2ED60A-BF98-4B0B-BC6A-82D871050810}"/>
              </a:ext>
            </a:extLst>
          </p:cNvPr>
          <p:cNvSpPr>
            <a:spLocks xmlns:a="http://schemas.openxmlformats.org/drawingml/2006/main" noGrp="1"/>
          </p:cNvSpPr>
          <p:nvPr/>
        </p:nvSpPr>
        <p:spPr>
          <a:xfrm xmlns:a="http://schemas.openxmlformats.org/drawingml/2006/main">
            <a:off x="1181100" y="2943225"/>
            <a:ext cx="7620000" cy="9525"/>
          </a:xfrm>
          <a:prstGeom xmlns:a="http://schemas.openxmlformats.org/drawingml/2006/main" prst="rect">
            <a:avLst/>
          </a:prstGeom>
          <a:solidFill xmlns:a="http://schemas.openxmlformats.org/drawingml/2006/main">
            <a:srgbClr val="C9D0D6"/>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AFB42914-12A9-4CDE-A81B-137704EC1E85}"/>
              </a:ext>
            </a:extLst>
          </p:cNvPr>
          <p:cNvSpPr>
            <a:spLocks xmlns:a="http://schemas.openxmlformats.org/drawingml/2006/main" noGrp="1"/>
          </p:cNvSpPr>
          <p:nvPr/>
        </p:nvSpPr>
        <p:spPr>
          <a:xfrm xmlns:a="http://schemas.openxmlformats.org/drawingml/2006/main">
            <a:off x="647700" y="32766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575" b="1">
                <a:solidFill>
                  <a:srgbClr val="2F6FB6"/>
                </a:solidFill>
                <a:latin typeface="Arial Unicode MS"/>
                <a:ea typeface="Arial Unicode MS"/>
                <a:cs typeface="Arial Unicode MS"/>
              </a:defRPr>
            </a:pPr>
            <a:r>
              <a:rPr sz="1575" b="1">
                <a:solidFill>
                  <a:srgbClr val="2F6FB6"/>
                </a:solidFill>
                <a:latin typeface="Arial Unicode MS"/>
                <a:ea typeface="Arial Unicode MS"/>
                <a:cs typeface="Arial Unicode MS"/>
              </a:rPr>
              <a:t>03</a:t>
            </a:r>
          </a:p>
        </p:txBody>
      </p:sp>
      <p:sp>
        <p:nvSpPr>
          <p:cNvPr id="14" name="">
            <a:extLst xmlns:a="http://schemas.openxmlformats.org/drawingml/2006/main">
              <a:ext uri="{FF2B5EF4-FFF2-40B4-BE49-F238E27FC236}">
                <a16:creationId xmlns:a16="http://schemas.microsoft.com/office/drawing/2014/main" id="{C3F79E06-6F71-4F9F-AD81-EBDF3FD65916}"/>
              </a:ext>
            </a:extLst>
          </p:cNvPr>
          <p:cNvSpPr>
            <a:spLocks xmlns:a="http://schemas.openxmlformats.org/drawingml/2006/main" noGrp="1"/>
          </p:cNvSpPr>
          <p:nvPr/>
        </p:nvSpPr>
        <p:spPr>
          <a:xfrm xmlns:a="http://schemas.openxmlformats.org/drawingml/2006/main">
            <a:off x="1181100" y="3257550"/>
            <a:ext cx="1733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650" b="1">
                <a:solidFill>
                  <a:srgbClr val="17232E"/>
                </a:solidFill>
                <a:latin typeface="Arial Unicode MS"/>
                <a:ea typeface="Arial Unicode MS"/>
                <a:cs typeface="Arial Unicode MS"/>
              </a:defRPr>
            </a:pPr>
            <a:r>
              <a:rPr sz="1650" b="1">
                <a:solidFill>
                  <a:srgbClr val="17232E"/>
                </a:solidFill>
                <a:latin typeface="Arial Unicode MS"/>
                <a:ea typeface="Arial Unicode MS"/>
                <a:cs typeface="Arial Unicode MS"/>
              </a:rPr>
              <a:t>安全机制</a:t>
            </a:r>
          </a:p>
        </p:txBody>
      </p:sp>
      <p:sp>
        <p:nvSpPr>
          <p:cNvPr id="15" name="">
            <a:extLst xmlns:a="http://schemas.openxmlformats.org/drawingml/2006/main">
              <a:ext uri="{FF2B5EF4-FFF2-40B4-BE49-F238E27FC236}">
                <a16:creationId xmlns:a16="http://schemas.microsoft.com/office/drawing/2014/main" id="{3E59E24F-E6C2-4EDB-891F-2FE54198D226}"/>
              </a:ext>
            </a:extLst>
          </p:cNvPr>
          <p:cNvSpPr>
            <a:spLocks xmlns:a="http://schemas.openxmlformats.org/drawingml/2006/main" noGrp="1"/>
          </p:cNvSpPr>
          <p:nvPr/>
        </p:nvSpPr>
        <p:spPr>
          <a:xfrm xmlns:a="http://schemas.openxmlformats.org/drawingml/2006/main">
            <a:off x="2990850" y="3257550"/>
            <a:ext cx="581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425" b="0">
                <a:solidFill>
                  <a:srgbClr val="687681"/>
                </a:solidFill>
                <a:latin typeface="Arial Unicode MS"/>
                <a:ea typeface="Arial Unicode MS"/>
                <a:cs typeface="Arial Unicode MS"/>
              </a:defRPr>
            </a:pPr>
            <a:r>
              <a:rPr sz="1425" b="0">
                <a:solidFill>
                  <a:srgbClr val="687681"/>
                </a:solidFill>
                <a:latin typeface="Arial Unicode MS"/>
                <a:ea typeface="Arial Unicode MS"/>
                <a:cs typeface="Arial Unicode MS"/>
              </a:rPr>
              <a:t>failure condition、abstention 与 exact fallback</a:t>
            </a:r>
          </a:p>
        </p:txBody>
      </p:sp>
      <p:sp>
        <p:nvSpPr>
          <p:cNvPr id="16" name="">
            <a:extLst xmlns:a="http://schemas.openxmlformats.org/drawingml/2006/main">
              <a:ext uri="{FF2B5EF4-FFF2-40B4-BE49-F238E27FC236}">
                <a16:creationId xmlns:a16="http://schemas.microsoft.com/office/drawing/2014/main" id="{2AD755B8-EC08-45FE-9FA7-CEE8AB34A104}"/>
              </a:ext>
            </a:extLst>
          </p:cNvPr>
          <p:cNvSpPr>
            <a:spLocks xmlns:a="http://schemas.openxmlformats.org/drawingml/2006/main" noGrp="1"/>
          </p:cNvSpPr>
          <p:nvPr/>
        </p:nvSpPr>
        <p:spPr>
          <a:xfrm xmlns:a="http://schemas.openxmlformats.org/drawingml/2006/main">
            <a:off x="1181100" y="3752850"/>
            <a:ext cx="7620000" cy="9525"/>
          </a:xfrm>
          <a:prstGeom xmlns:a="http://schemas.openxmlformats.org/drawingml/2006/main" prst="rect">
            <a:avLst/>
          </a:prstGeom>
          <a:solidFill xmlns:a="http://schemas.openxmlformats.org/drawingml/2006/main">
            <a:srgbClr val="C9D0D6"/>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97E2BD61-4F24-443E-BE9F-7C3921A7FC75}"/>
              </a:ext>
            </a:extLst>
          </p:cNvPr>
          <p:cNvSpPr>
            <a:spLocks xmlns:a="http://schemas.openxmlformats.org/drawingml/2006/main" noGrp="1"/>
          </p:cNvSpPr>
          <p:nvPr/>
        </p:nvSpPr>
        <p:spPr>
          <a:xfrm xmlns:a="http://schemas.openxmlformats.org/drawingml/2006/main">
            <a:off x="647700" y="40862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575" b="1">
                <a:solidFill>
                  <a:srgbClr val="2F6FB6"/>
                </a:solidFill>
                <a:latin typeface="Arial Unicode MS"/>
                <a:ea typeface="Arial Unicode MS"/>
                <a:cs typeface="Arial Unicode MS"/>
              </a:defRPr>
            </a:pPr>
            <a:r>
              <a:rPr sz="1575" b="1">
                <a:solidFill>
                  <a:srgbClr val="2F6FB6"/>
                </a:solidFill>
                <a:latin typeface="Arial Unicode MS"/>
                <a:ea typeface="Arial Unicode MS"/>
                <a:cs typeface="Arial Unicode MS"/>
              </a:rPr>
              <a:t>04</a:t>
            </a:r>
          </a:p>
        </p:txBody>
      </p:sp>
      <p:sp>
        <p:nvSpPr>
          <p:cNvPr id="18" name="">
            <a:extLst xmlns:a="http://schemas.openxmlformats.org/drawingml/2006/main">
              <a:ext uri="{FF2B5EF4-FFF2-40B4-BE49-F238E27FC236}">
                <a16:creationId xmlns:a16="http://schemas.microsoft.com/office/drawing/2014/main" id="{DB03D727-0C9E-42E5-B83D-B2079B2460CD}"/>
              </a:ext>
            </a:extLst>
          </p:cNvPr>
          <p:cNvSpPr>
            <a:spLocks xmlns:a="http://schemas.openxmlformats.org/drawingml/2006/main" noGrp="1"/>
          </p:cNvSpPr>
          <p:nvPr/>
        </p:nvSpPr>
        <p:spPr>
          <a:xfrm xmlns:a="http://schemas.openxmlformats.org/drawingml/2006/main">
            <a:off x="1181100" y="4067175"/>
            <a:ext cx="1733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650" b="1">
                <a:solidFill>
                  <a:srgbClr val="17232E"/>
                </a:solidFill>
                <a:latin typeface="Arial Unicode MS"/>
                <a:ea typeface="Arial Unicode MS"/>
                <a:cs typeface="Arial Unicode MS"/>
              </a:defRPr>
            </a:pPr>
            <a:r>
              <a:rPr sz="1650" b="1">
                <a:solidFill>
                  <a:srgbClr val="17232E"/>
                </a:solidFill>
                <a:latin typeface="Arial Unicode MS"/>
                <a:ea typeface="Arial Unicode MS"/>
                <a:cs typeface="Arial Unicode MS"/>
              </a:rPr>
              <a:t>证据记录</a:t>
            </a:r>
          </a:p>
        </p:txBody>
      </p:sp>
      <p:sp>
        <p:nvSpPr>
          <p:cNvPr id="19" name="">
            <a:extLst xmlns:a="http://schemas.openxmlformats.org/drawingml/2006/main">
              <a:ext uri="{FF2B5EF4-FFF2-40B4-BE49-F238E27FC236}">
                <a16:creationId xmlns:a16="http://schemas.microsoft.com/office/drawing/2014/main" id="{E6C13FDF-A84D-4C4E-B452-001BA7EF6E9D}"/>
              </a:ext>
            </a:extLst>
          </p:cNvPr>
          <p:cNvSpPr>
            <a:spLocks xmlns:a="http://schemas.openxmlformats.org/drawingml/2006/main" noGrp="1"/>
          </p:cNvSpPr>
          <p:nvPr/>
        </p:nvSpPr>
        <p:spPr>
          <a:xfrm xmlns:a="http://schemas.openxmlformats.org/drawingml/2006/main">
            <a:off x="2990850" y="4067175"/>
            <a:ext cx="581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425" b="0">
                <a:solidFill>
                  <a:srgbClr val="687681"/>
                </a:solidFill>
                <a:latin typeface="Arial Unicode MS"/>
                <a:ea typeface="Arial Unicode MS"/>
                <a:cs typeface="Arial Unicode MS"/>
              </a:defRPr>
            </a:pPr>
            <a:r>
              <a:rPr sz="1425" b="0">
                <a:solidFill>
                  <a:srgbClr val="687681"/>
                </a:solidFill>
                <a:latin typeface="Arial Unicode MS"/>
                <a:ea typeface="Arial Unicode MS"/>
                <a:cs typeface="Arial Unicode MS"/>
              </a:rPr>
              <a:t>开发任务、seeds、CI、non-loss 与 negative cases</a:t>
            </a:r>
          </a:p>
        </p:txBody>
      </p:sp>
      <p:sp>
        <p:nvSpPr>
          <p:cNvPr id="20" name="">
            <a:extLst xmlns:a="http://schemas.openxmlformats.org/drawingml/2006/main">
              <a:ext uri="{FF2B5EF4-FFF2-40B4-BE49-F238E27FC236}">
                <a16:creationId xmlns:a16="http://schemas.microsoft.com/office/drawing/2014/main" id="{5FE78A0C-8B82-4901-BCC7-9B278E105964}"/>
              </a:ext>
            </a:extLst>
          </p:cNvPr>
          <p:cNvSpPr>
            <a:spLocks xmlns:a="http://schemas.openxmlformats.org/drawingml/2006/main" noGrp="1"/>
          </p:cNvSpPr>
          <p:nvPr/>
        </p:nvSpPr>
        <p:spPr>
          <a:xfrm xmlns:a="http://schemas.openxmlformats.org/drawingml/2006/main">
            <a:off x="1181100" y="4562475"/>
            <a:ext cx="7620000" cy="9525"/>
          </a:xfrm>
          <a:prstGeom xmlns:a="http://schemas.openxmlformats.org/drawingml/2006/main" prst="rect">
            <a:avLst/>
          </a:prstGeom>
          <a:solidFill xmlns:a="http://schemas.openxmlformats.org/drawingml/2006/main">
            <a:srgbClr val="C9D0D6"/>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EF7B0766-0D1F-439D-9215-0AE18EAC3B2E}"/>
              </a:ext>
            </a:extLst>
          </p:cNvPr>
          <p:cNvSpPr>
            <a:spLocks xmlns:a="http://schemas.openxmlformats.org/drawingml/2006/main" noGrp="1"/>
          </p:cNvSpPr>
          <p:nvPr/>
        </p:nvSpPr>
        <p:spPr>
          <a:xfrm xmlns:a="http://schemas.openxmlformats.org/drawingml/2006/main">
            <a:off x="647700" y="48958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575" b="1">
                <a:solidFill>
                  <a:srgbClr val="2F6FB6"/>
                </a:solidFill>
                <a:latin typeface="Arial Unicode MS"/>
                <a:ea typeface="Arial Unicode MS"/>
                <a:cs typeface="Arial Unicode MS"/>
              </a:defRPr>
            </a:pPr>
            <a:r>
              <a:rPr sz="1575" b="1">
                <a:solidFill>
                  <a:srgbClr val="2F6FB6"/>
                </a:solidFill>
                <a:latin typeface="Arial Unicode MS"/>
                <a:ea typeface="Arial Unicode MS"/>
                <a:cs typeface="Arial Unicode MS"/>
              </a:rPr>
              <a:t>05</a:t>
            </a:r>
          </a:p>
        </p:txBody>
      </p:sp>
      <p:sp>
        <p:nvSpPr>
          <p:cNvPr id="22" name="">
            <a:extLst xmlns:a="http://schemas.openxmlformats.org/drawingml/2006/main">
              <a:ext uri="{FF2B5EF4-FFF2-40B4-BE49-F238E27FC236}">
                <a16:creationId xmlns:a16="http://schemas.microsoft.com/office/drawing/2014/main" id="{C39A95AA-9F36-4682-A191-C8B4FE67B16B}"/>
              </a:ext>
            </a:extLst>
          </p:cNvPr>
          <p:cNvSpPr>
            <a:spLocks xmlns:a="http://schemas.openxmlformats.org/drawingml/2006/main" noGrp="1"/>
          </p:cNvSpPr>
          <p:nvPr/>
        </p:nvSpPr>
        <p:spPr>
          <a:xfrm xmlns:a="http://schemas.openxmlformats.org/drawingml/2006/main">
            <a:off x="1181100" y="4876800"/>
            <a:ext cx="1733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650" b="1">
                <a:solidFill>
                  <a:srgbClr val="17232E"/>
                </a:solidFill>
                <a:latin typeface="Arial Unicode MS"/>
                <a:ea typeface="Arial Unicode MS"/>
                <a:cs typeface="Arial Unicode MS"/>
              </a:defRPr>
            </a:pPr>
            <a:r>
              <a:rPr sz="1650" b="1">
                <a:solidFill>
                  <a:srgbClr val="17232E"/>
                </a:solidFill>
                <a:latin typeface="Arial Unicode MS"/>
                <a:ea typeface="Arial Unicode MS"/>
                <a:cs typeface="Arial Unicode MS"/>
              </a:rPr>
              <a:t>可复现性</a:t>
            </a:r>
          </a:p>
        </p:txBody>
      </p:sp>
      <p:sp>
        <p:nvSpPr>
          <p:cNvPr id="23" name="">
            <a:extLst xmlns:a="http://schemas.openxmlformats.org/drawingml/2006/main">
              <a:ext uri="{FF2B5EF4-FFF2-40B4-BE49-F238E27FC236}">
                <a16:creationId xmlns:a16="http://schemas.microsoft.com/office/drawing/2014/main" id="{E8D25511-2857-4BA5-9DA7-4E06815A478C}"/>
              </a:ext>
            </a:extLst>
          </p:cNvPr>
          <p:cNvSpPr>
            <a:spLocks xmlns:a="http://schemas.openxmlformats.org/drawingml/2006/main" noGrp="1"/>
          </p:cNvSpPr>
          <p:nvPr/>
        </p:nvSpPr>
        <p:spPr>
          <a:xfrm xmlns:a="http://schemas.openxmlformats.org/drawingml/2006/main">
            <a:off x="2990850" y="4876800"/>
            <a:ext cx="581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425" b="0">
                <a:solidFill>
                  <a:srgbClr val="687681"/>
                </a:solidFill>
                <a:latin typeface="Arial Unicode MS"/>
                <a:ea typeface="Arial Unicode MS"/>
                <a:cs typeface="Arial Unicode MS"/>
              </a:defRPr>
            </a:pPr>
            <a:r>
              <a:rPr sz="1425" b="0">
                <a:solidFill>
                  <a:srgbClr val="687681"/>
                </a:solidFill>
                <a:latin typeface="Arial Unicode MS"/>
                <a:ea typeface="Arial Unicode MS"/>
                <a:cs typeface="Arial Unicode MS"/>
              </a:rPr>
              <a:t>model record、config、commit 与 SHA-256 fingerprint</a:t>
            </a:r>
          </a:p>
        </p:txBody>
      </p:sp>
      <p:sp>
        <p:nvSpPr>
          <p:cNvPr id="24" name="">
            <a:extLst xmlns:a="http://schemas.openxmlformats.org/drawingml/2006/main">
              <a:ext uri="{FF2B5EF4-FFF2-40B4-BE49-F238E27FC236}">
                <a16:creationId xmlns:a16="http://schemas.microsoft.com/office/drawing/2014/main" id="{BCB0210A-00F0-405F-9F0F-33564E202C5D}"/>
              </a:ext>
            </a:extLst>
          </p:cNvPr>
          <p:cNvSpPr>
            <a:spLocks xmlns:a="http://schemas.openxmlformats.org/drawingml/2006/main" noGrp="1"/>
          </p:cNvSpPr>
          <p:nvPr/>
        </p:nvSpPr>
        <p:spPr>
          <a:xfrm xmlns:a="http://schemas.openxmlformats.org/drawingml/2006/main">
            <a:off x="1181100" y="5372100"/>
            <a:ext cx="7620000" cy="9525"/>
          </a:xfrm>
          <a:prstGeom xmlns:a="http://schemas.openxmlformats.org/drawingml/2006/main" prst="rect">
            <a:avLst/>
          </a:prstGeom>
          <a:solidFill xmlns:a="http://schemas.openxmlformats.org/drawingml/2006/main">
            <a:srgbClr val="C9D0D6"/>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C59CA263-DA78-486A-93CD-0FE5D6F17EFB}"/>
              </a:ext>
            </a:extLst>
          </p:cNvPr>
          <p:cNvSpPr>
            <a:spLocks xmlns:a="http://schemas.openxmlformats.org/drawingml/2006/main" noGrp="1"/>
          </p:cNvSpPr>
          <p:nvPr/>
        </p:nvSpPr>
        <p:spPr>
          <a:xfrm xmlns:a="http://schemas.openxmlformats.org/drawingml/2006/main">
            <a:off x="9124950" y="1676400"/>
            <a:ext cx="2381250" cy="3867150"/>
          </a:xfrm>
          <a:prstGeom xmlns:a="http://schemas.openxmlformats.org/drawingml/2006/main" prst="rect">
            <a:avLst/>
          </a:prstGeom>
          <a:solidFill xmlns:a="http://schemas.openxmlformats.org/drawingml/2006/main">
            <a:srgbClr val="17324D"/>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638CE8AC-D3DB-427F-BEF1-CB6BFA5BD092}"/>
              </a:ext>
            </a:extLst>
          </p:cNvPr>
          <p:cNvSpPr>
            <a:spLocks xmlns:a="http://schemas.openxmlformats.org/drawingml/2006/main" noGrp="1"/>
          </p:cNvSpPr>
          <p:nvPr/>
        </p:nvSpPr>
        <p:spPr>
          <a:xfrm xmlns:a="http://schemas.openxmlformats.org/drawingml/2006/main">
            <a:off x="9372600" y="1981200"/>
            <a:ext cx="1885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1950" b="1">
                <a:solidFill>
                  <a:srgbClr val="6DCBF4"/>
                </a:solidFill>
                <a:latin typeface="Arial Unicode MS"/>
                <a:ea typeface="Arial Unicode MS"/>
                <a:cs typeface="Arial Unicode MS"/>
              </a:defRPr>
            </a:pPr>
            <a:r>
              <a:rPr sz="1950" b="1">
                <a:solidFill>
                  <a:srgbClr val="6DCBF4"/>
                </a:solidFill>
                <a:latin typeface="Arial Unicode MS"/>
                <a:ea typeface="Arial Unicode MS"/>
                <a:cs typeface="Arial Unicode MS"/>
              </a:rPr>
              <a:t>SkillBank</a:t>
            </a:r>
          </a:p>
        </p:txBody>
      </p:sp>
      <p:sp>
        <p:nvSpPr>
          <p:cNvPr id="27" name="">
            <a:extLst xmlns:a="http://schemas.openxmlformats.org/drawingml/2006/main">
              <a:ext uri="{FF2B5EF4-FFF2-40B4-BE49-F238E27FC236}">
                <a16:creationId xmlns:a16="http://schemas.microsoft.com/office/drawing/2014/main" id="{67F3DB2B-73A9-4FCE-9DCA-A1A900ABDE21}"/>
              </a:ext>
            </a:extLst>
          </p:cNvPr>
          <p:cNvSpPr>
            <a:spLocks xmlns:a="http://schemas.openxmlformats.org/drawingml/2006/main" noGrp="1"/>
          </p:cNvSpPr>
          <p:nvPr/>
        </p:nvSpPr>
        <p:spPr>
          <a:xfrm xmlns:a="http://schemas.openxmlformats.org/drawingml/2006/main">
            <a:off x="9372600" y="2609850"/>
            <a:ext cx="188595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4000"/>
              </a:lnSpc>
              <a:buNone/>
              <a:defRPr sz="1500" b="1">
                <a:solidFill>
                  <a:srgbClr val="FFFFFF"/>
                </a:solidFill>
                <a:latin typeface="Arial Unicode MS"/>
                <a:ea typeface="Arial Unicode MS"/>
                <a:cs typeface="Arial Unicode MS"/>
              </a:defRPr>
            </a:pPr>
            <a:r>
              <a:rPr sz="1500" b="1">
                <a:solidFill>
                  <a:srgbClr val="FFFFFF"/>
                </a:solidFill>
                <a:latin typeface="Arial Unicode MS"/>
                <a:ea typeface="Arial Unicode MS"/>
                <a:cs typeface="Arial Unicode MS"/>
              </a:rPr>
              <a:t>SKILL.md</a:t>
            </a:r>
          </a:p>
          <a:p xmlns:a="http://schemas.openxmlformats.org/drawingml/2006/main">
            <a:r>
              <a:t/>
            </a:r>
          </a:p>
          <a:p xmlns:a="http://schemas.openxmlformats.org/drawingml/2006/main">
            <a:pPr algn="ctr">
              <a:lnSpc>
                <a:spcPct val="114000"/>
              </a:lnSpc>
              <a:buNone/>
              <a:defRPr sz="1500" b="1">
                <a:solidFill>
                  <a:srgbClr val="FFFFFF"/>
                </a:solidFill>
                <a:latin typeface="Arial Unicode MS"/>
                <a:ea typeface="Arial Unicode MS"/>
                <a:cs typeface="Arial Unicode MS"/>
              </a:defRPr>
            </a:pPr>
            <a:r>
              <a:rPr sz="1500" b="1">
                <a:solidFill>
                  <a:srgbClr val="FFFFFF"/>
                </a:solidFill>
                <a:latin typeface="Arial Unicode MS"/>
                <a:ea typeface="Arial Unicode MS"/>
                <a:cs typeface="Arial Unicode MS"/>
              </a:rPr>
              <a:t>manifest.json</a:t>
            </a:r>
          </a:p>
          <a:p xmlns:a="http://schemas.openxmlformats.org/drawingml/2006/main">
            <a:r>
              <a:t/>
            </a:r>
          </a:p>
          <a:p xmlns:a="http://schemas.openxmlformats.org/drawingml/2006/main">
            <a:pPr algn="ctr">
              <a:lnSpc>
                <a:spcPct val="114000"/>
              </a:lnSpc>
              <a:buNone/>
              <a:defRPr sz="1500" b="1">
                <a:solidFill>
                  <a:srgbClr val="FFFFFF"/>
                </a:solidFill>
                <a:latin typeface="Arial Unicode MS"/>
                <a:ea typeface="Arial Unicode MS"/>
                <a:cs typeface="Arial Unicode MS"/>
              </a:defRPr>
            </a:pPr>
            <a:r>
              <a:rPr sz="1500" b="1">
                <a:solidFill>
                  <a:srgbClr val="FFFFFF"/>
                </a:solidFill>
                <a:latin typeface="Arial Unicode MS"/>
                <a:ea typeface="Arial Unicode MS"/>
                <a:cs typeface="Arial Unicode MS"/>
              </a:rPr>
              <a:t>selection_record.json</a:t>
            </a:r>
          </a:p>
          <a:p xmlns:a="http://schemas.openxmlformats.org/drawingml/2006/main">
            <a:r>
              <a:t/>
            </a:r>
          </a:p>
          <a:p xmlns:a="http://schemas.openxmlformats.org/drawingml/2006/main">
            <a:pPr algn="ctr">
              <a:lnSpc>
                <a:spcPct val="114000"/>
              </a:lnSpc>
              <a:buNone/>
              <a:defRPr sz="1500" b="1">
                <a:solidFill>
                  <a:srgbClr val="FFFFFF"/>
                </a:solidFill>
                <a:latin typeface="Arial Unicode MS"/>
                <a:ea typeface="Arial Unicode MS"/>
                <a:cs typeface="Arial Unicode MS"/>
              </a:defRPr>
            </a:pPr>
            <a:r>
              <a:rPr sz="1500" b="1">
                <a:solidFill>
                  <a:srgbClr val="FFFFFF"/>
                </a:solidFill>
                <a:latin typeface="Arial Unicode MS"/>
                <a:ea typeface="Arial Unicode MS"/>
                <a:cs typeface="Arial Unicode MS"/>
              </a:rPr>
              <a:t>audit.jsonl</a:t>
            </a:r>
          </a:p>
          <a:p xmlns:a="http://schemas.openxmlformats.org/drawingml/2006/main">
            <a:r>
              <a:t/>
            </a:r>
          </a:p>
          <a:p xmlns:a="http://schemas.openxmlformats.org/drawingml/2006/main">
            <a:pPr algn="ctr">
              <a:lnSpc>
                <a:spcPct val="114000"/>
              </a:lnSpc>
              <a:buNone/>
              <a:defRPr sz="1500" b="1">
                <a:solidFill>
                  <a:srgbClr val="FFFFFF"/>
                </a:solidFill>
                <a:latin typeface="Arial Unicode MS"/>
                <a:ea typeface="Arial Unicode MS"/>
                <a:cs typeface="Arial Unicode MS"/>
              </a:defRPr>
            </a:pPr>
            <a:r>
              <a:rPr sz="1500" b="1">
                <a:solidFill>
                  <a:srgbClr val="FFFFFF"/>
                </a:solidFill>
                <a:latin typeface="Arial Unicode MS"/>
                <a:ea typeface="Arial Unicode MS"/>
                <a:cs typeface="Arial Unicode MS"/>
              </a:rPr>
              <a:t>SHA256SUMS</a:t>
            </a:r>
          </a:p>
        </p:txBody>
      </p:sp>
      <p:sp>
        <p:nvSpPr>
          <p:cNvPr id="28" name="">
            <a:extLst xmlns:a="http://schemas.openxmlformats.org/drawingml/2006/main">
              <a:ext uri="{FF2B5EF4-FFF2-40B4-BE49-F238E27FC236}">
                <a16:creationId xmlns:a16="http://schemas.microsoft.com/office/drawing/2014/main" id="{7496DBBF-58C0-4CB3-84A5-B5CEABB0F8EC}"/>
              </a:ext>
            </a:extLst>
          </p:cNvPr>
          <p:cNvSpPr>
            <a:spLocks xmlns:a="http://schemas.openxmlformats.org/drawingml/2006/main" noGrp="1"/>
          </p:cNvSpPr>
          <p:nvPr/>
        </p:nvSpPr>
        <p:spPr>
          <a:xfrm xmlns:a="http://schemas.openxmlformats.org/drawingml/2006/main">
            <a:off x="8972550" y="5753100"/>
            <a:ext cx="2686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082"/>
          </a:bodyPr>
          <a:lstStyle xmlns:a="http://schemas.openxmlformats.org/drawingml/2006/main"/>
          <a:p xmlns:a="http://schemas.openxmlformats.org/drawingml/2006/main">
            <a:pPr algn="ctr">
              <a:lnSpc>
                <a:spcPct val="106000"/>
              </a:lnSpc>
              <a:buNone/>
              <a:defRPr sz="1050" b="0">
                <a:solidFill>
                  <a:srgbClr val="C94D4D"/>
                </a:solidFill>
                <a:latin typeface="Arial Unicode MS"/>
                <a:ea typeface="Arial Unicode MS"/>
                <a:cs typeface="Arial Unicode MS"/>
              </a:defRPr>
            </a:pPr>
            <a:r>
              <a:rPr sz="1050" b="0">
                <a:solidFill>
                  <a:srgbClr val="C94D4D"/>
                </a:solidFill>
                <a:latin typeface="Arial Unicode MS"/>
                <a:ea typeface="Arial Unicode MS"/>
                <a:cs typeface="Arial Unicode MS"/>
              </a:rPr>
              <a:t>当前 v2：candidate / one-target external support</a:t>
            </a:r>
          </a:p>
        </p:txBody>
      </p:sp>
      <p:sp>
        <p:nvSpPr>
          <p:cNvPr id="29" name="">
            <a:extLst xmlns:a="http://schemas.openxmlformats.org/drawingml/2006/main">
              <a:ext uri="{FF2B5EF4-FFF2-40B4-BE49-F238E27FC236}">
                <a16:creationId xmlns:a16="http://schemas.microsoft.com/office/drawing/2014/main" id="{E6E5281B-4091-4D0D-9B78-F8E527753D82}"/>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frozen evidence update · 2026-08-12</a:t>
            </a:r>
          </a:p>
        </p:txBody>
      </p:sp>
    </p:spTree>
    <p:extLst>
      <p:ext uri="{BB962C8B-B14F-4D97-AF65-F5344CB8AC3E}">
        <p14:creationId xmlns:p14="http://schemas.microsoft.com/office/powerpoint/2010/main" val="41326440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542D7293-0EDD-4781-9C4E-E44F2168DD22}"/>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SOURCE EXPERTS</a:t>
            </a:r>
          </a:p>
        </p:txBody>
      </p:sp>
      <p:sp>
        <p:nvSpPr>
          <p:cNvPr id="2" name="">
            <a:extLst xmlns:a="http://schemas.openxmlformats.org/drawingml/2006/main">
              <a:ext uri="{FF2B5EF4-FFF2-40B4-BE49-F238E27FC236}">
                <a16:creationId xmlns:a16="http://schemas.microsoft.com/office/drawing/2014/main" id="{649D2D31-8271-4BC5-8917-7551F9DFF58E}"/>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12</a:t>
            </a:r>
          </a:p>
        </p:txBody>
      </p:sp>
      <p:sp>
        <p:nvSpPr>
          <p:cNvPr id="3" name="">
            <a:extLst xmlns:a="http://schemas.openxmlformats.org/drawingml/2006/main">
              <a:ext uri="{FF2B5EF4-FFF2-40B4-BE49-F238E27FC236}">
                <a16:creationId xmlns:a16="http://schemas.microsoft.com/office/drawing/2014/main" id="{1ACDB5D1-8188-4127-A5BB-7D40F39A3D40}"/>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700" b="1">
                <a:solidFill>
                  <a:srgbClr val="17232E"/>
                </a:solidFill>
                <a:latin typeface="Arial Unicode MS"/>
                <a:ea typeface="Arial Unicode MS"/>
                <a:cs typeface="Arial Unicode MS"/>
              </a:defRPr>
            </a:pPr>
            <a:r>
              <a:rPr sz="2700" b="1">
                <a:solidFill>
                  <a:srgbClr val="17232E"/>
                </a:solidFill>
                <a:latin typeface="Arial Unicode MS"/>
                <a:ea typeface="Arial Unicode MS"/>
                <a:cs typeface="Arial Unicode MS"/>
              </a:rPr>
              <a:t>多个 source 不直接拼接，而是先形成稳健的排序共识</a:t>
            </a:r>
          </a:p>
        </p:txBody>
      </p:sp>
      <p:sp>
        <p:nvSpPr>
          <p:cNvPr id="4" name="">
            <a:extLst xmlns:a="http://schemas.openxmlformats.org/drawingml/2006/main">
              <a:ext uri="{FF2B5EF4-FFF2-40B4-BE49-F238E27FC236}">
                <a16:creationId xmlns:a16="http://schemas.microsoft.com/office/drawing/2014/main" id="{072D282E-9AF9-47D6-B5B0-8ECB06B6CB4B}"/>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CACD00CF-D8B6-4C6A-9C8C-643C0EA8EFEF}"/>
              </a:ext>
            </a:extLst>
          </p:cNvPr>
          <p:cNvSpPr>
            <a:spLocks xmlns:a="http://schemas.openxmlformats.org/drawingml/2006/main" noGrp="1"/>
          </p:cNvSpPr>
          <p:nvPr/>
        </p:nvSpPr>
        <p:spPr>
          <a:xfrm xmlns:a="http://schemas.openxmlformats.org/drawingml/2006/main">
            <a:off x="647700" y="1695450"/>
            <a:ext cx="304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725" b="1">
                <a:solidFill>
                  <a:srgbClr val="2F6FB6"/>
                </a:solidFill>
                <a:latin typeface="Arial Unicode MS"/>
                <a:ea typeface="Arial Unicode MS"/>
                <a:cs typeface="Arial Unicode MS"/>
              </a:defRPr>
            </a:pPr>
            <a:r>
              <a:rPr sz="1725" b="1">
                <a:solidFill>
                  <a:srgbClr val="2F6FB6"/>
                </a:solidFill>
                <a:latin typeface="Arial Unicode MS"/>
                <a:ea typeface="Arial Unicode MS"/>
                <a:cs typeface="Arial Unicode MS"/>
              </a:rPr>
              <a:t>每个 source 单独建模</a:t>
            </a:r>
          </a:p>
        </p:txBody>
      </p:sp>
      <p:sp>
        <p:nvSpPr>
          <p:cNvPr id="6" name="">
            <a:extLst xmlns:a="http://schemas.openxmlformats.org/drawingml/2006/main">
              <a:ext uri="{FF2B5EF4-FFF2-40B4-BE49-F238E27FC236}">
                <a16:creationId xmlns:a16="http://schemas.microsoft.com/office/drawing/2014/main" id="{38A4C8DE-2F2C-48C0-A46C-963015422A55}"/>
              </a:ext>
            </a:extLst>
          </p:cNvPr>
          <p:cNvSpPr>
            <a:spLocks xmlns:a="http://schemas.openxmlformats.org/drawingml/2006/main" noGrp="1"/>
          </p:cNvSpPr>
          <p:nvPr/>
        </p:nvSpPr>
        <p:spPr>
          <a:xfrm xmlns:a="http://schemas.openxmlformats.org/drawingml/2006/main">
            <a:off x="647700" y="2209800"/>
            <a:ext cx="31432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0000"/>
              </a:lnSpc>
              <a:buNone/>
              <a:defRPr sz="1500" b="0">
                <a:solidFill>
                  <a:srgbClr val="687681"/>
                </a:solidFill>
                <a:latin typeface="Arial Unicode MS"/>
                <a:ea typeface="Arial Unicode MS"/>
                <a:cs typeface="Arial Unicode MS"/>
              </a:defRPr>
            </a:pPr>
            <a:r>
              <a:rPr sz="1500" b="0">
                <a:solidFill>
                  <a:srgbClr val="687681"/>
                </a:solidFill>
                <a:latin typeface="Arial Unicode MS"/>
                <a:ea typeface="Arial Unicode MS"/>
                <a:cs typeface="Arial Unicode MS"/>
              </a:rPr>
              <a:t>• 每个 campaign 单独训练 GP</a:t>
            </a:r>
          </a:p>
          <a:p xmlns:a="http://schemas.openxmlformats.org/drawingml/2006/main">
            <a:pPr algn="l">
              <a:lnSpc>
                <a:spcPct val="120000"/>
              </a:lnSpc>
              <a:buNone/>
              <a:defRPr sz="1500" b="0">
                <a:solidFill>
                  <a:srgbClr val="687681"/>
                </a:solidFill>
                <a:latin typeface="Arial Unicode MS"/>
                <a:ea typeface="Arial Unicode MS"/>
                <a:cs typeface="Arial Unicode MS"/>
              </a:defRPr>
            </a:pPr>
            <a:r>
              <a:rPr sz="1500" b="0">
                <a:solidFill>
                  <a:srgbClr val="687681"/>
                </a:solidFill>
                <a:latin typeface="Arial Unicode MS"/>
                <a:ea typeface="Arial Unicode MS"/>
                <a:cs typeface="Arial Unicode MS"/>
              </a:rPr>
              <a:t>• 保留 campaign 内部的变量关系</a:t>
            </a:r>
          </a:p>
          <a:p xmlns:a="http://schemas.openxmlformats.org/drawingml/2006/main">
            <a:pPr algn="l">
              <a:lnSpc>
                <a:spcPct val="120000"/>
              </a:lnSpc>
              <a:buNone/>
              <a:defRPr sz="1500" b="0">
                <a:solidFill>
                  <a:srgbClr val="687681"/>
                </a:solidFill>
                <a:latin typeface="Arial Unicode MS"/>
                <a:ea typeface="Arial Unicode MS"/>
                <a:cs typeface="Arial Unicode MS"/>
              </a:defRPr>
            </a:pPr>
            <a:r>
              <a:rPr sz="1500" b="0">
                <a:solidFill>
                  <a:srgbClr val="687681"/>
                </a:solidFill>
                <a:latin typeface="Arial Unicode MS"/>
                <a:ea typeface="Arial Unicode MS"/>
                <a:cs typeface="Arial Unicode MS"/>
              </a:rPr>
              <a:t>• 避免直接混合不同 outcome 尺度</a:t>
            </a:r>
          </a:p>
        </p:txBody>
      </p:sp>
      <p:sp>
        <p:nvSpPr>
          <p:cNvPr id="7" name="">
            <a:extLst xmlns:a="http://schemas.openxmlformats.org/drawingml/2006/main">
              <a:ext uri="{FF2B5EF4-FFF2-40B4-BE49-F238E27FC236}">
                <a16:creationId xmlns:a16="http://schemas.microsoft.com/office/drawing/2014/main" id="{3699773B-7861-4E80-B0AE-26965E9E913B}"/>
              </a:ext>
            </a:extLst>
          </p:cNvPr>
          <p:cNvSpPr>
            <a:spLocks xmlns:a="http://schemas.openxmlformats.org/drawingml/2006/main" noGrp="1"/>
          </p:cNvSpPr>
          <p:nvPr/>
        </p:nvSpPr>
        <p:spPr>
          <a:xfrm xmlns:a="http://schemas.openxmlformats.org/drawingml/2006/main">
            <a:off x="4048125" y="2781300"/>
            <a:ext cx="533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2550" b="1">
                <a:solidFill>
                  <a:srgbClr val="2F6FB6"/>
                </a:solidFill>
                <a:latin typeface="Arial Unicode MS"/>
                <a:ea typeface="Arial Unicode MS"/>
                <a:cs typeface="Arial Unicode MS"/>
              </a:defRPr>
            </a:pPr>
            <a:r>
              <a:rPr sz="2550" b="1">
                <a:solidFill>
                  <a:srgbClr val="2F6FB6"/>
                </a:solidFill>
                <a:latin typeface="Arial Unicode MS"/>
                <a:ea typeface="Arial Unicode MS"/>
                <a:cs typeface="Arial Unicode MS"/>
              </a:rPr>
              <a:t>→</a:t>
            </a:r>
          </a:p>
        </p:txBody>
      </p:sp>
      <p:sp>
        <p:nvSpPr>
          <p:cNvPr id="8" name="">
            <a:extLst xmlns:a="http://schemas.openxmlformats.org/drawingml/2006/main">
              <a:ext uri="{FF2B5EF4-FFF2-40B4-BE49-F238E27FC236}">
                <a16:creationId xmlns:a16="http://schemas.microsoft.com/office/drawing/2014/main" id="{A11036F3-071A-442A-B662-234EC1BD9177}"/>
              </a:ext>
            </a:extLst>
          </p:cNvPr>
          <p:cNvSpPr>
            <a:spLocks xmlns:a="http://schemas.openxmlformats.org/drawingml/2006/main" noGrp="1"/>
          </p:cNvSpPr>
          <p:nvPr/>
        </p:nvSpPr>
        <p:spPr>
          <a:xfrm xmlns:a="http://schemas.openxmlformats.org/drawingml/2006/main">
            <a:off x="4857750" y="1695450"/>
            <a:ext cx="304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725" b="1">
                <a:solidFill>
                  <a:srgbClr val="D99A33"/>
                </a:solidFill>
                <a:latin typeface="Arial Unicode MS"/>
                <a:ea typeface="Arial Unicode MS"/>
                <a:cs typeface="Arial Unicode MS"/>
              </a:defRPr>
            </a:pPr>
            <a:r>
              <a:rPr sz="1725" b="1">
                <a:solidFill>
                  <a:srgbClr val="D99A33"/>
                </a:solidFill>
                <a:latin typeface="Arial Unicode MS"/>
                <a:ea typeface="Arial Unicode MS"/>
                <a:cs typeface="Arial Unicode MS"/>
              </a:rPr>
              <a:t>转换成归一化 rank</a:t>
            </a:r>
          </a:p>
        </p:txBody>
      </p:sp>
      <p:sp>
        <p:nvSpPr>
          <p:cNvPr id="9" name="">
            <a:extLst xmlns:a="http://schemas.openxmlformats.org/drawingml/2006/main">
              <a:ext uri="{FF2B5EF4-FFF2-40B4-BE49-F238E27FC236}">
                <a16:creationId xmlns:a16="http://schemas.microsoft.com/office/drawing/2014/main" id="{23E87853-5611-424B-8369-980F4489D092}"/>
              </a:ext>
            </a:extLst>
          </p:cNvPr>
          <p:cNvSpPr>
            <a:spLocks xmlns:a="http://schemas.openxmlformats.org/drawingml/2006/main" noGrp="1"/>
          </p:cNvSpPr>
          <p:nvPr/>
        </p:nvSpPr>
        <p:spPr>
          <a:xfrm xmlns:a="http://schemas.openxmlformats.org/drawingml/2006/main">
            <a:off x="4857750" y="2209800"/>
            <a:ext cx="31432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0000"/>
              </a:lnSpc>
              <a:buNone/>
              <a:defRPr sz="1500" b="0">
                <a:solidFill>
                  <a:srgbClr val="687681"/>
                </a:solidFill>
                <a:latin typeface="Arial Unicode MS"/>
                <a:ea typeface="Arial Unicode MS"/>
                <a:cs typeface="Arial Unicode MS"/>
              </a:defRPr>
            </a:pPr>
            <a:r>
              <a:rPr sz="1500" b="0">
                <a:solidFill>
                  <a:srgbClr val="687681"/>
                </a:solidFill>
                <a:latin typeface="Arial Unicode MS"/>
                <a:ea typeface="Arial Unicode MS"/>
                <a:cs typeface="Arial Unicode MS"/>
              </a:rPr>
              <a:t>• 预测值映射到 [0,1] 排序</a:t>
            </a:r>
          </a:p>
          <a:p xmlns:a="http://schemas.openxmlformats.org/drawingml/2006/main">
            <a:pPr algn="l">
              <a:lnSpc>
                <a:spcPct val="120000"/>
              </a:lnSpc>
              <a:buNone/>
              <a:defRPr sz="1500" b="0">
                <a:solidFill>
                  <a:srgbClr val="687681"/>
                </a:solidFill>
                <a:latin typeface="Arial Unicode MS"/>
                <a:ea typeface="Arial Unicode MS"/>
                <a:cs typeface="Arial Unicode MS"/>
              </a:defRPr>
            </a:pPr>
            <a:r>
              <a:rPr sz="1500" b="0">
                <a:solidFill>
                  <a:srgbClr val="687681"/>
                </a:solidFill>
                <a:latin typeface="Arial Unicode MS"/>
                <a:ea typeface="Arial Unicode MS"/>
                <a:cs typeface="Arial Unicode MS"/>
              </a:rPr>
              <a:t>• 只保留候选的相对优先级</a:t>
            </a:r>
          </a:p>
          <a:p xmlns:a="http://schemas.openxmlformats.org/drawingml/2006/main">
            <a:pPr algn="l">
              <a:lnSpc>
                <a:spcPct val="120000"/>
              </a:lnSpc>
              <a:buNone/>
              <a:defRPr sz="1500" b="0">
                <a:solidFill>
                  <a:srgbClr val="687681"/>
                </a:solidFill>
                <a:latin typeface="Arial Unicode MS"/>
                <a:ea typeface="Arial Unicode MS"/>
                <a:cs typeface="Arial Unicode MS"/>
              </a:defRPr>
            </a:pPr>
            <a:r>
              <a:rPr sz="1500" b="0">
                <a:solidFill>
                  <a:srgbClr val="687681"/>
                </a:solidFill>
                <a:latin typeface="Arial Unicode MS"/>
                <a:ea typeface="Arial Unicode MS"/>
                <a:cs typeface="Arial Unicode MS"/>
              </a:rPr>
              <a:t>• 降低 source 量纲与噪声差异</a:t>
            </a:r>
          </a:p>
        </p:txBody>
      </p:sp>
      <p:sp>
        <p:nvSpPr>
          <p:cNvPr id="10" name="">
            <a:extLst xmlns:a="http://schemas.openxmlformats.org/drawingml/2006/main">
              <a:ext uri="{FF2B5EF4-FFF2-40B4-BE49-F238E27FC236}">
                <a16:creationId xmlns:a16="http://schemas.microsoft.com/office/drawing/2014/main" id="{F4D9A030-EE21-471B-9C95-8FFA052E22C9}"/>
              </a:ext>
            </a:extLst>
          </p:cNvPr>
          <p:cNvSpPr>
            <a:spLocks xmlns:a="http://schemas.openxmlformats.org/drawingml/2006/main" noGrp="1"/>
          </p:cNvSpPr>
          <p:nvPr/>
        </p:nvSpPr>
        <p:spPr>
          <a:xfrm xmlns:a="http://schemas.openxmlformats.org/drawingml/2006/main">
            <a:off x="8248650" y="2781300"/>
            <a:ext cx="533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2550" b="1">
                <a:solidFill>
                  <a:srgbClr val="2F6FB6"/>
                </a:solidFill>
                <a:latin typeface="Arial Unicode MS"/>
                <a:ea typeface="Arial Unicode MS"/>
                <a:cs typeface="Arial Unicode MS"/>
              </a:defRPr>
            </a:pPr>
            <a:r>
              <a:rPr sz="2550" b="1">
                <a:solidFill>
                  <a:srgbClr val="2F6FB6"/>
                </a:solidFill>
                <a:latin typeface="Arial Unicode MS"/>
                <a:ea typeface="Arial Unicode MS"/>
                <a:cs typeface="Arial Unicode MS"/>
              </a:rPr>
              <a:t>→</a:t>
            </a:r>
          </a:p>
        </p:txBody>
      </p:sp>
      <p:sp>
        <p:nvSpPr>
          <p:cNvPr id="11" name="">
            <a:extLst xmlns:a="http://schemas.openxmlformats.org/drawingml/2006/main">
              <a:ext uri="{FF2B5EF4-FFF2-40B4-BE49-F238E27FC236}">
                <a16:creationId xmlns:a16="http://schemas.microsoft.com/office/drawing/2014/main" id="{0239E9F9-6396-4B14-B8D0-69F16CD45771}"/>
              </a:ext>
            </a:extLst>
          </p:cNvPr>
          <p:cNvSpPr>
            <a:spLocks xmlns:a="http://schemas.openxmlformats.org/drawingml/2006/main" noGrp="1"/>
          </p:cNvSpPr>
          <p:nvPr/>
        </p:nvSpPr>
        <p:spPr>
          <a:xfrm xmlns:a="http://schemas.openxmlformats.org/drawingml/2006/main">
            <a:off x="9067800" y="16954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725" b="1">
                <a:solidFill>
                  <a:srgbClr val="2C8A62"/>
                </a:solidFill>
                <a:latin typeface="Arial Unicode MS"/>
                <a:ea typeface="Arial Unicode MS"/>
                <a:cs typeface="Arial Unicode MS"/>
              </a:defRPr>
            </a:pPr>
            <a:r>
              <a:rPr sz="1725" b="1">
                <a:solidFill>
                  <a:srgbClr val="2C8A62"/>
                </a:solidFill>
                <a:latin typeface="Arial Unicode MS"/>
                <a:ea typeface="Arial Unicode MS"/>
                <a:cs typeface="Arial Unicode MS"/>
              </a:rPr>
              <a:t>中位数聚合</a:t>
            </a:r>
          </a:p>
        </p:txBody>
      </p:sp>
      <p:sp>
        <p:nvSpPr>
          <p:cNvPr id="12" name="">
            <a:extLst xmlns:a="http://schemas.openxmlformats.org/drawingml/2006/main">
              <a:ext uri="{FF2B5EF4-FFF2-40B4-BE49-F238E27FC236}">
                <a16:creationId xmlns:a16="http://schemas.microsoft.com/office/drawing/2014/main" id="{9A154BAD-F240-49EB-BD46-549DA2734259}"/>
              </a:ext>
            </a:extLst>
          </p:cNvPr>
          <p:cNvSpPr>
            <a:spLocks xmlns:a="http://schemas.openxmlformats.org/drawingml/2006/main" noGrp="1"/>
          </p:cNvSpPr>
          <p:nvPr/>
        </p:nvSpPr>
        <p:spPr>
          <a:xfrm xmlns:a="http://schemas.openxmlformats.org/drawingml/2006/main">
            <a:off x="9067800" y="2209800"/>
            <a:ext cx="23812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0000"/>
              </a:lnSpc>
              <a:buNone/>
              <a:defRPr sz="1500" b="0">
                <a:solidFill>
                  <a:srgbClr val="687681"/>
                </a:solidFill>
                <a:latin typeface="Arial Unicode MS"/>
                <a:ea typeface="Arial Unicode MS"/>
                <a:cs typeface="Arial Unicode MS"/>
              </a:defRPr>
            </a:pPr>
            <a:r>
              <a:rPr sz="1500" b="0">
                <a:solidFill>
                  <a:srgbClr val="687681"/>
                </a:solidFill>
                <a:latin typeface="Arial Unicode MS"/>
                <a:ea typeface="Arial Unicode MS"/>
                <a:cs typeface="Arial Unicode MS"/>
              </a:rPr>
              <a:t>• 抵抗单个 source 极端偏差</a:t>
            </a:r>
          </a:p>
          <a:p xmlns:a="http://schemas.openxmlformats.org/drawingml/2006/main">
            <a:pPr algn="l">
              <a:lnSpc>
                <a:spcPct val="120000"/>
              </a:lnSpc>
              <a:buNone/>
              <a:defRPr sz="1500" b="0">
                <a:solidFill>
                  <a:srgbClr val="687681"/>
                </a:solidFill>
                <a:latin typeface="Arial Unicode MS"/>
                <a:ea typeface="Arial Unicode MS"/>
                <a:cs typeface="Arial Unicode MS"/>
              </a:defRPr>
            </a:pPr>
            <a:r>
              <a:rPr sz="1500" b="0">
                <a:solidFill>
                  <a:srgbClr val="687681"/>
                </a:solidFill>
                <a:latin typeface="Arial Unicode MS"/>
                <a:ea typeface="Arial Unicode MS"/>
                <a:cs typeface="Arial Unicode MS"/>
              </a:rPr>
              <a:t>• 得到 consensus prior</a:t>
            </a:r>
          </a:p>
          <a:p xmlns:a="http://schemas.openxmlformats.org/drawingml/2006/main">
            <a:pPr algn="l">
              <a:lnSpc>
                <a:spcPct val="120000"/>
              </a:lnSpc>
              <a:buNone/>
              <a:defRPr sz="1500" b="0">
                <a:solidFill>
                  <a:srgbClr val="687681"/>
                </a:solidFill>
                <a:latin typeface="Arial Unicode MS"/>
                <a:ea typeface="Arial Unicode MS"/>
                <a:cs typeface="Arial Unicode MS"/>
              </a:defRPr>
            </a:pPr>
            <a:r>
              <a:rPr sz="1500" b="0">
                <a:solidFill>
                  <a:srgbClr val="687681"/>
                </a:solidFill>
                <a:latin typeface="Arial Unicode MS"/>
                <a:ea typeface="Arial Unicode MS"/>
                <a:cs typeface="Arial Unicode MS"/>
              </a:rPr>
              <a:t>• 表示共同认可的候选排序</a:t>
            </a:r>
          </a:p>
        </p:txBody>
      </p:sp>
      <p:sp>
        <p:nvSpPr>
          <p:cNvPr id="13" name="">
            <a:extLst xmlns:a="http://schemas.openxmlformats.org/drawingml/2006/main">
              <a:ext uri="{FF2B5EF4-FFF2-40B4-BE49-F238E27FC236}">
                <a16:creationId xmlns:a16="http://schemas.microsoft.com/office/drawing/2014/main" id="{76DBEED6-6622-4BD4-8F1E-5C2C2E88A189}"/>
              </a:ext>
            </a:extLst>
          </p:cNvPr>
          <p:cNvSpPr>
            <a:spLocks xmlns:a="http://schemas.openxmlformats.org/drawingml/2006/main" noGrp="1"/>
          </p:cNvSpPr>
          <p:nvPr/>
        </p:nvSpPr>
        <p:spPr>
          <a:xfrm xmlns:a="http://schemas.openxmlformats.org/drawingml/2006/main">
            <a:off x="2171700" y="4286250"/>
            <a:ext cx="7848600" cy="1028700"/>
          </a:xfrm>
          <a:prstGeom xmlns:a="http://schemas.openxmlformats.org/drawingml/2006/main" prst="rect">
            <a:avLst/>
          </a:prstGeom>
          <a:solidFill xmlns:a="http://schemas.openxmlformats.org/drawingml/2006/main">
            <a:srgbClr val="F1F4F6"/>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522413A-DF2B-4483-A1A6-7F86521DBBB7}"/>
              </a:ext>
            </a:extLst>
          </p:cNvPr>
          <p:cNvSpPr>
            <a:spLocks xmlns:a="http://schemas.openxmlformats.org/drawingml/2006/main" noGrp="1"/>
          </p:cNvSpPr>
          <p:nvPr/>
        </p:nvSpPr>
        <p:spPr>
          <a:xfrm xmlns:a="http://schemas.openxmlformats.org/drawingml/2006/main">
            <a:off x="2171700" y="4476750"/>
            <a:ext cx="784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2550" b="1">
                <a:solidFill>
                  <a:srgbClr val="17324D"/>
                </a:solidFill>
                <a:latin typeface="Arial Unicode MS"/>
                <a:ea typeface="Arial Unicode MS"/>
                <a:cs typeface="Arial Unicode MS"/>
              </a:defRPr>
            </a:pPr>
            <a:r>
              <a:rPr sz="2550" b="1">
                <a:solidFill>
                  <a:srgbClr val="17324D"/>
                </a:solidFill>
                <a:latin typeface="Arial Unicode MS"/>
                <a:ea typeface="Arial Unicode MS"/>
                <a:cs typeface="Arial Unicode MS"/>
              </a:rPr>
              <a:t>πsrc(x) = median  rs(x)</a:t>
            </a:r>
          </a:p>
        </p:txBody>
      </p:sp>
      <p:sp>
        <p:nvSpPr>
          <p:cNvPr id="15" name="">
            <a:extLst xmlns:a="http://schemas.openxmlformats.org/drawingml/2006/main">
              <a:ext uri="{FF2B5EF4-FFF2-40B4-BE49-F238E27FC236}">
                <a16:creationId xmlns:a16="http://schemas.microsoft.com/office/drawing/2014/main" id="{B6995677-A3DA-48E6-A137-F341FE586B25}"/>
              </a:ext>
            </a:extLst>
          </p:cNvPr>
          <p:cNvSpPr>
            <a:spLocks xmlns:a="http://schemas.openxmlformats.org/drawingml/2006/main" noGrp="1"/>
          </p:cNvSpPr>
          <p:nvPr/>
        </p:nvSpPr>
        <p:spPr>
          <a:xfrm xmlns:a="http://schemas.openxmlformats.org/drawingml/2006/main">
            <a:off x="2171700" y="4953000"/>
            <a:ext cx="7848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1200" b="0">
                <a:solidFill>
                  <a:srgbClr val="687681"/>
                </a:solidFill>
                <a:latin typeface="Arial Unicode MS"/>
                <a:ea typeface="Arial Unicode MS"/>
                <a:cs typeface="Arial Unicode MS"/>
              </a:defRPr>
            </a:pPr>
            <a:r>
              <a:rPr sz="1200" b="0">
                <a:solidFill>
                  <a:srgbClr val="687681"/>
                </a:solidFill>
                <a:latin typeface="Arial Unicode MS"/>
                <a:ea typeface="Arial Unicode MS"/>
                <a:cs typeface="Arial Unicode MS"/>
              </a:rPr>
              <a:t>这是相对优先级，不是 target 的绝对产率预测。</a:t>
            </a:r>
          </a:p>
        </p:txBody>
      </p:sp>
      <p:sp>
        <p:nvSpPr>
          <p:cNvPr id="16" name="">
            <a:extLst xmlns:a="http://schemas.openxmlformats.org/drawingml/2006/main">
              <a:ext uri="{FF2B5EF4-FFF2-40B4-BE49-F238E27FC236}">
                <a16:creationId xmlns:a16="http://schemas.microsoft.com/office/drawing/2014/main" id="{956967F2-E622-47DD-A5D0-9204E733C2FD}"/>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frozen evidence update · 2026-08-12</a:t>
            </a:r>
          </a:p>
        </p:txBody>
      </p:sp>
    </p:spTree>
    <p:extLst>
      <p:ext uri="{BB962C8B-B14F-4D97-AF65-F5344CB8AC3E}">
        <p14:creationId xmlns:p14="http://schemas.microsoft.com/office/powerpoint/2010/main" val="30134850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F4C6AC3-43ED-477D-A709-25941DE81E61}"/>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QUALITY-BOUNDED WARM START</a:t>
            </a:r>
          </a:p>
        </p:txBody>
      </p:sp>
      <p:sp>
        <p:nvSpPr>
          <p:cNvPr id="2" name="">
            <a:extLst xmlns:a="http://schemas.openxmlformats.org/drawingml/2006/main">
              <a:ext uri="{FF2B5EF4-FFF2-40B4-BE49-F238E27FC236}">
                <a16:creationId xmlns:a16="http://schemas.microsoft.com/office/drawing/2014/main" id="{53E50247-D01E-4884-9DC8-27FC53114C33}"/>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13</a:t>
            </a:r>
          </a:p>
        </p:txBody>
      </p:sp>
      <p:sp>
        <p:nvSpPr>
          <p:cNvPr id="3" name="">
            <a:extLst xmlns:a="http://schemas.openxmlformats.org/drawingml/2006/main">
              <a:ext uri="{FF2B5EF4-FFF2-40B4-BE49-F238E27FC236}">
                <a16:creationId xmlns:a16="http://schemas.microsoft.com/office/drawing/2014/main" id="{0F729570-8593-47B8-A04E-D0E1DF5E8795}"/>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700" b="1">
                <a:solidFill>
                  <a:srgbClr val="17232E"/>
                </a:solidFill>
                <a:latin typeface="Arial Unicode MS"/>
                <a:ea typeface="Arial Unicode MS"/>
                <a:cs typeface="Arial Unicode MS"/>
              </a:defRPr>
            </a:pPr>
            <a:r>
              <a:rPr sz="2700" b="1">
                <a:solidFill>
                  <a:srgbClr val="17232E"/>
                </a:solidFill>
                <a:latin typeface="Arial Unicode MS"/>
                <a:ea typeface="Arial Unicode MS"/>
                <a:cs typeface="Arial Unicode MS"/>
              </a:rPr>
              <a:t>v1 的失败如何变成 v2 的质量约束</a:t>
            </a:r>
          </a:p>
        </p:txBody>
      </p:sp>
      <p:sp>
        <p:nvSpPr>
          <p:cNvPr id="4" name="">
            <a:extLst xmlns:a="http://schemas.openxmlformats.org/drawingml/2006/main">
              <a:ext uri="{FF2B5EF4-FFF2-40B4-BE49-F238E27FC236}">
                <a16:creationId xmlns:a16="http://schemas.microsoft.com/office/drawing/2014/main" id="{108D886F-DFF1-48F9-B1FA-5F479BD6597E}"/>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c1b2a9433c3645f4"/>
          <a:stretch xmlns:a="http://schemas.openxmlformats.org/drawingml/2006/main"/>
        </p:blipFill>
        <p:spPr>
          <a:xfrm xmlns:a="http://schemas.openxmlformats.org/drawingml/2006/main">
            <a:off x="1600759" y="1276350"/>
            <a:ext cx="8990482" cy="50673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84467733-4603-4BA1-95EC-DA70F2CF25AE}"/>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frozen evidence update · 2026-08-12</a:t>
            </a:r>
          </a:p>
        </p:txBody>
      </p:sp>
    </p:spTree>
    <p:extLst>
      <p:ext uri="{BB962C8B-B14F-4D97-AF65-F5344CB8AC3E}">
        <p14:creationId xmlns:p14="http://schemas.microsoft.com/office/powerpoint/2010/main" val="198416639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4DE53833-EB95-4F65-B998-F172FB66B3D1}"/>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TARGET OPTIMIZATION</a:t>
            </a:r>
          </a:p>
        </p:txBody>
      </p:sp>
      <p:sp>
        <p:nvSpPr>
          <p:cNvPr id="2" name="">
            <a:extLst xmlns:a="http://schemas.openxmlformats.org/drawingml/2006/main">
              <a:ext uri="{FF2B5EF4-FFF2-40B4-BE49-F238E27FC236}">
                <a16:creationId xmlns:a16="http://schemas.microsoft.com/office/drawing/2014/main" id="{9B4CBBF1-508B-4C32-BAB6-1F4F4EC3DF34}"/>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14</a:t>
            </a:r>
          </a:p>
        </p:txBody>
      </p:sp>
      <p:sp>
        <p:nvSpPr>
          <p:cNvPr id="3" name="">
            <a:extLst xmlns:a="http://schemas.openxmlformats.org/drawingml/2006/main">
              <a:ext uri="{FF2B5EF4-FFF2-40B4-BE49-F238E27FC236}">
                <a16:creationId xmlns:a16="http://schemas.microsoft.com/office/drawing/2014/main" id="{774560E4-780F-422B-945D-EF387DF5738F}"/>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550" b="1">
                <a:solidFill>
                  <a:srgbClr val="17232E"/>
                </a:solidFill>
                <a:latin typeface="Arial Unicode MS"/>
                <a:ea typeface="Arial Unicode MS"/>
                <a:cs typeface="Arial Unicode MS"/>
              </a:defRPr>
            </a:pPr>
            <a:r>
              <a:rPr sz="2550" b="1">
                <a:solidFill>
                  <a:srgbClr val="17232E"/>
                </a:solidFill>
                <a:latin typeface="Arial Unicode MS"/>
                <a:ea typeface="Arial Unicode MS"/>
                <a:cs typeface="Arial Unicode MS"/>
              </a:rPr>
              <a:t>三个初始点之后，所有方法进入完全相同的 GP-UCB</a:t>
            </a:r>
          </a:p>
        </p:txBody>
      </p:sp>
      <p:sp>
        <p:nvSpPr>
          <p:cNvPr id="4" name="">
            <a:extLst xmlns:a="http://schemas.openxmlformats.org/drawingml/2006/main">
              <a:ext uri="{FF2B5EF4-FFF2-40B4-BE49-F238E27FC236}">
                <a16:creationId xmlns:a16="http://schemas.microsoft.com/office/drawing/2014/main" id="{7A7EF525-1FEE-4C33-BD90-00C8898EA158}"/>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CFF788D6-A8D5-4342-8601-0EAE9B9D6C0B}"/>
              </a:ext>
            </a:extLst>
          </p:cNvPr>
          <p:cNvSpPr>
            <a:spLocks xmlns:a="http://schemas.openxmlformats.org/drawingml/2006/main" noGrp="1"/>
          </p:cNvSpPr>
          <p:nvPr/>
        </p:nvSpPr>
        <p:spPr>
          <a:xfrm xmlns:a="http://schemas.openxmlformats.org/drawingml/2006/main">
            <a:off x="647700" y="1676400"/>
            <a:ext cx="5143500" cy="2857500"/>
          </a:xfrm>
          <a:prstGeom xmlns:a="http://schemas.openxmlformats.org/drawingml/2006/main" prst="rect">
            <a:avLst/>
          </a:prstGeom>
          <a:solidFill xmlns:a="http://schemas.openxmlformats.org/drawingml/2006/main">
            <a:srgbClr val="17324D"/>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690BA962-7E9A-4345-BE14-8C6E6A88583F}"/>
              </a:ext>
            </a:extLst>
          </p:cNvPr>
          <p:cNvSpPr>
            <a:spLocks xmlns:a="http://schemas.openxmlformats.org/drawingml/2006/main" noGrp="1"/>
          </p:cNvSpPr>
          <p:nvPr/>
        </p:nvSpPr>
        <p:spPr>
          <a:xfrm xmlns:a="http://schemas.openxmlformats.org/drawingml/2006/main">
            <a:off x="914400" y="1981200"/>
            <a:ext cx="46101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75" b="1">
                <a:solidFill>
                  <a:srgbClr val="6DCBF4"/>
                </a:solidFill>
                <a:latin typeface="Arial Unicode MS"/>
                <a:ea typeface="Arial Unicode MS"/>
                <a:cs typeface="Arial Unicode MS"/>
              </a:defRPr>
            </a:pPr>
            <a:r>
              <a:rPr sz="1875" b="1">
                <a:solidFill>
                  <a:srgbClr val="6DCBF4"/>
                </a:solidFill>
                <a:latin typeface="Arial Unicode MS"/>
                <a:ea typeface="Arial Unicode MS"/>
                <a:cs typeface="Arial Unicode MS"/>
              </a:rPr>
              <a:t>Target-only GP-UCB</a:t>
            </a:r>
          </a:p>
        </p:txBody>
      </p:sp>
      <p:sp>
        <p:nvSpPr>
          <p:cNvPr id="7" name="">
            <a:extLst xmlns:a="http://schemas.openxmlformats.org/drawingml/2006/main">
              <a:ext uri="{FF2B5EF4-FFF2-40B4-BE49-F238E27FC236}">
                <a16:creationId xmlns:a16="http://schemas.microsoft.com/office/drawing/2014/main" id="{71658DAC-4775-479B-9F0B-3BAF5A348618}"/>
              </a:ext>
            </a:extLst>
          </p:cNvPr>
          <p:cNvSpPr>
            <a:spLocks xmlns:a="http://schemas.openxmlformats.org/drawingml/2006/main" noGrp="1"/>
          </p:cNvSpPr>
          <p:nvPr/>
        </p:nvSpPr>
        <p:spPr>
          <a:xfrm xmlns:a="http://schemas.openxmlformats.org/drawingml/2006/main">
            <a:off x="914400" y="2724150"/>
            <a:ext cx="4610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2100" b="1">
                <a:solidFill>
                  <a:srgbClr val="FFFFFF"/>
                </a:solidFill>
                <a:latin typeface="Arial Unicode MS"/>
                <a:ea typeface="Arial Unicode MS"/>
                <a:cs typeface="Arial Unicode MS"/>
              </a:defRPr>
            </a:pPr>
            <a:r>
              <a:rPr sz="2100" b="1">
                <a:solidFill>
                  <a:srgbClr val="FFFFFF"/>
                </a:solidFill>
                <a:latin typeface="Arial Unicode MS"/>
                <a:ea typeface="Arial Unicode MS"/>
                <a:cs typeface="Arial Unicode MS"/>
              </a:rPr>
              <a:t>xₜ₊₁ = arg max [ μₜ(x) + √β · σₜ(x) ]</a:t>
            </a:r>
          </a:p>
        </p:txBody>
      </p:sp>
      <p:sp>
        <p:nvSpPr>
          <p:cNvPr id="8" name="">
            <a:extLst xmlns:a="http://schemas.openxmlformats.org/drawingml/2006/main">
              <a:ext uri="{FF2B5EF4-FFF2-40B4-BE49-F238E27FC236}">
                <a16:creationId xmlns:a16="http://schemas.microsoft.com/office/drawing/2014/main" id="{7A56A516-5298-4D17-AF42-CD374752F7F4}"/>
              </a:ext>
            </a:extLst>
          </p:cNvPr>
          <p:cNvSpPr>
            <a:spLocks xmlns:a="http://schemas.openxmlformats.org/drawingml/2006/main" noGrp="1"/>
          </p:cNvSpPr>
          <p:nvPr/>
        </p:nvSpPr>
        <p:spPr>
          <a:xfrm xmlns:a="http://schemas.openxmlformats.org/drawingml/2006/main">
            <a:off x="1276350" y="3524250"/>
            <a:ext cx="3905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2000"/>
              </a:lnSpc>
              <a:buNone/>
              <a:defRPr sz="1500" b="0">
                <a:solidFill>
                  <a:srgbClr val="D9E5ED"/>
                </a:solidFill>
                <a:latin typeface="Arial Unicode MS"/>
                <a:ea typeface="Arial Unicode MS"/>
                <a:cs typeface="Arial Unicode MS"/>
              </a:defRPr>
            </a:pPr>
            <a:r>
              <a:rPr sz="1500" b="0">
                <a:solidFill>
                  <a:srgbClr val="D9E5ED"/>
                </a:solidFill>
                <a:latin typeface="Arial Unicode MS"/>
                <a:ea typeface="Arial Unicode MS"/>
                <a:cs typeface="Arial Unicode MS"/>
              </a:rPr>
              <a:t>μ：预测均值</a:t>
            </a:r>
          </a:p>
          <a:p xmlns:a="http://schemas.openxmlformats.org/drawingml/2006/main">
            <a:pPr algn="ctr">
              <a:lnSpc>
                <a:spcPct val="112000"/>
              </a:lnSpc>
              <a:buNone/>
              <a:defRPr sz="1500" b="0">
                <a:solidFill>
                  <a:srgbClr val="D9E5ED"/>
                </a:solidFill>
                <a:latin typeface="Arial Unicode MS"/>
                <a:ea typeface="Arial Unicode MS"/>
                <a:cs typeface="Arial Unicode MS"/>
              </a:defRPr>
            </a:pPr>
            <a:r>
              <a:rPr sz="1500" b="0">
                <a:solidFill>
                  <a:srgbClr val="D9E5ED"/>
                </a:solidFill>
                <a:latin typeface="Arial Unicode MS"/>
                <a:ea typeface="Arial Unicode MS"/>
                <a:cs typeface="Arial Unicode MS"/>
              </a:rPr>
              <a:t>σ：模型不确定性</a:t>
            </a:r>
          </a:p>
          <a:p xmlns:a="http://schemas.openxmlformats.org/drawingml/2006/main">
            <a:pPr algn="ctr">
              <a:lnSpc>
                <a:spcPct val="112000"/>
              </a:lnSpc>
              <a:buNone/>
              <a:defRPr sz="1500" b="0">
                <a:solidFill>
                  <a:srgbClr val="D9E5ED"/>
                </a:solidFill>
                <a:latin typeface="Arial Unicode MS"/>
                <a:ea typeface="Arial Unicode MS"/>
                <a:cs typeface="Arial Unicode MS"/>
              </a:defRPr>
            </a:pPr>
            <a:r>
              <a:rPr sz="1500" b="0">
                <a:solidFill>
                  <a:srgbClr val="D9E5ED"/>
                </a:solidFill>
                <a:latin typeface="Arial Unicode MS"/>
                <a:ea typeface="Arial Unicode MS"/>
                <a:cs typeface="Arial Unicode MS"/>
              </a:rPr>
              <a:t>β：exploration 强度</a:t>
            </a:r>
          </a:p>
        </p:txBody>
      </p:sp>
      <p:sp>
        <p:nvSpPr>
          <p:cNvPr id="9" name="">
            <a:extLst xmlns:a="http://schemas.openxmlformats.org/drawingml/2006/main">
              <a:ext uri="{FF2B5EF4-FFF2-40B4-BE49-F238E27FC236}">
                <a16:creationId xmlns:a16="http://schemas.microsoft.com/office/drawing/2014/main" id="{0FC78E4F-59CA-41BB-9596-81B56105DB04}"/>
              </a:ext>
            </a:extLst>
          </p:cNvPr>
          <p:cNvSpPr>
            <a:spLocks xmlns:a="http://schemas.openxmlformats.org/drawingml/2006/main" noGrp="1"/>
          </p:cNvSpPr>
          <p:nvPr/>
        </p:nvSpPr>
        <p:spPr>
          <a:xfrm xmlns:a="http://schemas.openxmlformats.org/drawingml/2006/main">
            <a:off x="6477000" y="1676400"/>
            <a:ext cx="4381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75" b="1">
                <a:solidFill>
                  <a:srgbClr val="2C8A62"/>
                </a:solidFill>
                <a:latin typeface="Arial Unicode MS"/>
                <a:ea typeface="Arial Unicode MS"/>
                <a:cs typeface="Arial Unicode MS"/>
              </a:defRPr>
            </a:pPr>
            <a:r>
              <a:rPr sz="1875" b="1">
                <a:solidFill>
                  <a:srgbClr val="2C8A62"/>
                </a:solidFill>
                <a:latin typeface="Arial Unicode MS"/>
                <a:ea typeface="Arial Unicode MS"/>
                <a:cs typeface="Arial Unicode MS"/>
              </a:rPr>
              <a:t>公平比较的四个相同</a:t>
            </a:r>
          </a:p>
        </p:txBody>
      </p:sp>
      <p:sp>
        <p:nvSpPr>
          <p:cNvPr id="10" name="">
            <a:extLst xmlns:a="http://schemas.openxmlformats.org/drawingml/2006/main">
              <a:ext uri="{FF2B5EF4-FFF2-40B4-BE49-F238E27FC236}">
                <a16:creationId xmlns:a16="http://schemas.microsoft.com/office/drawing/2014/main" id="{EDD9175C-9696-4F6C-ADDF-E77DF1EBF755}"/>
              </a:ext>
            </a:extLst>
          </p:cNvPr>
          <p:cNvSpPr>
            <a:spLocks xmlns:a="http://schemas.openxmlformats.org/drawingml/2006/main" noGrp="1"/>
          </p:cNvSpPr>
          <p:nvPr/>
        </p:nvSpPr>
        <p:spPr>
          <a:xfrm xmlns:a="http://schemas.openxmlformats.org/drawingml/2006/main">
            <a:off x="6477000" y="2266950"/>
            <a:ext cx="4572000" cy="2038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4000"/>
              </a:lnSpc>
              <a:buNone/>
              <a:defRPr sz="1650" b="0">
                <a:solidFill>
                  <a:srgbClr val="17232E"/>
                </a:solidFill>
                <a:latin typeface="Arial Unicode MS"/>
                <a:ea typeface="Arial Unicode MS"/>
                <a:cs typeface="Arial Unicode MS"/>
              </a:defRPr>
            </a:pPr>
            <a:r>
              <a:rPr sz="1650" b="0">
                <a:solidFill>
                  <a:srgbClr val="17232E"/>
                </a:solidFill>
                <a:latin typeface="Arial Unicode MS"/>
                <a:ea typeface="Arial Unicode MS"/>
                <a:cs typeface="Arial Unicode MS"/>
              </a:rPr>
              <a:t>1. 相同的 target observations</a:t>
            </a:r>
          </a:p>
          <a:p xmlns:a="http://schemas.openxmlformats.org/drawingml/2006/main">
            <a:pPr algn="l">
              <a:lnSpc>
                <a:spcPct val="124000"/>
              </a:lnSpc>
              <a:buNone/>
              <a:defRPr sz="1650" b="0">
                <a:solidFill>
                  <a:srgbClr val="17232E"/>
                </a:solidFill>
                <a:latin typeface="Arial Unicode MS"/>
                <a:ea typeface="Arial Unicode MS"/>
                <a:cs typeface="Arial Unicode MS"/>
              </a:defRPr>
            </a:pPr>
            <a:r>
              <a:rPr sz="1650" b="0">
                <a:solidFill>
                  <a:srgbClr val="17232E"/>
                </a:solidFill>
                <a:latin typeface="Arial Unicode MS"/>
                <a:ea typeface="Arial Unicode MS"/>
                <a:cs typeface="Arial Unicode MS"/>
              </a:rPr>
              <a:t>2. 相同的 GP-UCB implementation</a:t>
            </a:r>
          </a:p>
          <a:p xmlns:a="http://schemas.openxmlformats.org/drawingml/2006/main">
            <a:pPr algn="l">
              <a:lnSpc>
                <a:spcPct val="124000"/>
              </a:lnSpc>
              <a:buNone/>
              <a:defRPr sz="1650" b="0">
                <a:solidFill>
                  <a:srgbClr val="17232E"/>
                </a:solidFill>
                <a:latin typeface="Arial Unicode MS"/>
                <a:ea typeface="Arial Unicode MS"/>
                <a:cs typeface="Arial Unicode MS"/>
              </a:defRPr>
            </a:pPr>
            <a:r>
              <a:rPr sz="1650" b="0">
                <a:solidFill>
                  <a:srgbClr val="17232E"/>
                </a:solidFill>
                <a:latin typeface="Arial Unicode MS"/>
                <a:ea typeface="Arial Unicode MS"/>
                <a:cs typeface="Arial Unicode MS"/>
              </a:rPr>
              <a:t>3. 相同的 10 次 reveal budget</a:t>
            </a:r>
          </a:p>
          <a:p xmlns:a="http://schemas.openxmlformats.org/drawingml/2006/main">
            <a:pPr algn="l">
              <a:lnSpc>
                <a:spcPct val="124000"/>
              </a:lnSpc>
              <a:buNone/>
              <a:defRPr sz="1650" b="0">
                <a:solidFill>
                  <a:srgbClr val="17232E"/>
                </a:solidFill>
                <a:latin typeface="Arial Unicode MS"/>
                <a:ea typeface="Arial Unicode MS"/>
                <a:cs typeface="Arial Unicode MS"/>
              </a:defRPr>
            </a:pPr>
            <a:r>
              <a:rPr sz="1650" b="0">
                <a:solidFill>
                  <a:srgbClr val="17232E"/>
                </a:solidFill>
                <a:latin typeface="Arial Unicode MS"/>
                <a:ea typeface="Arial Unicode MS"/>
                <a:cs typeface="Arial Unicode MS"/>
              </a:rPr>
              <a:t>4. 相同的候选池与 outcome 揭示顺序</a:t>
            </a:r>
          </a:p>
        </p:txBody>
      </p:sp>
      <p:sp>
        <p:nvSpPr>
          <p:cNvPr id="11" name="">
            <a:extLst xmlns:a="http://schemas.openxmlformats.org/drawingml/2006/main">
              <a:ext uri="{FF2B5EF4-FFF2-40B4-BE49-F238E27FC236}">
                <a16:creationId xmlns:a16="http://schemas.microsoft.com/office/drawing/2014/main" id="{C1E034C2-53A2-46AF-B8BF-ECFD20DC0F8F}"/>
              </a:ext>
            </a:extLst>
          </p:cNvPr>
          <p:cNvSpPr>
            <a:spLocks xmlns:a="http://schemas.openxmlformats.org/drawingml/2006/main" noGrp="1"/>
          </p:cNvSpPr>
          <p:nvPr/>
        </p:nvSpPr>
        <p:spPr>
          <a:xfrm xmlns:a="http://schemas.openxmlformats.org/drawingml/2006/main">
            <a:off x="6477000" y="4533900"/>
            <a:ext cx="4572000" cy="800100"/>
          </a:xfrm>
          <a:prstGeom xmlns:a="http://schemas.openxmlformats.org/drawingml/2006/main" prst="rect">
            <a:avLst/>
          </a:prstGeom>
          <a:solidFill xmlns:a="http://schemas.openxmlformats.org/drawingml/2006/main">
            <a:srgbClr val="EAF6F0"/>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4AECBDE2-F1FD-492E-ABFF-688F504E2E1B}"/>
              </a:ext>
            </a:extLst>
          </p:cNvPr>
          <p:cNvSpPr>
            <a:spLocks xmlns:a="http://schemas.openxmlformats.org/drawingml/2006/main" noGrp="1"/>
          </p:cNvSpPr>
          <p:nvPr/>
        </p:nvSpPr>
        <p:spPr>
          <a:xfrm xmlns:a="http://schemas.openxmlformats.org/drawingml/2006/main">
            <a:off x="6705600" y="4705350"/>
            <a:ext cx="4114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4340"/>
          </a:bodyPr>
          <a:lstStyle xmlns:a="http://schemas.openxmlformats.org/drawingml/2006/main"/>
          <a:p xmlns:a="http://schemas.openxmlformats.org/drawingml/2006/main">
            <a:pPr algn="ctr">
              <a:lnSpc>
                <a:spcPct val="106000"/>
              </a:lnSpc>
              <a:buNone/>
              <a:defRPr sz="1500" b="1">
                <a:solidFill>
                  <a:srgbClr val="2C8A62"/>
                </a:solidFill>
                <a:latin typeface="Arial Unicode MS"/>
                <a:ea typeface="Arial Unicode MS"/>
                <a:cs typeface="Arial Unicode MS"/>
              </a:defRPr>
            </a:pPr>
            <a:r>
              <a:rPr sz="1500" b="1">
                <a:solidFill>
                  <a:srgbClr val="2C8A62"/>
                </a:solidFill>
                <a:latin typeface="Arial Unicode MS"/>
                <a:ea typeface="Arial Unicode MS"/>
                <a:cs typeface="Arial Unicode MS"/>
              </a:rPr>
              <a:t>因此 external result 可归因于 initial design，而不是后续优化器不同。</a:t>
            </a:r>
          </a:p>
        </p:txBody>
      </p:sp>
      <p:sp>
        <p:nvSpPr>
          <p:cNvPr id="13" name="">
            <a:extLst xmlns:a="http://schemas.openxmlformats.org/drawingml/2006/main">
              <a:ext uri="{FF2B5EF4-FFF2-40B4-BE49-F238E27FC236}">
                <a16:creationId xmlns:a16="http://schemas.microsoft.com/office/drawing/2014/main" id="{94DD8CE1-A416-428F-A3B8-06BB0A94C735}"/>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frozen evidence update · 2026-08-12</a:t>
            </a:r>
          </a:p>
        </p:txBody>
      </p:sp>
    </p:spTree>
    <p:extLst>
      <p:ext uri="{BB962C8B-B14F-4D97-AF65-F5344CB8AC3E}">
        <p14:creationId xmlns:p14="http://schemas.microsoft.com/office/powerpoint/2010/main" val="82353578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34A2A04D-5F19-4642-80B0-27113619E679}"/>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EVALUATION METRICS</a:t>
            </a:r>
          </a:p>
        </p:txBody>
      </p:sp>
      <p:sp>
        <p:nvSpPr>
          <p:cNvPr id="2" name="">
            <a:extLst xmlns:a="http://schemas.openxmlformats.org/drawingml/2006/main">
              <a:ext uri="{FF2B5EF4-FFF2-40B4-BE49-F238E27FC236}">
                <a16:creationId xmlns:a16="http://schemas.microsoft.com/office/drawing/2014/main" id="{C7504929-D48B-498B-920B-939A4E69243E}"/>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15</a:t>
            </a:r>
          </a:p>
        </p:txBody>
      </p:sp>
      <p:sp>
        <p:nvSpPr>
          <p:cNvPr id="3" name="">
            <a:extLst xmlns:a="http://schemas.openxmlformats.org/drawingml/2006/main">
              <a:ext uri="{FF2B5EF4-FFF2-40B4-BE49-F238E27FC236}">
                <a16:creationId xmlns:a16="http://schemas.microsoft.com/office/drawing/2014/main" id="{1FABBD1A-9B8A-4EE3-A643-4F272F493449}"/>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700" b="1">
                <a:solidFill>
                  <a:srgbClr val="17232E"/>
                </a:solidFill>
                <a:latin typeface="Arial Unicode MS"/>
                <a:ea typeface="Arial Unicode MS"/>
                <a:cs typeface="Arial Unicode MS"/>
              </a:defRPr>
            </a:pPr>
            <a:r>
              <a:rPr sz="2700" b="1">
                <a:solidFill>
                  <a:srgbClr val="17232E"/>
                </a:solidFill>
                <a:latin typeface="Arial Unicode MS"/>
                <a:ea typeface="Arial Unicode MS"/>
                <a:cs typeface="Arial Unicode MS"/>
              </a:rPr>
              <a:t>不只看最终最好值，更看多久找到好结果</a:t>
            </a:r>
          </a:p>
        </p:txBody>
      </p:sp>
      <p:sp>
        <p:nvSpPr>
          <p:cNvPr id="4" name="">
            <a:extLst xmlns:a="http://schemas.openxmlformats.org/drawingml/2006/main">
              <a:ext uri="{FF2B5EF4-FFF2-40B4-BE49-F238E27FC236}">
                <a16:creationId xmlns:a16="http://schemas.microsoft.com/office/drawing/2014/main" id="{8020DB83-4FAD-46AD-932F-A7499831E23E}"/>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EE101254-5314-4131-A4DB-5BEF3E1C95EA}"/>
              </a:ext>
            </a:extLst>
          </p:cNvPr>
          <p:cNvSpPr>
            <a:spLocks xmlns:a="http://schemas.openxmlformats.org/drawingml/2006/main" noGrp="1"/>
          </p:cNvSpPr>
          <p:nvPr/>
        </p:nvSpPr>
        <p:spPr>
          <a:xfrm xmlns:a="http://schemas.openxmlformats.org/drawingml/2006/main">
            <a:off x="647700" y="1676400"/>
            <a:ext cx="5095875" cy="3333750"/>
          </a:xfrm>
          <a:prstGeom xmlns:a="http://schemas.openxmlformats.org/drawingml/2006/main" prst="rect">
            <a:avLst/>
          </a:prstGeom>
          <a:solidFill xmlns:a="http://schemas.openxmlformats.org/drawingml/2006/main">
            <a:srgbClr val="EAF3F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2BEA2229-2530-4F85-A38D-0F16ED8C3DB7}"/>
              </a:ext>
            </a:extLst>
          </p:cNvPr>
          <p:cNvSpPr>
            <a:spLocks xmlns:a="http://schemas.openxmlformats.org/drawingml/2006/main" noGrp="1"/>
          </p:cNvSpPr>
          <p:nvPr/>
        </p:nvSpPr>
        <p:spPr>
          <a:xfrm xmlns:a="http://schemas.openxmlformats.org/drawingml/2006/main">
            <a:off x="914400" y="1943100"/>
            <a:ext cx="457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75" b="1">
                <a:solidFill>
                  <a:srgbClr val="2F6FB6"/>
                </a:solidFill>
                <a:latin typeface="Arial Unicode MS"/>
                <a:ea typeface="Arial Unicode MS"/>
                <a:cs typeface="Arial Unicode MS"/>
              </a:defRPr>
            </a:pPr>
            <a:r>
              <a:rPr sz="1875" b="1">
                <a:solidFill>
                  <a:srgbClr val="2F6FB6"/>
                </a:solidFill>
                <a:latin typeface="Arial Unicode MS"/>
                <a:ea typeface="Arial Unicode MS"/>
                <a:cs typeface="Arial Unicode MS"/>
              </a:rPr>
              <a:t>Primary：best-so-far AUC</a:t>
            </a:r>
          </a:p>
        </p:txBody>
      </p:sp>
      <p:sp>
        <p:nvSpPr>
          <p:cNvPr id="7" name="">
            <a:extLst xmlns:a="http://schemas.openxmlformats.org/drawingml/2006/main">
              <a:ext uri="{FF2B5EF4-FFF2-40B4-BE49-F238E27FC236}">
                <a16:creationId xmlns:a16="http://schemas.microsoft.com/office/drawing/2014/main" id="{AE5F159B-C792-4A40-84FB-146FEC2159D2}"/>
              </a:ext>
            </a:extLst>
          </p:cNvPr>
          <p:cNvSpPr>
            <a:spLocks xmlns:a="http://schemas.openxmlformats.org/drawingml/2006/main" noGrp="1"/>
          </p:cNvSpPr>
          <p:nvPr/>
        </p:nvSpPr>
        <p:spPr>
          <a:xfrm xmlns:a="http://schemas.openxmlformats.org/drawingml/2006/main">
            <a:off x="914400" y="2628900"/>
            <a:ext cx="4572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2325" b="1">
                <a:solidFill>
                  <a:srgbClr val="17324D"/>
                </a:solidFill>
                <a:latin typeface="Arial Unicode MS"/>
                <a:ea typeface="Arial Unicode MS"/>
                <a:cs typeface="Arial Unicode MS"/>
              </a:defRPr>
            </a:pPr>
            <a:r>
              <a:rPr sz="2325" b="1">
                <a:solidFill>
                  <a:srgbClr val="17324D"/>
                </a:solidFill>
                <a:latin typeface="Arial Unicode MS"/>
                <a:ea typeface="Arial Unicode MS"/>
                <a:cs typeface="Arial Unicode MS"/>
              </a:rPr>
              <a:t>Bₜ = maxᵢ≤ₜ yᵢ</a:t>
            </a:r>
          </a:p>
        </p:txBody>
      </p:sp>
      <p:sp>
        <p:nvSpPr>
          <p:cNvPr id="8" name="">
            <a:extLst xmlns:a="http://schemas.openxmlformats.org/drawingml/2006/main">
              <a:ext uri="{FF2B5EF4-FFF2-40B4-BE49-F238E27FC236}">
                <a16:creationId xmlns:a16="http://schemas.microsoft.com/office/drawing/2014/main" id="{25BF482A-6EC3-4190-9559-48CB3E6F59BA}"/>
              </a:ext>
            </a:extLst>
          </p:cNvPr>
          <p:cNvSpPr>
            <a:spLocks xmlns:a="http://schemas.openxmlformats.org/drawingml/2006/main" noGrp="1"/>
          </p:cNvSpPr>
          <p:nvPr/>
        </p:nvSpPr>
        <p:spPr>
          <a:xfrm xmlns:a="http://schemas.openxmlformats.org/drawingml/2006/main">
            <a:off x="914400" y="3257550"/>
            <a:ext cx="4572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2325" b="1">
                <a:solidFill>
                  <a:srgbClr val="17324D"/>
                </a:solidFill>
                <a:latin typeface="Arial Unicode MS"/>
                <a:ea typeface="Arial Unicode MS"/>
                <a:cs typeface="Arial Unicode MS"/>
              </a:defRPr>
            </a:pPr>
            <a:r>
              <a:rPr sz="2325" b="1">
                <a:solidFill>
                  <a:srgbClr val="17324D"/>
                </a:solidFill>
                <a:latin typeface="Arial Unicode MS"/>
                <a:ea typeface="Arial Unicode MS"/>
                <a:cs typeface="Arial Unicode MS"/>
              </a:rPr>
              <a:t>AUC = (1/T) Σₜ Bₜ</a:t>
            </a:r>
          </a:p>
        </p:txBody>
      </p:sp>
      <p:sp>
        <p:nvSpPr>
          <p:cNvPr id="9" name="">
            <a:extLst xmlns:a="http://schemas.openxmlformats.org/drawingml/2006/main">
              <a:ext uri="{FF2B5EF4-FFF2-40B4-BE49-F238E27FC236}">
                <a16:creationId xmlns:a16="http://schemas.microsoft.com/office/drawing/2014/main" id="{D6CE7CB0-0096-4DD9-B02E-D1BDAAEBFA97}"/>
              </a:ext>
            </a:extLst>
          </p:cNvPr>
          <p:cNvSpPr>
            <a:spLocks xmlns:a="http://schemas.openxmlformats.org/drawingml/2006/main" noGrp="1"/>
          </p:cNvSpPr>
          <p:nvPr/>
        </p:nvSpPr>
        <p:spPr>
          <a:xfrm xmlns:a="http://schemas.openxmlformats.org/drawingml/2006/main">
            <a:off x="914400" y="4057650"/>
            <a:ext cx="4572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1425" b="0">
                <a:solidFill>
                  <a:srgbClr val="687681"/>
                </a:solidFill>
                <a:latin typeface="Arial Unicode MS"/>
                <a:ea typeface="Arial Unicode MS"/>
                <a:cs typeface="Arial Unicode MS"/>
              </a:defRPr>
            </a:pPr>
            <a:r>
              <a:rPr sz="1425" b="0">
                <a:solidFill>
                  <a:srgbClr val="687681"/>
                </a:solidFill>
                <a:latin typeface="Arial Unicode MS"/>
                <a:ea typeface="Arial Unicode MS"/>
                <a:cs typeface="Arial Unicode MS"/>
              </a:rPr>
              <a:t>越早进入高质量区域，AUC 越高。</a:t>
            </a:r>
          </a:p>
        </p:txBody>
      </p:sp>
      <p:sp>
        <p:nvSpPr>
          <p:cNvPr id="10" name="">
            <a:extLst xmlns:a="http://schemas.openxmlformats.org/drawingml/2006/main">
              <a:ext uri="{FF2B5EF4-FFF2-40B4-BE49-F238E27FC236}">
                <a16:creationId xmlns:a16="http://schemas.microsoft.com/office/drawing/2014/main" id="{C6DDE038-5A64-4A51-888B-8E04D15D5304}"/>
              </a:ext>
            </a:extLst>
          </p:cNvPr>
          <p:cNvSpPr>
            <a:spLocks xmlns:a="http://schemas.openxmlformats.org/drawingml/2006/main" noGrp="1"/>
          </p:cNvSpPr>
          <p:nvPr/>
        </p:nvSpPr>
        <p:spPr>
          <a:xfrm xmlns:a="http://schemas.openxmlformats.org/drawingml/2006/main">
            <a:off x="6429375" y="1676400"/>
            <a:ext cx="457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75" b="1">
                <a:solidFill>
                  <a:srgbClr val="2C8A62"/>
                </a:solidFill>
                <a:latin typeface="Arial Unicode MS"/>
                <a:ea typeface="Arial Unicode MS"/>
                <a:cs typeface="Arial Unicode MS"/>
              </a:defRPr>
            </a:pPr>
            <a:r>
              <a:rPr sz="1875" b="1">
                <a:solidFill>
                  <a:srgbClr val="2C8A62"/>
                </a:solidFill>
                <a:latin typeface="Arial Unicode MS"/>
                <a:ea typeface="Arial Unicode MS"/>
                <a:cs typeface="Arial Unicode MS"/>
              </a:rPr>
              <a:t>Secondary</a:t>
            </a:r>
          </a:p>
        </p:txBody>
      </p:sp>
      <p:sp>
        <p:nvSpPr>
          <p:cNvPr id="11" name="">
            <a:extLst xmlns:a="http://schemas.openxmlformats.org/drawingml/2006/main">
              <a:ext uri="{FF2B5EF4-FFF2-40B4-BE49-F238E27FC236}">
                <a16:creationId xmlns:a16="http://schemas.microsoft.com/office/drawing/2014/main" id="{8A4994F0-4AB7-4483-85C6-7CBFB66DC520}"/>
              </a:ext>
            </a:extLst>
          </p:cNvPr>
          <p:cNvSpPr>
            <a:spLocks xmlns:a="http://schemas.openxmlformats.org/drawingml/2006/main" noGrp="1"/>
          </p:cNvSpPr>
          <p:nvPr/>
        </p:nvSpPr>
        <p:spPr>
          <a:xfrm xmlns:a="http://schemas.openxmlformats.org/drawingml/2006/main">
            <a:off x="6429375" y="2228850"/>
            <a:ext cx="495300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8000"/>
              </a:lnSpc>
              <a:buNone/>
              <a:defRPr sz="1575" b="0">
                <a:solidFill>
                  <a:srgbClr val="17232E"/>
                </a:solidFill>
                <a:latin typeface="Arial Unicode MS"/>
                <a:ea typeface="Arial Unicode MS"/>
                <a:cs typeface="Arial Unicode MS"/>
              </a:defRPr>
            </a:pPr>
            <a:r>
              <a:rPr sz="1575" b="0">
                <a:solidFill>
                  <a:srgbClr val="17232E"/>
                </a:solidFill>
                <a:latin typeface="Arial Unicode MS"/>
                <a:ea typeface="Arial Unicode MS"/>
                <a:cs typeface="Arial Unicode MS"/>
              </a:rPr>
              <a:t>• Final best：预算结束时的最佳 outcome</a:t>
            </a:r>
          </a:p>
          <a:p xmlns:a="http://schemas.openxmlformats.org/drawingml/2006/main">
            <a:pPr algn="l">
              <a:lnSpc>
                <a:spcPct val="118000"/>
              </a:lnSpc>
              <a:buNone/>
              <a:defRPr sz="1575" b="0">
                <a:solidFill>
                  <a:srgbClr val="17232E"/>
                </a:solidFill>
                <a:latin typeface="Arial Unicode MS"/>
                <a:ea typeface="Arial Unicode MS"/>
                <a:cs typeface="Arial Unicode MS"/>
              </a:defRPr>
            </a:pPr>
            <a:r>
              <a:rPr sz="1575" b="0">
                <a:solidFill>
                  <a:srgbClr val="17232E"/>
                </a:solidFill>
                <a:latin typeface="Arial Unicode MS"/>
                <a:ea typeface="Arial Unicode MS"/>
                <a:cs typeface="Arial Unicode MS"/>
              </a:rPr>
              <a:t>• Rounds to threshold：达到 95% / 100% 的轮数</a:t>
            </a:r>
          </a:p>
          <a:p xmlns:a="http://schemas.openxmlformats.org/drawingml/2006/main">
            <a:pPr algn="l">
              <a:lnSpc>
                <a:spcPct val="118000"/>
              </a:lnSpc>
              <a:buNone/>
              <a:defRPr sz="1575" b="0">
                <a:solidFill>
                  <a:srgbClr val="17232E"/>
                </a:solidFill>
                <a:latin typeface="Arial Unicode MS"/>
                <a:ea typeface="Arial Unicode MS"/>
                <a:cs typeface="Arial Unicode MS"/>
              </a:defRPr>
            </a:pPr>
            <a:r>
              <a:rPr sz="1575" b="0">
                <a:solidFill>
                  <a:srgbClr val="17232E"/>
                </a:solidFill>
                <a:latin typeface="Arial Unicode MS"/>
                <a:ea typeface="Arial Unicode MS"/>
                <a:cs typeface="Arial Unicode MS"/>
              </a:rPr>
              <a:t>• Win / non-loss rate：跨 campaign 稳定性</a:t>
            </a:r>
          </a:p>
          <a:p xmlns:a="http://schemas.openxmlformats.org/drawingml/2006/main">
            <a:pPr algn="l">
              <a:lnSpc>
                <a:spcPct val="118000"/>
              </a:lnSpc>
              <a:buNone/>
              <a:defRPr sz="1575" b="0">
                <a:solidFill>
                  <a:srgbClr val="17232E"/>
                </a:solidFill>
                <a:latin typeface="Arial Unicode MS"/>
                <a:ea typeface="Arial Unicode MS"/>
                <a:cs typeface="Arial Unicode MS"/>
              </a:defRPr>
            </a:pPr>
            <a:r>
              <a:rPr sz="1575" b="0">
                <a:solidFill>
                  <a:srgbClr val="17232E"/>
                </a:solidFill>
                <a:latin typeface="Arial Unicode MS"/>
                <a:ea typeface="Arial Unicode MS"/>
                <a:cs typeface="Arial Unicode MS"/>
              </a:rPr>
              <a:t>• Paired delta 与 95% confidence interval</a:t>
            </a:r>
          </a:p>
          <a:p xmlns:a="http://schemas.openxmlformats.org/drawingml/2006/main">
            <a:pPr algn="l">
              <a:lnSpc>
                <a:spcPct val="118000"/>
              </a:lnSpc>
              <a:buNone/>
              <a:defRPr sz="1575" b="0">
                <a:solidFill>
                  <a:srgbClr val="17232E"/>
                </a:solidFill>
                <a:latin typeface="Arial Unicode MS"/>
                <a:ea typeface="Arial Unicode MS"/>
                <a:cs typeface="Arial Unicode MS"/>
              </a:defRPr>
            </a:pPr>
            <a:r>
              <a:rPr sz="1575" b="0">
                <a:solidFill>
                  <a:srgbClr val="17232E"/>
                </a:solidFill>
                <a:latin typeface="Arial Unicode MS"/>
                <a:ea typeface="Arial Unicode MS"/>
                <a:cs typeface="Arial Unicode MS"/>
              </a:rPr>
              <a:t>• Negative transfer rate 与 acceptance rate</a:t>
            </a:r>
          </a:p>
        </p:txBody>
      </p:sp>
      <p:sp>
        <p:nvSpPr>
          <p:cNvPr id="12" name="">
            <a:extLst xmlns:a="http://schemas.openxmlformats.org/drawingml/2006/main">
              <a:ext uri="{FF2B5EF4-FFF2-40B4-BE49-F238E27FC236}">
                <a16:creationId xmlns:a16="http://schemas.microsoft.com/office/drawing/2014/main" id="{58D3BDAD-33BF-45B2-8200-4CE3E685643A}"/>
              </a:ext>
            </a:extLst>
          </p:cNvPr>
          <p:cNvSpPr>
            <a:spLocks xmlns:a="http://schemas.openxmlformats.org/drawingml/2006/main" noGrp="1"/>
          </p:cNvSpPr>
          <p:nvPr/>
        </p:nvSpPr>
        <p:spPr>
          <a:xfrm xmlns:a="http://schemas.openxmlformats.org/drawingml/2006/main">
            <a:off x="647700" y="5295900"/>
            <a:ext cx="10896600" cy="552450"/>
          </a:xfrm>
          <a:prstGeom xmlns:a="http://schemas.openxmlformats.org/drawingml/2006/main" prst="rect">
            <a:avLst/>
          </a:prstGeom>
          <a:solidFill xmlns:a="http://schemas.openxmlformats.org/drawingml/2006/main">
            <a:srgbClr val="F1F4F6"/>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D7572578-AB1D-4209-B60F-26EA743B1C04}"/>
              </a:ext>
            </a:extLst>
          </p:cNvPr>
          <p:cNvSpPr>
            <a:spLocks xmlns:a="http://schemas.openxmlformats.org/drawingml/2006/main" noGrp="1"/>
          </p:cNvSpPr>
          <p:nvPr/>
        </p:nvSpPr>
        <p:spPr>
          <a:xfrm xmlns:a="http://schemas.openxmlformats.org/drawingml/2006/main">
            <a:off x="838200" y="5429250"/>
            <a:ext cx="10515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1350" b="1">
                <a:solidFill>
                  <a:srgbClr val="C94D4D"/>
                </a:solidFill>
                <a:latin typeface="Arial Unicode MS"/>
                <a:ea typeface="Arial Unicode MS"/>
                <a:cs typeface="Arial Unicode MS"/>
              </a:defRPr>
            </a:pPr>
            <a:r>
              <a:rPr sz="1350" b="1">
                <a:solidFill>
                  <a:srgbClr val="C94D4D"/>
                </a:solidFill>
                <a:latin typeface="Arial Unicode MS"/>
                <a:ea typeface="Arial Unicode MS"/>
                <a:cs typeface="Arial Unicode MS"/>
              </a:rPr>
              <a:t>一个 external target 上的 100 个 random seeds 反映算法随机性，不等于 100 个独立科学任务。</a:t>
            </a:r>
          </a:p>
        </p:txBody>
      </p:sp>
      <p:sp>
        <p:nvSpPr>
          <p:cNvPr id="14" name="">
            <a:extLst xmlns:a="http://schemas.openxmlformats.org/drawingml/2006/main">
              <a:ext uri="{FF2B5EF4-FFF2-40B4-BE49-F238E27FC236}">
                <a16:creationId xmlns:a16="http://schemas.microsoft.com/office/drawing/2014/main" id="{79D84755-5DCA-4B04-838C-DC6943FA5184}"/>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frozen evidence update · 2026-08-12</a:t>
            </a:r>
          </a:p>
        </p:txBody>
      </p:sp>
    </p:spTree>
    <p:extLst>
      <p:ext uri="{BB962C8B-B14F-4D97-AF65-F5344CB8AC3E}">
        <p14:creationId xmlns:p14="http://schemas.microsoft.com/office/powerpoint/2010/main" val="169203283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26495252-FA70-4F7C-92E2-68C6F45A2B03}"/>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CALIBRATION GATE</a:t>
            </a:r>
          </a:p>
        </p:txBody>
      </p:sp>
      <p:sp>
        <p:nvSpPr>
          <p:cNvPr id="2" name="">
            <a:extLst xmlns:a="http://schemas.openxmlformats.org/drawingml/2006/main">
              <a:ext uri="{FF2B5EF4-FFF2-40B4-BE49-F238E27FC236}">
                <a16:creationId xmlns:a16="http://schemas.microsoft.com/office/drawing/2014/main" id="{A637DF4F-D567-4FE6-99CA-6A1BCC158A5D}"/>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16</a:t>
            </a:r>
          </a:p>
        </p:txBody>
      </p:sp>
      <p:sp>
        <p:nvSpPr>
          <p:cNvPr id="3" name="">
            <a:extLst xmlns:a="http://schemas.openxmlformats.org/drawingml/2006/main">
              <a:ext uri="{FF2B5EF4-FFF2-40B4-BE49-F238E27FC236}">
                <a16:creationId xmlns:a16="http://schemas.microsoft.com/office/drawing/2014/main" id="{3AFB5D2A-7B72-44E8-B2A3-E4BB497680BD}"/>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700" b="1">
                <a:solidFill>
                  <a:srgbClr val="17232E"/>
                </a:solidFill>
                <a:latin typeface="Arial Unicode MS"/>
                <a:ea typeface="Arial Unicode MS"/>
                <a:cs typeface="Arial Unicode MS"/>
              </a:defRPr>
            </a:pPr>
            <a:r>
              <a:rPr sz="2700" b="1">
                <a:solidFill>
                  <a:srgbClr val="17232E"/>
                </a:solidFill>
                <a:latin typeface="Arial Unicode MS"/>
                <a:ea typeface="Arial Unicode MS"/>
                <a:cs typeface="Arial Unicode MS"/>
              </a:rPr>
              <a:t>先过稳定性门槛，再在合格策略中比较收益</a:t>
            </a:r>
          </a:p>
        </p:txBody>
      </p:sp>
      <p:sp>
        <p:nvSpPr>
          <p:cNvPr id="4" name="">
            <a:extLst xmlns:a="http://schemas.openxmlformats.org/drawingml/2006/main">
              <a:ext uri="{FF2B5EF4-FFF2-40B4-BE49-F238E27FC236}">
                <a16:creationId xmlns:a16="http://schemas.microsoft.com/office/drawing/2014/main" id="{2346DBBD-A2C1-4F74-8F75-2D148941B0F2}"/>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6AC035A-7976-47B3-B973-74B5D1F5D68D}"/>
              </a:ext>
            </a:extLst>
          </p:cNvPr>
          <p:cNvSpPr>
            <a:spLocks xmlns:a="http://schemas.openxmlformats.org/drawingml/2006/main" noGrp="1"/>
          </p:cNvSpPr>
          <p:nvPr/>
        </p:nvSpPr>
        <p:spPr>
          <a:xfrm xmlns:a="http://schemas.openxmlformats.org/drawingml/2006/main">
            <a:off x="647700" y="1695450"/>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75" b="1">
                <a:solidFill>
                  <a:srgbClr val="C94D4D"/>
                </a:solidFill>
                <a:latin typeface="Arial Unicode MS"/>
                <a:ea typeface="Arial Unicode MS"/>
                <a:cs typeface="Arial Unicode MS"/>
              </a:defRPr>
            </a:pPr>
            <a:r>
              <a:rPr sz="1875" b="1">
                <a:solidFill>
                  <a:srgbClr val="C94D4D"/>
                </a:solidFill>
                <a:latin typeface="Arial Unicode MS"/>
                <a:ea typeface="Arial Unicode MS"/>
                <a:cs typeface="Arial Unicode MS"/>
              </a:rPr>
              <a:t>Step 1 · 资格检查</a:t>
            </a:r>
          </a:p>
        </p:txBody>
      </p:sp>
      <p:sp>
        <p:nvSpPr>
          <p:cNvPr id="6" name="">
            <a:extLst xmlns:a="http://schemas.openxmlformats.org/drawingml/2006/main">
              <a:ext uri="{FF2B5EF4-FFF2-40B4-BE49-F238E27FC236}">
                <a16:creationId xmlns:a16="http://schemas.microsoft.com/office/drawing/2014/main" id="{828D8A2E-BD1B-46B4-9533-BAB70C28CF64}"/>
              </a:ext>
            </a:extLst>
          </p:cNvPr>
          <p:cNvSpPr>
            <a:spLocks xmlns:a="http://schemas.openxmlformats.org/drawingml/2006/main" noGrp="1"/>
          </p:cNvSpPr>
          <p:nvPr/>
        </p:nvSpPr>
        <p:spPr>
          <a:xfrm xmlns:a="http://schemas.openxmlformats.org/drawingml/2006/main">
            <a:off x="647700" y="2152650"/>
            <a:ext cx="4762500" cy="2305050"/>
          </a:xfrm>
          <a:prstGeom xmlns:a="http://schemas.openxmlformats.org/drawingml/2006/main" prst="rect">
            <a:avLst/>
          </a:prstGeom>
          <a:solidFill xmlns:a="http://schemas.openxmlformats.org/drawingml/2006/main">
            <a:srgbClr val="FBECE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CA00F70-0D88-4C1D-8E34-41AE30462017}"/>
              </a:ext>
            </a:extLst>
          </p:cNvPr>
          <p:cNvSpPr>
            <a:spLocks xmlns:a="http://schemas.openxmlformats.org/drawingml/2006/main" noGrp="1"/>
          </p:cNvSpPr>
          <p:nvPr/>
        </p:nvSpPr>
        <p:spPr>
          <a:xfrm xmlns:a="http://schemas.openxmlformats.org/drawingml/2006/main">
            <a:off x="914400" y="2438400"/>
            <a:ext cx="4229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1950" b="1">
                <a:solidFill>
                  <a:srgbClr val="C94D4D"/>
                </a:solidFill>
                <a:latin typeface="Arial Unicode MS"/>
                <a:ea typeface="Arial Unicode MS"/>
                <a:cs typeface="Arial Unicode MS"/>
              </a:defRPr>
            </a:pPr>
            <a:r>
              <a:rPr sz="1950" b="1">
                <a:solidFill>
                  <a:srgbClr val="C94D4D"/>
                </a:solidFill>
                <a:latin typeface="Arial Unicode MS"/>
                <a:ea typeface="Arial Unicode MS"/>
                <a:cs typeface="Arial Unicode MS"/>
              </a:rPr>
              <a:t>95% CI lower bound &gt; 0</a:t>
            </a:r>
          </a:p>
        </p:txBody>
      </p:sp>
      <p:sp>
        <p:nvSpPr>
          <p:cNvPr id="8" name="">
            <a:extLst xmlns:a="http://schemas.openxmlformats.org/drawingml/2006/main">
              <a:ext uri="{FF2B5EF4-FFF2-40B4-BE49-F238E27FC236}">
                <a16:creationId xmlns:a16="http://schemas.microsoft.com/office/drawing/2014/main" id="{259F2F42-98D5-4237-9E64-2E1FD832E539}"/>
              </a:ext>
            </a:extLst>
          </p:cNvPr>
          <p:cNvSpPr>
            <a:spLocks xmlns:a="http://schemas.openxmlformats.org/drawingml/2006/main" noGrp="1"/>
          </p:cNvSpPr>
          <p:nvPr/>
        </p:nvSpPr>
        <p:spPr>
          <a:xfrm xmlns:a="http://schemas.openxmlformats.org/drawingml/2006/main">
            <a:off x="914400" y="3048000"/>
            <a:ext cx="422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1275" b="0">
                <a:solidFill>
                  <a:srgbClr val="687681"/>
                </a:solidFill>
                <a:latin typeface="Arial Unicode MS"/>
                <a:ea typeface="Arial Unicode MS"/>
                <a:cs typeface="Arial Unicode MS"/>
              </a:defRPr>
            </a:pPr>
            <a:r>
              <a:rPr sz="1275" b="0">
                <a:solidFill>
                  <a:srgbClr val="687681"/>
                </a:solidFill>
                <a:latin typeface="Arial Unicode MS"/>
                <a:ea typeface="Arial Unicode MS"/>
                <a:cs typeface="Arial Unicode MS"/>
              </a:rPr>
              <a:t>并且</a:t>
            </a:r>
          </a:p>
        </p:txBody>
      </p:sp>
      <p:sp>
        <p:nvSpPr>
          <p:cNvPr id="9" name="">
            <a:extLst xmlns:a="http://schemas.openxmlformats.org/drawingml/2006/main">
              <a:ext uri="{FF2B5EF4-FFF2-40B4-BE49-F238E27FC236}">
                <a16:creationId xmlns:a16="http://schemas.microsoft.com/office/drawing/2014/main" id="{E8C4D37C-6A7E-465A-9FB4-4512095A38E1}"/>
              </a:ext>
            </a:extLst>
          </p:cNvPr>
          <p:cNvSpPr>
            <a:spLocks xmlns:a="http://schemas.openxmlformats.org/drawingml/2006/main" noGrp="1"/>
          </p:cNvSpPr>
          <p:nvPr/>
        </p:nvSpPr>
        <p:spPr>
          <a:xfrm xmlns:a="http://schemas.openxmlformats.org/drawingml/2006/main">
            <a:off x="914400" y="3524250"/>
            <a:ext cx="4229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1950" b="1">
                <a:solidFill>
                  <a:srgbClr val="C94D4D"/>
                </a:solidFill>
                <a:latin typeface="Arial Unicode MS"/>
                <a:ea typeface="Arial Unicode MS"/>
                <a:cs typeface="Arial Unicode MS"/>
              </a:defRPr>
            </a:pPr>
            <a:r>
              <a:rPr sz="1950" b="1">
                <a:solidFill>
                  <a:srgbClr val="C94D4D"/>
                </a:solidFill>
                <a:latin typeface="Arial Unicode MS"/>
                <a:ea typeface="Arial Unicode MS"/>
                <a:cs typeface="Arial Unicode MS"/>
              </a:rPr>
              <a:t>task non-loss rate ≥ 0.8</a:t>
            </a:r>
          </a:p>
        </p:txBody>
      </p:sp>
      <p:sp>
        <p:nvSpPr>
          <p:cNvPr id="10" name="">
            <a:extLst xmlns:a="http://schemas.openxmlformats.org/drawingml/2006/main">
              <a:ext uri="{FF2B5EF4-FFF2-40B4-BE49-F238E27FC236}">
                <a16:creationId xmlns:a16="http://schemas.microsoft.com/office/drawing/2014/main" id="{A9162011-FA6D-4648-A0F2-4DAAC52AC284}"/>
              </a:ext>
            </a:extLst>
          </p:cNvPr>
          <p:cNvSpPr>
            <a:spLocks xmlns:a="http://schemas.openxmlformats.org/drawingml/2006/main" noGrp="1"/>
          </p:cNvSpPr>
          <p:nvPr/>
        </p:nvSpPr>
        <p:spPr>
          <a:xfrm xmlns:a="http://schemas.openxmlformats.org/drawingml/2006/main">
            <a:off x="5762625" y="3028950"/>
            <a:ext cx="6286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3150" b="1">
                <a:solidFill>
                  <a:srgbClr val="2F6FB6"/>
                </a:solidFill>
                <a:latin typeface="Arial Unicode MS"/>
                <a:ea typeface="Arial Unicode MS"/>
                <a:cs typeface="Arial Unicode MS"/>
              </a:defRPr>
            </a:pPr>
            <a:r>
              <a:rPr sz="3150" b="1">
                <a:solidFill>
                  <a:srgbClr val="2F6FB6"/>
                </a:solidFill>
                <a:latin typeface="Arial Unicode MS"/>
                <a:ea typeface="Arial Unicode MS"/>
                <a:cs typeface="Arial Unicode MS"/>
              </a:rPr>
              <a:t>→</a:t>
            </a:r>
          </a:p>
        </p:txBody>
      </p:sp>
      <p:sp>
        <p:nvSpPr>
          <p:cNvPr id="11" name="">
            <a:extLst xmlns:a="http://schemas.openxmlformats.org/drawingml/2006/main">
              <a:ext uri="{FF2B5EF4-FFF2-40B4-BE49-F238E27FC236}">
                <a16:creationId xmlns:a16="http://schemas.microsoft.com/office/drawing/2014/main" id="{3CFDF428-EFF4-48DA-82AB-41C7CD4467F7}"/>
              </a:ext>
            </a:extLst>
          </p:cNvPr>
          <p:cNvSpPr>
            <a:spLocks xmlns:a="http://schemas.openxmlformats.org/drawingml/2006/main" noGrp="1"/>
          </p:cNvSpPr>
          <p:nvPr/>
        </p:nvSpPr>
        <p:spPr>
          <a:xfrm xmlns:a="http://schemas.openxmlformats.org/drawingml/2006/main">
            <a:off x="6705600" y="1695450"/>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75" b="1">
                <a:solidFill>
                  <a:srgbClr val="2C8A62"/>
                </a:solidFill>
                <a:latin typeface="Arial Unicode MS"/>
                <a:ea typeface="Arial Unicode MS"/>
                <a:cs typeface="Arial Unicode MS"/>
              </a:defRPr>
            </a:pPr>
            <a:r>
              <a:rPr sz="1875" b="1">
                <a:solidFill>
                  <a:srgbClr val="2C8A62"/>
                </a:solidFill>
                <a:latin typeface="Arial Unicode MS"/>
                <a:ea typeface="Arial Unicode MS"/>
                <a:cs typeface="Arial Unicode MS"/>
              </a:rPr>
              <a:t>Step 2 · 冻结选择</a:t>
            </a:r>
          </a:p>
        </p:txBody>
      </p:sp>
      <p:sp>
        <p:nvSpPr>
          <p:cNvPr id="12" name="">
            <a:extLst xmlns:a="http://schemas.openxmlformats.org/drawingml/2006/main">
              <a:ext uri="{FF2B5EF4-FFF2-40B4-BE49-F238E27FC236}">
                <a16:creationId xmlns:a16="http://schemas.microsoft.com/office/drawing/2014/main" id="{281D633D-CAB9-4766-8CB7-6A68C98EFC69}"/>
              </a:ext>
            </a:extLst>
          </p:cNvPr>
          <p:cNvSpPr>
            <a:spLocks xmlns:a="http://schemas.openxmlformats.org/drawingml/2006/main" noGrp="1"/>
          </p:cNvSpPr>
          <p:nvPr/>
        </p:nvSpPr>
        <p:spPr>
          <a:xfrm xmlns:a="http://schemas.openxmlformats.org/drawingml/2006/main">
            <a:off x="6705600" y="2152650"/>
            <a:ext cx="4762500" cy="2305050"/>
          </a:xfrm>
          <a:prstGeom xmlns:a="http://schemas.openxmlformats.org/drawingml/2006/main" prst="rect">
            <a:avLst/>
          </a:prstGeom>
          <a:solidFill xmlns:a="http://schemas.openxmlformats.org/drawingml/2006/main">
            <a:srgbClr val="EAF6F0"/>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5BFAD661-94BD-4204-B141-E94CCFB06178}"/>
              </a:ext>
            </a:extLst>
          </p:cNvPr>
          <p:cNvSpPr>
            <a:spLocks xmlns:a="http://schemas.openxmlformats.org/drawingml/2006/main" noGrp="1"/>
          </p:cNvSpPr>
          <p:nvPr/>
        </p:nvSpPr>
        <p:spPr>
          <a:xfrm xmlns:a="http://schemas.openxmlformats.org/drawingml/2006/main">
            <a:off x="6972300" y="2590800"/>
            <a:ext cx="42291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6000"/>
              </a:lnSpc>
              <a:buNone/>
              <a:defRPr sz="2100" b="1">
                <a:solidFill>
                  <a:srgbClr val="2C8A62"/>
                </a:solidFill>
                <a:latin typeface="Arial Unicode MS"/>
                <a:ea typeface="Arial Unicode MS"/>
                <a:cs typeface="Arial Unicode MS"/>
              </a:defRPr>
            </a:pPr>
            <a:r>
              <a:rPr sz="2100" b="1">
                <a:solidFill>
                  <a:srgbClr val="2C8A62"/>
                </a:solidFill>
                <a:latin typeface="Arial Unicode MS"/>
                <a:ea typeface="Arial Unicode MS"/>
                <a:cs typeface="Arial Unicode MS"/>
              </a:rPr>
              <a:t>eligible routes 中</a:t>
            </a:r>
          </a:p>
          <a:p xmlns:a="http://schemas.openxmlformats.org/drawingml/2006/main">
            <a:pPr algn="ctr">
              <a:lnSpc>
                <a:spcPct val="106000"/>
              </a:lnSpc>
              <a:buNone/>
              <a:defRPr sz="2100" b="1">
                <a:solidFill>
                  <a:srgbClr val="2C8A62"/>
                </a:solidFill>
                <a:latin typeface="Arial Unicode MS"/>
                <a:ea typeface="Arial Unicode MS"/>
                <a:cs typeface="Arial Unicode MS"/>
              </a:defRPr>
            </a:pPr>
            <a:r>
              <a:rPr sz="2100" b="1">
                <a:solidFill>
                  <a:srgbClr val="2C8A62"/>
                </a:solidFill>
                <a:latin typeface="Arial Unicode MS"/>
                <a:ea typeface="Arial Unicode MS"/>
                <a:cs typeface="Arial Unicode MS"/>
              </a:rPr>
              <a:t>mean AUC gain 最大者</a:t>
            </a:r>
          </a:p>
        </p:txBody>
      </p:sp>
      <p:sp>
        <p:nvSpPr>
          <p:cNvPr id="14" name="">
            <a:extLst xmlns:a="http://schemas.openxmlformats.org/drawingml/2006/main">
              <a:ext uri="{FF2B5EF4-FFF2-40B4-BE49-F238E27FC236}">
                <a16:creationId xmlns:a16="http://schemas.microsoft.com/office/drawing/2014/main" id="{6A0666EB-DAB9-4028-9DB5-02D78BDD2180}"/>
              </a:ext>
            </a:extLst>
          </p:cNvPr>
          <p:cNvSpPr>
            <a:spLocks xmlns:a="http://schemas.openxmlformats.org/drawingml/2006/main" noGrp="1"/>
          </p:cNvSpPr>
          <p:nvPr/>
        </p:nvSpPr>
        <p:spPr>
          <a:xfrm xmlns:a="http://schemas.openxmlformats.org/drawingml/2006/main">
            <a:off x="6972300" y="3714750"/>
            <a:ext cx="4229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1350" b="0">
                <a:solidFill>
                  <a:srgbClr val="687681"/>
                </a:solidFill>
                <a:latin typeface="Arial Unicode MS"/>
                <a:ea typeface="Arial Unicode MS"/>
                <a:cs typeface="Arial Unicode MS"/>
              </a:defRPr>
            </a:pPr>
            <a:r>
              <a:rPr sz="1350" b="0">
                <a:solidFill>
                  <a:srgbClr val="687681"/>
                </a:solidFill>
                <a:latin typeface="Arial Unicode MS"/>
                <a:ea typeface="Arial Unicode MS"/>
                <a:cs typeface="Arial Unicode MS"/>
              </a:rPr>
              <a:t>CI lower bound 作为 tie-breaker</a:t>
            </a:r>
          </a:p>
        </p:txBody>
      </p:sp>
      <p:sp>
        <p:nvSpPr>
          <p:cNvPr id="15" name="">
            <a:extLst xmlns:a="http://schemas.openxmlformats.org/drawingml/2006/main">
              <a:ext uri="{FF2B5EF4-FFF2-40B4-BE49-F238E27FC236}">
                <a16:creationId xmlns:a16="http://schemas.microsoft.com/office/drawing/2014/main" id="{40DDE1E2-012D-4145-8978-5D85BFF2435C}"/>
              </a:ext>
            </a:extLst>
          </p:cNvPr>
          <p:cNvSpPr>
            <a:spLocks xmlns:a="http://schemas.openxmlformats.org/drawingml/2006/main" noGrp="1"/>
          </p:cNvSpPr>
          <p:nvPr/>
        </p:nvSpPr>
        <p:spPr>
          <a:xfrm xmlns:a="http://schemas.openxmlformats.org/drawingml/2006/main">
            <a:off x="647700" y="4876800"/>
            <a:ext cx="10896600" cy="952500"/>
          </a:xfrm>
          <a:prstGeom xmlns:a="http://schemas.openxmlformats.org/drawingml/2006/main" prst="rect">
            <a:avLst/>
          </a:prstGeom>
          <a:solidFill xmlns:a="http://schemas.openxmlformats.org/drawingml/2006/main">
            <a:srgbClr val="F1F4F6"/>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627B0BF0-79CF-420E-BAE4-639E17187A10}"/>
              </a:ext>
            </a:extLst>
          </p:cNvPr>
          <p:cNvSpPr>
            <a:spLocks xmlns:a="http://schemas.openxmlformats.org/drawingml/2006/main" noGrp="1"/>
          </p:cNvSpPr>
          <p:nvPr/>
        </p:nvSpPr>
        <p:spPr>
          <a:xfrm xmlns:a="http://schemas.openxmlformats.org/drawingml/2006/main">
            <a:off x="857250" y="506730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575" b="1">
                <a:solidFill>
                  <a:srgbClr val="D99A33"/>
                </a:solidFill>
                <a:latin typeface="Arial Unicode MS"/>
                <a:ea typeface="Arial Unicode MS"/>
                <a:cs typeface="Arial Unicode MS"/>
              </a:defRPr>
            </a:pPr>
            <a:r>
              <a:rPr sz="1575" b="1">
                <a:solidFill>
                  <a:srgbClr val="D99A33"/>
                </a:solidFill>
                <a:latin typeface="Arial Unicode MS"/>
                <a:ea typeface="Arial Unicode MS"/>
                <a:cs typeface="Arial Unicode MS"/>
              </a:rPr>
              <a:t>阈值来源</a:t>
            </a:r>
          </a:p>
        </p:txBody>
      </p:sp>
      <p:sp>
        <p:nvSpPr>
          <p:cNvPr id="17" name="">
            <a:extLst xmlns:a="http://schemas.openxmlformats.org/drawingml/2006/main">
              <a:ext uri="{FF2B5EF4-FFF2-40B4-BE49-F238E27FC236}">
                <a16:creationId xmlns:a16="http://schemas.microsoft.com/office/drawing/2014/main" id="{19EA724A-CCAD-4166-AF97-86C4195AF04C}"/>
              </a:ext>
            </a:extLst>
          </p:cNvPr>
          <p:cNvSpPr>
            <a:spLocks xmlns:a="http://schemas.openxmlformats.org/drawingml/2006/main" noGrp="1"/>
          </p:cNvSpPr>
          <p:nvPr/>
        </p:nvSpPr>
        <p:spPr>
          <a:xfrm xmlns:a="http://schemas.openxmlformats.org/drawingml/2006/main">
            <a:off x="2381250" y="5010150"/>
            <a:ext cx="8953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425" b="0">
                <a:solidFill>
                  <a:srgbClr val="17232E"/>
                </a:solidFill>
                <a:latin typeface="Arial Unicode MS"/>
                <a:ea typeface="Arial Unicode MS"/>
                <a:cs typeface="Arial Unicode MS"/>
              </a:defRPr>
            </a:pPr>
            <a:r>
              <a:rPr sz="1425" b="0">
                <a:solidFill>
                  <a:srgbClr val="17232E"/>
                </a:solidFill>
                <a:latin typeface="Arial Unicode MS"/>
                <a:ea typeface="Arial Unicode MS"/>
                <a:cs typeface="Arial Unicode MS"/>
              </a:rPr>
              <a:t>CI lower &gt; 0 有统计含义；non-loss 0.8 是预先冻结的经验门槛，需要 sensitivity analysis，不能写成学界通用常数。</a:t>
            </a:r>
          </a:p>
        </p:txBody>
      </p:sp>
      <p:sp>
        <p:nvSpPr>
          <p:cNvPr id="18" name="">
            <a:extLst xmlns:a="http://schemas.openxmlformats.org/drawingml/2006/main">
              <a:ext uri="{FF2B5EF4-FFF2-40B4-BE49-F238E27FC236}">
                <a16:creationId xmlns:a16="http://schemas.microsoft.com/office/drawing/2014/main" id="{BEEB9C28-B67D-4B7A-8507-584DA0CCFA30}"/>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frozen evidence update · 2026-08-12</a:t>
            </a:r>
          </a:p>
        </p:txBody>
      </p:sp>
    </p:spTree>
    <p:extLst>
      <p:ext uri="{BB962C8B-B14F-4D97-AF65-F5344CB8AC3E}">
        <p14:creationId xmlns:p14="http://schemas.microsoft.com/office/powerpoint/2010/main" val="2023455749"/>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6" name="">
            <a:extLst xmlns:a="http://schemas.openxmlformats.org/drawingml/2006/main">
              <a:ext uri="{FF2B5EF4-FFF2-40B4-BE49-F238E27FC236}">
                <a16:creationId xmlns:a16="http://schemas.microsoft.com/office/drawing/2014/main" id="{FFAF0341-A2A3-4E46-8719-DBCA861734A0}"/>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BASELINE PROTOCOL</a:t>
            </a:r>
          </a:p>
        </p:txBody>
      </p:sp>
      <p:sp>
        <p:nvSpPr>
          <p:cNvPr id="2" name="">
            <a:extLst xmlns:a="http://schemas.openxmlformats.org/drawingml/2006/main">
              <a:ext uri="{FF2B5EF4-FFF2-40B4-BE49-F238E27FC236}">
                <a16:creationId xmlns:a16="http://schemas.microsoft.com/office/drawing/2014/main" id="{9D132BCA-0A9C-42D8-81E5-643AEE9A48C0}"/>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17</a:t>
            </a:r>
          </a:p>
        </p:txBody>
      </p:sp>
      <p:sp>
        <p:nvSpPr>
          <p:cNvPr id="3" name="">
            <a:extLst xmlns:a="http://schemas.openxmlformats.org/drawingml/2006/main">
              <a:ext uri="{FF2B5EF4-FFF2-40B4-BE49-F238E27FC236}">
                <a16:creationId xmlns:a16="http://schemas.microsoft.com/office/drawing/2014/main" id="{012A07C3-A425-4AAC-B3A4-9FB2E38B31F3}"/>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700" b="1">
                <a:solidFill>
                  <a:srgbClr val="17232E"/>
                </a:solidFill>
                <a:latin typeface="Arial Unicode MS"/>
                <a:ea typeface="Arial Unicode MS"/>
                <a:cs typeface="Arial Unicode MS"/>
              </a:defRPr>
            </a:pPr>
            <a:r>
              <a:rPr sz="2700" b="1">
                <a:solidFill>
                  <a:srgbClr val="17232E"/>
                </a:solidFill>
                <a:latin typeface="Arial Unicode MS"/>
                <a:ea typeface="Arial Unicode MS"/>
                <a:cs typeface="Arial Unicode MS"/>
              </a:rPr>
              <a:t>CARE 必须超过逐任务更强的 target-only 对照</a:t>
            </a:r>
          </a:p>
        </p:txBody>
      </p:sp>
      <p:sp>
        <p:nvSpPr>
          <p:cNvPr id="4" name="">
            <a:extLst xmlns:a="http://schemas.openxmlformats.org/drawingml/2006/main">
              <a:ext uri="{FF2B5EF4-FFF2-40B4-BE49-F238E27FC236}">
                <a16:creationId xmlns:a16="http://schemas.microsoft.com/office/drawing/2014/main" id="{15CC2B3A-1ABA-405A-B195-7B93D73DABB1}"/>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B07BC0EA-1DDE-4360-A797-98328AFF8D0A}"/>
              </a:ext>
            </a:extLst>
          </p:cNvPr>
          <p:cNvSpPr>
            <a:spLocks xmlns:a="http://schemas.openxmlformats.org/drawingml/2006/main" noGrp="1"/>
          </p:cNvSpPr>
          <p:nvPr/>
        </p:nvSpPr>
        <p:spPr>
          <a:xfrm xmlns:a="http://schemas.openxmlformats.org/drawingml/2006/main">
            <a:off x="647700" y="1676400"/>
            <a:ext cx="2031569" cy="609600"/>
          </a:xfrm>
          <a:prstGeom xmlns:a="http://schemas.openxmlformats.org/drawingml/2006/main" prst="rect">
            <a:avLst/>
          </a:prstGeom>
          <a:solidFill xmlns:a="http://schemas.openxmlformats.org/drawingml/2006/main">
            <a:srgbClr val="17324D"/>
          </a:solidFill>
          <a:ln xmlns:a="http://schemas.openxmlformats.org/drawingml/2006/main" w="9525">
            <a:solidFill>
              <a:srgbClr val="FFFFFF"/>
            </a:solidFill>
            <a:prstDash val="solid"/>
          </a:ln>
        </p:spPr>
      </p:sp>
      <p:sp>
        <p:nvSpPr>
          <p:cNvPr id="6" name="">
            <a:extLst xmlns:a="http://schemas.openxmlformats.org/drawingml/2006/main">
              <a:ext uri="{FF2B5EF4-FFF2-40B4-BE49-F238E27FC236}">
                <a16:creationId xmlns:a16="http://schemas.microsoft.com/office/drawing/2014/main" id="{B70094B7-50D5-4F3E-8865-89F6B0C696DC}"/>
              </a:ext>
            </a:extLst>
          </p:cNvPr>
          <p:cNvSpPr>
            <a:spLocks xmlns:a="http://schemas.openxmlformats.org/drawingml/2006/main" noGrp="1"/>
          </p:cNvSpPr>
          <p:nvPr/>
        </p:nvSpPr>
        <p:spPr>
          <a:xfrm xmlns:a="http://schemas.openxmlformats.org/drawingml/2006/main">
            <a:off x="723900" y="1743075"/>
            <a:ext cx="1879169"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1">
                <a:solidFill>
                  <a:srgbClr val="FFFFFF"/>
                </a:solidFill>
                <a:latin typeface="Arial Unicode MS"/>
                <a:ea typeface="Arial Unicode MS"/>
                <a:cs typeface="Arial Unicode MS"/>
              </a:defRPr>
            </a:pPr>
            <a:r>
              <a:rPr sz="1200" b="1">
                <a:solidFill>
                  <a:srgbClr val="FFFFFF"/>
                </a:solidFill>
                <a:latin typeface="Arial Unicode MS"/>
                <a:ea typeface="Arial Unicode MS"/>
                <a:cs typeface="Arial Unicode MS"/>
              </a:rPr>
              <a:t>项目</a:t>
            </a:r>
          </a:p>
        </p:txBody>
      </p:sp>
      <p:sp>
        <p:nvSpPr>
          <p:cNvPr id="7" name="">
            <a:extLst xmlns:a="http://schemas.openxmlformats.org/drawingml/2006/main">
              <a:ext uri="{FF2B5EF4-FFF2-40B4-BE49-F238E27FC236}">
                <a16:creationId xmlns:a16="http://schemas.microsoft.com/office/drawing/2014/main" id="{92A2BFCE-9CD2-4914-83D6-8DF7BD46CB6A}"/>
              </a:ext>
            </a:extLst>
          </p:cNvPr>
          <p:cNvSpPr>
            <a:spLocks xmlns:a="http://schemas.openxmlformats.org/drawingml/2006/main" noGrp="1"/>
          </p:cNvSpPr>
          <p:nvPr/>
        </p:nvSpPr>
        <p:spPr>
          <a:xfrm xmlns:a="http://schemas.openxmlformats.org/drawingml/2006/main">
            <a:off x="2679269" y="1676400"/>
            <a:ext cx="2585634" cy="609600"/>
          </a:xfrm>
          <a:prstGeom xmlns:a="http://schemas.openxmlformats.org/drawingml/2006/main" prst="rect">
            <a:avLst/>
          </a:prstGeom>
          <a:solidFill xmlns:a="http://schemas.openxmlformats.org/drawingml/2006/main">
            <a:srgbClr val="17324D"/>
          </a:solidFill>
          <a:ln xmlns:a="http://schemas.openxmlformats.org/drawingml/2006/main" w="9525">
            <a:solidFill>
              <a:srgbClr val="FFFFFF"/>
            </a:solidFill>
            <a:prstDash val="solid"/>
          </a:ln>
        </p:spPr>
      </p:sp>
      <p:sp>
        <p:nvSpPr>
          <p:cNvPr id="8" name="">
            <a:extLst xmlns:a="http://schemas.openxmlformats.org/drawingml/2006/main">
              <a:ext uri="{FF2B5EF4-FFF2-40B4-BE49-F238E27FC236}">
                <a16:creationId xmlns:a16="http://schemas.microsoft.com/office/drawing/2014/main" id="{01DCDB14-FB3B-4A3B-9285-3942EA2E22BE}"/>
              </a:ext>
            </a:extLst>
          </p:cNvPr>
          <p:cNvSpPr>
            <a:spLocks xmlns:a="http://schemas.openxmlformats.org/drawingml/2006/main" noGrp="1"/>
          </p:cNvSpPr>
          <p:nvPr/>
        </p:nvSpPr>
        <p:spPr>
          <a:xfrm xmlns:a="http://schemas.openxmlformats.org/drawingml/2006/main">
            <a:off x="2755469" y="1743075"/>
            <a:ext cx="2433234"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1">
                <a:solidFill>
                  <a:srgbClr val="FFFFFF"/>
                </a:solidFill>
                <a:latin typeface="Arial Unicode MS"/>
                <a:ea typeface="Arial Unicode MS"/>
                <a:cs typeface="Arial Unicode MS"/>
              </a:defRPr>
            </a:pPr>
            <a:r>
              <a:rPr sz="1200" b="1">
                <a:solidFill>
                  <a:srgbClr val="FFFFFF"/>
                </a:solidFill>
                <a:latin typeface="Arial Unicode MS"/>
                <a:ea typeface="Arial Unicode MS"/>
                <a:cs typeface="Arial Unicode MS"/>
              </a:rPr>
              <a:t>Frozen v2</a:t>
            </a:r>
          </a:p>
        </p:txBody>
      </p:sp>
      <p:sp>
        <p:nvSpPr>
          <p:cNvPr id="9" name="">
            <a:extLst xmlns:a="http://schemas.openxmlformats.org/drawingml/2006/main">
              <a:ext uri="{FF2B5EF4-FFF2-40B4-BE49-F238E27FC236}">
                <a16:creationId xmlns:a16="http://schemas.microsoft.com/office/drawing/2014/main" id="{E1805248-6F20-4169-94D3-84188514A2DC}"/>
              </a:ext>
            </a:extLst>
          </p:cNvPr>
          <p:cNvSpPr>
            <a:spLocks xmlns:a="http://schemas.openxmlformats.org/drawingml/2006/main" noGrp="1"/>
          </p:cNvSpPr>
          <p:nvPr/>
        </p:nvSpPr>
        <p:spPr>
          <a:xfrm xmlns:a="http://schemas.openxmlformats.org/drawingml/2006/main">
            <a:off x="5264903" y="1676400"/>
            <a:ext cx="3139698" cy="609600"/>
          </a:xfrm>
          <a:prstGeom xmlns:a="http://schemas.openxmlformats.org/drawingml/2006/main" prst="rect">
            <a:avLst/>
          </a:prstGeom>
          <a:solidFill xmlns:a="http://schemas.openxmlformats.org/drawingml/2006/main">
            <a:srgbClr val="17324D"/>
          </a:solidFill>
          <a:ln xmlns:a="http://schemas.openxmlformats.org/drawingml/2006/main" w="9525">
            <a:solidFill>
              <a:srgbClr val="FFFFFF"/>
            </a:solidFill>
            <a:prstDash val="solid"/>
          </a:ln>
        </p:spPr>
      </p:sp>
      <p:sp>
        <p:nvSpPr>
          <p:cNvPr id="10" name="">
            <a:extLst xmlns:a="http://schemas.openxmlformats.org/drawingml/2006/main">
              <a:ext uri="{FF2B5EF4-FFF2-40B4-BE49-F238E27FC236}">
                <a16:creationId xmlns:a16="http://schemas.microsoft.com/office/drawing/2014/main" id="{6BDFF9FA-97B4-4526-B57B-A236D1159D41}"/>
              </a:ext>
            </a:extLst>
          </p:cNvPr>
          <p:cNvSpPr>
            <a:spLocks xmlns:a="http://schemas.openxmlformats.org/drawingml/2006/main" noGrp="1"/>
          </p:cNvSpPr>
          <p:nvPr/>
        </p:nvSpPr>
        <p:spPr>
          <a:xfrm xmlns:a="http://schemas.openxmlformats.org/drawingml/2006/main">
            <a:off x="5341103" y="1743075"/>
            <a:ext cx="2987298"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1">
                <a:solidFill>
                  <a:srgbClr val="FFFFFF"/>
                </a:solidFill>
                <a:latin typeface="Arial Unicode MS"/>
                <a:ea typeface="Arial Unicode MS"/>
                <a:cs typeface="Arial Unicode MS"/>
              </a:defRPr>
            </a:pPr>
            <a:r>
              <a:rPr sz="1200" b="1">
                <a:solidFill>
                  <a:srgbClr val="FFFFFF"/>
                </a:solidFill>
                <a:latin typeface="Arial Unicode MS"/>
                <a:ea typeface="Arial Unicode MS"/>
                <a:cs typeface="Arial Unicode MS"/>
              </a:rPr>
              <a:t>Random-initial GP-UCB</a:t>
            </a:r>
          </a:p>
        </p:txBody>
      </p:sp>
      <p:sp>
        <p:nvSpPr>
          <p:cNvPr id="11" name="">
            <a:extLst xmlns:a="http://schemas.openxmlformats.org/drawingml/2006/main">
              <a:ext uri="{FF2B5EF4-FFF2-40B4-BE49-F238E27FC236}">
                <a16:creationId xmlns:a16="http://schemas.microsoft.com/office/drawing/2014/main" id="{104B9CAC-4D8E-481E-913D-BDEC3A4BFD6E}"/>
              </a:ext>
            </a:extLst>
          </p:cNvPr>
          <p:cNvSpPr>
            <a:spLocks xmlns:a="http://schemas.openxmlformats.org/drawingml/2006/main" noGrp="1"/>
          </p:cNvSpPr>
          <p:nvPr/>
        </p:nvSpPr>
        <p:spPr>
          <a:xfrm xmlns:a="http://schemas.openxmlformats.org/drawingml/2006/main">
            <a:off x="8404602" y="1676400"/>
            <a:ext cx="3139698" cy="609600"/>
          </a:xfrm>
          <a:prstGeom xmlns:a="http://schemas.openxmlformats.org/drawingml/2006/main" prst="rect">
            <a:avLst/>
          </a:prstGeom>
          <a:solidFill xmlns:a="http://schemas.openxmlformats.org/drawingml/2006/main">
            <a:srgbClr val="17324D"/>
          </a:solidFill>
          <a:ln xmlns:a="http://schemas.openxmlformats.org/drawingml/2006/main" w="9525">
            <a:solidFill>
              <a:srgbClr val="FFFFFF"/>
            </a:solidFill>
            <a:prstDash val="solid"/>
          </a:ln>
        </p:spPr>
      </p:sp>
      <p:sp>
        <p:nvSpPr>
          <p:cNvPr id="12" name="">
            <a:extLst xmlns:a="http://schemas.openxmlformats.org/drawingml/2006/main">
              <a:ext uri="{FF2B5EF4-FFF2-40B4-BE49-F238E27FC236}">
                <a16:creationId xmlns:a16="http://schemas.microsoft.com/office/drawing/2014/main" id="{30824D67-3D75-4648-B8FF-66F90896C05F}"/>
              </a:ext>
            </a:extLst>
          </p:cNvPr>
          <p:cNvSpPr>
            <a:spLocks xmlns:a="http://schemas.openxmlformats.org/drawingml/2006/main" noGrp="1"/>
          </p:cNvSpPr>
          <p:nvPr/>
        </p:nvSpPr>
        <p:spPr>
          <a:xfrm xmlns:a="http://schemas.openxmlformats.org/drawingml/2006/main">
            <a:off x="8480802" y="1743075"/>
            <a:ext cx="2987298"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1">
                <a:solidFill>
                  <a:srgbClr val="FFFFFF"/>
                </a:solidFill>
                <a:latin typeface="Arial Unicode MS"/>
                <a:ea typeface="Arial Unicode MS"/>
                <a:cs typeface="Arial Unicode MS"/>
              </a:defRPr>
            </a:pPr>
            <a:r>
              <a:rPr sz="1200" b="1">
                <a:solidFill>
                  <a:srgbClr val="FFFFFF"/>
                </a:solidFill>
                <a:latin typeface="Arial Unicode MS"/>
                <a:ea typeface="Arial Unicode MS"/>
                <a:cs typeface="Arial Unicode MS"/>
              </a:rPr>
              <a:t>Space filling</a:t>
            </a:r>
          </a:p>
        </p:txBody>
      </p:sp>
      <p:sp>
        <p:nvSpPr>
          <p:cNvPr id="13" name="">
            <a:extLst xmlns:a="http://schemas.openxmlformats.org/drawingml/2006/main">
              <a:ext uri="{FF2B5EF4-FFF2-40B4-BE49-F238E27FC236}">
                <a16:creationId xmlns:a16="http://schemas.microsoft.com/office/drawing/2014/main" id="{9B70F877-151C-42CA-B810-B931370BE963}"/>
              </a:ext>
            </a:extLst>
          </p:cNvPr>
          <p:cNvSpPr>
            <a:spLocks xmlns:a="http://schemas.openxmlformats.org/drawingml/2006/main" noGrp="1"/>
          </p:cNvSpPr>
          <p:nvPr/>
        </p:nvSpPr>
        <p:spPr>
          <a:xfrm xmlns:a="http://schemas.openxmlformats.org/drawingml/2006/main">
            <a:off x="647700" y="2286000"/>
            <a:ext cx="2031569" cy="60960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14" name="">
            <a:extLst xmlns:a="http://schemas.openxmlformats.org/drawingml/2006/main">
              <a:ext uri="{FF2B5EF4-FFF2-40B4-BE49-F238E27FC236}">
                <a16:creationId xmlns:a16="http://schemas.microsoft.com/office/drawing/2014/main" id="{22E2C93E-3286-4504-BA79-58FF809681D4}"/>
              </a:ext>
            </a:extLst>
          </p:cNvPr>
          <p:cNvSpPr>
            <a:spLocks xmlns:a="http://schemas.openxmlformats.org/drawingml/2006/main" noGrp="1"/>
          </p:cNvSpPr>
          <p:nvPr/>
        </p:nvSpPr>
        <p:spPr>
          <a:xfrm xmlns:a="http://schemas.openxmlformats.org/drawingml/2006/main">
            <a:off x="723900" y="2352675"/>
            <a:ext cx="1879169"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1">
                <a:solidFill>
                  <a:srgbClr val="17232E"/>
                </a:solidFill>
                <a:latin typeface="Arial Unicode MS"/>
                <a:ea typeface="Arial Unicode MS"/>
                <a:cs typeface="Arial Unicode MS"/>
              </a:defRPr>
            </a:pPr>
            <a:r>
              <a:rPr sz="1200" b="1">
                <a:solidFill>
                  <a:srgbClr val="17232E"/>
                </a:solidFill>
                <a:latin typeface="Arial Unicode MS"/>
                <a:ea typeface="Arial Unicode MS"/>
                <a:cs typeface="Arial Unicode MS"/>
              </a:rPr>
              <a:t>前三个点</a:t>
            </a:r>
          </a:p>
        </p:txBody>
      </p:sp>
      <p:sp>
        <p:nvSpPr>
          <p:cNvPr id="15" name="">
            <a:extLst xmlns:a="http://schemas.openxmlformats.org/drawingml/2006/main">
              <a:ext uri="{FF2B5EF4-FFF2-40B4-BE49-F238E27FC236}">
                <a16:creationId xmlns:a16="http://schemas.microsoft.com/office/drawing/2014/main" id="{98615372-D5BE-47FC-9548-97B7BE15FAE0}"/>
              </a:ext>
            </a:extLst>
          </p:cNvPr>
          <p:cNvSpPr>
            <a:spLocks xmlns:a="http://schemas.openxmlformats.org/drawingml/2006/main" noGrp="1"/>
          </p:cNvSpPr>
          <p:nvPr/>
        </p:nvSpPr>
        <p:spPr>
          <a:xfrm xmlns:a="http://schemas.openxmlformats.org/drawingml/2006/main">
            <a:off x="2679269" y="2286000"/>
            <a:ext cx="2585634" cy="60960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16" name="">
            <a:extLst xmlns:a="http://schemas.openxmlformats.org/drawingml/2006/main">
              <a:ext uri="{FF2B5EF4-FFF2-40B4-BE49-F238E27FC236}">
                <a16:creationId xmlns:a16="http://schemas.microsoft.com/office/drawing/2014/main" id="{C198CD3C-57B1-40B0-ACDA-16F5CB7ABB04}"/>
              </a:ext>
            </a:extLst>
          </p:cNvPr>
          <p:cNvSpPr>
            <a:spLocks xmlns:a="http://schemas.openxmlformats.org/drawingml/2006/main" noGrp="1"/>
          </p:cNvSpPr>
          <p:nvPr/>
        </p:nvSpPr>
        <p:spPr>
          <a:xfrm xmlns:a="http://schemas.openxmlformats.org/drawingml/2006/main">
            <a:off x="2755469" y="2352675"/>
            <a:ext cx="2433234"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0">
                <a:solidFill>
                  <a:srgbClr val="17232E"/>
                </a:solidFill>
                <a:latin typeface="Arial Unicode MS"/>
                <a:ea typeface="Arial Unicode MS"/>
                <a:cs typeface="Arial Unicode MS"/>
              </a:defRPr>
            </a:pPr>
            <a:r>
              <a:rPr sz="1200" b="0">
                <a:solidFill>
                  <a:srgbClr val="17232E"/>
                </a:solidFill>
                <a:latin typeface="Arial Unicode MS"/>
                <a:ea typeface="Arial Unicode MS"/>
                <a:cs typeface="Arial Unicode MS"/>
              </a:rPr>
              <a:t>source-guided</a:t>
            </a:r>
          </a:p>
        </p:txBody>
      </p:sp>
      <p:sp>
        <p:nvSpPr>
          <p:cNvPr id="17" name="">
            <a:extLst xmlns:a="http://schemas.openxmlformats.org/drawingml/2006/main">
              <a:ext uri="{FF2B5EF4-FFF2-40B4-BE49-F238E27FC236}">
                <a16:creationId xmlns:a16="http://schemas.microsoft.com/office/drawing/2014/main" id="{75D9A1B9-A918-4031-A3A2-D7F2FA08CFE3}"/>
              </a:ext>
            </a:extLst>
          </p:cNvPr>
          <p:cNvSpPr>
            <a:spLocks xmlns:a="http://schemas.openxmlformats.org/drawingml/2006/main" noGrp="1"/>
          </p:cNvSpPr>
          <p:nvPr/>
        </p:nvSpPr>
        <p:spPr>
          <a:xfrm xmlns:a="http://schemas.openxmlformats.org/drawingml/2006/main">
            <a:off x="5264903" y="2286000"/>
            <a:ext cx="3139698" cy="60960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18" name="">
            <a:extLst xmlns:a="http://schemas.openxmlformats.org/drawingml/2006/main">
              <a:ext uri="{FF2B5EF4-FFF2-40B4-BE49-F238E27FC236}">
                <a16:creationId xmlns:a16="http://schemas.microsoft.com/office/drawing/2014/main" id="{AE21E6CF-A613-4A4B-A332-B63FA4945962}"/>
              </a:ext>
            </a:extLst>
          </p:cNvPr>
          <p:cNvSpPr>
            <a:spLocks xmlns:a="http://schemas.openxmlformats.org/drawingml/2006/main" noGrp="1"/>
          </p:cNvSpPr>
          <p:nvPr/>
        </p:nvSpPr>
        <p:spPr>
          <a:xfrm xmlns:a="http://schemas.openxmlformats.org/drawingml/2006/main">
            <a:off x="5341103" y="2352675"/>
            <a:ext cx="2987298"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0">
                <a:solidFill>
                  <a:srgbClr val="17232E"/>
                </a:solidFill>
                <a:latin typeface="Arial Unicode MS"/>
                <a:ea typeface="Arial Unicode MS"/>
                <a:cs typeface="Arial Unicode MS"/>
              </a:defRPr>
            </a:pPr>
            <a:r>
              <a:rPr sz="1200" b="0">
                <a:solidFill>
                  <a:srgbClr val="17232E"/>
                </a:solidFill>
                <a:latin typeface="Arial Unicode MS"/>
                <a:ea typeface="Arial Unicode MS"/>
                <a:cs typeface="Arial Unicode MS"/>
              </a:rPr>
              <a:t>random，100 seeds</a:t>
            </a:r>
          </a:p>
        </p:txBody>
      </p:sp>
      <p:sp>
        <p:nvSpPr>
          <p:cNvPr id="19" name="">
            <a:extLst xmlns:a="http://schemas.openxmlformats.org/drawingml/2006/main">
              <a:ext uri="{FF2B5EF4-FFF2-40B4-BE49-F238E27FC236}">
                <a16:creationId xmlns:a16="http://schemas.microsoft.com/office/drawing/2014/main" id="{599A0F9D-FACD-474C-B534-A72817DC76F8}"/>
              </a:ext>
            </a:extLst>
          </p:cNvPr>
          <p:cNvSpPr>
            <a:spLocks xmlns:a="http://schemas.openxmlformats.org/drawingml/2006/main" noGrp="1"/>
          </p:cNvSpPr>
          <p:nvPr/>
        </p:nvSpPr>
        <p:spPr>
          <a:xfrm xmlns:a="http://schemas.openxmlformats.org/drawingml/2006/main">
            <a:off x="8404602" y="2286000"/>
            <a:ext cx="3139698" cy="60960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20" name="">
            <a:extLst xmlns:a="http://schemas.openxmlformats.org/drawingml/2006/main">
              <a:ext uri="{FF2B5EF4-FFF2-40B4-BE49-F238E27FC236}">
                <a16:creationId xmlns:a16="http://schemas.microsoft.com/office/drawing/2014/main" id="{5F2A03F1-CC96-4861-AFB7-D77590B122C4}"/>
              </a:ext>
            </a:extLst>
          </p:cNvPr>
          <p:cNvSpPr>
            <a:spLocks xmlns:a="http://schemas.openxmlformats.org/drawingml/2006/main" noGrp="1"/>
          </p:cNvSpPr>
          <p:nvPr/>
        </p:nvSpPr>
        <p:spPr>
          <a:xfrm xmlns:a="http://schemas.openxmlformats.org/drawingml/2006/main">
            <a:off x="8480802" y="2352675"/>
            <a:ext cx="2987298"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0">
                <a:solidFill>
                  <a:srgbClr val="17232E"/>
                </a:solidFill>
                <a:latin typeface="Arial Unicode MS"/>
                <a:ea typeface="Arial Unicode MS"/>
                <a:cs typeface="Arial Unicode MS"/>
              </a:defRPr>
            </a:pPr>
            <a:r>
              <a:rPr sz="1200" b="0">
                <a:solidFill>
                  <a:srgbClr val="17232E"/>
                </a:solidFill>
                <a:latin typeface="Arial Unicode MS"/>
                <a:ea typeface="Arial Unicode MS"/>
                <a:cs typeface="Arial Unicode MS"/>
              </a:rPr>
              <a:t>deterministic coverage</a:t>
            </a:r>
          </a:p>
        </p:txBody>
      </p:sp>
      <p:sp>
        <p:nvSpPr>
          <p:cNvPr id="21" name="">
            <a:extLst xmlns:a="http://schemas.openxmlformats.org/drawingml/2006/main">
              <a:ext uri="{FF2B5EF4-FFF2-40B4-BE49-F238E27FC236}">
                <a16:creationId xmlns:a16="http://schemas.microsoft.com/office/drawing/2014/main" id="{EC3CE22B-4908-4CEB-96F2-7B2813B56386}"/>
              </a:ext>
            </a:extLst>
          </p:cNvPr>
          <p:cNvSpPr>
            <a:spLocks xmlns:a="http://schemas.openxmlformats.org/drawingml/2006/main" noGrp="1"/>
          </p:cNvSpPr>
          <p:nvPr/>
        </p:nvSpPr>
        <p:spPr>
          <a:xfrm xmlns:a="http://schemas.openxmlformats.org/drawingml/2006/main">
            <a:off x="647700" y="2895600"/>
            <a:ext cx="2031569" cy="609600"/>
          </a:xfrm>
          <a:prstGeom xmlns:a="http://schemas.openxmlformats.org/drawingml/2006/main" prst="rect">
            <a:avLst/>
          </a:prstGeom>
          <a:solidFill xmlns:a="http://schemas.openxmlformats.org/drawingml/2006/main">
            <a:srgbClr val="F1F4F6"/>
          </a:solidFill>
          <a:ln xmlns:a="http://schemas.openxmlformats.org/drawingml/2006/main" w="9525">
            <a:solidFill>
              <a:srgbClr val="FFFFFF"/>
            </a:solidFill>
            <a:prstDash val="solid"/>
          </a:ln>
        </p:spPr>
      </p:sp>
      <p:sp>
        <p:nvSpPr>
          <p:cNvPr id="22" name="">
            <a:extLst xmlns:a="http://schemas.openxmlformats.org/drawingml/2006/main">
              <a:ext uri="{FF2B5EF4-FFF2-40B4-BE49-F238E27FC236}">
                <a16:creationId xmlns:a16="http://schemas.microsoft.com/office/drawing/2014/main" id="{3D3DF735-2B25-4CAD-BFB5-CBFA0F9A0D3B}"/>
              </a:ext>
            </a:extLst>
          </p:cNvPr>
          <p:cNvSpPr>
            <a:spLocks xmlns:a="http://schemas.openxmlformats.org/drawingml/2006/main" noGrp="1"/>
          </p:cNvSpPr>
          <p:nvPr/>
        </p:nvSpPr>
        <p:spPr>
          <a:xfrm xmlns:a="http://schemas.openxmlformats.org/drawingml/2006/main">
            <a:off x="723900" y="2962275"/>
            <a:ext cx="1879169"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1">
                <a:solidFill>
                  <a:srgbClr val="17232E"/>
                </a:solidFill>
                <a:latin typeface="Arial Unicode MS"/>
                <a:ea typeface="Arial Unicode MS"/>
                <a:cs typeface="Arial Unicode MS"/>
              </a:defRPr>
            </a:pPr>
            <a:r>
              <a:rPr sz="1200" b="1">
                <a:solidFill>
                  <a:srgbClr val="17232E"/>
                </a:solidFill>
                <a:latin typeface="Arial Unicode MS"/>
                <a:ea typeface="Arial Unicode MS"/>
                <a:cs typeface="Arial Unicode MS"/>
              </a:rPr>
              <a:t>后续方法</a:t>
            </a:r>
          </a:p>
        </p:txBody>
      </p:sp>
      <p:sp>
        <p:nvSpPr>
          <p:cNvPr id="23" name="">
            <a:extLst xmlns:a="http://schemas.openxmlformats.org/drawingml/2006/main">
              <a:ext uri="{FF2B5EF4-FFF2-40B4-BE49-F238E27FC236}">
                <a16:creationId xmlns:a16="http://schemas.microsoft.com/office/drawing/2014/main" id="{E9C6588D-ED2D-4F9D-AD6D-977B134447F3}"/>
              </a:ext>
            </a:extLst>
          </p:cNvPr>
          <p:cNvSpPr>
            <a:spLocks xmlns:a="http://schemas.openxmlformats.org/drawingml/2006/main" noGrp="1"/>
          </p:cNvSpPr>
          <p:nvPr/>
        </p:nvSpPr>
        <p:spPr>
          <a:xfrm xmlns:a="http://schemas.openxmlformats.org/drawingml/2006/main">
            <a:off x="2679269" y="2895600"/>
            <a:ext cx="2585634" cy="609600"/>
          </a:xfrm>
          <a:prstGeom xmlns:a="http://schemas.openxmlformats.org/drawingml/2006/main" prst="rect">
            <a:avLst/>
          </a:prstGeom>
          <a:solidFill xmlns:a="http://schemas.openxmlformats.org/drawingml/2006/main">
            <a:srgbClr val="F1F4F6"/>
          </a:solidFill>
          <a:ln xmlns:a="http://schemas.openxmlformats.org/drawingml/2006/main" w="9525">
            <a:solidFill>
              <a:srgbClr val="FFFFFF"/>
            </a:solidFill>
            <a:prstDash val="solid"/>
          </a:ln>
        </p:spPr>
      </p:sp>
      <p:sp>
        <p:nvSpPr>
          <p:cNvPr id="24" name="">
            <a:extLst xmlns:a="http://schemas.openxmlformats.org/drawingml/2006/main">
              <a:ext uri="{FF2B5EF4-FFF2-40B4-BE49-F238E27FC236}">
                <a16:creationId xmlns:a16="http://schemas.microsoft.com/office/drawing/2014/main" id="{030E1337-8018-46E2-A71E-A58286881FCF}"/>
              </a:ext>
            </a:extLst>
          </p:cNvPr>
          <p:cNvSpPr>
            <a:spLocks xmlns:a="http://schemas.openxmlformats.org/drawingml/2006/main" noGrp="1"/>
          </p:cNvSpPr>
          <p:nvPr/>
        </p:nvSpPr>
        <p:spPr>
          <a:xfrm xmlns:a="http://schemas.openxmlformats.org/drawingml/2006/main">
            <a:off x="2755469" y="2962275"/>
            <a:ext cx="2433234"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0">
                <a:solidFill>
                  <a:srgbClr val="17232E"/>
                </a:solidFill>
                <a:latin typeface="Arial Unicode MS"/>
                <a:ea typeface="Arial Unicode MS"/>
                <a:cs typeface="Arial Unicode MS"/>
              </a:defRPr>
            </a:pPr>
            <a:r>
              <a:rPr sz="1200" b="0">
                <a:solidFill>
                  <a:srgbClr val="17232E"/>
                </a:solidFill>
                <a:latin typeface="Arial Unicode MS"/>
                <a:ea typeface="Arial Unicode MS"/>
                <a:cs typeface="Arial Unicode MS"/>
              </a:rPr>
              <a:t>target-only GP-UCB</a:t>
            </a:r>
          </a:p>
        </p:txBody>
      </p:sp>
      <p:sp>
        <p:nvSpPr>
          <p:cNvPr id="25" name="">
            <a:extLst xmlns:a="http://schemas.openxmlformats.org/drawingml/2006/main">
              <a:ext uri="{FF2B5EF4-FFF2-40B4-BE49-F238E27FC236}">
                <a16:creationId xmlns:a16="http://schemas.microsoft.com/office/drawing/2014/main" id="{217B6D74-0AC8-4086-A9C6-8A6F1307594B}"/>
              </a:ext>
            </a:extLst>
          </p:cNvPr>
          <p:cNvSpPr>
            <a:spLocks xmlns:a="http://schemas.openxmlformats.org/drawingml/2006/main" noGrp="1"/>
          </p:cNvSpPr>
          <p:nvPr/>
        </p:nvSpPr>
        <p:spPr>
          <a:xfrm xmlns:a="http://schemas.openxmlformats.org/drawingml/2006/main">
            <a:off x="5264903" y="2895600"/>
            <a:ext cx="3139698" cy="609600"/>
          </a:xfrm>
          <a:prstGeom xmlns:a="http://schemas.openxmlformats.org/drawingml/2006/main" prst="rect">
            <a:avLst/>
          </a:prstGeom>
          <a:solidFill xmlns:a="http://schemas.openxmlformats.org/drawingml/2006/main">
            <a:srgbClr val="F1F4F6"/>
          </a:solidFill>
          <a:ln xmlns:a="http://schemas.openxmlformats.org/drawingml/2006/main" w="9525">
            <a:solidFill>
              <a:srgbClr val="FFFFFF"/>
            </a:solidFill>
            <a:prstDash val="solid"/>
          </a:ln>
        </p:spPr>
      </p:sp>
      <p:sp>
        <p:nvSpPr>
          <p:cNvPr id="26" name="">
            <a:extLst xmlns:a="http://schemas.openxmlformats.org/drawingml/2006/main">
              <a:ext uri="{FF2B5EF4-FFF2-40B4-BE49-F238E27FC236}">
                <a16:creationId xmlns:a16="http://schemas.microsoft.com/office/drawing/2014/main" id="{69C7D2AB-E219-470B-81A1-6A9BE270D403}"/>
              </a:ext>
            </a:extLst>
          </p:cNvPr>
          <p:cNvSpPr>
            <a:spLocks xmlns:a="http://schemas.openxmlformats.org/drawingml/2006/main" noGrp="1"/>
          </p:cNvSpPr>
          <p:nvPr/>
        </p:nvSpPr>
        <p:spPr>
          <a:xfrm xmlns:a="http://schemas.openxmlformats.org/drawingml/2006/main">
            <a:off x="5341103" y="2962275"/>
            <a:ext cx="2987298"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0">
                <a:solidFill>
                  <a:srgbClr val="17232E"/>
                </a:solidFill>
                <a:latin typeface="Arial Unicode MS"/>
                <a:ea typeface="Arial Unicode MS"/>
                <a:cs typeface="Arial Unicode MS"/>
              </a:defRPr>
            </a:pPr>
            <a:r>
              <a:rPr sz="1200" b="0">
                <a:solidFill>
                  <a:srgbClr val="17232E"/>
                </a:solidFill>
                <a:latin typeface="Arial Unicode MS"/>
                <a:ea typeface="Arial Unicode MS"/>
                <a:cs typeface="Arial Unicode MS"/>
              </a:rPr>
              <a:t>target-only GP-UCB</a:t>
            </a:r>
          </a:p>
        </p:txBody>
      </p:sp>
      <p:sp>
        <p:nvSpPr>
          <p:cNvPr id="27" name="">
            <a:extLst xmlns:a="http://schemas.openxmlformats.org/drawingml/2006/main">
              <a:ext uri="{FF2B5EF4-FFF2-40B4-BE49-F238E27FC236}">
                <a16:creationId xmlns:a16="http://schemas.microsoft.com/office/drawing/2014/main" id="{B9F9B597-F622-48FC-B2F0-981D797A368C}"/>
              </a:ext>
            </a:extLst>
          </p:cNvPr>
          <p:cNvSpPr>
            <a:spLocks xmlns:a="http://schemas.openxmlformats.org/drawingml/2006/main" noGrp="1"/>
          </p:cNvSpPr>
          <p:nvPr/>
        </p:nvSpPr>
        <p:spPr>
          <a:xfrm xmlns:a="http://schemas.openxmlformats.org/drawingml/2006/main">
            <a:off x="8404602" y="2895600"/>
            <a:ext cx="3139698" cy="609600"/>
          </a:xfrm>
          <a:prstGeom xmlns:a="http://schemas.openxmlformats.org/drawingml/2006/main" prst="rect">
            <a:avLst/>
          </a:prstGeom>
          <a:solidFill xmlns:a="http://schemas.openxmlformats.org/drawingml/2006/main">
            <a:srgbClr val="F1F4F6"/>
          </a:solidFill>
          <a:ln xmlns:a="http://schemas.openxmlformats.org/drawingml/2006/main" w="9525">
            <a:solidFill>
              <a:srgbClr val="FFFFFF"/>
            </a:solidFill>
            <a:prstDash val="solid"/>
          </a:ln>
        </p:spPr>
      </p:sp>
      <p:sp>
        <p:nvSpPr>
          <p:cNvPr id="28" name="">
            <a:extLst xmlns:a="http://schemas.openxmlformats.org/drawingml/2006/main">
              <a:ext uri="{FF2B5EF4-FFF2-40B4-BE49-F238E27FC236}">
                <a16:creationId xmlns:a16="http://schemas.microsoft.com/office/drawing/2014/main" id="{D91A4022-17CC-4481-9E78-651C1AE6AD21}"/>
              </a:ext>
            </a:extLst>
          </p:cNvPr>
          <p:cNvSpPr>
            <a:spLocks xmlns:a="http://schemas.openxmlformats.org/drawingml/2006/main" noGrp="1"/>
          </p:cNvSpPr>
          <p:nvPr/>
        </p:nvSpPr>
        <p:spPr>
          <a:xfrm xmlns:a="http://schemas.openxmlformats.org/drawingml/2006/main">
            <a:off x="8480802" y="2962275"/>
            <a:ext cx="2987298"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0">
                <a:solidFill>
                  <a:srgbClr val="17232E"/>
                </a:solidFill>
                <a:latin typeface="Arial Unicode MS"/>
                <a:ea typeface="Arial Unicode MS"/>
                <a:cs typeface="Arial Unicode MS"/>
              </a:defRPr>
            </a:pPr>
            <a:r>
              <a:rPr sz="1200" b="0">
                <a:solidFill>
                  <a:srgbClr val="17232E"/>
                </a:solidFill>
                <a:latin typeface="Arial Unicode MS"/>
                <a:ea typeface="Arial Unicode MS"/>
                <a:cs typeface="Arial Unicode MS"/>
              </a:rPr>
              <a:t>target-only GP-UCB</a:t>
            </a:r>
          </a:p>
        </p:txBody>
      </p:sp>
      <p:sp>
        <p:nvSpPr>
          <p:cNvPr id="29" name="">
            <a:extLst xmlns:a="http://schemas.openxmlformats.org/drawingml/2006/main">
              <a:ext uri="{FF2B5EF4-FFF2-40B4-BE49-F238E27FC236}">
                <a16:creationId xmlns:a16="http://schemas.microsoft.com/office/drawing/2014/main" id="{5BC3A096-F389-440D-B5DD-8F35A90A31F8}"/>
              </a:ext>
            </a:extLst>
          </p:cNvPr>
          <p:cNvSpPr>
            <a:spLocks xmlns:a="http://schemas.openxmlformats.org/drawingml/2006/main" noGrp="1"/>
          </p:cNvSpPr>
          <p:nvPr/>
        </p:nvSpPr>
        <p:spPr>
          <a:xfrm xmlns:a="http://schemas.openxmlformats.org/drawingml/2006/main">
            <a:off x="647700" y="3505200"/>
            <a:ext cx="2031569" cy="60960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30" name="">
            <a:extLst xmlns:a="http://schemas.openxmlformats.org/drawingml/2006/main">
              <a:ext uri="{FF2B5EF4-FFF2-40B4-BE49-F238E27FC236}">
                <a16:creationId xmlns:a16="http://schemas.microsoft.com/office/drawing/2014/main" id="{9CC02765-E9D4-4606-8A6F-1F2A91906D8D}"/>
              </a:ext>
            </a:extLst>
          </p:cNvPr>
          <p:cNvSpPr>
            <a:spLocks xmlns:a="http://schemas.openxmlformats.org/drawingml/2006/main" noGrp="1"/>
          </p:cNvSpPr>
          <p:nvPr/>
        </p:nvSpPr>
        <p:spPr>
          <a:xfrm xmlns:a="http://schemas.openxmlformats.org/drawingml/2006/main">
            <a:off x="723900" y="3571875"/>
            <a:ext cx="1879169"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1">
                <a:solidFill>
                  <a:srgbClr val="17232E"/>
                </a:solidFill>
                <a:latin typeface="Arial Unicode MS"/>
                <a:ea typeface="Arial Unicode MS"/>
                <a:cs typeface="Arial Unicode MS"/>
              </a:defRPr>
            </a:pPr>
            <a:r>
              <a:rPr sz="1200" b="1">
                <a:solidFill>
                  <a:srgbClr val="17232E"/>
                </a:solidFill>
                <a:latin typeface="Arial Unicode MS"/>
                <a:ea typeface="Arial Unicode MS"/>
                <a:cs typeface="Arial Unicode MS"/>
              </a:rPr>
              <a:t>后续 reveal</a:t>
            </a:r>
          </a:p>
        </p:txBody>
      </p:sp>
      <p:sp>
        <p:nvSpPr>
          <p:cNvPr id="31" name="">
            <a:extLst xmlns:a="http://schemas.openxmlformats.org/drawingml/2006/main">
              <a:ext uri="{FF2B5EF4-FFF2-40B4-BE49-F238E27FC236}">
                <a16:creationId xmlns:a16="http://schemas.microsoft.com/office/drawing/2014/main" id="{EA91EB90-7F26-40C8-A066-8426E6AE5149}"/>
              </a:ext>
            </a:extLst>
          </p:cNvPr>
          <p:cNvSpPr>
            <a:spLocks xmlns:a="http://schemas.openxmlformats.org/drawingml/2006/main" noGrp="1"/>
          </p:cNvSpPr>
          <p:nvPr/>
        </p:nvSpPr>
        <p:spPr>
          <a:xfrm xmlns:a="http://schemas.openxmlformats.org/drawingml/2006/main">
            <a:off x="2679269" y="3505200"/>
            <a:ext cx="2585634" cy="60960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32" name="">
            <a:extLst xmlns:a="http://schemas.openxmlformats.org/drawingml/2006/main">
              <a:ext uri="{FF2B5EF4-FFF2-40B4-BE49-F238E27FC236}">
                <a16:creationId xmlns:a16="http://schemas.microsoft.com/office/drawing/2014/main" id="{FF8FCEA6-9BC5-41E0-B36F-6130ABC0D811}"/>
              </a:ext>
            </a:extLst>
          </p:cNvPr>
          <p:cNvSpPr>
            <a:spLocks xmlns:a="http://schemas.openxmlformats.org/drawingml/2006/main" noGrp="1"/>
          </p:cNvSpPr>
          <p:nvPr/>
        </p:nvSpPr>
        <p:spPr>
          <a:xfrm xmlns:a="http://schemas.openxmlformats.org/drawingml/2006/main">
            <a:off x="2755469" y="3571875"/>
            <a:ext cx="2433234"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0">
                <a:solidFill>
                  <a:srgbClr val="17232E"/>
                </a:solidFill>
                <a:latin typeface="Arial Unicode MS"/>
                <a:ea typeface="Arial Unicode MS"/>
                <a:cs typeface="Arial Unicode MS"/>
              </a:defRPr>
            </a:pPr>
            <a:r>
              <a:rPr sz="1200" b="0">
                <a:solidFill>
                  <a:srgbClr val="17232E"/>
                </a:solidFill>
                <a:latin typeface="Arial Unicode MS"/>
                <a:ea typeface="Arial Unicode MS"/>
                <a:cs typeface="Arial Unicode MS"/>
              </a:rPr>
              <a:t>10</a:t>
            </a:r>
          </a:p>
        </p:txBody>
      </p:sp>
      <p:sp>
        <p:nvSpPr>
          <p:cNvPr id="33" name="">
            <a:extLst xmlns:a="http://schemas.openxmlformats.org/drawingml/2006/main">
              <a:ext uri="{FF2B5EF4-FFF2-40B4-BE49-F238E27FC236}">
                <a16:creationId xmlns:a16="http://schemas.microsoft.com/office/drawing/2014/main" id="{31207D56-235B-4DC4-BD72-669653727F80}"/>
              </a:ext>
            </a:extLst>
          </p:cNvPr>
          <p:cNvSpPr>
            <a:spLocks xmlns:a="http://schemas.openxmlformats.org/drawingml/2006/main" noGrp="1"/>
          </p:cNvSpPr>
          <p:nvPr/>
        </p:nvSpPr>
        <p:spPr>
          <a:xfrm xmlns:a="http://schemas.openxmlformats.org/drawingml/2006/main">
            <a:off x="5264903" y="3505200"/>
            <a:ext cx="3139698" cy="60960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34" name="">
            <a:extLst xmlns:a="http://schemas.openxmlformats.org/drawingml/2006/main">
              <a:ext uri="{FF2B5EF4-FFF2-40B4-BE49-F238E27FC236}">
                <a16:creationId xmlns:a16="http://schemas.microsoft.com/office/drawing/2014/main" id="{4167FD84-D826-4BD6-8E26-FE5C06E127DD}"/>
              </a:ext>
            </a:extLst>
          </p:cNvPr>
          <p:cNvSpPr>
            <a:spLocks xmlns:a="http://schemas.openxmlformats.org/drawingml/2006/main" noGrp="1"/>
          </p:cNvSpPr>
          <p:nvPr/>
        </p:nvSpPr>
        <p:spPr>
          <a:xfrm xmlns:a="http://schemas.openxmlformats.org/drawingml/2006/main">
            <a:off x="5341103" y="3571875"/>
            <a:ext cx="2987298"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0">
                <a:solidFill>
                  <a:srgbClr val="17232E"/>
                </a:solidFill>
                <a:latin typeface="Arial Unicode MS"/>
                <a:ea typeface="Arial Unicode MS"/>
                <a:cs typeface="Arial Unicode MS"/>
              </a:defRPr>
            </a:pPr>
            <a:r>
              <a:rPr sz="1200" b="0">
                <a:solidFill>
                  <a:srgbClr val="17232E"/>
                </a:solidFill>
                <a:latin typeface="Arial Unicode MS"/>
                <a:ea typeface="Arial Unicode MS"/>
                <a:cs typeface="Arial Unicode MS"/>
              </a:rPr>
              <a:t>10</a:t>
            </a:r>
          </a:p>
        </p:txBody>
      </p:sp>
      <p:sp>
        <p:nvSpPr>
          <p:cNvPr id="35" name="">
            <a:extLst xmlns:a="http://schemas.openxmlformats.org/drawingml/2006/main">
              <a:ext uri="{FF2B5EF4-FFF2-40B4-BE49-F238E27FC236}">
                <a16:creationId xmlns:a16="http://schemas.microsoft.com/office/drawing/2014/main" id="{69038C9A-1726-4277-BB9C-B9F7DBC37B5A}"/>
              </a:ext>
            </a:extLst>
          </p:cNvPr>
          <p:cNvSpPr>
            <a:spLocks xmlns:a="http://schemas.openxmlformats.org/drawingml/2006/main" noGrp="1"/>
          </p:cNvSpPr>
          <p:nvPr/>
        </p:nvSpPr>
        <p:spPr>
          <a:xfrm xmlns:a="http://schemas.openxmlformats.org/drawingml/2006/main">
            <a:off x="8404602" y="3505200"/>
            <a:ext cx="3139698" cy="60960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36" name="">
            <a:extLst xmlns:a="http://schemas.openxmlformats.org/drawingml/2006/main">
              <a:ext uri="{FF2B5EF4-FFF2-40B4-BE49-F238E27FC236}">
                <a16:creationId xmlns:a16="http://schemas.microsoft.com/office/drawing/2014/main" id="{DEBEEB33-B3BA-4DC0-9272-056248F2A45F}"/>
              </a:ext>
            </a:extLst>
          </p:cNvPr>
          <p:cNvSpPr>
            <a:spLocks xmlns:a="http://schemas.openxmlformats.org/drawingml/2006/main" noGrp="1"/>
          </p:cNvSpPr>
          <p:nvPr/>
        </p:nvSpPr>
        <p:spPr>
          <a:xfrm xmlns:a="http://schemas.openxmlformats.org/drawingml/2006/main">
            <a:off x="8480802" y="3571875"/>
            <a:ext cx="2987298"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0">
                <a:solidFill>
                  <a:srgbClr val="17232E"/>
                </a:solidFill>
                <a:latin typeface="Arial Unicode MS"/>
                <a:ea typeface="Arial Unicode MS"/>
                <a:cs typeface="Arial Unicode MS"/>
              </a:defRPr>
            </a:pPr>
            <a:r>
              <a:rPr sz="1200" b="0">
                <a:solidFill>
                  <a:srgbClr val="17232E"/>
                </a:solidFill>
                <a:latin typeface="Arial Unicode MS"/>
                <a:ea typeface="Arial Unicode MS"/>
                <a:cs typeface="Arial Unicode MS"/>
              </a:rPr>
              <a:t>10</a:t>
            </a:r>
          </a:p>
        </p:txBody>
      </p:sp>
      <p:sp>
        <p:nvSpPr>
          <p:cNvPr id="37" name="">
            <a:extLst xmlns:a="http://schemas.openxmlformats.org/drawingml/2006/main">
              <a:ext uri="{FF2B5EF4-FFF2-40B4-BE49-F238E27FC236}">
                <a16:creationId xmlns:a16="http://schemas.microsoft.com/office/drawing/2014/main" id="{84B3ED08-4A1B-4DDC-B809-486597B91084}"/>
              </a:ext>
            </a:extLst>
          </p:cNvPr>
          <p:cNvSpPr>
            <a:spLocks xmlns:a="http://schemas.openxmlformats.org/drawingml/2006/main" noGrp="1"/>
          </p:cNvSpPr>
          <p:nvPr/>
        </p:nvSpPr>
        <p:spPr>
          <a:xfrm xmlns:a="http://schemas.openxmlformats.org/drawingml/2006/main">
            <a:off x="647700" y="4114800"/>
            <a:ext cx="2031569" cy="609600"/>
          </a:xfrm>
          <a:prstGeom xmlns:a="http://schemas.openxmlformats.org/drawingml/2006/main" prst="rect">
            <a:avLst/>
          </a:prstGeom>
          <a:solidFill xmlns:a="http://schemas.openxmlformats.org/drawingml/2006/main">
            <a:srgbClr val="F1F4F6"/>
          </a:solidFill>
          <a:ln xmlns:a="http://schemas.openxmlformats.org/drawingml/2006/main" w="9525">
            <a:solidFill>
              <a:srgbClr val="FFFFFF"/>
            </a:solidFill>
            <a:prstDash val="solid"/>
          </a:ln>
        </p:spPr>
      </p:sp>
      <p:sp>
        <p:nvSpPr>
          <p:cNvPr id="38" name="">
            <a:extLst xmlns:a="http://schemas.openxmlformats.org/drawingml/2006/main">
              <a:ext uri="{FF2B5EF4-FFF2-40B4-BE49-F238E27FC236}">
                <a16:creationId xmlns:a16="http://schemas.microsoft.com/office/drawing/2014/main" id="{1246DDB4-738C-40B8-AB7F-E2189AE2EC73}"/>
              </a:ext>
            </a:extLst>
          </p:cNvPr>
          <p:cNvSpPr>
            <a:spLocks xmlns:a="http://schemas.openxmlformats.org/drawingml/2006/main" noGrp="1"/>
          </p:cNvSpPr>
          <p:nvPr/>
        </p:nvSpPr>
        <p:spPr>
          <a:xfrm xmlns:a="http://schemas.openxmlformats.org/drawingml/2006/main">
            <a:off x="723900" y="4181475"/>
            <a:ext cx="1879169"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1">
                <a:solidFill>
                  <a:srgbClr val="17232E"/>
                </a:solidFill>
                <a:latin typeface="Arial Unicode MS"/>
                <a:ea typeface="Arial Unicode MS"/>
                <a:cs typeface="Arial Unicode MS"/>
              </a:defRPr>
            </a:pPr>
            <a:r>
              <a:rPr sz="1200" b="1">
                <a:solidFill>
                  <a:srgbClr val="17232E"/>
                </a:solidFill>
                <a:latin typeface="Arial Unicode MS"/>
                <a:ea typeface="Arial Unicode MS"/>
                <a:cs typeface="Arial Unicode MS"/>
              </a:rPr>
              <a:t>预读 target outcome</a:t>
            </a:r>
          </a:p>
        </p:txBody>
      </p:sp>
      <p:sp>
        <p:nvSpPr>
          <p:cNvPr id="39" name="">
            <a:extLst xmlns:a="http://schemas.openxmlformats.org/drawingml/2006/main">
              <a:ext uri="{FF2B5EF4-FFF2-40B4-BE49-F238E27FC236}">
                <a16:creationId xmlns:a16="http://schemas.microsoft.com/office/drawing/2014/main" id="{E7D57FB7-F5E3-403F-BF2A-DF30500997D3}"/>
              </a:ext>
            </a:extLst>
          </p:cNvPr>
          <p:cNvSpPr>
            <a:spLocks xmlns:a="http://schemas.openxmlformats.org/drawingml/2006/main" noGrp="1"/>
          </p:cNvSpPr>
          <p:nvPr/>
        </p:nvSpPr>
        <p:spPr>
          <a:xfrm xmlns:a="http://schemas.openxmlformats.org/drawingml/2006/main">
            <a:off x="2679269" y="4114800"/>
            <a:ext cx="2585634" cy="609600"/>
          </a:xfrm>
          <a:prstGeom xmlns:a="http://schemas.openxmlformats.org/drawingml/2006/main" prst="rect">
            <a:avLst/>
          </a:prstGeom>
          <a:solidFill xmlns:a="http://schemas.openxmlformats.org/drawingml/2006/main">
            <a:srgbClr val="F1F4F6"/>
          </a:solidFill>
          <a:ln xmlns:a="http://schemas.openxmlformats.org/drawingml/2006/main" w="9525">
            <a:solidFill>
              <a:srgbClr val="FFFFFF"/>
            </a:solidFill>
            <a:prstDash val="solid"/>
          </a:ln>
        </p:spPr>
      </p:sp>
      <p:sp>
        <p:nvSpPr>
          <p:cNvPr id="40" name="">
            <a:extLst xmlns:a="http://schemas.openxmlformats.org/drawingml/2006/main">
              <a:ext uri="{FF2B5EF4-FFF2-40B4-BE49-F238E27FC236}">
                <a16:creationId xmlns:a16="http://schemas.microsoft.com/office/drawing/2014/main" id="{7217C407-99C5-4B0A-9F08-EC5B2F2DD377}"/>
              </a:ext>
            </a:extLst>
          </p:cNvPr>
          <p:cNvSpPr>
            <a:spLocks xmlns:a="http://schemas.openxmlformats.org/drawingml/2006/main" noGrp="1"/>
          </p:cNvSpPr>
          <p:nvPr/>
        </p:nvSpPr>
        <p:spPr>
          <a:xfrm xmlns:a="http://schemas.openxmlformats.org/drawingml/2006/main">
            <a:off x="2755469" y="4181475"/>
            <a:ext cx="2433234"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0">
                <a:solidFill>
                  <a:srgbClr val="17232E"/>
                </a:solidFill>
                <a:latin typeface="Arial Unicode MS"/>
                <a:ea typeface="Arial Unicode MS"/>
                <a:cs typeface="Arial Unicode MS"/>
              </a:defRPr>
            </a:pPr>
            <a:r>
              <a:rPr sz="1200" b="0">
                <a:solidFill>
                  <a:srgbClr val="17232E"/>
                </a:solidFill>
                <a:latin typeface="Arial Unicode MS"/>
                <a:ea typeface="Arial Unicode MS"/>
                <a:cs typeface="Arial Unicode MS"/>
              </a:rPr>
              <a:t>否</a:t>
            </a:r>
          </a:p>
        </p:txBody>
      </p:sp>
      <p:sp>
        <p:nvSpPr>
          <p:cNvPr id="41" name="">
            <a:extLst xmlns:a="http://schemas.openxmlformats.org/drawingml/2006/main">
              <a:ext uri="{FF2B5EF4-FFF2-40B4-BE49-F238E27FC236}">
                <a16:creationId xmlns:a16="http://schemas.microsoft.com/office/drawing/2014/main" id="{80909018-1B41-4E4F-A13E-259DC7371F62}"/>
              </a:ext>
            </a:extLst>
          </p:cNvPr>
          <p:cNvSpPr>
            <a:spLocks xmlns:a="http://schemas.openxmlformats.org/drawingml/2006/main" noGrp="1"/>
          </p:cNvSpPr>
          <p:nvPr/>
        </p:nvSpPr>
        <p:spPr>
          <a:xfrm xmlns:a="http://schemas.openxmlformats.org/drawingml/2006/main">
            <a:off x="5264903" y="4114800"/>
            <a:ext cx="3139698" cy="609600"/>
          </a:xfrm>
          <a:prstGeom xmlns:a="http://schemas.openxmlformats.org/drawingml/2006/main" prst="rect">
            <a:avLst/>
          </a:prstGeom>
          <a:solidFill xmlns:a="http://schemas.openxmlformats.org/drawingml/2006/main">
            <a:srgbClr val="F1F4F6"/>
          </a:solidFill>
          <a:ln xmlns:a="http://schemas.openxmlformats.org/drawingml/2006/main" w="9525">
            <a:solidFill>
              <a:srgbClr val="FFFFFF"/>
            </a:solidFill>
            <a:prstDash val="solid"/>
          </a:ln>
        </p:spPr>
      </p:sp>
      <p:sp>
        <p:nvSpPr>
          <p:cNvPr id="42" name="">
            <a:extLst xmlns:a="http://schemas.openxmlformats.org/drawingml/2006/main">
              <a:ext uri="{FF2B5EF4-FFF2-40B4-BE49-F238E27FC236}">
                <a16:creationId xmlns:a16="http://schemas.microsoft.com/office/drawing/2014/main" id="{3B4BDE67-E2D1-4289-83BF-17C7AA366293}"/>
              </a:ext>
            </a:extLst>
          </p:cNvPr>
          <p:cNvSpPr>
            <a:spLocks xmlns:a="http://schemas.openxmlformats.org/drawingml/2006/main" noGrp="1"/>
          </p:cNvSpPr>
          <p:nvPr/>
        </p:nvSpPr>
        <p:spPr>
          <a:xfrm xmlns:a="http://schemas.openxmlformats.org/drawingml/2006/main">
            <a:off x="5341103" y="4181475"/>
            <a:ext cx="2987298"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0">
                <a:solidFill>
                  <a:srgbClr val="17232E"/>
                </a:solidFill>
                <a:latin typeface="Arial Unicode MS"/>
                <a:ea typeface="Arial Unicode MS"/>
                <a:cs typeface="Arial Unicode MS"/>
              </a:defRPr>
            </a:pPr>
            <a:r>
              <a:rPr sz="1200" b="0">
                <a:solidFill>
                  <a:srgbClr val="17232E"/>
                </a:solidFill>
                <a:latin typeface="Arial Unicode MS"/>
                <a:ea typeface="Arial Unicode MS"/>
                <a:cs typeface="Arial Unicode MS"/>
              </a:rPr>
              <a:t>否</a:t>
            </a:r>
          </a:p>
        </p:txBody>
      </p:sp>
      <p:sp>
        <p:nvSpPr>
          <p:cNvPr id="43" name="">
            <a:extLst xmlns:a="http://schemas.openxmlformats.org/drawingml/2006/main">
              <a:ext uri="{FF2B5EF4-FFF2-40B4-BE49-F238E27FC236}">
                <a16:creationId xmlns:a16="http://schemas.microsoft.com/office/drawing/2014/main" id="{98180E96-15B8-46E4-B083-4C4F4D947AEC}"/>
              </a:ext>
            </a:extLst>
          </p:cNvPr>
          <p:cNvSpPr>
            <a:spLocks xmlns:a="http://schemas.openxmlformats.org/drawingml/2006/main" noGrp="1"/>
          </p:cNvSpPr>
          <p:nvPr/>
        </p:nvSpPr>
        <p:spPr>
          <a:xfrm xmlns:a="http://schemas.openxmlformats.org/drawingml/2006/main">
            <a:off x="8404602" y="4114800"/>
            <a:ext cx="3139698" cy="609600"/>
          </a:xfrm>
          <a:prstGeom xmlns:a="http://schemas.openxmlformats.org/drawingml/2006/main" prst="rect">
            <a:avLst/>
          </a:prstGeom>
          <a:solidFill xmlns:a="http://schemas.openxmlformats.org/drawingml/2006/main">
            <a:srgbClr val="F1F4F6"/>
          </a:solidFill>
          <a:ln xmlns:a="http://schemas.openxmlformats.org/drawingml/2006/main" w="9525">
            <a:solidFill>
              <a:srgbClr val="FFFFFF"/>
            </a:solidFill>
            <a:prstDash val="solid"/>
          </a:ln>
        </p:spPr>
      </p:sp>
      <p:sp>
        <p:nvSpPr>
          <p:cNvPr id="44" name="">
            <a:extLst xmlns:a="http://schemas.openxmlformats.org/drawingml/2006/main">
              <a:ext uri="{FF2B5EF4-FFF2-40B4-BE49-F238E27FC236}">
                <a16:creationId xmlns:a16="http://schemas.microsoft.com/office/drawing/2014/main" id="{26725C9A-E67B-41CC-8DF9-8EC9F98E89EC}"/>
              </a:ext>
            </a:extLst>
          </p:cNvPr>
          <p:cNvSpPr>
            <a:spLocks xmlns:a="http://schemas.openxmlformats.org/drawingml/2006/main" noGrp="1"/>
          </p:cNvSpPr>
          <p:nvPr/>
        </p:nvSpPr>
        <p:spPr>
          <a:xfrm xmlns:a="http://schemas.openxmlformats.org/drawingml/2006/main">
            <a:off x="8480802" y="4181475"/>
            <a:ext cx="2987298"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0">
                <a:solidFill>
                  <a:srgbClr val="17232E"/>
                </a:solidFill>
                <a:latin typeface="Arial Unicode MS"/>
                <a:ea typeface="Arial Unicode MS"/>
                <a:cs typeface="Arial Unicode MS"/>
              </a:defRPr>
            </a:pPr>
            <a:r>
              <a:rPr sz="1200" b="0">
                <a:solidFill>
                  <a:srgbClr val="17232E"/>
                </a:solidFill>
                <a:latin typeface="Arial Unicode MS"/>
                <a:ea typeface="Arial Unicode MS"/>
                <a:cs typeface="Arial Unicode MS"/>
              </a:rPr>
              <a:t>否</a:t>
            </a:r>
          </a:p>
        </p:txBody>
      </p:sp>
      <p:sp>
        <p:nvSpPr>
          <p:cNvPr id="45" name="">
            <a:extLst xmlns:a="http://schemas.openxmlformats.org/drawingml/2006/main">
              <a:ext uri="{FF2B5EF4-FFF2-40B4-BE49-F238E27FC236}">
                <a16:creationId xmlns:a16="http://schemas.microsoft.com/office/drawing/2014/main" id="{B751D985-8D00-472F-98AA-8F321BE97844}"/>
              </a:ext>
            </a:extLst>
          </p:cNvPr>
          <p:cNvSpPr>
            <a:spLocks xmlns:a="http://schemas.openxmlformats.org/drawingml/2006/main" noGrp="1"/>
          </p:cNvSpPr>
          <p:nvPr/>
        </p:nvSpPr>
        <p:spPr>
          <a:xfrm xmlns:a="http://schemas.openxmlformats.org/drawingml/2006/main">
            <a:off x="647700" y="4724400"/>
            <a:ext cx="2031569" cy="60960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46" name="">
            <a:extLst xmlns:a="http://schemas.openxmlformats.org/drawingml/2006/main">
              <a:ext uri="{FF2B5EF4-FFF2-40B4-BE49-F238E27FC236}">
                <a16:creationId xmlns:a16="http://schemas.microsoft.com/office/drawing/2014/main" id="{FDC829FE-74F1-4D98-94C1-A5A50C40B832}"/>
              </a:ext>
            </a:extLst>
          </p:cNvPr>
          <p:cNvSpPr>
            <a:spLocks xmlns:a="http://schemas.openxmlformats.org/drawingml/2006/main" noGrp="1"/>
          </p:cNvSpPr>
          <p:nvPr/>
        </p:nvSpPr>
        <p:spPr>
          <a:xfrm xmlns:a="http://schemas.openxmlformats.org/drawingml/2006/main">
            <a:off x="723900" y="4791075"/>
            <a:ext cx="1879169"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1">
                <a:solidFill>
                  <a:srgbClr val="17232E"/>
                </a:solidFill>
                <a:latin typeface="Arial Unicode MS"/>
                <a:ea typeface="Arial Unicode MS"/>
                <a:cs typeface="Arial Unicode MS"/>
              </a:defRPr>
            </a:pPr>
            <a:r>
              <a:rPr sz="1200" b="1">
                <a:solidFill>
                  <a:srgbClr val="17232E"/>
                </a:solidFill>
                <a:latin typeface="Arial Unicode MS"/>
                <a:ea typeface="Arial Unicode MS"/>
                <a:cs typeface="Arial Unicode MS"/>
              </a:rPr>
              <a:t>比较口径</a:t>
            </a:r>
          </a:p>
        </p:txBody>
      </p:sp>
      <p:sp>
        <p:nvSpPr>
          <p:cNvPr id="47" name="">
            <a:extLst xmlns:a="http://schemas.openxmlformats.org/drawingml/2006/main">
              <a:ext uri="{FF2B5EF4-FFF2-40B4-BE49-F238E27FC236}">
                <a16:creationId xmlns:a16="http://schemas.microsoft.com/office/drawing/2014/main" id="{DEC1B3BF-DF63-48C0-A9B3-9D31AA31E4DC}"/>
              </a:ext>
            </a:extLst>
          </p:cNvPr>
          <p:cNvSpPr>
            <a:spLocks xmlns:a="http://schemas.openxmlformats.org/drawingml/2006/main" noGrp="1"/>
          </p:cNvSpPr>
          <p:nvPr/>
        </p:nvSpPr>
        <p:spPr>
          <a:xfrm xmlns:a="http://schemas.openxmlformats.org/drawingml/2006/main">
            <a:off x="2679269" y="4724400"/>
            <a:ext cx="2585634" cy="60960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48" name="">
            <a:extLst xmlns:a="http://schemas.openxmlformats.org/drawingml/2006/main">
              <a:ext uri="{FF2B5EF4-FFF2-40B4-BE49-F238E27FC236}">
                <a16:creationId xmlns:a16="http://schemas.microsoft.com/office/drawing/2014/main" id="{52E3247F-4107-425F-AF07-12B991B14257}"/>
              </a:ext>
            </a:extLst>
          </p:cNvPr>
          <p:cNvSpPr>
            <a:spLocks xmlns:a="http://schemas.openxmlformats.org/drawingml/2006/main" noGrp="1"/>
          </p:cNvSpPr>
          <p:nvPr/>
        </p:nvSpPr>
        <p:spPr>
          <a:xfrm xmlns:a="http://schemas.openxmlformats.org/drawingml/2006/main">
            <a:off x="2755469" y="4791075"/>
            <a:ext cx="2433234"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0">
                <a:solidFill>
                  <a:srgbClr val="17232E"/>
                </a:solidFill>
                <a:latin typeface="Arial Unicode MS"/>
                <a:ea typeface="Arial Unicode MS"/>
                <a:cs typeface="Arial Unicode MS"/>
              </a:defRPr>
            </a:pPr>
            <a:r>
              <a:rPr sz="1200" b="0">
                <a:solidFill>
                  <a:srgbClr val="17232E"/>
                </a:solidFill>
                <a:latin typeface="Arial Unicode MS"/>
                <a:ea typeface="Arial Unicode MS"/>
                <a:cs typeface="Arial Unicode MS"/>
              </a:rPr>
              <a:t>相对逐 campaign stronger baseline</a:t>
            </a:r>
          </a:p>
        </p:txBody>
      </p:sp>
      <p:sp>
        <p:nvSpPr>
          <p:cNvPr id="49" name="">
            <a:extLst xmlns:a="http://schemas.openxmlformats.org/drawingml/2006/main">
              <a:ext uri="{FF2B5EF4-FFF2-40B4-BE49-F238E27FC236}">
                <a16:creationId xmlns:a16="http://schemas.microsoft.com/office/drawing/2014/main" id="{3E394A73-855E-4B13-89E6-2B91E202B964}"/>
              </a:ext>
            </a:extLst>
          </p:cNvPr>
          <p:cNvSpPr>
            <a:spLocks xmlns:a="http://schemas.openxmlformats.org/drawingml/2006/main" noGrp="1"/>
          </p:cNvSpPr>
          <p:nvPr/>
        </p:nvSpPr>
        <p:spPr>
          <a:xfrm xmlns:a="http://schemas.openxmlformats.org/drawingml/2006/main">
            <a:off x="5264903" y="4724400"/>
            <a:ext cx="3139698" cy="60960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50" name="">
            <a:extLst xmlns:a="http://schemas.openxmlformats.org/drawingml/2006/main">
              <a:ext uri="{FF2B5EF4-FFF2-40B4-BE49-F238E27FC236}">
                <a16:creationId xmlns:a16="http://schemas.microsoft.com/office/drawing/2014/main" id="{F2072DC5-66A2-4ED5-B4E5-2709A5CF4DCC}"/>
              </a:ext>
            </a:extLst>
          </p:cNvPr>
          <p:cNvSpPr>
            <a:spLocks xmlns:a="http://schemas.openxmlformats.org/drawingml/2006/main" noGrp="1"/>
          </p:cNvSpPr>
          <p:nvPr/>
        </p:nvSpPr>
        <p:spPr>
          <a:xfrm xmlns:a="http://schemas.openxmlformats.org/drawingml/2006/main">
            <a:off x="5341103" y="4791075"/>
            <a:ext cx="2987298"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0">
                <a:solidFill>
                  <a:srgbClr val="17232E"/>
                </a:solidFill>
                <a:latin typeface="Arial Unicode MS"/>
                <a:ea typeface="Arial Unicode MS"/>
                <a:cs typeface="Arial Unicode MS"/>
              </a:defRPr>
            </a:pPr>
            <a:r>
              <a:rPr sz="1200" b="0">
                <a:solidFill>
                  <a:srgbClr val="17232E"/>
                </a:solidFill>
                <a:latin typeface="Arial Unicode MS"/>
                <a:ea typeface="Arial Unicode MS"/>
                <a:cs typeface="Arial Unicode MS"/>
              </a:rPr>
              <a:t>候选 baseline 1</a:t>
            </a:r>
          </a:p>
        </p:txBody>
      </p:sp>
      <p:sp>
        <p:nvSpPr>
          <p:cNvPr id="51" name="">
            <a:extLst xmlns:a="http://schemas.openxmlformats.org/drawingml/2006/main">
              <a:ext uri="{FF2B5EF4-FFF2-40B4-BE49-F238E27FC236}">
                <a16:creationId xmlns:a16="http://schemas.microsoft.com/office/drawing/2014/main" id="{56E272C1-EFD4-4BCE-9D62-C38F3399FA0D}"/>
              </a:ext>
            </a:extLst>
          </p:cNvPr>
          <p:cNvSpPr>
            <a:spLocks xmlns:a="http://schemas.openxmlformats.org/drawingml/2006/main" noGrp="1"/>
          </p:cNvSpPr>
          <p:nvPr/>
        </p:nvSpPr>
        <p:spPr>
          <a:xfrm xmlns:a="http://schemas.openxmlformats.org/drawingml/2006/main">
            <a:off x="8404602" y="4724400"/>
            <a:ext cx="3139698" cy="60960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52" name="">
            <a:extLst xmlns:a="http://schemas.openxmlformats.org/drawingml/2006/main">
              <a:ext uri="{FF2B5EF4-FFF2-40B4-BE49-F238E27FC236}">
                <a16:creationId xmlns:a16="http://schemas.microsoft.com/office/drawing/2014/main" id="{B895B5A4-74C6-4F85-A092-B507B565246C}"/>
              </a:ext>
            </a:extLst>
          </p:cNvPr>
          <p:cNvSpPr>
            <a:spLocks xmlns:a="http://schemas.openxmlformats.org/drawingml/2006/main" noGrp="1"/>
          </p:cNvSpPr>
          <p:nvPr/>
        </p:nvSpPr>
        <p:spPr>
          <a:xfrm xmlns:a="http://schemas.openxmlformats.org/drawingml/2006/main">
            <a:off x="8480802" y="4791075"/>
            <a:ext cx="2987298"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0">
                <a:solidFill>
                  <a:srgbClr val="17232E"/>
                </a:solidFill>
                <a:latin typeface="Arial Unicode MS"/>
                <a:ea typeface="Arial Unicode MS"/>
                <a:cs typeface="Arial Unicode MS"/>
              </a:defRPr>
            </a:pPr>
            <a:r>
              <a:rPr sz="1200" b="0">
                <a:solidFill>
                  <a:srgbClr val="17232E"/>
                </a:solidFill>
                <a:latin typeface="Arial Unicode MS"/>
                <a:ea typeface="Arial Unicode MS"/>
                <a:cs typeface="Arial Unicode MS"/>
              </a:rPr>
              <a:t>候选 baseline 2</a:t>
            </a:r>
          </a:p>
        </p:txBody>
      </p:sp>
      <p:sp>
        <p:nvSpPr>
          <p:cNvPr id="53" name="">
            <a:extLst xmlns:a="http://schemas.openxmlformats.org/drawingml/2006/main">
              <a:ext uri="{FF2B5EF4-FFF2-40B4-BE49-F238E27FC236}">
                <a16:creationId xmlns:a16="http://schemas.microsoft.com/office/drawing/2014/main" id="{C154D9AE-6226-44DB-B56A-0A7688D38133}"/>
              </a:ext>
            </a:extLst>
          </p:cNvPr>
          <p:cNvSpPr>
            <a:spLocks xmlns:a="http://schemas.openxmlformats.org/drawingml/2006/main" noGrp="1"/>
          </p:cNvSpPr>
          <p:nvPr/>
        </p:nvSpPr>
        <p:spPr>
          <a:xfrm xmlns:a="http://schemas.openxmlformats.org/drawingml/2006/main">
            <a:off x="647700" y="5581650"/>
            <a:ext cx="10896600" cy="495300"/>
          </a:xfrm>
          <a:prstGeom xmlns:a="http://schemas.openxmlformats.org/drawingml/2006/main" prst="rect">
            <a:avLst/>
          </a:prstGeom>
          <a:solidFill xmlns:a="http://schemas.openxmlformats.org/drawingml/2006/main">
            <a:srgbClr val="EAF6F0"/>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D37AE562-130B-4A2C-AE4D-38FC9332DD9C}"/>
              </a:ext>
            </a:extLst>
          </p:cNvPr>
          <p:cNvSpPr>
            <a:spLocks xmlns:a="http://schemas.openxmlformats.org/drawingml/2006/main" noGrp="1"/>
          </p:cNvSpPr>
          <p:nvPr/>
        </p:nvSpPr>
        <p:spPr>
          <a:xfrm xmlns:a="http://schemas.openxmlformats.org/drawingml/2006/main">
            <a:off x="819150" y="5705475"/>
            <a:ext cx="10553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1350" b="1">
                <a:solidFill>
                  <a:srgbClr val="2C8A62"/>
                </a:solidFill>
                <a:latin typeface="Arial Unicode MS"/>
                <a:ea typeface="Arial Unicode MS"/>
                <a:cs typeface="Arial Unicode MS"/>
              </a:defRPr>
            </a:pPr>
            <a:r>
              <a:rPr sz="1350" b="1">
                <a:solidFill>
                  <a:srgbClr val="2C8A62"/>
                </a:solidFill>
                <a:latin typeface="Arial Unicode MS"/>
                <a:ea typeface="Arial Unicode MS"/>
                <a:cs typeface="Arial Unicode MS"/>
              </a:rPr>
              <a:t>Random baseline 不是纯随机搜索：只有前三个点随机，之后仍运行完全相同的 GP-UCB。</a:t>
            </a:r>
          </a:p>
        </p:txBody>
      </p:sp>
      <p:sp>
        <p:nvSpPr>
          <p:cNvPr id="55" name="">
            <a:extLst xmlns:a="http://schemas.openxmlformats.org/drawingml/2006/main">
              <a:ext uri="{FF2B5EF4-FFF2-40B4-BE49-F238E27FC236}">
                <a16:creationId xmlns:a16="http://schemas.microsoft.com/office/drawing/2014/main" id="{48B762F0-286A-42A0-9DE7-C22128427BDF}"/>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frozen evidence update · 2026-08-12</a:t>
            </a:r>
          </a:p>
        </p:txBody>
      </p:sp>
    </p:spTree>
    <p:extLst>
      <p:ext uri="{BB962C8B-B14F-4D97-AF65-F5344CB8AC3E}">
        <p14:creationId xmlns:p14="http://schemas.microsoft.com/office/powerpoint/2010/main" val="715086010"/>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1D75CC3D-5E2C-4570-BD85-B9A218EB49B9}"/>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V1 DEVELOPMENT</a:t>
            </a:r>
          </a:p>
        </p:txBody>
      </p:sp>
      <p:sp>
        <p:nvSpPr>
          <p:cNvPr id="2" name="">
            <a:extLst xmlns:a="http://schemas.openxmlformats.org/drawingml/2006/main">
              <a:ext uri="{FF2B5EF4-FFF2-40B4-BE49-F238E27FC236}">
                <a16:creationId xmlns:a16="http://schemas.microsoft.com/office/drawing/2014/main" id="{07B4471A-3598-4869-AC29-EF276CB000A9}"/>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18</a:t>
            </a:r>
          </a:p>
        </p:txBody>
      </p:sp>
      <p:sp>
        <p:nvSpPr>
          <p:cNvPr id="3" name="">
            <a:extLst xmlns:a="http://schemas.openxmlformats.org/drawingml/2006/main">
              <a:ext uri="{FF2B5EF4-FFF2-40B4-BE49-F238E27FC236}">
                <a16:creationId xmlns:a16="http://schemas.microsoft.com/office/drawing/2014/main" id="{F17D584B-6D1F-42DB-AD39-A372FECFAEC0}"/>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700" b="1">
                <a:solidFill>
                  <a:srgbClr val="17232E"/>
                </a:solidFill>
                <a:latin typeface="Arial Unicode MS"/>
                <a:ea typeface="Arial Unicode MS"/>
                <a:cs typeface="Arial Unicode MS"/>
              </a:defRPr>
            </a:pPr>
            <a:r>
              <a:rPr sz="2700" b="1">
                <a:solidFill>
                  <a:srgbClr val="17232E"/>
                </a:solidFill>
                <a:latin typeface="Arial Unicode MS"/>
                <a:ea typeface="Arial Unicode MS"/>
                <a:cs typeface="Arial Unicode MS"/>
              </a:rPr>
              <a:t>在 9 个开发 campaign 上，v1 看起来已经成立</a:t>
            </a:r>
          </a:p>
        </p:txBody>
      </p:sp>
      <p:sp>
        <p:nvSpPr>
          <p:cNvPr id="4" name="">
            <a:extLst xmlns:a="http://schemas.openxmlformats.org/drawingml/2006/main">
              <a:ext uri="{FF2B5EF4-FFF2-40B4-BE49-F238E27FC236}">
                <a16:creationId xmlns:a16="http://schemas.microsoft.com/office/drawing/2014/main" id="{12A4A4CC-6248-48C9-A2B8-A4D375097F15}"/>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796F7D44-D1A0-4018-8F49-7EBAD98611A3}"/>
              </a:ext>
            </a:extLst>
          </p:cNvPr>
          <p:cNvSpPr>
            <a:spLocks xmlns:a="http://schemas.openxmlformats.org/drawingml/2006/main" noGrp="1"/>
          </p:cNvSpPr>
          <p:nvPr/>
        </p:nvSpPr>
        <p:spPr>
          <a:xfrm xmlns:a="http://schemas.openxmlformats.org/drawingml/2006/main">
            <a:off x="647700" y="1828800"/>
            <a:ext cx="2381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3450" b="1">
                <a:solidFill>
                  <a:srgbClr val="2C8A62"/>
                </a:solidFill>
                <a:latin typeface="Arial Unicode MS"/>
                <a:ea typeface="Arial Unicode MS"/>
                <a:cs typeface="Arial Unicode MS"/>
              </a:defRPr>
            </a:pPr>
            <a:r>
              <a:rPr sz="3450" b="1">
                <a:solidFill>
                  <a:srgbClr val="2C8A62"/>
                </a:solidFill>
                <a:latin typeface="Arial Unicode MS"/>
                <a:ea typeface="Arial Unicode MS"/>
                <a:cs typeface="Arial Unicode MS"/>
              </a:rPr>
              <a:t>+1.321</a:t>
            </a:r>
          </a:p>
        </p:txBody>
      </p:sp>
      <p:sp>
        <p:nvSpPr>
          <p:cNvPr id="6" name="">
            <a:extLst xmlns:a="http://schemas.openxmlformats.org/drawingml/2006/main">
              <a:ext uri="{FF2B5EF4-FFF2-40B4-BE49-F238E27FC236}">
                <a16:creationId xmlns:a16="http://schemas.microsoft.com/office/drawing/2014/main" id="{3C5768B3-C07E-4D0D-83CE-A948A74011BC}"/>
              </a:ext>
            </a:extLst>
          </p:cNvPr>
          <p:cNvSpPr>
            <a:spLocks xmlns:a="http://schemas.openxmlformats.org/drawingml/2006/main" noGrp="1"/>
          </p:cNvSpPr>
          <p:nvPr/>
        </p:nvSpPr>
        <p:spPr>
          <a:xfrm xmlns:a="http://schemas.openxmlformats.org/drawingml/2006/main">
            <a:off x="647700" y="2457450"/>
            <a:ext cx="238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350" b="1">
                <a:solidFill>
                  <a:srgbClr val="17232E"/>
                </a:solidFill>
                <a:latin typeface="Arial Unicode MS"/>
                <a:ea typeface="Arial Unicode MS"/>
                <a:cs typeface="Arial Unicode MS"/>
              </a:defRPr>
            </a:pPr>
            <a:r>
              <a:rPr sz="1350" b="1">
                <a:solidFill>
                  <a:srgbClr val="17232E"/>
                </a:solidFill>
                <a:latin typeface="Arial Unicode MS"/>
                <a:ea typeface="Arial Unicode MS"/>
                <a:cs typeface="Arial Unicode MS"/>
              </a:rPr>
              <a:t>mean AUC delta</a:t>
            </a:r>
          </a:p>
        </p:txBody>
      </p:sp>
      <p:sp>
        <p:nvSpPr>
          <p:cNvPr id="7" name="">
            <a:extLst xmlns:a="http://schemas.openxmlformats.org/drawingml/2006/main">
              <a:ext uri="{FF2B5EF4-FFF2-40B4-BE49-F238E27FC236}">
                <a16:creationId xmlns:a16="http://schemas.microsoft.com/office/drawing/2014/main" id="{DD41620D-F119-467C-830D-EAC5577C47AC}"/>
              </a:ext>
            </a:extLst>
          </p:cNvPr>
          <p:cNvSpPr>
            <a:spLocks xmlns:a="http://schemas.openxmlformats.org/drawingml/2006/main" noGrp="1"/>
          </p:cNvSpPr>
          <p:nvPr/>
        </p:nvSpPr>
        <p:spPr>
          <a:xfrm xmlns:a="http://schemas.openxmlformats.org/drawingml/2006/main">
            <a:off x="647700" y="2857500"/>
            <a:ext cx="238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050" b="0">
                <a:solidFill>
                  <a:srgbClr val="687681"/>
                </a:solidFill>
                <a:latin typeface="Arial Unicode MS"/>
                <a:ea typeface="Arial Unicode MS"/>
                <a:cs typeface="Arial Unicode MS"/>
              </a:defRPr>
            </a:pPr>
            <a:r>
              <a:rPr sz="1050" b="0">
                <a:solidFill>
                  <a:srgbClr val="687681"/>
                </a:solidFill>
                <a:latin typeface="Arial Unicode MS"/>
                <a:ea typeface="Arial Unicode MS"/>
                <a:cs typeface="Arial Unicode MS"/>
              </a:rPr>
              <a:t>vs stronger baseline</a:t>
            </a:r>
          </a:p>
        </p:txBody>
      </p:sp>
      <p:sp>
        <p:nvSpPr>
          <p:cNvPr id="8" name="">
            <a:extLst xmlns:a="http://schemas.openxmlformats.org/drawingml/2006/main">
              <a:ext uri="{FF2B5EF4-FFF2-40B4-BE49-F238E27FC236}">
                <a16:creationId xmlns:a16="http://schemas.microsoft.com/office/drawing/2014/main" id="{121ABF23-1A28-4926-85F1-FB0A46E8D8DA}"/>
              </a:ext>
            </a:extLst>
          </p:cNvPr>
          <p:cNvSpPr>
            <a:spLocks xmlns:a="http://schemas.openxmlformats.org/drawingml/2006/main" noGrp="1"/>
          </p:cNvSpPr>
          <p:nvPr/>
        </p:nvSpPr>
        <p:spPr>
          <a:xfrm xmlns:a="http://schemas.openxmlformats.org/drawingml/2006/main">
            <a:off x="3562350" y="1828800"/>
            <a:ext cx="2857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3450" b="1">
                <a:solidFill>
                  <a:srgbClr val="2C8A62"/>
                </a:solidFill>
                <a:latin typeface="Arial Unicode MS"/>
                <a:ea typeface="Arial Unicode MS"/>
                <a:cs typeface="Arial Unicode MS"/>
              </a:defRPr>
            </a:pPr>
            <a:r>
              <a:rPr sz="3450" b="1">
                <a:solidFill>
                  <a:srgbClr val="2C8A62"/>
                </a:solidFill>
                <a:latin typeface="Arial Unicode MS"/>
                <a:ea typeface="Arial Unicode MS"/>
                <a:cs typeface="Arial Unicode MS"/>
              </a:rPr>
              <a:t>[0.315, 2.326]</a:t>
            </a:r>
          </a:p>
        </p:txBody>
      </p:sp>
      <p:sp>
        <p:nvSpPr>
          <p:cNvPr id="9" name="">
            <a:extLst xmlns:a="http://schemas.openxmlformats.org/drawingml/2006/main">
              <a:ext uri="{FF2B5EF4-FFF2-40B4-BE49-F238E27FC236}">
                <a16:creationId xmlns:a16="http://schemas.microsoft.com/office/drawing/2014/main" id="{3B3F4E1A-5F07-4D14-836D-A767049B887C}"/>
              </a:ext>
            </a:extLst>
          </p:cNvPr>
          <p:cNvSpPr>
            <a:spLocks xmlns:a="http://schemas.openxmlformats.org/drawingml/2006/main" noGrp="1"/>
          </p:cNvSpPr>
          <p:nvPr/>
        </p:nvSpPr>
        <p:spPr>
          <a:xfrm xmlns:a="http://schemas.openxmlformats.org/drawingml/2006/main">
            <a:off x="3562350" y="2457450"/>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350" b="1">
                <a:solidFill>
                  <a:srgbClr val="17232E"/>
                </a:solidFill>
                <a:latin typeface="Arial Unicode MS"/>
                <a:ea typeface="Arial Unicode MS"/>
                <a:cs typeface="Arial Unicode MS"/>
              </a:defRPr>
            </a:pPr>
            <a:r>
              <a:rPr sz="1350" b="1">
                <a:solidFill>
                  <a:srgbClr val="17232E"/>
                </a:solidFill>
                <a:latin typeface="Arial Unicode MS"/>
                <a:ea typeface="Arial Unicode MS"/>
                <a:cs typeface="Arial Unicode MS"/>
              </a:rPr>
              <a:t>task-level 95% CI</a:t>
            </a:r>
          </a:p>
        </p:txBody>
      </p:sp>
      <p:sp>
        <p:nvSpPr>
          <p:cNvPr id="10" name="">
            <a:extLst xmlns:a="http://schemas.openxmlformats.org/drawingml/2006/main">
              <a:ext uri="{FF2B5EF4-FFF2-40B4-BE49-F238E27FC236}">
                <a16:creationId xmlns:a16="http://schemas.microsoft.com/office/drawing/2014/main" id="{865FD935-10E9-49F4-BA04-E47E4862E12F}"/>
              </a:ext>
            </a:extLst>
          </p:cNvPr>
          <p:cNvSpPr>
            <a:spLocks xmlns:a="http://schemas.openxmlformats.org/drawingml/2006/main" noGrp="1"/>
          </p:cNvSpPr>
          <p:nvPr/>
        </p:nvSpPr>
        <p:spPr>
          <a:xfrm xmlns:a="http://schemas.openxmlformats.org/drawingml/2006/main">
            <a:off x="3562350" y="2857500"/>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050" b="0">
                <a:solidFill>
                  <a:srgbClr val="687681"/>
                </a:solidFill>
                <a:latin typeface="Arial Unicode MS"/>
                <a:ea typeface="Arial Unicode MS"/>
                <a:cs typeface="Arial Unicode MS"/>
              </a:defRPr>
            </a:pPr>
            <a:r>
              <a:rPr sz="1050" b="0">
                <a:solidFill>
                  <a:srgbClr val="687681"/>
                </a:solidFill>
                <a:latin typeface="Arial Unicode MS"/>
                <a:ea typeface="Arial Unicode MS"/>
                <a:cs typeface="Arial Unicode MS"/>
              </a:rPr>
              <a:t>lower bound &gt; 0</a:t>
            </a:r>
          </a:p>
        </p:txBody>
      </p:sp>
      <p:sp>
        <p:nvSpPr>
          <p:cNvPr id="11" name="">
            <a:extLst xmlns:a="http://schemas.openxmlformats.org/drawingml/2006/main">
              <a:ext uri="{FF2B5EF4-FFF2-40B4-BE49-F238E27FC236}">
                <a16:creationId xmlns:a16="http://schemas.microsoft.com/office/drawing/2014/main" id="{8ECBFF7C-A665-4B96-B73E-E5F8B98A63B6}"/>
              </a:ext>
            </a:extLst>
          </p:cNvPr>
          <p:cNvSpPr>
            <a:spLocks xmlns:a="http://schemas.openxmlformats.org/drawingml/2006/main" noGrp="1"/>
          </p:cNvSpPr>
          <p:nvPr/>
        </p:nvSpPr>
        <p:spPr>
          <a:xfrm xmlns:a="http://schemas.openxmlformats.org/drawingml/2006/main">
            <a:off x="7086600" y="1828800"/>
            <a:ext cx="2095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3450" b="1">
                <a:solidFill>
                  <a:srgbClr val="2F6FB6"/>
                </a:solidFill>
                <a:latin typeface="Arial Unicode MS"/>
                <a:ea typeface="Arial Unicode MS"/>
                <a:cs typeface="Arial Unicode MS"/>
              </a:defRPr>
            </a:pPr>
            <a:r>
              <a:rPr sz="3450" b="1">
                <a:solidFill>
                  <a:srgbClr val="2F6FB6"/>
                </a:solidFill>
                <a:latin typeface="Arial Unicode MS"/>
                <a:ea typeface="Arial Unicode MS"/>
                <a:cs typeface="Arial Unicode MS"/>
              </a:rPr>
              <a:t>7 / 9</a:t>
            </a:r>
          </a:p>
        </p:txBody>
      </p:sp>
      <p:sp>
        <p:nvSpPr>
          <p:cNvPr id="12" name="">
            <a:extLst xmlns:a="http://schemas.openxmlformats.org/drawingml/2006/main">
              <a:ext uri="{FF2B5EF4-FFF2-40B4-BE49-F238E27FC236}">
                <a16:creationId xmlns:a16="http://schemas.microsoft.com/office/drawing/2014/main" id="{9437F131-2B60-4916-9999-91B5775C5FC6}"/>
              </a:ext>
            </a:extLst>
          </p:cNvPr>
          <p:cNvSpPr>
            <a:spLocks xmlns:a="http://schemas.openxmlformats.org/drawingml/2006/main" noGrp="1"/>
          </p:cNvSpPr>
          <p:nvPr/>
        </p:nvSpPr>
        <p:spPr>
          <a:xfrm xmlns:a="http://schemas.openxmlformats.org/drawingml/2006/main">
            <a:off x="7086600" y="2457450"/>
            <a:ext cx="209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350" b="1">
                <a:solidFill>
                  <a:srgbClr val="17232E"/>
                </a:solidFill>
                <a:latin typeface="Arial Unicode MS"/>
                <a:ea typeface="Arial Unicode MS"/>
                <a:cs typeface="Arial Unicode MS"/>
              </a:defRPr>
            </a:pPr>
            <a:r>
              <a:rPr sz="1350" b="1">
                <a:solidFill>
                  <a:srgbClr val="17232E"/>
                </a:solidFill>
                <a:latin typeface="Arial Unicode MS"/>
                <a:ea typeface="Arial Unicode MS"/>
                <a:cs typeface="Arial Unicode MS"/>
              </a:rPr>
              <a:t>task wins</a:t>
            </a:r>
          </a:p>
        </p:txBody>
      </p:sp>
      <p:sp>
        <p:nvSpPr>
          <p:cNvPr id="13" name="">
            <a:extLst xmlns:a="http://schemas.openxmlformats.org/drawingml/2006/main">
              <a:ext uri="{FF2B5EF4-FFF2-40B4-BE49-F238E27FC236}">
                <a16:creationId xmlns:a16="http://schemas.microsoft.com/office/drawing/2014/main" id="{6960AC3D-3B08-41AC-B16E-C0A36CBCD990}"/>
              </a:ext>
            </a:extLst>
          </p:cNvPr>
          <p:cNvSpPr>
            <a:spLocks xmlns:a="http://schemas.openxmlformats.org/drawingml/2006/main" noGrp="1"/>
          </p:cNvSpPr>
          <p:nvPr/>
        </p:nvSpPr>
        <p:spPr>
          <a:xfrm xmlns:a="http://schemas.openxmlformats.org/drawingml/2006/main">
            <a:off x="7086600" y="2857500"/>
            <a:ext cx="209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050" b="0">
                <a:solidFill>
                  <a:srgbClr val="687681"/>
                </a:solidFill>
                <a:latin typeface="Arial Unicode MS"/>
                <a:ea typeface="Arial Unicode MS"/>
                <a:cs typeface="Arial Unicode MS"/>
              </a:defRPr>
            </a:pPr>
            <a:r>
              <a:rPr sz="1050" b="0">
                <a:solidFill>
                  <a:srgbClr val="687681"/>
                </a:solidFill>
                <a:latin typeface="Arial Unicode MS"/>
                <a:ea typeface="Arial Unicode MS"/>
                <a:cs typeface="Arial Unicode MS"/>
              </a:rPr>
              <a:t>多数 campaign 获胜</a:t>
            </a:r>
          </a:p>
        </p:txBody>
      </p:sp>
      <p:sp>
        <p:nvSpPr>
          <p:cNvPr id="14" name="">
            <a:extLst xmlns:a="http://schemas.openxmlformats.org/drawingml/2006/main">
              <a:ext uri="{FF2B5EF4-FFF2-40B4-BE49-F238E27FC236}">
                <a16:creationId xmlns:a16="http://schemas.microsoft.com/office/drawing/2014/main" id="{794BDD89-1A9F-4456-90B0-CEE50750FEE1}"/>
              </a:ext>
            </a:extLst>
          </p:cNvPr>
          <p:cNvSpPr>
            <a:spLocks xmlns:a="http://schemas.openxmlformats.org/drawingml/2006/main" noGrp="1"/>
          </p:cNvSpPr>
          <p:nvPr/>
        </p:nvSpPr>
        <p:spPr>
          <a:xfrm xmlns:a="http://schemas.openxmlformats.org/drawingml/2006/main">
            <a:off x="9639300" y="1828800"/>
            <a:ext cx="1905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3450" b="1">
                <a:solidFill>
                  <a:srgbClr val="2F6FB6"/>
                </a:solidFill>
                <a:latin typeface="Arial Unicode MS"/>
                <a:ea typeface="Arial Unicode MS"/>
                <a:cs typeface="Arial Unicode MS"/>
              </a:defRPr>
            </a:pPr>
            <a:r>
              <a:rPr sz="3450" b="1">
                <a:solidFill>
                  <a:srgbClr val="2F6FB6"/>
                </a:solidFill>
                <a:latin typeface="Arial Unicode MS"/>
                <a:ea typeface="Arial Unicode MS"/>
                <a:cs typeface="Arial Unicode MS"/>
              </a:rPr>
              <a:t>9 / 9</a:t>
            </a:r>
          </a:p>
        </p:txBody>
      </p:sp>
      <p:sp>
        <p:nvSpPr>
          <p:cNvPr id="15" name="">
            <a:extLst xmlns:a="http://schemas.openxmlformats.org/drawingml/2006/main">
              <a:ext uri="{FF2B5EF4-FFF2-40B4-BE49-F238E27FC236}">
                <a16:creationId xmlns:a16="http://schemas.microsoft.com/office/drawing/2014/main" id="{B7D4E1ED-875C-4383-AFA7-A589AA14B3DE}"/>
              </a:ext>
            </a:extLst>
          </p:cNvPr>
          <p:cNvSpPr>
            <a:spLocks xmlns:a="http://schemas.openxmlformats.org/drawingml/2006/main" noGrp="1"/>
          </p:cNvSpPr>
          <p:nvPr/>
        </p:nvSpPr>
        <p:spPr>
          <a:xfrm xmlns:a="http://schemas.openxmlformats.org/drawingml/2006/main">
            <a:off x="9639300" y="2457450"/>
            <a:ext cx="1905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350" b="1">
                <a:solidFill>
                  <a:srgbClr val="17232E"/>
                </a:solidFill>
                <a:latin typeface="Arial Unicode MS"/>
                <a:ea typeface="Arial Unicode MS"/>
                <a:cs typeface="Arial Unicode MS"/>
              </a:defRPr>
            </a:pPr>
            <a:r>
              <a:rPr sz="1350" b="1">
                <a:solidFill>
                  <a:srgbClr val="17232E"/>
                </a:solidFill>
                <a:latin typeface="Arial Unicode MS"/>
                <a:ea typeface="Arial Unicode MS"/>
                <a:cs typeface="Arial Unicode MS"/>
              </a:rPr>
              <a:t>task non-loss</a:t>
            </a:r>
          </a:p>
        </p:txBody>
      </p:sp>
      <p:sp>
        <p:nvSpPr>
          <p:cNvPr id="16" name="">
            <a:extLst xmlns:a="http://schemas.openxmlformats.org/drawingml/2006/main">
              <a:ext uri="{FF2B5EF4-FFF2-40B4-BE49-F238E27FC236}">
                <a16:creationId xmlns:a16="http://schemas.microsoft.com/office/drawing/2014/main" id="{83E19008-1339-4160-A71A-718A59EEF7E0}"/>
              </a:ext>
            </a:extLst>
          </p:cNvPr>
          <p:cNvSpPr>
            <a:spLocks xmlns:a="http://schemas.openxmlformats.org/drawingml/2006/main" noGrp="1"/>
          </p:cNvSpPr>
          <p:nvPr/>
        </p:nvSpPr>
        <p:spPr>
          <a:xfrm xmlns:a="http://schemas.openxmlformats.org/drawingml/2006/main">
            <a:off x="9639300" y="2857500"/>
            <a:ext cx="1905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050" b="0">
                <a:solidFill>
                  <a:srgbClr val="687681"/>
                </a:solidFill>
                <a:latin typeface="Arial Unicode MS"/>
                <a:ea typeface="Arial Unicode MS"/>
                <a:cs typeface="Arial Unicode MS"/>
              </a:defRPr>
            </a:pPr>
            <a:r>
              <a:rPr sz="1050" b="0">
                <a:solidFill>
                  <a:srgbClr val="687681"/>
                </a:solidFill>
                <a:latin typeface="Arial Unicode MS"/>
                <a:ea typeface="Arial Unicode MS"/>
                <a:cs typeface="Arial Unicode MS"/>
              </a:rPr>
              <a:t>开发集全部不输</a:t>
            </a:r>
          </a:p>
        </p:txBody>
      </p:sp>
      <p:sp>
        <p:nvSpPr>
          <p:cNvPr id="17" name="">
            <a:extLst xmlns:a="http://schemas.openxmlformats.org/drawingml/2006/main">
              <a:ext uri="{FF2B5EF4-FFF2-40B4-BE49-F238E27FC236}">
                <a16:creationId xmlns:a16="http://schemas.microsoft.com/office/drawing/2014/main" id="{47474072-3A52-464F-9A48-15D66E2F79C7}"/>
              </a:ext>
            </a:extLst>
          </p:cNvPr>
          <p:cNvSpPr>
            <a:spLocks xmlns:a="http://schemas.openxmlformats.org/drawingml/2006/main" noGrp="1"/>
          </p:cNvSpPr>
          <p:nvPr/>
        </p:nvSpPr>
        <p:spPr>
          <a:xfrm xmlns:a="http://schemas.openxmlformats.org/drawingml/2006/main">
            <a:off x="647700" y="3943350"/>
            <a:ext cx="10896600" cy="1409700"/>
          </a:xfrm>
          <a:prstGeom xmlns:a="http://schemas.openxmlformats.org/drawingml/2006/main" prst="rect">
            <a:avLst/>
          </a:prstGeom>
          <a:solidFill xmlns:a="http://schemas.openxmlformats.org/drawingml/2006/main">
            <a:srgbClr val="F1F4F6"/>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A1F6088C-28C4-47B8-B7DC-1CDD7728F489}"/>
              </a:ext>
            </a:extLst>
          </p:cNvPr>
          <p:cNvSpPr>
            <a:spLocks xmlns:a="http://schemas.openxmlformats.org/drawingml/2006/main" noGrp="1"/>
          </p:cNvSpPr>
          <p:nvPr/>
        </p:nvSpPr>
        <p:spPr>
          <a:xfrm xmlns:a="http://schemas.openxmlformats.org/drawingml/2006/main">
            <a:off x="895350" y="417195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725" b="1">
                <a:solidFill>
                  <a:srgbClr val="17324D"/>
                </a:solidFill>
                <a:latin typeface="Arial Unicode MS"/>
                <a:ea typeface="Arial Unicode MS"/>
                <a:cs typeface="Arial Unicode MS"/>
              </a:defRPr>
            </a:pPr>
            <a:r>
              <a:rPr sz="1725" b="1">
                <a:solidFill>
                  <a:srgbClr val="17324D"/>
                </a:solidFill>
                <a:latin typeface="Arial Unicode MS"/>
                <a:ea typeface="Arial Unicode MS"/>
                <a:cs typeface="Arial Unicode MS"/>
              </a:rPr>
              <a:t>被冻结的 v1 route</a:t>
            </a:r>
          </a:p>
        </p:txBody>
      </p:sp>
      <p:sp>
        <p:nvSpPr>
          <p:cNvPr id="19" name="">
            <a:extLst xmlns:a="http://schemas.openxmlformats.org/drawingml/2006/main">
              <a:ext uri="{FF2B5EF4-FFF2-40B4-BE49-F238E27FC236}">
                <a16:creationId xmlns:a16="http://schemas.microsoft.com/office/drawing/2014/main" id="{154EF894-9694-4CD0-9EB2-4DFCA733DB62}"/>
              </a:ext>
            </a:extLst>
          </p:cNvPr>
          <p:cNvSpPr>
            <a:spLocks xmlns:a="http://schemas.openxmlformats.org/drawingml/2006/main" noGrp="1"/>
          </p:cNvSpPr>
          <p:nvPr/>
        </p:nvSpPr>
        <p:spPr>
          <a:xfrm xmlns:a="http://schemas.openxmlformats.org/drawingml/2006/main">
            <a:off x="3619500" y="4095750"/>
            <a:ext cx="76581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4000"/>
              </a:lnSpc>
              <a:buNone/>
              <a:defRPr sz="1575" b="0">
                <a:solidFill>
                  <a:srgbClr val="17232E"/>
                </a:solidFill>
                <a:latin typeface="Arial Unicode MS"/>
                <a:ea typeface="Arial Unicode MS"/>
                <a:cs typeface="Arial Unicode MS"/>
              </a:defRPr>
            </a:pPr>
            <a:r>
              <a:rPr sz="1575" b="0">
                <a:solidFill>
                  <a:srgbClr val="17232E"/>
                </a:solidFill>
                <a:latin typeface="Arial Unicode MS"/>
                <a:ea typeface="Arial Unicode MS"/>
                <a:cs typeface="Arial Unicode MS"/>
              </a:rPr>
              <a:t>source scope：same substrate → same precatalyst</a:t>
            </a:r>
          </a:p>
          <a:p xmlns:a="http://schemas.openxmlformats.org/drawingml/2006/main">
            <a:pPr algn="l">
              <a:lnSpc>
                <a:spcPct val="114000"/>
              </a:lnSpc>
              <a:buNone/>
              <a:defRPr sz="1575" b="0">
                <a:solidFill>
                  <a:srgbClr val="17232E"/>
                </a:solidFill>
                <a:latin typeface="Arial Unicode MS"/>
                <a:ea typeface="Arial Unicode MS"/>
                <a:cs typeface="Arial Unicode MS"/>
              </a:defRPr>
            </a:pPr>
            <a:r>
              <a:rPr sz="1575" b="0">
                <a:solidFill>
                  <a:srgbClr val="17232E"/>
                </a:solidFill>
                <a:latin typeface="Arial Unicode MS"/>
                <a:ea typeface="Arial Unicode MS"/>
                <a:cs typeface="Arial Unicode MS"/>
              </a:rPr>
              <a:t>diversity weight：0.85</a:t>
            </a:r>
          </a:p>
          <a:p xmlns:a="http://schemas.openxmlformats.org/drawingml/2006/main">
            <a:pPr algn="l">
              <a:lnSpc>
                <a:spcPct val="114000"/>
              </a:lnSpc>
              <a:buNone/>
              <a:defRPr sz="1575" b="0">
                <a:solidFill>
                  <a:srgbClr val="17232E"/>
                </a:solidFill>
                <a:latin typeface="Arial Unicode MS"/>
                <a:ea typeface="Arial Unicode MS"/>
                <a:cs typeface="Arial Unicode MS"/>
              </a:defRPr>
            </a:pPr>
            <a:r>
              <a:rPr sz="1575" b="0">
                <a:solidFill>
                  <a:srgbClr val="17232E"/>
                </a:solidFill>
                <a:latin typeface="Arial Unicode MS"/>
                <a:ea typeface="Arial Unicode MS"/>
                <a:cs typeface="Arial Unicode MS"/>
              </a:rPr>
              <a:t>primary metric：10 轮 target-only GP-UCB 的 best-so-far AUC</a:t>
            </a:r>
          </a:p>
        </p:txBody>
      </p:sp>
      <p:sp>
        <p:nvSpPr>
          <p:cNvPr id="20" name="">
            <a:extLst xmlns:a="http://schemas.openxmlformats.org/drawingml/2006/main">
              <a:ext uri="{FF2B5EF4-FFF2-40B4-BE49-F238E27FC236}">
                <a16:creationId xmlns:a16="http://schemas.microsoft.com/office/drawing/2014/main" id="{63392EEF-9578-4084-843D-A6A1E51FD7B7}"/>
              </a:ext>
            </a:extLst>
          </p:cNvPr>
          <p:cNvSpPr>
            <a:spLocks xmlns:a="http://schemas.openxmlformats.org/drawingml/2006/main" noGrp="1"/>
          </p:cNvSpPr>
          <p:nvPr/>
        </p:nvSpPr>
        <p:spPr>
          <a:xfrm xmlns:a="http://schemas.openxmlformats.org/drawingml/2006/main">
            <a:off x="647700" y="5619750"/>
            <a:ext cx="10896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1425" b="1">
                <a:solidFill>
                  <a:srgbClr val="C94D4D"/>
                </a:solidFill>
                <a:latin typeface="Arial Unicode MS"/>
                <a:ea typeface="Arial Unicode MS"/>
                <a:cs typeface="Arial Unicode MS"/>
              </a:defRPr>
            </a:pPr>
            <a:r>
              <a:rPr sz="1425" b="1">
                <a:solidFill>
                  <a:srgbClr val="C94D4D"/>
                </a:solidFill>
                <a:latin typeface="Arial Unicode MS"/>
                <a:ea typeface="Arial Unicode MS"/>
                <a:cs typeface="Arial Unicode MS"/>
              </a:rPr>
              <a:t>问题：开发任务几乎总能找到 same-substrate source，fallback 没有被充分检验。</a:t>
            </a:r>
          </a:p>
        </p:txBody>
      </p:sp>
      <p:sp>
        <p:nvSpPr>
          <p:cNvPr id="21" name="">
            <a:extLst xmlns:a="http://schemas.openxmlformats.org/drawingml/2006/main">
              <a:ext uri="{FF2B5EF4-FFF2-40B4-BE49-F238E27FC236}">
                <a16:creationId xmlns:a16="http://schemas.microsoft.com/office/drawing/2014/main" id="{D54C8894-11C5-484D-B590-A924AFA2F222}"/>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frozen evidence update · 2026-08-12</a:t>
            </a:r>
          </a:p>
        </p:txBody>
      </p:sp>
    </p:spTree>
    <p:extLst>
      <p:ext uri="{BB962C8B-B14F-4D97-AF65-F5344CB8AC3E}">
        <p14:creationId xmlns:p14="http://schemas.microsoft.com/office/powerpoint/2010/main" val="1653820000"/>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41B9570C-F510-4A16-A580-EA0A15FF436B}"/>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INDEPENDENT CONFIRMATION</a:t>
            </a:r>
          </a:p>
        </p:txBody>
      </p:sp>
      <p:sp>
        <p:nvSpPr>
          <p:cNvPr id="2" name="">
            <a:extLst xmlns:a="http://schemas.openxmlformats.org/drawingml/2006/main">
              <a:ext uri="{FF2B5EF4-FFF2-40B4-BE49-F238E27FC236}">
                <a16:creationId xmlns:a16="http://schemas.microsoft.com/office/drawing/2014/main" id="{2807F36E-3E97-44D5-AEE5-8616AD0F8A23}"/>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19</a:t>
            </a:r>
          </a:p>
        </p:txBody>
      </p:sp>
      <p:sp>
        <p:nvSpPr>
          <p:cNvPr id="3" name="">
            <a:extLst xmlns:a="http://schemas.openxmlformats.org/drawingml/2006/main">
              <a:ext uri="{FF2B5EF4-FFF2-40B4-BE49-F238E27FC236}">
                <a16:creationId xmlns:a16="http://schemas.microsoft.com/office/drawing/2014/main" id="{1E035EA9-9443-41F5-843C-C561B5E5050D}"/>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550" b="1">
                <a:solidFill>
                  <a:srgbClr val="17232E"/>
                </a:solidFill>
                <a:latin typeface="Arial Unicode MS"/>
                <a:ea typeface="Arial Unicode MS"/>
                <a:cs typeface="Arial Unicode MS"/>
              </a:defRPr>
            </a:pPr>
            <a:r>
              <a:rPr sz="2550" b="1">
                <a:solidFill>
                  <a:srgbClr val="17232E"/>
                </a:solidFill>
                <a:latin typeface="Arial Unicode MS"/>
                <a:ea typeface="Arial Unicode MS"/>
                <a:cs typeface="Arial Unicode MS"/>
              </a:rPr>
              <a:t>冻结后，v1 在 4 个独立 campaign 上没有泛化</a:t>
            </a:r>
          </a:p>
        </p:txBody>
      </p:sp>
      <p:sp>
        <p:nvSpPr>
          <p:cNvPr id="4" name="">
            <a:extLst xmlns:a="http://schemas.openxmlformats.org/drawingml/2006/main">
              <a:ext uri="{FF2B5EF4-FFF2-40B4-BE49-F238E27FC236}">
                <a16:creationId xmlns:a16="http://schemas.microsoft.com/office/drawing/2014/main" id="{7708D2B9-F7A3-4E66-9386-58600D2133BF}"/>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2D9A76C-0DAF-4821-B408-21C9DFEC571D}"/>
              </a:ext>
            </a:extLst>
          </p:cNvPr>
          <p:cNvSpPr>
            <a:spLocks xmlns:a="http://schemas.openxmlformats.org/drawingml/2006/main" noGrp="1"/>
          </p:cNvSpPr>
          <p:nvPr/>
        </p:nvSpPr>
        <p:spPr>
          <a:xfrm xmlns:a="http://schemas.openxmlformats.org/drawingml/2006/main">
            <a:off x="647700" y="1676400"/>
            <a:ext cx="4114800" cy="3486150"/>
          </a:xfrm>
          <a:prstGeom xmlns:a="http://schemas.openxmlformats.org/drawingml/2006/main" prst="rect">
            <a:avLst/>
          </a:prstGeom>
          <a:solidFill xmlns:a="http://schemas.openxmlformats.org/drawingml/2006/main">
            <a:srgbClr val="FBECEC"/>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8603FEEA-6427-4617-9872-84D2046D34B4}"/>
              </a:ext>
            </a:extLst>
          </p:cNvPr>
          <p:cNvSpPr>
            <a:spLocks xmlns:a="http://schemas.openxmlformats.org/drawingml/2006/main" noGrp="1"/>
          </p:cNvSpPr>
          <p:nvPr/>
        </p:nvSpPr>
        <p:spPr>
          <a:xfrm xmlns:a="http://schemas.openxmlformats.org/drawingml/2006/main">
            <a:off x="914400" y="2019300"/>
            <a:ext cx="35814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4050" b="1">
                <a:solidFill>
                  <a:srgbClr val="C94D4D"/>
                </a:solidFill>
                <a:latin typeface="Arial Unicode MS"/>
                <a:ea typeface="Arial Unicode MS"/>
                <a:cs typeface="Arial Unicode MS"/>
              </a:defRPr>
            </a:pPr>
            <a:r>
              <a:rPr sz="4050" b="1">
                <a:solidFill>
                  <a:srgbClr val="C94D4D"/>
                </a:solidFill>
                <a:latin typeface="Arial Unicode MS"/>
                <a:ea typeface="Arial Unicode MS"/>
                <a:cs typeface="Arial Unicode MS"/>
              </a:rPr>
              <a:t>-1.205</a:t>
            </a:r>
          </a:p>
        </p:txBody>
      </p:sp>
      <p:sp>
        <p:nvSpPr>
          <p:cNvPr id="7" name="">
            <a:extLst xmlns:a="http://schemas.openxmlformats.org/drawingml/2006/main">
              <a:ext uri="{FF2B5EF4-FFF2-40B4-BE49-F238E27FC236}">
                <a16:creationId xmlns:a16="http://schemas.microsoft.com/office/drawing/2014/main" id="{63F08513-E944-45F9-8434-D92EDA89FD58}"/>
              </a:ext>
            </a:extLst>
          </p:cNvPr>
          <p:cNvSpPr>
            <a:spLocks xmlns:a="http://schemas.openxmlformats.org/drawingml/2006/main" noGrp="1"/>
          </p:cNvSpPr>
          <p:nvPr/>
        </p:nvSpPr>
        <p:spPr>
          <a:xfrm xmlns:a="http://schemas.openxmlformats.org/drawingml/2006/main">
            <a:off x="914400" y="2762250"/>
            <a:ext cx="3581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1575" b="1">
                <a:solidFill>
                  <a:srgbClr val="17232E"/>
                </a:solidFill>
                <a:latin typeface="Arial Unicode MS"/>
                <a:ea typeface="Arial Unicode MS"/>
                <a:cs typeface="Arial Unicode MS"/>
              </a:defRPr>
            </a:pPr>
            <a:r>
              <a:rPr sz="1575" b="1">
                <a:solidFill>
                  <a:srgbClr val="17232E"/>
                </a:solidFill>
                <a:latin typeface="Arial Unicode MS"/>
                <a:ea typeface="Arial Unicode MS"/>
                <a:cs typeface="Arial Unicode MS"/>
              </a:rPr>
              <a:t>mean AUC delta</a:t>
            </a:r>
          </a:p>
        </p:txBody>
      </p:sp>
      <p:sp>
        <p:nvSpPr>
          <p:cNvPr id="8" name="">
            <a:extLst xmlns:a="http://schemas.openxmlformats.org/drawingml/2006/main">
              <a:ext uri="{FF2B5EF4-FFF2-40B4-BE49-F238E27FC236}">
                <a16:creationId xmlns:a16="http://schemas.microsoft.com/office/drawing/2014/main" id="{9CE59997-10E4-4FE8-B4B4-12BB51890C0C}"/>
              </a:ext>
            </a:extLst>
          </p:cNvPr>
          <p:cNvSpPr>
            <a:spLocks xmlns:a="http://schemas.openxmlformats.org/drawingml/2006/main" noGrp="1"/>
          </p:cNvSpPr>
          <p:nvPr/>
        </p:nvSpPr>
        <p:spPr>
          <a:xfrm xmlns:a="http://schemas.openxmlformats.org/drawingml/2006/main">
            <a:off x="1276350" y="3314700"/>
            <a:ext cx="28575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3530"/>
          </a:bodyPr>
          <a:lstStyle xmlns:a="http://schemas.openxmlformats.org/drawingml/2006/main"/>
          <a:p xmlns:a="http://schemas.openxmlformats.org/drawingml/2006/main">
            <a:pPr algn="ctr">
              <a:lnSpc>
                <a:spcPct val="108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95% CI</a:t>
            </a:r>
          </a:p>
          <a:p xmlns:a="http://schemas.openxmlformats.org/drawingml/2006/main">
            <a:pPr algn="ctr">
              <a:lnSpc>
                <a:spcPct val="108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[-2.927, +0.518]</a:t>
            </a:r>
          </a:p>
          <a:p xmlns:a="http://schemas.openxmlformats.org/drawingml/2006/main">
            <a:r>
              <a:t/>
            </a:r>
          </a:p>
          <a:p xmlns:a="http://schemas.openxmlformats.org/drawingml/2006/main">
            <a:pPr algn="ctr">
              <a:lnSpc>
                <a:spcPct val="108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win / non-loss</a:t>
            </a:r>
          </a:p>
          <a:p xmlns:a="http://schemas.openxmlformats.org/drawingml/2006/main">
            <a:pPr algn="ctr">
              <a:lnSpc>
                <a:spcPct val="108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1/4 · 1/4</a:t>
            </a:r>
          </a:p>
          <a:p xmlns:a="http://schemas.openxmlformats.org/drawingml/2006/main">
            <a:r>
              <a:t/>
            </a:r>
          </a:p>
          <a:p xmlns:a="http://schemas.openxmlformats.org/drawingml/2006/main">
            <a:pPr algn="ctr">
              <a:lnSpc>
                <a:spcPct val="108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final-best delta</a:t>
            </a:r>
          </a:p>
          <a:p xmlns:a="http://schemas.openxmlformats.org/drawingml/2006/main">
            <a:pPr algn="ctr">
              <a:lnSpc>
                <a:spcPct val="108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-1.61</a:t>
            </a:r>
          </a:p>
        </p:txBody>
      </p:sp>
      <p:sp>
        <p:nvSpPr>
          <p:cNvPr id="9" name="">
            <a:extLst xmlns:a="http://schemas.openxmlformats.org/drawingml/2006/main">
              <a:ext uri="{FF2B5EF4-FFF2-40B4-BE49-F238E27FC236}">
                <a16:creationId xmlns:a16="http://schemas.microsoft.com/office/drawing/2014/main" id="{3143E8DC-B3C8-433D-886D-CB341083C99F}"/>
              </a:ext>
            </a:extLst>
          </p:cNvPr>
          <p:cNvSpPr>
            <a:spLocks xmlns:a="http://schemas.openxmlformats.org/drawingml/2006/main" noGrp="1"/>
          </p:cNvSpPr>
          <p:nvPr/>
        </p:nvSpPr>
        <p:spPr>
          <a:xfrm xmlns:a="http://schemas.openxmlformats.org/drawingml/2006/main">
            <a:off x="5600700" y="1676400"/>
            <a:ext cx="5638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75" b="1">
                <a:solidFill>
                  <a:srgbClr val="C94D4D"/>
                </a:solidFill>
                <a:latin typeface="Arial Unicode MS"/>
                <a:ea typeface="Arial Unicode MS"/>
                <a:cs typeface="Arial Unicode MS"/>
              </a:defRPr>
            </a:pPr>
            <a:r>
              <a:rPr sz="1875" b="1">
                <a:solidFill>
                  <a:srgbClr val="C94D4D"/>
                </a:solidFill>
                <a:latin typeface="Arial Unicode MS"/>
                <a:ea typeface="Arial Unicode MS"/>
                <a:cs typeface="Arial Unicode MS"/>
              </a:rPr>
              <a:t>最大失败：Morpholine-tBuBrettPhos</a:t>
            </a:r>
          </a:p>
        </p:txBody>
      </p:sp>
      <p:sp>
        <p:nvSpPr>
          <p:cNvPr id="10" name="">
            <a:extLst xmlns:a="http://schemas.openxmlformats.org/drawingml/2006/main">
              <a:ext uri="{FF2B5EF4-FFF2-40B4-BE49-F238E27FC236}">
                <a16:creationId xmlns:a16="http://schemas.microsoft.com/office/drawing/2014/main" id="{1AEFCFF1-4DAC-4726-8883-EA9D3B94DD44}"/>
              </a:ext>
            </a:extLst>
          </p:cNvPr>
          <p:cNvSpPr>
            <a:spLocks xmlns:a="http://schemas.openxmlformats.org/drawingml/2006/main" noGrp="1"/>
          </p:cNvSpPr>
          <p:nvPr/>
        </p:nvSpPr>
        <p:spPr>
          <a:xfrm xmlns:a="http://schemas.openxmlformats.org/drawingml/2006/main">
            <a:off x="5600700" y="2324100"/>
            <a:ext cx="56388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0000"/>
              </a:lnSpc>
              <a:buNone/>
              <a:defRPr sz="1650" b="0">
                <a:solidFill>
                  <a:srgbClr val="17232E"/>
                </a:solidFill>
                <a:latin typeface="Arial Unicode MS"/>
                <a:ea typeface="Arial Unicode MS"/>
                <a:cs typeface="Arial Unicode MS"/>
              </a:defRPr>
            </a:pPr>
            <a:r>
              <a:rPr sz="1650" b="0">
                <a:solidFill>
                  <a:srgbClr val="17232E"/>
                </a:solidFill>
                <a:latin typeface="Arial Unicode MS"/>
                <a:ea typeface="Arial Unicode MS"/>
                <a:cs typeface="Arial Unicode MS"/>
              </a:rPr>
              <a:t>• 新 substrate 没有 same-substrate source</a:t>
            </a:r>
          </a:p>
          <a:p xmlns:a="http://schemas.openxmlformats.org/drawingml/2006/main">
            <a:pPr algn="l">
              <a:lnSpc>
                <a:spcPct val="120000"/>
              </a:lnSpc>
              <a:buNone/>
              <a:defRPr sz="1650" b="0">
                <a:solidFill>
                  <a:srgbClr val="17232E"/>
                </a:solidFill>
                <a:latin typeface="Arial Unicode MS"/>
                <a:ea typeface="Arial Unicode MS"/>
                <a:cs typeface="Arial Unicode MS"/>
              </a:defRPr>
            </a:pPr>
            <a:r>
              <a:rPr sz="1650" b="0">
                <a:solidFill>
                  <a:srgbClr val="17232E"/>
                </a:solidFill>
                <a:latin typeface="Arial Unicode MS"/>
                <a:ea typeface="Arial Unicode MS"/>
                <a:cs typeface="Arial Unicode MS"/>
              </a:rPr>
              <a:t>• 只能退回 same-precatalyst fallback</a:t>
            </a:r>
          </a:p>
          <a:p xmlns:a="http://schemas.openxmlformats.org/drawingml/2006/main">
            <a:pPr algn="l">
              <a:lnSpc>
                <a:spcPct val="120000"/>
              </a:lnSpc>
              <a:buNone/>
              <a:defRPr sz="1650" b="0">
                <a:solidFill>
                  <a:srgbClr val="17232E"/>
                </a:solidFill>
                <a:latin typeface="Arial Unicode MS"/>
                <a:ea typeface="Arial Unicode MS"/>
                <a:cs typeface="Arial Unicode MS"/>
              </a:defRPr>
            </a:pPr>
            <a:r>
              <a:rPr sz="1650" b="0">
                <a:solidFill>
                  <a:srgbClr val="17232E"/>
                </a:solidFill>
                <a:latin typeface="Arial Unicode MS"/>
                <a:ea typeface="Arial Unicode MS"/>
                <a:cs typeface="Arial Unicode MS"/>
              </a:rPr>
              <a:t>• v1 没有限制多样性点必须处于 source 高质量区域</a:t>
            </a:r>
          </a:p>
          <a:p xmlns:a="http://schemas.openxmlformats.org/drawingml/2006/main">
            <a:pPr algn="l">
              <a:lnSpc>
                <a:spcPct val="120000"/>
              </a:lnSpc>
              <a:buNone/>
              <a:defRPr sz="1650" b="0">
                <a:solidFill>
                  <a:srgbClr val="17232E"/>
                </a:solidFill>
                <a:latin typeface="Arial Unicode MS"/>
                <a:ea typeface="Arial Unicode MS"/>
                <a:cs typeface="Arial Unicode MS"/>
              </a:defRPr>
            </a:pPr>
            <a:r>
              <a:rPr sz="1650" b="0">
                <a:solidFill>
                  <a:srgbClr val="17232E"/>
                </a:solidFill>
                <a:latin typeface="Arial Unicode MS"/>
                <a:ea typeface="Arial Unicode MS"/>
                <a:cs typeface="Arial Unicode MS"/>
              </a:rPr>
              <a:t>• 开发阶段没有单独隔离 fallback 风险</a:t>
            </a:r>
          </a:p>
        </p:txBody>
      </p:sp>
      <p:sp>
        <p:nvSpPr>
          <p:cNvPr id="11" name="">
            <a:extLst xmlns:a="http://schemas.openxmlformats.org/drawingml/2006/main">
              <a:ext uri="{FF2B5EF4-FFF2-40B4-BE49-F238E27FC236}">
                <a16:creationId xmlns:a16="http://schemas.microsoft.com/office/drawing/2014/main" id="{5D649CD9-A6BA-4B7A-942E-A00BEA6D745D}"/>
              </a:ext>
            </a:extLst>
          </p:cNvPr>
          <p:cNvSpPr>
            <a:spLocks xmlns:a="http://schemas.openxmlformats.org/drawingml/2006/main" noGrp="1"/>
          </p:cNvSpPr>
          <p:nvPr/>
        </p:nvSpPr>
        <p:spPr>
          <a:xfrm xmlns:a="http://schemas.openxmlformats.org/drawingml/2006/main">
            <a:off x="5600700" y="4686300"/>
            <a:ext cx="5638800" cy="819150"/>
          </a:xfrm>
          <a:prstGeom xmlns:a="http://schemas.openxmlformats.org/drawingml/2006/main" prst="rect">
            <a:avLst/>
          </a:prstGeom>
          <a:solidFill xmlns:a="http://schemas.openxmlformats.org/drawingml/2006/main">
            <a:srgbClr val="17324D"/>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7E93CC69-349B-4DFA-9888-44AB94B25CCC}"/>
              </a:ext>
            </a:extLst>
          </p:cNvPr>
          <p:cNvSpPr>
            <a:spLocks xmlns:a="http://schemas.openxmlformats.org/drawingml/2006/main" noGrp="1"/>
          </p:cNvSpPr>
          <p:nvPr/>
        </p:nvSpPr>
        <p:spPr>
          <a:xfrm xmlns:a="http://schemas.openxmlformats.org/drawingml/2006/main">
            <a:off x="5829300" y="4886325"/>
            <a:ext cx="5181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6000"/>
              </a:lnSpc>
              <a:buNone/>
              <a:defRPr sz="1725" b="1">
                <a:solidFill>
                  <a:srgbClr val="FFFFFF"/>
                </a:solidFill>
                <a:latin typeface="Arial Unicode MS"/>
                <a:ea typeface="Arial Unicode MS"/>
                <a:cs typeface="Arial Unicode MS"/>
              </a:defRPr>
            </a:pPr>
            <a:r>
              <a:rPr sz="1725" b="1">
                <a:solidFill>
                  <a:srgbClr val="FFFFFF"/>
                </a:solidFill>
                <a:latin typeface="Arial Unicode MS"/>
                <a:ea typeface="Arial Unicode MS"/>
                <a:cs typeface="Arial Unicode MS"/>
              </a:rPr>
              <a:t>开发集平均正向，不等于冻结策略能泛化。</a:t>
            </a:r>
          </a:p>
        </p:txBody>
      </p:sp>
      <p:sp>
        <p:nvSpPr>
          <p:cNvPr id="13" name="">
            <a:extLst xmlns:a="http://schemas.openxmlformats.org/drawingml/2006/main">
              <a:ext uri="{FF2B5EF4-FFF2-40B4-BE49-F238E27FC236}">
                <a16:creationId xmlns:a16="http://schemas.microsoft.com/office/drawing/2014/main" id="{58FF417C-9095-40CB-8E9E-64E67DF58E6A}"/>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frozen evidence update · 2026-08-12</a:t>
            </a:r>
          </a:p>
        </p:txBody>
      </p:sp>
    </p:spTree>
    <p:extLst>
      <p:ext uri="{BB962C8B-B14F-4D97-AF65-F5344CB8AC3E}">
        <p14:creationId xmlns:p14="http://schemas.microsoft.com/office/powerpoint/2010/main" val="1815522375"/>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328E4971-B7BD-4769-ACF8-1CCDCECB07F1}"/>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FAILURE-DRIVEN REVISION</a:t>
            </a:r>
          </a:p>
        </p:txBody>
      </p:sp>
      <p:sp>
        <p:nvSpPr>
          <p:cNvPr id="2" name="">
            <a:extLst xmlns:a="http://schemas.openxmlformats.org/drawingml/2006/main">
              <a:ext uri="{FF2B5EF4-FFF2-40B4-BE49-F238E27FC236}">
                <a16:creationId xmlns:a16="http://schemas.microsoft.com/office/drawing/2014/main" id="{1618CC40-5D78-4C87-A2A8-4A6BF4969052}"/>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20</a:t>
            </a:r>
          </a:p>
        </p:txBody>
      </p:sp>
      <p:sp>
        <p:nvSpPr>
          <p:cNvPr id="3" name="">
            <a:extLst xmlns:a="http://schemas.openxmlformats.org/drawingml/2006/main">
              <a:ext uri="{FF2B5EF4-FFF2-40B4-BE49-F238E27FC236}">
                <a16:creationId xmlns:a16="http://schemas.microsoft.com/office/drawing/2014/main" id="{967D3C6A-15C1-4185-A805-0C2E7481EA28}"/>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700" b="1">
                <a:solidFill>
                  <a:srgbClr val="17232E"/>
                </a:solidFill>
                <a:latin typeface="Arial Unicode MS"/>
                <a:ea typeface="Arial Unicode MS"/>
                <a:cs typeface="Arial Unicode MS"/>
              </a:defRPr>
            </a:pPr>
            <a:r>
              <a:rPr sz="2700" b="1">
                <a:solidFill>
                  <a:srgbClr val="17232E"/>
                </a:solidFill>
                <a:latin typeface="Arial Unicode MS"/>
                <a:ea typeface="Arial Unicode MS"/>
                <a:cs typeface="Arial Unicode MS"/>
              </a:rPr>
              <a:t>v2 没有隐藏失败，而是把失败编译成新的约束</a:t>
            </a:r>
          </a:p>
        </p:txBody>
      </p:sp>
      <p:sp>
        <p:nvSpPr>
          <p:cNvPr id="4" name="">
            <a:extLst xmlns:a="http://schemas.openxmlformats.org/drawingml/2006/main">
              <a:ext uri="{FF2B5EF4-FFF2-40B4-BE49-F238E27FC236}">
                <a16:creationId xmlns:a16="http://schemas.microsoft.com/office/drawing/2014/main" id="{99947EFD-58FC-4CDF-B338-1DE3ABF58189}"/>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6384E070-64A6-4D7C-A8B8-6CE3E62046CF}"/>
              </a:ext>
            </a:extLst>
          </p:cNvPr>
          <p:cNvSpPr>
            <a:spLocks xmlns:a="http://schemas.openxmlformats.org/drawingml/2006/main" noGrp="1"/>
          </p:cNvSpPr>
          <p:nvPr/>
        </p:nvSpPr>
        <p:spPr>
          <a:xfrm xmlns:a="http://schemas.openxmlformats.org/drawingml/2006/main">
            <a:off x="647700" y="1676400"/>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75" b="1">
                <a:solidFill>
                  <a:srgbClr val="C94D4D"/>
                </a:solidFill>
                <a:latin typeface="Arial Unicode MS"/>
                <a:ea typeface="Arial Unicode MS"/>
                <a:cs typeface="Arial Unicode MS"/>
              </a:defRPr>
            </a:pPr>
            <a:r>
              <a:rPr sz="1875" b="1">
                <a:solidFill>
                  <a:srgbClr val="C94D4D"/>
                </a:solidFill>
                <a:latin typeface="Arial Unicode MS"/>
                <a:ea typeface="Arial Unicode MS"/>
                <a:cs typeface="Arial Unicode MS"/>
              </a:rPr>
              <a:t>v1 failure trace</a:t>
            </a:r>
          </a:p>
        </p:txBody>
      </p:sp>
      <p:sp>
        <p:nvSpPr>
          <p:cNvPr id="6" name="">
            <a:extLst xmlns:a="http://schemas.openxmlformats.org/drawingml/2006/main">
              <a:ext uri="{FF2B5EF4-FFF2-40B4-BE49-F238E27FC236}">
                <a16:creationId xmlns:a16="http://schemas.microsoft.com/office/drawing/2014/main" id="{CB81AC9E-F39B-4944-8D1C-05E398F1648C}"/>
              </a:ext>
            </a:extLst>
          </p:cNvPr>
          <p:cNvSpPr>
            <a:spLocks xmlns:a="http://schemas.openxmlformats.org/drawingml/2006/main" noGrp="1"/>
          </p:cNvSpPr>
          <p:nvPr/>
        </p:nvSpPr>
        <p:spPr>
          <a:xfrm xmlns:a="http://schemas.openxmlformats.org/drawingml/2006/main">
            <a:off x="647700" y="2152650"/>
            <a:ext cx="4762500" cy="2667000"/>
          </a:xfrm>
          <a:prstGeom xmlns:a="http://schemas.openxmlformats.org/drawingml/2006/main" prst="rect">
            <a:avLst/>
          </a:prstGeom>
          <a:solidFill xmlns:a="http://schemas.openxmlformats.org/drawingml/2006/main">
            <a:srgbClr val="FBECE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42EEC018-9D4E-426D-B6AF-A270B0855F9C}"/>
              </a:ext>
            </a:extLst>
          </p:cNvPr>
          <p:cNvSpPr>
            <a:spLocks xmlns:a="http://schemas.openxmlformats.org/drawingml/2006/main" noGrp="1"/>
          </p:cNvSpPr>
          <p:nvPr/>
        </p:nvSpPr>
        <p:spPr>
          <a:xfrm xmlns:a="http://schemas.openxmlformats.org/drawingml/2006/main">
            <a:off x="914400" y="2457450"/>
            <a:ext cx="42291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0000"/>
              </a:lnSpc>
              <a:buNone/>
              <a:defRPr sz="1575" b="0">
                <a:solidFill>
                  <a:srgbClr val="17232E"/>
                </a:solidFill>
                <a:latin typeface="Arial Unicode MS"/>
                <a:ea typeface="Arial Unicode MS"/>
                <a:cs typeface="Arial Unicode MS"/>
              </a:defRPr>
            </a:pPr>
            <a:r>
              <a:rPr sz="1575" b="0">
                <a:solidFill>
                  <a:srgbClr val="17232E"/>
                </a:solidFill>
                <a:latin typeface="Arial Unicode MS"/>
                <a:ea typeface="Arial Unicode MS"/>
                <a:cs typeface="Arial Unicode MS"/>
              </a:rPr>
              <a:t>1. 第 1 点通常位于 source 高排名区域</a:t>
            </a:r>
          </a:p>
          <a:p xmlns:a="http://schemas.openxmlformats.org/drawingml/2006/main">
            <a:pPr algn="l">
              <a:lnSpc>
                <a:spcPct val="120000"/>
              </a:lnSpc>
              <a:buNone/>
              <a:defRPr sz="1575" b="0">
                <a:solidFill>
                  <a:srgbClr val="17232E"/>
                </a:solidFill>
                <a:latin typeface="Arial Unicode MS"/>
                <a:ea typeface="Arial Unicode MS"/>
                <a:cs typeface="Arial Unicode MS"/>
              </a:defRPr>
            </a:pPr>
            <a:r>
              <a:rPr sz="1575" b="0">
                <a:solidFill>
                  <a:srgbClr val="17232E"/>
                </a:solidFill>
                <a:latin typeface="Arial Unicode MS"/>
                <a:ea typeface="Arial Unicode MS"/>
                <a:cs typeface="Arial Unicode MS"/>
              </a:rPr>
              <a:t>2. 第 2–3 点受到 diversity 加权影响</a:t>
            </a:r>
          </a:p>
          <a:p xmlns:a="http://schemas.openxmlformats.org/drawingml/2006/main">
            <a:pPr algn="l">
              <a:lnSpc>
                <a:spcPct val="120000"/>
              </a:lnSpc>
              <a:buNone/>
              <a:defRPr sz="1575" b="0">
                <a:solidFill>
                  <a:srgbClr val="17232E"/>
                </a:solidFill>
                <a:latin typeface="Arial Unicode MS"/>
                <a:ea typeface="Arial Unicode MS"/>
                <a:cs typeface="Arial Unicode MS"/>
              </a:defRPr>
            </a:pPr>
            <a:r>
              <a:rPr sz="1575" b="0">
                <a:solidFill>
                  <a:srgbClr val="17232E"/>
                </a:solidFill>
                <a:latin typeface="Arial Unicode MS"/>
                <a:ea typeface="Arial Unicode MS"/>
                <a:cs typeface="Arial Unicode MS"/>
              </a:rPr>
              <a:t>3. 远离已选点，但可能进入 source 低质量区</a:t>
            </a:r>
          </a:p>
          <a:p xmlns:a="http://schemas.openxmlformats.org/drawingml/2006/main">
            <a:pPr algn="l">
              <a:lnSpc>
                <a:spcPct val="120000"/>
              </a:lnSpc>
              <a:buNone/>
              <a:defRPr sz="1575" b="0">
                <a:solidFill>
                  <a:srgbClr val="17232E"/>
                </a:solidFill>
                <a:latin typeface="Arial Unicode MS"/>
                <a:ea typeface="Arial Unicode MS"/>
                <a:cs typeface="Arial Unicode MS"/>
              </a:defRPr>
            </a:pPr>
            <a:r>
              <a:rPr sz="1575" b="0">
                <a:solidFill>
                  <a:srgbClr val="17232E"/>
                </a:solidFill>
                <a:latin typeface="Arial Unicode MS"/>
                <a:ea typeface="Arial Unicode MS"/>
                <a:cs typeface="Arial Unicode MS"/>
              </a:rPr>
              <a:t>4. 新 substrate 下 fallback 风险被放大</a:t>
            </a:r>
          </a:p>
        </p:txBody>
      </p:sp>
      <p:sp>
        <p:nvSpPr>
          <p:cNvPr id="8" name="">
            <a:extLst xmlns:a="http://schemas.openxmlformats.org/drawingml/2006/main">
              <a:ext uri="{FF2B5EF4-FFF2-40B4-BE49-F238E27FC236}">
                <a16:creationId xmlns:a16="http://schemas.microsoft.com/office/drawing/2014/main" id="{78BEF223-8B0F-4D5F-8465-A38F82E7543A}"/>
              </a:ext>
            </a:extLst>
          </p:cNvPr>
          <p:cNvSpPr>
            <a:spLocks xmlns:a="http://schemas.openxmlformats.org/drawingml/2006/main" noGrp="1"/>
          </p:cNvSpPr>
          <p:nvPr/>
        </p:nvSpPr>
        <p:spPr>
          <a:xfrm xmlns:a="http://schemas.openxmlformats.org/drawingml/2006/main">
            <a:off x="5772150" y="3181350"/>
            <a:ext cx="647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9337"/>
          </a:bodyPr>
          <a:lstStyle xmlns:a="http://schemas.openxmlformats.org/drawingml/2006/main"/>
          <a:p xmlns:a="http://schemas.openxmlformats.org/drawingml/2006/main">
            <a:pPr algn="ctr">
              <a:lnSpc>
                <a:spcPct val="106000"/>
              </a:lnSpc>
              <a:buNone/>
              <a:defRPr sz="3300" b="1">
                <a:solidFill>
                  <a:srgbClr val="2F6FB6"/>
                </a:solidFill>
                <a:latin typeface="Arial Unicode MS"/>
                <a:ea typeface="Arial Unicode MS"/>
                <a:cs typeface="Arial Unicode MS"/>
              </a:defRPr>
            </a:pPr>
            <a:r>
              <a:rPr sz="3300" b="1">
                <a:solidFill>
                  <a:srgbClr val="2F6FB6"/>
                </a:solidFill>
                <a:latin typeface="Arial Unicode MS"/>
                <a:ea typeface="Arial Unicode MS"/>
                <a:cs typeface="Arial Unicode MS"/>
              </a:rPr>
              <a:t>→</a:t>
            </a:r>
          </a:p>
        </p:txBody>
      </p:sp>
      <p:sp>
        <p:nvSpPr>
          <p:cNvPr id="9" name="">
            <a:extLst xmlns:a="http://schemas.openxmlformats.org/drawingml/2006/main">
              <a:ext uri="{FF2B5EF4-FFF2-40B4-BE49-F238E27FC236}">
                <a16:creationId xmlns:a16="http://schemas.microsoft.com/office/drawing/2014/main" id="{D722A92B-C0EA-4FCC-B647-40E6B02370DD}"/>
              </a:ext>
            </a:extLst>
          </p:cNvPr>
          <p:cNvSpPr>
            <a:spLocks xmlns:a="http://schemas.openxmlformats.org/drawingml/2006/main" noGrp="1"/>
          </p:cNvSpPr>
          <p:nvPr/>
        </p:nvSpPr>
        <p:spPr>
          <a:xfrm xmlns:a="http://schemas.openxmlformats.org/drawingml/2006/main">
            <a:off x="6705600" y="1676400"/>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75" b="1">
                <a:solidFill>
                  <a:srgbClr val="2C8A62"/>
                </a:solidFill>
                <a:latin typeface="Arial Unicode MS"/>
                <a:ea typeface="Arial Unicode MS"/>
                <a:cs typeface="Arial Unicode MS"/>
              </a:defRPr>
            </a:pPr>
            <a:r>
              <a:rPr sz="1875" b="1">
                <a:solidFill>
                  <a:srgbClr val="2C8A62"/>
                </a:solidFill>
                <a:latin typeface="Arial Unicode MS"/>
                <a:ea typeface="Arial Unicode MS"/>
                <a:cs typeface="Arial Unicode MS"/>
              </a:rPr>
              <a:t>v2 revision</a:t>
            </a:r>
          </a:p>
        </p:txBody>
      </p:sp>
      <p:sp>
        <p:nvSpPr>
          <p:cNvPr id="10" name="">
            <a:extLst xmlns:a="http://schemas.openxmlformats.org/drawingml/2006/main">
              <a:ext uri="{FF2B5EF4-FFF2-40B4-BE49-F238E27FC236}">
                <a16:creationId xmlns:a16="http://schemas.microsoft.com/office/drawing/2014/main" id="{C568DEFD-A24D-451D-948B-F04FC6AF8616}"/>
              </a:ext>
            </a:extLst>
          </p:cNvPr>
          <p:cNvSpPr>
            <a:spLocks xmlns:a="http://schemas.openxmlformats.org/drawingml/2006/main" noGrp="1"/>
          </p:cNvSpPr>
          <p:nvPr/>
        </p:nvSpPr>
        <p:spPr>
          <a:xfrm xmlns:a="http://schemas.openxmlformats.org/drawingml/2006/main">
            <a:off x="6705600" y="2152650"/>
            <a:ext cx="4762500" cy="2667000"/>
          </a:xfrm>
          <a:prstGeom xmlns:a="http://schemas.openxmlformats.org/drawingml/2006/main" prst="rect">
            <a:avLst/>
          </a:prstGeom>
          <a:solidFill xmlns:a="http://schemas.openxmlformats.org/drawingml/2006/main">
            <a:srgbClr val="EAF6F0"/>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E91B45E2-5DB7-49CD-AD61-C7B878BAE567}"/>
              </a:ext>
            </a:extLst>
          </p:cNvPr>
          <p:cNvSpPr>
            <a:spLocks xmlns:a="http://schemas.openxmlformats.org/drawingml/2006/main" noGrp="1"/>
          </p:cNvSpPr>
          <p:nvPr/>
        </p:nvSpPr>
        <p:spPr>
          <a:xfrm xmlns:a="http://schemas.openxmlformats.org/drawingml/2006/main">
            <a:off x="6972300" y="2457450"/>
            <a:ext cx="42291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0000"/>
              </a:lnSpc>
              <a:buNone/>
              <a:defRPr sz="1575" b="0">
                <a:solidFill>
                  <a:srgbClr val="17232E"/>
                </a:solidFill>
                <a:latin typeface="Arial Unicode MS"/>
                <a:ea typeface="Arial Unicode MS"/>
                <a:cs typeface="Arial Unicode MS"/>
              </a:defRPr>
            </a:pPr>
            <a:r>
              <a:rPr sz="1575" b="0">
                <a:solidFill>
                  <a:srgbClr val="17232E"/>
                </a:solidFill>
                <a:latin typeface="Arial Unicode MS"/>
                <a:ea typeface="Arial Unicode MS"/>
                <a:cs typeface="Arial Unicode MS"/>
              </a:rPr>
              <a:t>1. 第 1 点仍取 source consensus 最优</a:t>
            </a:r>
          </a:p>
          <a:p xmlns:a="http://schemas.openxmlformats.org/drawingml/2006/main">
            <a:pPr algn="l">
              <a:lnSpc>
                <a:spcPct val="120000"/>
              </a:lnSpc>
              <a:buNone/>
              <a:defRPr sz="1575" b="0">
                <a:solidFill>
                  <a:srgbClr val="17232E"/>
                </a:solidFill>
                <a:latin typeface="Arial Unicode MS"/>
                <a:ea typeface="Arial Unicode MS"/>
                <a:cs typeface="Arial Unicode MS"/>
              </a:defRPr>
            </a:pPr>
            <a:r>
              <a:rPr sz="1575" b="0">
                <a:solidFill>
                  <a:srgbClr val="17232E"/>
                </a:solidFill>
                <a:latin typeface="Arial Unicode MS"/>
                <a:ea typeface="Arial Unicode MS"/>
                <a:cs typeface="Arial Unicode MS"/>
              </a:rPr>
              <a:t>2. 建立 source top-50% admissible region</a:t>
            </a:r>
          </a:p>
          <a:p xmlns:a="http://schemas.openxmlformats.org/drawingml/2006/main">
            <a:pPr algn="l">
              <a:lnSpc>
                <a:spcPct val="120000"/>
              </a:lnSpc>
              <a:buNone/>
              <a:defRPr sz="1575" b="0">
                <a:solidFill>
                  <a:srgbClr val="17232E"/>
                </a:solidFill>
                <a:latin typeface="Arial Unicode MS"/>
                <a:ea typeface="Arial Unicode MS"/>
                <a:cs typeface="Arial Unicode MS"/>
              </a:defRPr>
            </a:pPr>
            <a:r>
              <a:rPr sz="1575" b="0">
                <a:solidFill>
                  <a:srgbClr val="17232E"/>
                </a:solidFill>
                <a:latin typeface="Arial Unicode MS"/>
                <a:ea typeface="Arial Unicode MS"/>
                <a:cs typeface="Arial Unicode MS"/>
              </a:rPr>
              <a:t>3. 第 2–3 点只在高质量区域内做 maximin</a:t>
            </a:r>
          </a:p>
          <a:p xmlns:a="http://schemas.openxmlformats.org/drawingml/2006/main">
            <a:pPr algn="l">
              <a:lnSpc>
                <a:spcPct val="120000"/>
              </a:lnSpc>
              <a:buNone/>
              <a:defRPr sz="1575" b="0">
                <a:solidFill>
                  <a:srgbClr val="17232E"/>
                </a:solidFill>
                <a:latin typeface="Arial Unicode MS"/>
                <a:ea typeface="Arial Unicode MS"/>
                <a:cs typeface="Arial Unicode MS"/>
              </a:defRPr>
            </a:pPr>
            <a:r>
              <a:rPr sz="1575" b="0">
                <a:solidFill>
                  <a:srgbClr val="17232E"/>
                </a:solidFill>
                <a:latin typeface="Arial Unicode MS"/>
                <a:ea typeface="Arial Unicode MS"/>
                <a:cs typeface="Arial Unicode MS"/>
              </a:rPr>
              <a:t>4. post-hoc stress 与 external evidence 分开</a:t>
            </a:r>
          </a:p>
        </p:txBody>
      </p:sp>
      <p:sp>
        <p:nvSpPr>
          <p:cNvPr id="12" name="">
            <a:extLst xmlns:a="http://schemas.openxmlformats.org/drawingml/2006/main">
              <a:ext uri="{FF2B5EF4-FFF2-40B4-BE49-F238E27FC236}">
                <a16:creationId xmlns:a16="http://schemas.microsoft.com/office/drawing/2014/main" id="{B864656B-25C8-45F2-9E1E-9AC81EA58DB4}"/>
              </a:ext>
            </a:extLst>
          </p:cNvPr>
          <p:cNvSpPr>
            <a:spLocks xmlns:a="http://schemas.openxmlformats.org/drawingml/2006/main" noGrp="1"/>
          </p:cNvSpPr>
          <p:nvPr/>
        </p:nvSpPr>
        <p:spPr>
          <a:xfrm xmlns:a="http://schemas.openxmlformats.org/drawingml/2006/main">
            <a:off x="647700" y="5219700"/>
            <a:ext cx="10896600" cy="609600"/>
          </a:xfrm>
          <a:prstGeom xmlns:a="http://schemas.openxmlformats.org/drawingml/2006/main" prst="rect">
            <a:avLst/>
          </a:prstGeom>
          <a:solidFill xmlns:a="http://schemas.openxmlformats.org/drawingml/2006/main">
            <a:srgbClr val="F1F4F6"/>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B7CC6A73-65FB-4609-941D-AB688FC6FEB7}"/>
              </a:ext>
            </a:extLst>
          </p:cNvPr>
          <p:cNvSpPr>
            <a:spLocks xmlns:a="http://schemas.openxmlformats.org/drawingml/2006/main" noGrp="1"/>
          </p:cNvSpPr>
          <p:nvPr/>
        </p:nvSpPr>
        <p:spPr>
          <a:xfrm xmlns:a="http://schemas.openxmlformats.org/drawingml/2006/main">
            <a:off x="819150" y="5381625"/>
            <a:ext cx="10553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1575" b="1">
                <a:solidFill>
                  <a:srgbClr val="17324D"/>
                </a:solidFill>
                <a:latin typeface="Arial Unicode MS"/>
                <a:ea typeface="Arial Unicode MS"/>
                <a:cs typeface="Arial Unicode MS"/>
              </a:defRPr>
            </a:pPr>
            <a:r>
              <a:rPr sz="1575" b="1">
                <a:solidFill>
                  <a:srgbClr val="17324D"/>
                </a:solidFill>
                <a:latin typeface="Arial Unicode MS"/>
                <a:ea typeface="Arial Unicode MS"/>
                <a:cs typeface="Arial Unicode MS"/>
              </a:rPr>
              <a:t>修复目标：让 diversity 扩大覆盖，但不跨出 source evidence 支持的质量边界。</a:t>
            </a:r>
          </a:p>
        </p:txBody>
      </p:sp>
      <p:sp>
        <p:nvSpPr>
          <p:cNvPr id="14" name="">
            <a:extLst xmlns:a="http://schemas.openxmlformats.org/drawingml/2006/main">
              <a:ext uri="{FF2B5EF4-FFF2-40B4-BE49-F238E27FC236}">
                <a16:creationId xmlns:a16="http://schemas.microsoft.com/office/drawing/2014/main" id="{7FE8BD3C-0999-40B7-A1D8-04A28D3131E4}"/>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frozen evidence update · 2026-08-12</a:t>
            </a:r>
          </a:p>
        </p:txBody>
      </p:sp>
    </p:spTree>
    <p:extLst>
      <p:ext uri="{BB962C8B-B14F-4D97-AF65-F5344CB8AC3E}">
        <p14:creationId xmlns:p14="http://schemas.microsoft.com/office/powerpoint/2010/main" val="1119818135"/>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C71FE71-49FC-414F-A5B1-DDE4E86D9CE6}"/>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EVIDENCE CHAIN</a:t>
            </a:r>
          </a:p>
        </p:txBody>
      </p:sp>
      <p:sp>
        <p:nvSpPr>
          <p:cNvPr id="2" name="">
            <a:extLst xmlns:a="http://schemas.openxmlformats.org/drawingml/2006/main">
              <a:ext uri="{FF2B5EF4-FFF2-40B4-BE49-F238E27FC236}">
                <a16:creationId xmlns:a16="http://schemas.microsoft.com/office/drawing/2014/main" id="{4ADEBED6-D281-4AFF-94C1-C0B8607BD57D}"/>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21</a:t>
            </a:r>
          </a:p>
        </p:txBody>
      </p:sp>
      <p:sp>
        <p:nvSpPr>
          <p:cNvPr id="3" name="">
            <a:extLst xmlns:a="http://schemas.openxmlformats.org/drawingml/2006/main">
              <a:ext uri="{FF2B5EF4-FFF2-40B4-BE49-F238E27FC236}">
                <a16:creationId xmlns:a16="http://schemas.microsoft.com/office/drawing/2014/main" id="{164B2F83-F305-453D-984C-AE67BFC862F5}"/>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700" b="1">
                <a:solidFill>
                  <a:srgbClr val="17232E"/>
                </a:solidFill>
                <a:latin typeface="Arial Unicode MS"/>
                <a:ea typeface="Arial Unicode MS"/>
                <a:cs typeface="Arial Unicode MS"/>
              </a:defRPr>
            </a:pPr>
            <a:r>
              <a:rPr sz="2700" b="1">
                <a:solidFill>
                  <a:srgbClr val="17232E"/>
                </a:solidFill>
                <a:latin typeface="Arial Unicode MS"/>
                <a:ea typeface="Arial Unicode MS"/>
                <a:cs typeface="Arial Unicode MS"/>
              </a:rPr>
              <a:t>开发正向不等于泛化；外部验证才真正改变结论</a:t>
            </a:r>
          </a:p>
        </p:txBody>
      </p:sp>
      <p:sp>
        <p:nvSpPr>
          <p:cNvPr id="4" name="">
            <a:extLst xmlns:a="http://schemas.openxmlformats.org/drawingml/2006/main">
              <a:ext uri="{FF2B5EF4-FFF2-40B4-BE49-F238E27FC236}">
                <a16:creationId xmlns:a16="http://schemas.microsoft.com/office/drawing/2014/main" id="{C07B9037-AB23-4426-B034-171703B3334A}"/>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88f2bf63e90d46eb"/>
          <a:stretch xmlns:a="http://schemas.openxmlformats.org/drawingml/2006/main"/>
        </p:blipFill>
        <p:spPr>
          <a:xfrm xmlns:a="http://schemas.openxmlformats.org/drawingml/2006/main">
            <a:off x="1651959" y="1238250"/>
            <a:ext cx="8888081" cy="5143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C0BE3A0F-61F3-4688-B805-B71D5FF62292}"/>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frozen evidence update · 2026-08-12</a:t>
            </a:r>
          </a:p>
        </p:txBody>
      </p:sp>
    </p:spTree>
    <p:extLst>
      <p:ext uri="{BB962C8B-B14F-4D97-AF65-F5344CB8AC3E}">
        <p14:creationId xmlns:p14="http://schemas.microsoft.com/office/powerpoint/2010/main" val="1218593739"/>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51149494-FB27-46F5-9D9C-418CB0F5303A}"/>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EXTERNAL CONFIRMATION</a:t>
            </a:r>
          </a:p>
        </p:txBody>
      </p:sp>
      <p:sp>
        <p:nvSpPr>
          <p:cNvPr id="2" name="">
            <a:extLst xmlns:a="http://schemas.openxmlformats.org/drawingml/2006/main">
              <a:ext uri="{FF2B5EF4-FFF2-40B4-BE49-F238E27FC236}">
                <a16:creationId xmlns:a16="http://schemas.microsoft.com/office/drawing/2014/main" id="{FBAC599C-FF07-4458-B672-ACA4637998A7}"/>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22</a:t>
            </a:r>
          </a:p>
        </p:txBody>
      </p:sp>
      <p:sp>
        <p:nvSpPr>
          <p:cNvPr id="3" name="">
            <a:extLst xmlns:a="http://schemas.openxmlformats.org/drawingml/2006/main">
              <a:ext uri="{FF2B5EF4-FFF2-40B4-BE49-F238E27FC236}">
                <a16:creationId xmlns:a16="http://schemas.microsoft.com/office/drawing/2014/main" id="{02C8433E-F276-4727-9E41-D7654F3D9939}"/>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700" b="1">
                <a:solidFill>
                  <a:srgbClr val="17232E"/>
                </a:solidFill>
                <a:latin typeface="Arial Unicode MS"/>
                <a:ea typeface="Arial Unicode MS"/>
                <a:cs typeface="Arial Unicode MS"/>
              </a:defRPr>
            </a:pPr>
            <a:r>
              <a:rPr sz="2700" b="1">
                <a:solidFill>
                  <a:srgbClr val="17232E"/>
                </a:solidFill>
                <a:latin typeface="Arial Unicode MS"/>
                <a:ea typeface="Arial Unicode MS"/>
                <a:cs typeface="Arial Unicode MS"/>
              </a:rPr>
              <a:t>Suzuki MINLP2 的 outcome 在策略冻结前从未被加载</a:t>
            </a:r>
          </a:p>
        </p:txBody>
      </p:sp>
      <p:sp>
        <p:nvSpPr>
          <p:cNvPr id="4" name="">
            <a:extLst xmlns:a="http://schemas.openxmlformats.org/drawingml/2006/main">
              <a:ext uri="{FF2B5EF4-FFF2-40B4-BE49-F238E27FC236}">
                <a16:creationId xmlns:a16="http://schemas.microsoft.com/office/drawing/2014/main" id="{38D15C1C-C914-422B-92C1-B092844DBCE2}"/>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ADB4296-DE19-486C-AE39-F1497613FF0A}"/>
              </a:ext>
            </a:extLst>
          </p:cNvPr>
          <p:cNvSpPr>
            <a:spLocks xmlns:a="http://schemas.openxmlformats.org/drawingml/2006/main" noGrp="1"/>
          </p:cNvSpPr>
          <p:nvPr/>
        </p:nvSpPr>
        <p:spPr>
          <a:xfrm xmlns:a="http://schemas.openxmlformats.org/drawingml/2006/main">
            <a:off x="647700" y="1695450"/>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2F6FB6"/>
                </a:solidFill>
                <a:latin typeface="Arial Unicode MS"/>
                <a:ea typeface="Arial Unicode MS"/>
                <a:cs typeface="Arial Unicode MS"/>
              </a:defRPr>
            </a:pPr>
            <a:r>
              <a:rPr sz="1800" b="1">
                <a:solidFill>
                  <a:srgbClr val="2F6FB6"/>
                </a:solidFill>
                <a:latin typeface="Arial Unicode MS"/>
                <a:ea typeface="Arial Unicode MS"/>
                <a:cs typeface="Arial Unicode MS"/>
              </a:rPr>
              <a:t>Completed source</a:t>
            </a:r>
          </a:p>
        </p:txBody>
      </p:sp>
      <p:sp>
        <p:nvSpPr>
          <p:cNvPr id="6" name="">
            <a:extLst xmlns:a="http://schemas.openxmlformats.org/drawingml/2006/main">
              <a:ext uri="{FF2B5EF4-FFF2-40B4-BE49-F238E27FC236}">
                <a16:creationId xmlns:a16="http://schemas.microsoft.com/office/drawing/2014/main" id="{8C3BEB64-3A73-4155-9ACB-3EF72E9D1D88}"/>
              </a:ext>
            </a:extLst>
          </p:cNvPr>
          <p:cNvSpPr>
            <a:spLocks xmlns:a="http://schemas.openxmlformats.org/drawingml/2006/main" noGrp="1"/>
          </p:cNvSpPr>
          <p:nvPr/>
        </p:nvSpPr>
        <p:spPr>
          <a:xfrm xmlns:a="http://schemas.openxmlformats.org/drawingml/2006/main">
            <a:off x="647700" y="2152650"/>
            <a:ext cx="4095750" cy="2266950"/>
          </a:xfrm>
          <a:prstGeom xmlns:a="http://schemas.openxmlformats.org/drawingml/2006/main" prst="rect">
            <a:avLst/>
          </a:prstGeom>
          <a:solidFill xmlns:a="http://schemas.openxmlformats.org/drawingml/2006/main">
            <a:srgbClr val="EAF3FB"/>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189CA65-9814-45F8-B682-B078E8D98F53}"/>
              </a:ext>
            </a:extLst>
          </p:cNvPr>
          <p:cNvSpPr>
            <a:spLocks xmlns:a="http://schemas.openxmlformats.org/drawingml/2006/main" noGrp="1"/>
          </p:cNvSpPr>
          <p:nvPr/>
        </p:nvSpPr>
        <p:spPr>
          <a:xfrm xmlns:a="http://schemas.openxmlformats.org/drawingml/2006/main">
            <a:off x="876300" y="2457450"/>
            <a:ext cx="36385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6000"/>
              </a:lnSpc>
              <a:buNone/>
              <a:defRPr sz="2100" b="1">
                <a:solidFill>
                  <a:srgbClr val="17324D"/>
                </a:solidFill>
                <a:latin typeface="Arial Unicode MS"/>
                <a:ea typeface="Arial Unicode MS"/>
                <a:cs typeface="Arial Unicode MS"/>
              </a:defRPr>
            </a:pPr>
            <a:r>
              <a:rPr sz="2100" b="1">
                <a:solidFill>
                  <a:srgbClr val="17324D"/>
                </a:solidFill>
                <a:latin typeface="Arial Unicode MS"/>
                <a:ea typeface="Arial Unicode MS"/>
                <a:cs typeface="Arial Unicode MS"/>
              </a:rPr>
              <a:t>Baumgartner Suzuki</a:t>
            </a:r>
          </a:p>
          <a:p xmlns:a="http://schemas.openxmlformats.org/drawingml/2006/main">
            <a:pPr algn="ctr">
              <a:lnSpc>
                <a:spcPct val="106000"/>
              </a:lnSpc>
              <a:buNone/>
              <a:defRPr sz="2100" b="1">
                <a:solidFill>
                  <a:srgbClr val="17324D"/>
                </a:solidFill>
                <a:latin typeface="Arial Unicode MS"/>
                <a:ea typeface="Arial Unicode MS"/>
                <a:cs typeface="Arial Unicode MS"/>
              </a:defRPr>
            </a:pPr>
            <a:r>
              <a:rPr sz="2100" b="1">
                <a:solidFill>
                  <a:srgbClr val="17324D"/>
                </a:solidFill>
                <a:latin typeface="Arial Unicode MS"/>
                <a:ea typeface="Arial Unicode MS"/>
                <a:cs typeface="Arial Unicode MS"/>
              </a:rPr>
              <a:t>MINLP1 optimization</a:t>
            </a:r>
          </a:p>
        </p:txBody>
      </p:sp>
      <p:sp>
        <p:nvSpPr>
          <p:cNvPr id="8" name="">
            <a:extLst xmlns:a="http://schemas.openxmlformats.org/drawingml/2006/main">
              <a:ext uri="{FF2B5EF4-FFF2-40B4-BE49-F238E27FC236}">
                <a16:creationId xmlns:a16="http://schemas.microsoft.com/office/drawing/2014/main" id="{9C6CACAA-C847-4090-BA99-B7CC744BAA2D}"/>
              </a:ext>
            </a:extLst>
          </p:cNvPr>
          <p:cNvSpPr>
            <a:spLocks xmlns:a="http://schemas.openxmlformats.org/drawingml/2006/main" noGrp="1"/>
          </p:cNvSpPr>
          <p:nvPr/>
        </p:nvSpPr>
        <p:spPr>
          <a:xfrm xmlns:a="http://schemas.openxmlformats.org/drawingml/2006/main">
            <a:off x="876300" y="3486150"/>
            <a:ext cx="36385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1425" b="0">
                <a:solidFill>
                  <a:srgbClr val="687681"/>
                </a:solidFill>
                <a:latin typeface="Arial Unicode MS"/>
                <a:ea typeface="Arial Unicode MS"/>
                <a:cs typeface="Arial Unicode MS"/>
              </a:defRPr>
            </a:pPr>
            <a:r>
              <a:rPr sz="1425" b="0">
                <a:solidFill>
                  <a:srgbClr val="687681"/>
                </a:solidFill>
                <a:latin typeface="Arial Unicode MS"/>
                <a:ea typeface="Arial Unicode MS"/>
                <a:cs typeface="Arial Unicode MS"/>
              </a:rPr>
              <a:t>完整 outcomes 可见</a:t>
            </a:r>
          </a:p>
          <a:p xmlns:a="http://schemas.openxmlformats.org/drawingml/2006/main">
            <a:pPr algn="ctr">
              <a:lnSpc>
                <a:spcPct val="106000"/>
              </a:lnSpc>
              <a:buNone/>
              <a:defRPr sz="1425" b="0">
                <a:solidFill>
                  <a:srgbClr val="687681"/>
                </a:solidFill>
                <a:latin typeface="Arial Unicode MS"/>
                <a:ea typeface="Arial Unicode MS"/>
                <a:cs typeface="Arial Unicode MS"/>
              </a:defRPr>
            </a:pPr>
            <a:r>
              <a:rPr sz="1425" b="0">
                <a:solidFill>
                  <a:srgbClr val="687681"/>
                </a:solidFill>
                <a:latin typeface="Arial Unicode MS"/>
                <a:ea typeface="Arial Unicode MS"/>
                <a:cs typeface="Arial Unicode MS"/>
              </a:rPr>
              <a:t>训练 source expert</a:t>
            </a:r>
          </a:p>
        </p:txBody>
      </p:sp>
      <p:sp>
        <p:nvSpPr>
          <p:cNvPr id="9" name="">
            <a:extLst xmlns:a="http://schemas.openxmlformats.org/drawingml/2006/main">
              <a:ext uri="{FF2B5EF4-FFF2-40B4-BE49-F238E27FC236}">
                <a16:creationId xmlns:a16="http://schemas.microsoft.com/office/drawing/2014/main" id="{EAB6FF93-1B72-4DA2-AE90-369589CE10D3}"/>
              </a:ext>
            </a:extLst>
          </p:cNvPr>
          <p:cNvSpPr>
            <a:spLocks xmlns:a="http://schemas.openxmlformats.org/drawingml/2006/main" noGrp="1"/>
          </p:cNvSpPr>
          <p:nvPr/>
        </p:nvSpPr>
        <p:spPr>
          <a:xfrm xmlns:a="http://schemas.openxmlformats.org/drawingml/2006/main">
            <a:off x="5219700" y="3009900"/>
            <a:ext cx="762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2289"/>
          </a:bodyPr>
          <a:lstStyle xmlns:a="http://schemas.openxmlformats.org/drawingml/2006/main"/>
          <a:p xmlns:a="http://schemas.openxmlformats.org/drawingml/2006/main">
            <a:pPr algn="ctr">
              <a:lnSpc>
                <a:spcPct val="106000"/>
              </a:lnSpc>
              <a:buNone/>
              <a:defRPr sz="3450" b="1">
                <a:solidFill>
                  <a:srgbClr val="2F6FB6"/>
                </a:solidFill>
                <a:latin typeface="Arial Unicode MS"/>
                <a:ea typeface="Arial Unicode MS"/>
                <a:cs typeface="Arial Unicode MS"/>
              </a:defRPr>
            </a:pPr>
            <a:r>
              <a:rPr sz="3450" b="1">
                <a:solidFill>
                  <a:srgbClr val="2F6FB6"/>
                </a:solidFill>
                <a:latin typeface="Arial Unicode MS"/>
                <a:ea typeface="Arial Unicode MS"/>
                <a:cs typeface="Arial Unicode MS"/>
              </a:rPr>
              <a:t>→</a:t>
            </a:r>
          </a:p>
        </p:txBody>
      </p:sp>
      <p:sp>
        <p:nvSpPr>
          <p:cNvPr id="10" name="">
            <a:extLst xmlns:a="http://schemas.openxmlformats.org/drawingml/2006/main">
              <a:ext uri="{FF2B5EF4-FFF2-40B4-BE49-F238E27FC236}">
                <a16:creationId xmlns:a16="http://schemas.microsoft.com/office/drawing/2014/main" id="{96B2A9D2-1018-4781-88A6-6E452E25D86B}"/>
              </a:ext>
            </a:extLst>
          </p:cNvPr>
          <p:cNvSpPr>
            <a:spLocks xmlns:a="http://schemas.openxmlformats.org/drawingml/2006/main" noGrp="1"/>
          </p:cNvSpPr>
          <p:nvPr/>
        </p:nvSpPr>
        <p:spPr>
          <a:xfrm xmlns:a="http://schemas.openxmlformats.org/drawingml/2006/main">
            <a:off x="6553200" y="1695450"/>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2C8A62"/>
                </a:solidFill>
                <a:latin typeface="Arial Unicode MS"/>
                <a:ea typeface="Arial Unicode MS"/>
                <a:cs typeface="Arial Unicode MS"/>
              </a:defRPr>
            </a:pPr>
            <a:r>
              <a:rPr sz="1800" b="1">
                <a:solidFill>
                  <a:srgbClr val="2C8A62"/>
                </a:solidFill>
                <a:latin typeface="Arial Unicode MS"/>
                <a:ea typeface="Arial Unicode MS"/>
                <a:cs typeface="Arial Unicode MS"/>
              </a:rPr>
              <a:t>Frozen target</a:t>
            </a:r>
          </a:p>
        </p:txBody>
      </p:sp>
      <p:sp>
        <p:nvSpPr>
          <p:cNvPr id="11" name="">
            <a:extLst xmlns:a="http://schemas.openxmlformats.org/drawingml/2006/main">
              <a:ext uri="{FF2B5EF4-FFF2-40B4-BE49-F238E27FC236}">
                <a16:creationId xmlns:a16="http://schemas.microsoft.com/office/drawing/2014/main" id="{BAC84F07-1EC7-412E-879D-F875C57A6676}"/>
              </a:ext>
            </a:extLst>
          </p:cNvPr>
          <p:cNvSpPr>
            <a:spLocks xmlns:a="http://schemas.openxmlformats.org/drawingml/2006/main" noGrp="1"/>
          </p:cNvSpPr>
          <p:nvPr/>
        </p:nvSpPr>
        <p:spPr>
          <a:xfrm xmlns:a="http://schemas.openxmlformats.org/drawingml/2006/main">
            <a:off x="6553200" y="2152650"/>
            <a:ext cx="4095750" cy="2266950"/>
          </a:xfrm>
          <a:prstGeom xmlns:a="http://schemas.openxmlformats.org/drawingml/2006/main" prst="rect">
            <a:avLst/>
          </a:prstGeom>
          <a:solidFill xmlns:a="http://schemas.openxmlformats.org/drawingml/2006/main">
            <a:srgbClr val="EAF6F0"/>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C446636-6DCD-4FCD-9A2A-CD90320B86B2}"/>
              </a:ext>
            </a:extLst>
          </p:cNvPr>
          <p:cNvSpPr>
            <a:spLocks xmlns:a="http://schemas.openxmlformats.org/drawingml/2006/main" noGrp="1"/>
          </p:cNvSpPr>
          <p:nvPr/>
        </p:nvSpPr>
        <p:spPr>
          <a:xfrm xmlns:a="http://schemas.openxmlformats.org/drawingml/2006/main">
            <a:off x="6781800" y="2457450"/>
            <a:ext cx="36385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6000"/>
              </a:lnSpc>
              <a:buNone/>
              <a:defRPr sz="2100" b="1">
                <a:solidFill>
                  <a:srgbClr val="2C8A62"/>
                </a:solidFill>
                <a:latin typeface="Arial Unicode MS"/>
                <a:ea typeface="Arial Unicode MS"/>
                <a:cs typeface="Arial Unicode MS"/>
              </a:defRPr>
            </a:pPr>
            <a:r>
              <a:rPr sz="2100" b="1">
                <a:solidFill>
                  <a:srgbClr val="2C8A62"/>
                </a:solidFill>
                <a:latin typeface="Arial Unicode MS"/>
                <a:ea typeface="Arial Unicode MS"/>
                <a:cs typeface="Arial Unicode MS"/>
              </a:rPr>
              <a:t>Baumgartner Suzuki</a:t>
            </a:r>
          </a:p>
          <a:p xmlns:a="http://schemas.openxmlformats.org/drawingml/2006/main">
            <a:pPr algn="ctr">
              <a:lnSpc>
                <a:spcPct val="106000"/>
              </a:lnSpc>
              <a:buNone/>
              <a:defRPr sz="2100" b="1">
                <a:solidFill>
                  <a:srgbClr val="2C8A62"/>
                </a:solidFill>
                <a:latin typeface="Arial Unicode MS"/>
                <a:ea typeface="Arial Unicode MS"/>
                <a:cs typeface="Arial Unicode MS"/>
              </a:defRPr>
            </a:pPr>
            <a:r>
              <a:rPr sz="2100" b="1">
                <a:solidFill>
                  <a:srgbClr val="2C8A62"/>
                </a:solidFill>
                <a:latin typeface="Arial Unicode MS"/>
                <a:ea typeface="Arial Unicode MS"/>
                <a:cs typeface="Arial Unicode MS"/>
              </a:rPr>
              <a:t>MINLP2 optimization</a:t>
            </a:r>
          </a:p>
        </p:txBody>
      </p:sp>
      <p:sp>
        <p:nvSpPr>
          <p:cNvPr id="13" name="">
            <a:extLst xmlns:a="http://schemas.openxmlformats.org/drawingml/2006/main">
              <a:ext uri="{FF2B5EF4-FFF2-40B4-BE49-F238E27FC236}">
                <a16:creationId xmlns:a16="http://schemas.microsoft.com/office/drawing/2014/main" id="{9C7E7716-FCBF-494F-B7D9-EDB6CB1F3B86}"/>
              </a:ext>
            </a:extLst>
          </p:cNvPr>
          <p:cNvSpPr>
            <a:spLocks xmlns:a="http://schemas.openxmlformats.org/drawingml/2006/main" noGrp="1"/>
          </p:cNvSpPr>
          <p:nvPr/>
        </p:nvSpPr>
        <p:spPr>
          <a:xfrm xmlns:a="http://schemas.openxmlformats.org/drawingml/2006/main">
            <a:off x="6781800" y="3486150"/>
            <a:ext cx="36385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1425" b="0">
                <a:solidFill>
                  <a:srgbClr val="687681"/>
                </a:solidFill>
                <a:latin typeface="Arial Unicode MS"/>
                <a:ea typeface="Arial Unicode MS"/>
                <a:cs typeface="Arial Unicode MS"/>
              </a:defRPr>
            </a:pPr>
            <a:r>
              <a:rPr sz="1425" b="0">
                <a:solidFill>
                  <a:srgbClr val="687681"/>
                </a:solidFill>
                <a:latin typeface="Arial Unicode MS"/>
                <a:ea typeface="Arial Unicode MS"/>
                <a:cs typeface="Arial Unicode MS"/>
              </a:rPr>
              <a:t>outcome 隐藏</a:t>
            </a:r>
          </a:p>
          <a:p xmlns:a="http://schemas.openxmlformats.org/drawingml/2006/main">
            <a:pPr algn="ctr">
              <a:lnSpc>
                <a:spcPct val="106000"/>
              </a:lnSpc>
              <a:buNone/>
              <a:defRPr sz="1425" b="0">
                <a:solidFill>
                  <a:srgbClr val="687681"/>
                </a:solidFill>
                <a:latin typeface="Arial Unicode MS"/>
                <a:ea typeface="Arial Unicode MS"/>
                <a:cs typeface="Arial Unicode MS"/>
              </a:defRPr>
            </a:pPr>
            <a:r>
              <a:rPr sz="1425" b="0">
                <a:solidFill>
                  <a:srgbClr val="687681"/>
                </a:solidFill>
                <a:latin typeface="Arial Unicode MS"/>
                <a:ea typeface="Arial Unicode MS"/>
                <a:cs typeface="Arial Unicode MS"/>
              </a:rPr>
              <a:t>3 + 10 target budget</a:t>
            </a:r>
          </a:p>
        </p:txBody>
      </p:sp>
      <p:sp>
        <p:nvSpPr>
          <p:cNvPr id="14" name="">
            <a:extLst xmlns:a="http://schemas.openxmlformats.org/drawingml/2006/main">
              <a:ext uri="{FF2B5EF4-FFF2-40B4-BE49-F238E27FC236}">
                <a16:creationId xmlns:a16="http://schemas.microsoft.com/office/drawing/2014/main" id="{02CA87A6-9B85-44F3-82BF-27649EDE6BB0}"/>
              </a:ext>
            </a:extLst>
          </p:cNvPr>
          <p:cNvSpPr>
            <a:spLocks xmlns:a="http://schemas.openxmlformats.org/drawingml/2006/main" noGrp="1"/>
          </p:cNvSpPr>
          <p:nvPr/>
        </p:nvSpPr>
        <p:spPr>
          <a:xfrm xmlns:a="http://schemas.openxmlformats.org/drawingml/2006/main">
            <a:off x="647700" y="4762500"/>
            <a:ext cx="152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650" b="1">
                <a:solidFill>
                  <a:srgbClr val="D99A33"/>
                </a:solidFill>
                <a:latin typeface="Arial Unicode MS"/>
                <a:ea typeface="Arial Unicode MS"/>
                <a:cs typeface="Arial Unicode MS"/>
              </a:defRPr>
            </a:pPr>
            <a:r>
              <a:rPr sz="1650" b="1">
                <a:solidFill>
                  <a:srgbClr val="D99A33"/>
                </a:solidFill>
                <a:latin typeface="Arial Unicode MS"/>
                <a:ea typeface="Arial Unicode MS"/>
                <a:cs typeface="Arial Unicode MS"/>
              </a:rPr>
              <a:t>共享变量</a:t>
            </a:r>
          </a:p>
        </p:txBody>
      </p:sp>
      <p:sp>
        <p:nvSpPr>
          <p:cNvPr id="15" name="">
            <a:extLst xmlns:a="http://schemas.openxmlformats.org/drawingml/2006/main">
              <a:ext uri="{FF2B5EF4-FFF2-40B4-BE49-F238E27FC236}">
                <a16:creationId xmlns:a16="http://schemas.microsoft.com/office/drawing/2014/main" id="{1F3957EF-7E84-4064-B436-777CCD661CEE}"/>
              </a:ext>
            </a:extLst>
          </p:cNvPr>
          <p:cNvSpPr>
            <a:spLocks xmlns:a="http://schemas.openxmlformats.org/drawingml/2006/main" noGrp="1"/>
          </p:cNvSpPr>
          <p:nvPr/>
        </p:nvSpPr>
        <p:spPr>
          <a:xfrm xmlns:a="http://schemas.openxmlformats.org/drawingml/2006/main">
            <a:off x="2266950" y="4743450"/>
            <a:ext cx="666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575" b="0">
                <a:solidFill>
                  <a:srgbClr val="17232E"/>
                </a:solidFill>
                <a:latin typeface="Arial Unicode MS"/>
                <a:ea typeface="Arial Unicode MS"/>
                <a:cs typeface="Arial Unicode MS"/>
              </a:defRPr>
            </a:pPr>
            <a:r>
              <a:rPr sz="1575" b="0">
                <a:solidFill>
                  <a:srgbClr val="17232E"/>
                </a:solidFill>
                <a:latin typeface="Arial Unicode MS"/>
                <a:ea typeface="Arial Unicode MS"/>
                <a:cs typeface="Arial Unicode MS"/>
              </a:rPr>
              <a:t>precatalyst · temperature · residence time · loading</a:t>
            </a:r>
          </a:p>
        </p:txBody>
      </p:sp>
      <p:sp>
        <p:nvSpPr>
          <p:cNvPr id="16" name="">
            <a:extLst xmlns:a="http://schemas.openxmlformats.org/drawingml/2006/main">
              <a:ext uri="{FF2B5EF4-FFF2-40B4-BE49-F238E27FC236}">
                <a16:creationId xmlns:a16="http://schemas.microsoft.com/office/drawing/2014/main" id="{398BEFBB-539A-4E67-8832-51B31E240EC5}"/>
              </a:ext>
            </a:extLst>
          </p:cNvPr>
          <p:cNvSpPr>
            <a:spLocks xmlns:a="http://schemas.openxmlformats.org/drawingml/2006/main" noGrp="1"/>
          </p:cNvSpPr>
          <p:nvPr/>
        </p:nvSpPr>
        <p:spPr>
          <a:xfrm xmlns:a="http://schemas.openxmlformats.org/drawingml/2006/main">
            <a:off x="647700" y="5314950"/>
            <a:ext cx="10896600" cy="571500"/>
          </a:xfrm>
          <a:prstGeom xmlns:a="http://schemas.openxmlformats.org/drawingml/2006/main" prst="rect">
            <a:avLst/>
          </a:prstGeom>
          <a:solidFill xmlns:a="http://schemas.openxmlformats.org/drawingml/2006/main">
            <a:srgbClr val="17324D"/>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50F803BE-8BCE-4F5E-9A6D-2D773E46B216}"/>
              </a:ext>
            </a:extLst>
          </p:cNvPr>
          <p:cNvSpPr>
            <a:spLocks xmlns:a="http://schemas.openxmlformats.org/drawingml/2006/main" noGrp="1"/>
          </p:cNvSpPr>
          <p:nvPr/>
        </p:nvSpPr>
        <p:spPr>
          <a:xfrm xmlns:a="http://schemas.openxmlformats.org/drawingml/2006/main">
            <a:off x="838200" y="5467350"/>
            <a:ext cx="10515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1425" b="1">
                <a:solidFill>
                  <a:srgbClr val="FFFFFF"/>
                </a:solidFill>
                <a:latin typeface="Arial Unicode MS"/>
                <a:ea typeface="Arial Unicode MS"/>
                <a:cs typeface="Arial Unicode MS"/>
              </a:defRPr>
            </a:pPr>
            <a:r>
              <a:rPr sz="1425" b="1">
                <a:solidFill>
                  <a:srgbClr val="FFFFFF"/>
                </a:solidFill>
                <a:latin typeface="Arial Unicode MS"/>
                <a:ea typeface="Arial Unicode MS"/>
                <a:cs typeface="Arial Unicode MS"/>
              </a:rPr>
              <a:t>执行前冻结：code · data version · config · selection record · skill fingerprint</a:t>
            </a:r>
          </a:p>
        </p:txBody>
      </p:sp>
      <p:sp>
        <p:nvSpPr>
          <p:cNvPr id="18" name="">
            <a:extLst xmlns:a="http://schemas.openxmlformats.org/drawingml/2006/main">
              <a:ext uri="{FF2B5EF4-FFF2-40B4-BE49-F238E27FC236}">
                <a16:creationId xmlns:a16="http://schemas.microsoft.com/office/drawing/2014/main" id="{986B5FDB-BFC4-4305-8774-B65513A4A28A}"/>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frozen evidence update · 2026-08-12</a:t>
            </a:r>
          </a:p>
        </p:txBody>
      </p:sp>
    </p:spTree>
    <p:extLst>
      <p:ext uri="{BB962C8B-B14F-4D97-AF65-F5344CB8AC3E}">
        <p14:creationId xmlns:p14="http://schemas.microsoft.com/office/powerpoint/2010/main" val="1459041465"/>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1015998-D3B8-4158-AA16-EFDE398D2BC3}"/>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RESULT</a:t>
            </a:r>
          </a:p>
        </p:txBody>
      </p:sp>
      <p:sp>
        <p:nvSpPr>
          <p:cNvPr id="2" name="">
            <a:extLst xmlns:a="http://schemas.openxmlformats.org/drawingml/2006/main">
              <a:ext uri="{FF2B5EF4-FFF2-40B4-BE49-F238E27FC236}">
                <a16:creationId xmlns:a16="http://schemas.microsoft.com/office/drawing/2014/main" id="{052F4469-5E2F-494C-8AFE-89FF34412A67}"/>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23</a:t>
            </a:r>
          </a:p>
        </p:txBody>
      </p:sp>
      <p:sp>
        <p:nvSpPr>
          <p:cNvPr id="3" name="">
            <a:extLst xmlns:a="http://schemas.openxmlformats.org/drawingml/2006/main">
              <a:ext uri="{FF2B5EF4-FFF2-40B4-BE49-F238E27FC236}">
                <a16:creationId xmlns:a16="http://schemas.microsoft.com/office/drawing/2014/main" id="{ED15A8DA-E198-4839-AC9B-F08D7E83B278}"/>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700" b="1">
                <a:solidFill>
                  <a:srgbClr val="17232E"/>
                </a:solidFill>
                <a:latin typeface="Arial Unicode MS"/>
                <a:ea typeface="Arial Unicode MS"/>
                <a:cs typeface="Arial Unicode MS"/>
              </a:defRPr>
            </a:pPr>
            <a:r>
              <a:rPr sz="2700" b="1">
                <a:solidFill>
                  <a:srgbClr val="17232E"/>
                </a:solidFill>
                <a:latin typeface="Arial Unicode MS"/>
                <a:ea typeface="Arial Unicode MS"/>
                <a:cs typeface="Arial Unicode MS"/>
              </a:rPr>
              <a:t>Frozen v2 同时提高搜索过程和最终结果</a:t>
            </a:r>
          </a:p>
        </p:txBody>
      </p:sp>
      <p:sp>
        <p:nvSpPr>
          <p:cNvPr id="4" name="">
            <a:extLst xmlns:a="http://schemas.openxmlformats.org/drawingml/2006/main">
              <a:ext uri="{FF2B5EF4-FFF2-40B4-BE49-F238E27FC236}">
                <a16:creationId xmlns:a16="http://schemas.microsoft.com/office/drawing/2014/main" id="{EDA7BD03-225B-4146-8B64-4771AB4DCF40}"/>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4b81a1c3ba3c4e94"/>
          <a:stretch xmlns:a="http://schemas.openxmlformats.org/drawingml/2006/main"/>
        </p:blipFill>
        <p:spPr>
          <a:xfrm xmlns:a="http://schemas.openxmlformats.org/drawingml/2006/main">
            <a:off x="1462686" y="1257300"/>
            <a:ext cx="9266627" cy="51054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1F55902E-D7AE-4023-AEF6-7FD80BCBE7DA}"/>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frozen evidence update · 2026-08-12</a:t>
            </a:r>
          </a:p>
        </p:txBody>
      </p:sp>
    </p:spTree>
    <p:extLst>
      <p:ext uri="{BB962C8B-B14F-4D97-AF65-F5344CB8AC3E}">
        <p14:creationId xmlns:p14="http://schemas.microsoft.com/office/powerpoint/2010/main" val="2088421059"/>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4A92C7C8-9918-4472-B94F-2AA7499E8EB9}"/>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EXPERIMENTAL EFFICIENCY</a:t>
            </a:r>
          </a:p>
        </p:txBody>
      </p:sp>
      <p:sp>
        <p:nvSpPr>
          <p:cNvPr id="2" name="">
            <a:extLst xmlns:a="http://schemas.openxmlformats.org/drawingml/2006/main">
              <a:ext uri="{FF2B5EF4-FFF2-40B4-BE49-F238E27FC236}">
                <a16:creationId xmlns:a16="http://schemas.microsoft.com/office/drawing/2014/main" id="{4F606D12-C787-4282-9FB4-03C9248CBCF4}"/>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24</a:t>
            </a:r>
          </a:p>
        </p:txBody>
      </p:sp>
      <p:sp>
        <p:nvSpPr>
          <p:cNvPr id="3" name="">
            <a:extLst xmlns:a="http://schemas.openxmlformats.org/drawingml/2006/main">
              <a:ext uri="{FF2B5EF4-FFF2-40B4-BE49-F238E27FC236}">
                <a16:creationId xmlns:a16="http://schemas.microsoft.com/office/drawing/2014/main" id="{D7E86494-64E6-477E-9130-62DEF9D394FB}"/>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700" b="1">
                <a:solidFill>
                  <a:srgbClr val="17232E"/>
                </a:solidFill>
                <a:latin typeface="Arial Unicode MS"/>
                <a:ea typeface="Arial Unicode MS"/>
                <a:cs typeface="Arial Unicode MS"/>
              </a:defRPr>
            </a:pPr>
            <a:r>
              <a:rPr sz="2700" b="1">
                <a:solidFill>
                  <a:srgbClr val="17232E"/>
                </a:solidFill>
                <a:latin typeface="Arial Unicode MS"/>
                <a:ea typeface="Arial Unicode MS"/>
                <a:cs typeface="Arial Unicode MS"/>
              </a:rPr>
              <a:t>在这个 target 上，迁移相当于少做两次实验</a:t>
            </a:r>
          </a:p>
        </p:txBody>
      </p:sp>
      <p:sp>
        <p:nvSpPr>
          <p:cNvPr id="4" name="">
            <a:extLst xmlns:a="http://schemas.openxmlformats.org/drawingml/2006/main">
              <a:ext uri="{FF2B5EF4-FFF2-40B4-BE49-F238E27FC236}">
                <a16:creationId xmlns:a16="http://schemas.microsoft.com/office/drawing/2014/main" id="{1403D835-9403-43AE-BB08-0943AC717F5E}"/>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D5D7C81-4B80-4B17-9B60-4CD3FC5D8BE6}"/>
              </a:ext>
            </a:extLst>
          </p:cNvPr>
          <p:cNvSpPr>
            <a:spLocks xmlns:a="http://schemas.openxmlformats.org/drawingml/2006/main" noGrp="1"/>
          </p:cNvSpPr>
          <p:nvPr/>
        </p:nvSpPr>
        <p:spPr>
          <a:xfrm xmlns:a="http://schemas.openxmlformats.org/drawingml/2006/main">
            <a:off x="647700" y="1676400"/>
            <a:ext cx="590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75" b="1">
                <a:solidFill>
                  <a:srgbClr val="17324D"/>
                </a:solidFill>
                <a:latin typeface="Arial Unicode MS"/>
                <a:ea typeface="Arial Unicode MS"/>
                <a:cs typeface="Arial Unicode MS"/>
              </a:defRPr>
            </a:pPr>
            <a:r>
              <a:rPr sz="1875" b="1">
                <a:solidFill>
                  <a:srgbClr val="17324D"/>
                </a:solidFill>
                <a:latin typeface="Arial Unicode MS"/>
                <a:ea typeface="Arial Unicode MS"/>
                <a:cs typeface="Arial Unicode MS"/>
              </a:rPr>
              <a:t>达到 100% 产率所需总观测数</a:t>
            </a:r>
          </a:p>
        </p:txBody>
      </p:sp>
      <p:sp>
        <p:nvSpPr>
          <p:cNvPr id="6" name="">
            <a:extLst xmlns:a="http://schemas.openxmlformats.org/drawingml/2006/main">
              <a:ext uri="{FF2B5EF4-FFF2-40B4-BE49-F238E27FC236}">
                <a16:creationId xmlns:a16="http://schemas.microsoft.com/office/drawing/2014/main" id="{96A0BCF6-FE71-4557-B808-1AB3F2D5ED01}"/>
              </a:ext>
            </a:extLst>
          </p:cNvPr>
          <p:cNvSpPr>
            <a:spLocks xmlns:a="http://schemas.openxmlformats.org/drawingml/2006/main" noGrp="1"/>
          </p:cNvSpPr>
          <p:nvPr/>
        </p:nvSpPr>
        <p:spPr>
          <a:xfrm xmlns:a="http://schemas.openxmlformats.org/drawingml/2006/main">
            <a:off x="647700" y="26860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500" b="1">
                <a:solidFill>
                  <a:srgbClr val="2C8A62"/>
                </a:solidFill>
                <a:latin typeface="Arial Unicode MS"/>
                <a:ea typeface="Arial Unicode MS"/>
                <a:cs typeface="Arial Unicode MS"/>
              </a:defRPr>
            </a:pPr>
            <a:r>
              <a:rPr sz="1500" b="1">
                <a:solidFill>
                  <a:srgbClr val="2C8A62"/>
                </a:solidFill>
                <a:latin typeface="Arial Unicode MS"/>
                <a:ea typeface="Arial Unicode MS"/>
                <a:cs typeface="Arial Unicode MS"/>
              </a:rPr>
              <a:t>Frozen v2</a:t>
            </a:r>
          </a:p>
        </p:txBody>
      </p:sp>
      <p:sp>
        <p:nvSpPr>
          <p:cNvPr id="7" name="">
            <a:extLst xmlns:a="http://schemas.openxmlformats.org/drawingml/2006/main">
              <a:ext uri="{FF2B5EF4-FFF2-40B4-BE49-F238E27FC236}">
                <a16:creationId xmlns:a16="http://schemas.microsoft.com/office/drawing/2014/main" id="{CC80409D-04FC-4D7C-AA15-B96B071B7B1B}"/>
              </a:ext>
            </a:extLst>
          </p:cNvPr>
          <p:cNvSpPr>
            <a:spLocks xmlns:a="http://schemas.openxmlformats.org/drawingml/2006/main" noGrp="1"/>
          </p:cNvSpPr>
          <p:nvPr/>
        </p:nvSpPr>
        <p:spPr>
          <a:xfrm xmlns:a="http://schemas.openxmlformats.org/drawingml/2006/main">
            <a:off x="2362200" y="2800350"/>
            <a:ext cx="2609850" cy="152400"/>
          </a:xfrm>
          <a:prstGeom xmlns:a="http://schemas.openxmlformats.org/drawingml/2006/main" prst="rect">
            <a:avLst/>
          </a:prstGeom>
          <a:solidFill xmlns:a="http://schemas.openxmlformats.org/drawingml/2006/main">
            <a:srgbClr val="2C8A62"/>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3613ED2-F333-4C8D-BE61-BE1067EA1387}"/>
              </a:ext>
            </a:extLst>
          </p:cNvPr>
          <p:cNvSpPr>
            <a:spLocks xmlns:a="http://schemas.openxmlformats.org/drawingml/2006/main" noGrp="1"/>
          </p:cNvSpPr>
          <p:nvPr/>
        </p:nvSpPr>
        <p:spPr>
          <a:xfrm xmlns:a="http://schemas.openxmlformats.org/drawingml/2006/main">
            <a:off x="5124450" y="2647950"/>
            <a:ext cx="476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581"/>
          </a:bodyPr>
          <a:lstStyle xmlns:a="http://schemas.openxmlformats.org/drawingml/2006/main"/>
          <a:p xmlns:a="http://schemas.openxmlformats.org/drawingml/2006/main">
            <a:pPr algn="l">
              <a:lnSpc>
                <a:spcPct val="106000"/>
              </a:lnSpc>
              <a:buNone/>
              <a:defRPr sz="2250" b="1">
                <a:solidFill>
                  <a:srgbClr val="2C8A62"/>
                </a:solidFill>
                <a:latin typeface="Arial Unicode MS"/>
                <a:ea typeface="Arial Unicode MS"/>
                <a:cs typeface="Arial Unicode MS"/>
              </a:defRPr>
            </a:pPr>
            <a:r>
              <a:rPr sz="2250" b="1">
                <a:solidFill>
                  <a:srgbClr val="2C8A62"/>
                </a:solidFill>
                <a:latin typeface="Arial Unicode MS"/>
                <a:ea typeface="Arial Unicode MS"/>
                <a:cs typeface="Arial Unicode MS"/>
              </a:rPr>
              <a:t>5</a:t>
            </a:r>
          </a:p>
        </p:txBody>
      </p:sp>
      <p:sp>
        <p:nvSpPr>
          <p:cNvPr id="9" name="">
            <a:extLst xmlns:a="http://schemas.openxmlformats.org/drawingml/2006/main">
              <a:ext uri="{FF2B5EF4-FFF2-40B4-BE49-F238E27FC236}">
                <a16:creationId xmlns:a16="http://schemas.microsoft.com/office/drawing/2014/main" id="{6B8D46DE-87A0-40D9-A699-A3ECF5F05941}"/>
              </a:ext>
            </a:extLst>
          </p:cNvPr>
          <p:cNvSpPr>
            <a:spLocks xmlns:a="http://schemas.openxmlformats.org/drawingml/2006/main" noGrp="1"/>
          </p:cNvSpPr>
          <p:nvPr/>
        </p:nvSpPr>
        <p:spPr>
          <a:xfrm xmlns:a="http://schemas.openxmlformats.org/drawingml/2006/main">
            <a:off x="647700" y="361950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500" b="1">
                <a:solidFill>
                  <a:srgbClr val="687681"/>
                </a:solidFill>
                <a:latin typeface="Arial Unicode MS"/>
                <a:ea typeface="Arial Unicode MS"/>
                <a:cs typeface="Arial Unicode MS"/>
              </a:defRPr>
            </a:pPr>
            <a:r>
              <a:rPr sz="1500" b="1">
                <a:solidFill>
                  <a:srgbClr val="687681"/>
                </a:solidFill>
                <a:latin typeface="Arial Unicode MS"/>
                <a:ea typeface="Arial Unicode MS"/>
                <a:cs typeface="Arial Unicode MS"/>
              </a:rPr>
              <a:t>Random 成功运行中位数</a:t>
            </a:r>
          </a:p>
        </p:txBody>
      </p:sp>
      <p:sp>
        <p:nvSpPr>
          <p:cNvPr id="10" name="">
            <a:extLst xmlns:a="http://schemas.openxmlformats.org/drawingml/2006/main">
              <a:ext uri="{FF2B5EF4-FFF2-40B4-BE49-F238E27FC236}">
                <a16:creationId xmlns:a16="http://schemas.microsoft.com/office/drawing/2014/main" id="{7E2C0089-9AE7-4DC8-9FC9-57AFF3288D47}"/>
              </a:ext>
            </a:extLst>
          </p:cNvPr>
          <p:cNvSpPr>
            <a:spLocks xmlns:a="http://schemas.openxmlformats.org/drawingml/2006/main" noGrp="1"/>
          </p:cNvSpPr>
          <p:nvPr/>
        </p:nvSpPr>
        <p:spPr>
          <a:xfrm xmlns:a="http://schemas.openxmlformats.org/drawingml/2006/main">
            <a:off x="3314700" y="3733800"/>
            <a:ext cx="3657600" cy="152400"/>
          </a:xfrm>
          <a:prstGeom xmlns:a="http://schemas.openxmlformats.org/drawingml/2006/main" prst="rect">
            <a:avLst/>
          </a:prstGeom>
          <a:solidFill xmlns:a="http://schemas.openxmlformats.org/drawingml/2006/main">
            <a:srgbClr val="687681"/>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CC227589-1479-4987-BE25-8B629E0EA2AB}"/>
              </a:ext>
            </a:extLst>
          </p:cNvPr>
          <p:cNvSpPr>
            <a:spLocks xmlns:a="http://schemas.openxmlformats.org/drawingml/2006/main" noGrp="1"/>
          </p:cNvSpPr>
          <p:nvPr/>
        </p:nvSpPr>
        <p:spPr>
          <a:xfrm xmlns:a="http://schemas.openxmlformats.org/drawingml/2006/main">
            <a:off x="7124700" y="3581400"/>
            <a:ext cx="476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581"/>
          </a:bodyPr>
          <a:lstStyle xmlns:a="http://schemas.openxmlformats.org/drawingml/2006/main"/>
          <a:p xmlns:a="http://schemas.openxmlformats.org/drawingml/2006/main">
            <a:pPr algn="l">
              <a:lnSpc>
                <a:spcPct val="106000"/>
              </a:lnSpc>
              <a:buNone/>
              <a:defRPr sz="2250" b="1">
                <a:solidFill>
                  <a:srgbClr val="687681"/>
                </a:solidFill>
                <a:latin typeface="Arial Unicode MS"/>
                <a:ea typeface="Arial Unicode MS"/>
                <a:cs typeface="Arial Unicode MS"/>
              </a:defRPr>
            </a:pPr>
            <a:r>
              <a:rPr sz="2250" b="1">
                <a:solidFill>
                  <a:srgbClr val="687681"/>
                </a:solidFill>
                <a:latin typeface="Arial Unicode MS"/>
                <a:ea typeface="Arial Unicode MS"/>
                <a:cs typeface="Arial Unicode MS"/>
              </a:rPr>
              <a:t>7</a:t>
            </a:r>
          </a:p>
        </p:txBody>
      </p:sp>
      <p:sp>
        <p:nvSpPr>
          <p:cNvPr id="12" name="">
            <a:extLst xmlns:a="http://schemas.openxmlformats.org/drawingml/2006/main">
              <a:ext uri="{FF2B5EF4-FFF2-40B4-BE49-F238E27FC236}">
                <a16:creationId xmlns:a16="http://schemas.microsoft.com/office/drawing/2014/main" id="{6878044F-E9A1-4FF0-8518-52C84676B6A3}"/>
              </a:ext>
            </a:extLst>
          </p:cNvPr>
          <p:cNvSpPr>
            <a:spLocks xmlns:a="http://schemas.openxmlformats.org/drawingml/2006/main" noGrp="1"/>
          </p:cNvSpPr>
          <p:nvPr/>
        </p:nvSpPr>
        <p:spPr>
          <a:xfrm xmlns:a="http://schemas.openxmlformats.org/drawingml/2006/main">
            <a:off x="647700" y="45529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500" b="1">
                <a:solidFill>
                  <a:srgbClr val="D99A33"/>
                </a:solidFill>
                <a:latin typeface="Arial Unicode MS"/>
                <a:ea typeface="Arial Unicode MS"/>
                <a:cs typeface="Arial Unicode MS"/>
              </a:defRPr>
            </a:pPr>
            <a:r>
              <a:rPr sz="1500" b="1">
                <a:solidFill>
                  <a:srgbClr val="D99A33"/>
                </a:solidFill>
                <a:latin typeface="Arial Unicode MS"/>
                <a:ea typeface="Arial Unicode MS"/>
                <a:cs typeface="Arial Unicode MS"/>
              </a:rPr>
              <a:t>Space filling</a:t>
            </a:r>
          </a:p>
        </p:txBody>
      </p:sp>
      <p:sp>
        <p:nvSpPr>
          <p:cNvPr id="13" name="">
            <a:extLst xmlns:a="http://schemas.openxmlformats.org/drawingml/2006/main">
              <a:ext uri="{FF2B5EF4-FFF2-40B4-BE49-F238E27FC236}">
                <a16:creationId xmlns:a16="http://schemas.microsoft.com/office/drawing/2014/main" id="{2999C724-554B-4802-BFF6-5B606925C6F8}"/>
              </a:ext>
            </a:extLst>
          </p:cNvPr>
          <p:cNvSpPr>
            <a:spLocks xmlns:a="http://schemas.openxmlformats.org/drawingml/2006/main" noGrp="1"/>
          </p:cNvSpPr>
          <p:nvPr/>
        </p:nvSpPr>
        <p:spPr>
          <a:xfrm xmlns:a="http://schemas.openxmlformats.org/drawingml/2006/main">
            <a:off x="2362200" y="4667250"/>
            <a:ext cx="6572250" cy="152400"/>
          </a:xfrm>
          <a:prstGeom xmlns:a="http://schemas.openxmlformats.org/drawingml/2006/main" prst="rect">
            <a:avLst/>
          </a:prstGeom>
          <a:solidFill xmlns:a="http://schemas.openxmlformats.org/drawingml/2006/main">
            <a:srgbClr val="D99A33"/>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E733DD8-F232-4F35-A410-002E01D14D6C}"/>
              </a:ext>
            </a:extLst>
          </p:cNvPr>
          <p:cNvSpPr>
            <a:spLocks xmlns:a="http://schemas.openxmlformats.org/drawingml/2006/main" noGrp="1"/>
          </p:cNvSpPr>
          <p:nvPr/>
        </p:nvSpPr>
        <p:spPr>
          <a:xfrm xmlns:a="http://schemas.openxmlformats.org/drawingml/2006/main">
            <a:off x="9105900" y="4514850"/>
            <a:ext cx="1619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D99A33"/>
                </a:solidFill>
                <a:latin typeface="Arial Unicode MS"/>
                <a:ea typeface="Arial Unicode MS"/>
                <a:cs typeface="Arial Unicode MS"/>
              </a:defRPr>
            </a:pPr>
            <a:r>
              <a:rPr sz="1800" b="1">
                <a:solidFill>
                  <a:srgbClr val="D99A33"/>
                </a:solidFill>
                <a:latin typeface="Arial Unicode MS"/>
                <a:ea typeface="Arial Unicode MS"/>
                <a:cs typeface="Arial Unicode MS"/>
              </a:rPr>
              <a:t>未达到 95%</a:t>
            </a:r>
          </a:p>
        </p:txBody>
      </p:sp>
      <p:sp>
        <p:nvSpPr>
          <p:cNvPr id="15" name="">
            <a:extLst xmlns:a="http://schemas.openxmlformats.org/drawingml/2006/main">
              <a:ext uri="{FF2B5EF4-FFF2-40B4-BE49-F238E27FC236}">
                <a16:creationId xmlns:a16="http://schemas.microsoft.com/office/drawing/2014/main" id="{653F2C6E-6732-47F2-B004-2EE8CC598A12}"/>
              </a:ext>
            </a:extLst>
          </p:cNvPr>
          <p:cNvSpPr>
            <a:spLocks xmlns:a="http://schemas.openxmlformats.org/drawingml/2006/main" noGrp="1"/>
          </p:cNvSpPr>
          <p:nvPr/>
        </p:nvSpPr>
        <p:spPr>
          <a:xfrm xmlns:a="http://schemas.openxmlformats.org/drawingml/2006/main">
            <a:off x="8382000" y="1676400"/>
            <a:ext cx="3105150" cy="2857500"/>
          </a:xfrm>
          <a:prstGeom xmlns:a="http://schemas.openxmlformats.org/drawingml/2006/main" prst="rect">
            <a:avLst/>
          </a:prstGeom>
          <a:solidFill xmlns:a="http://schemas.openxmlformats.org/drawingml/2006/main">
            <a:srgbClr val="F1F4F6"/>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2C2D279A-810C-4267-B4C9-74732FFE83D4}"/>
              </a:ext>
            </a:extLst>
          </p:cNvPr>
          <p:cNvSpPr>
            <a:spLocks xmlns:a="http://schemas.openxmlformats.org/drawingml/2006/main" noGrp="1"/>
          </p:cNvSpPr>
          <p:nvPr/>
        </p:nvSpPr>
        <p:spPr>
          <a:xfrm xmlns:a="http://schemas.openxmlformats.org/drawingml/2006/main">
            <a:off x="8648700" y="2076450"/>
            <a:ext cx="2571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3450" b="1">
                <a:solidFill>
                  <a:srgbClr val="2F6FB6"/>
                </a:solidFill>
                <a:latin typeface="Arial Unicode MS"/>
                <a:ea typeface="Arial Unicode MS"/>
                <a:cs typeface="Arial Unicode MS"/>
              </a:defRPr>
            </a:pPr>
            <a:r>
              <a:rPr sz="3450" b="1">
                <a:solidFill>
                  <a:srgbClr val="2F6FB6"/>
                </a:solidFill>
                <a:latin typeface="Arial Unicode MS"/>
                <a:ea typeface="Arial Unicode MS"/>
                <a:cs typeface="Arial Unicode MS"/>
              </a:rPr>
              <a:t>46 / 100</a:t>
            </a:r>
          </a:p>
        </p:txBody>
      </p:sp>
      <p:sp>
        <p:nvSpPr>
          <p:cNvPr id="17" name="">
            <a:extLst xmlns:a="http://schemas.openxmlformats.org/drawingml/2006/main">
              <a:ext uri="{FF2B5EF4-FFF2-40B4-BE49-F238E27FC236}">
                <a16:creationId xmlns:a16="http://schemas.microsoft.com/office/drawing/2014/main" id="{E81D08AC-2A5D-43DF-8C36-966CAEF698A8}"/>
              </a:ext>
            </a:extLst>
          </p:cNvPr>
          <p:cNvSpPr>
            <a:spLocks xmlns:a="http://schemas.openxmlformats.org/drawingml/2006/main" noGrp="1"/>
          </p:cNvSpPr>
          <p:nvPr/>
        </p:nvSpPr>
        <p:spPr>
          <a:xfrm xmlns:a="http://schemas.openxmlformats.org/drawingml/2006/main">
            <a:off x="8648700" y="2705100"/>
            <a:ext cx="2571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350" b="1">
                <a:solidFill>
                  <a:srgbClr val="17232E"/>
                </a:solidFill>
                <a:latin typeface="Arial Unicode MS"/>
                <a:ea typeface="Arial Unicode MS"/>
                <a:cs typeface="Arial Unicode MS"/>
              </a:defRPr>
            </a:pPr>
            <a:r>
              <a:rPr sz="1350" b="1">
                <a:solidFill>
                  <a:srgbClr val="17232E"/>
                </a:solidFill>
                <a:latin typeface="Arial Unicode MS"/>
                <a:ea typeface="Arial Unicode MS"/>
                <a:cs typeface="Arial Unicode MS"/>
              </a:rPr>
              <a:t>random 在预算内达到 100%</a:t>
            </a:r>
          </a:p>
        </p:txBody>
      </p:sp>
      <p:sp>
        <p:nvSpPr>
          <p:cNvPr id="18" name="">
            <a:extLst xmlns:a="http://schemas.openxmlformats.org/drawingml/2006/main">
              <a:ext uri="{FF2B5EF4-FFF2-40B4-BE49-F238E27FC236}">
                <a16:creationId xmlns:a16="http://schemas.microsoft.com/office/drawing/2014/main" id="{145937C7-754F-47AE-804B-F7F33EEE782C}"/>
              </a:ext>
            </a:extLst>
          </p:cNvPr>
          <p:cNvSpPr>
            <a:spLocks xmlns:a="http://schemas.openxmlformats.org/drawingml/2006/main" noGrp="1"/>
          </p:cNvSpPr>
          <p:nvPr/>
        </p:nvSpPr>
        <p:spPr>
          <a:xfrm xmlns:a="http://schemas.openxmlformats.org/drawingml/2006/main">
            <a:off x="8648700" y="3105150"/>
            <a:ext cx="2571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050" b="0">
                <a:solidFill>
                  <a:srgbClr val="687681"/>
                </a:solidFill>
                <a:latin typeface="Arial Unicode MS"/>
                <a:ea typeface="Arial Unicode MS"/>
                <a:cs typeface="Arial Unicode MS"/>
              </a:defRPr>
            </a:pPr>
            <a:r>
              <a:rPr sz="1050" b="0">
                <a:solidFill>
                  <a:srgbClr val="687681"/>
                </a:solidFill>
                <a:latin typeface="Arial Unicode MS"/>
                <a:ea typeface="Arial Unicode MS"/>
                <a:cs typeface="Arial Unicode MS"/>
              </a:rPr>
              <a:t>其余 54 次未达到</a:t>
            </a:r>
          </a:p>
        </p:txBody>
      </p:sp>
      <p:sp>
        <p:nvSpPr>
          <p:cNvPr id="19" name="">
            <a:extLst xmlns:a="http://schemas.openxmlformats.org/drawingml/2006/main">
              <a:ext uri="{FF2B5EF4-FFF2-40B4-BE49-F238E27FC236}">
                <a16:creationId xmlns:a16="http://schemas.microsoft.com/office/drawing/2014/main" id="{13301F26-80A7-4559-9B14-DB44B4EAEC1F}"/>
              </a:ext>
            </a:extLst>
          </p:cNvPr>
          <p:cNvSpPr>
            <a:spLocks xmlns:a="http://schemas.openxmlformats.org/drawingml/2006/main" noGrp="1"/>
          </p:cNvSpPr>
          <p:nvPr/>
        </p:nvSpPr>
        <p:spPr>
          <a:xfrm xmlns:a="http://schemas.openxmlformats.org/drawingml/2006/main">
            <a:off x="8648700" y="3390900"/>
            <a:ext cx="2571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3450" b="1">
                <a:solidFill>
                  <a:srgbClr val="C94D4D"/>
                </a:solidFill>
                <a:latin typeface="Arial Unicode MS"/>
                <a:ea typeface="Arial Unicode MS"/>
                <a:cs typeface="Arial Unicode MS"/>
              </a:defRPr>
            </a:pPr>
            <a:r>
              <a:rPr sz="3450" b="1">
                <a:solidFill>
                  <a:srgbClr val="C94D4D"/>
                </a:solidFill>
                <a:latin typeface="Arial Unicode MS"/>
                <a:ea typeface="Arial Unicode MS"/>
                <a:cs typeface="Arial Unicode MS"/>
              </a:rPr>
              <a:t>15 / 100</a:t>
            </a:r>
          </a:p>
        </p:txBody>
      </p:sp>
      <p:sp>
        <p:nvSpPr>
          <p:cNvPr id="20" name="">
            <a:extLst xmlns:a="http://schemas.openxmlformats.org/drawingml/2006/main">
              <a:ext uri="{FF2B5EF4-FFF2-40B4-BE49-F238E27FC236}">
                <a16:creationId xmlns:a16="http://schemas.microsoft.com/office/drawing/2014/main" id="{6991BF39-87B2-4C89-B161-862FC442E779}"/>
              </a:ext>
            </a:extLst>
          </p:cNvPr>
          <p:cNvSpPr>
            <a:spLocks xmlns:a="http://schemas.openxmlformats.org/drawingml/2006/main" noGrp="1"/>
          </p:cNvSpPr>
          <p:nvPr/>
        </p:nvSpPr>
        <p:spPr>
          <a:xfrm xmlns:a="http://schemas.openxmlformats.org/drawingml/2006/main">
            <a:off x="8648700" y="4019550"/>
            <a:ext cx="2571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350" b="1">
                <a:solidFill>
                  <a:srgbClr val="17232E"/>
                </a:solidFill>
                <a:latin typeface="Arial Unicode MS"/>
                <a:ea typeface="Arial Unicode MS"/>
                <a:cs typeface="Arial Unicode MS"/>
              </a:defRPr>
            </a:pPr>
            <a:r>
              <a:rPr sz="1350" b="1">
                <a:solidFill>
                  <a:srgbClr val="17232E"/>
                </a:solidFill>
                <a:latin typeface="Arial Unicode MS"/>
                <a:ea typeface="Arial Unicode MS"/>
                <a:cs typeface="Arial Unicode MS"/>
              </a:rPr>
              <a:t>random AUC ≥ frozen v2</a:t>
            </a:r>
          </a:p>
        </p:txBody>
      </p:sp>
      <p:sp>
        <p:nvSpPr>
          <p:cNvPr id="21" name="">
            <a:extLst xmlns:a="http://schemas.openxmlformats.org/drawingml/2006/main">
              <a:ext uri="{FF2B5EF4-FFF2-40B4-BE49-F238E27FC236}">
                <a16:creationId xmlns:a16="http://schemas.microsoft.com/office/drawing/2014/main" id="{A9C44F98-4EF7-4BF8-927A-5748D6C08621}"/>
              </a:ext>
            </a:extLst>
          </p:cNvPr>
          <p:cNvSpPr>
            <a:spLocks xmlns:a="http://schemas.openxmlformats.org/drawingml/2006/main" noGrp="1"/>
          </p:cNvSpPr>
          <p:nvPr/>
        </p:nvSpPr>
        <p:spPr>
          <a:xfrm xmlns:a="http://schemas.openxmlformats.org/drawingml/2006/main">
            <a:off x="8648700" y="4419600"/>
            <a:ext cx="2571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050" b="0">
                <a:solidFill>
                  <a:srgbClr val="687681"/>
                </a:solidFill>
                <a:latin typeface="Arial Unicode MS"/>
                <a:ea typeface="Arial Unicode MS"/>
                <a:cs typeface="Arial Unicode MS"/>
              </a:defRPr>
            </a:pPr>
            <a:r>
              <a:rPr sz="1050" b="0">
                <a:solidFill>
                  <a:srgbClr val="687681"/>
                </a:solidFill>
                <a:latin typeface="Arial Unicode MS"/>
                <a:ea typeface="Arial Unicode MS"/>
                <a:cs typeface="Arial Unicode MS"/>
              </a:rPr>
              <a:t>v2 位于分布高端</a:t>
            </a:r>
          </a:p>
        </p:txBody>
      </p:sp>
      <p:sp>
        <p:nvSpPr>
          <p:cNvPr id="22" name="">
            <a:extLst xmlns:a="http://schemas.openxmlformats.org/drawingml/2006/main">
              <a:ext uri="{FF2B5EF4-FFF2-40B4-BE49-F238E27FC236}">
                <a16:creationId xmlns:a16="http://schemas.microsoft.com/office/drawing/2014/main" id="{4D264B3C-E73E-4641-89DF-4C051A02857A}"/>
              </a:ext>
            </a:extLst>
          </p:cNvPr>
          <p:cNvSpPr>
            <a:spLocks xmlns:a="http://schemas.openxmlformats.org/drawingml/2006/main" noGrp="1"/>
          </p:cNvSpPr>
          <p:nvPr/>
        </p:nvSpPr>
        <p:spPr>
          <a:xfrm xmlns:a="http://schemas.openxmlformats.org/drawingml/2006/main">
            <a:off x="647700" y="5486400"/>
            <a:ext cx="10896600" cy="552450"/>
          </a:xfrm>
          <a:prstGeom xmlns:a="http://schemas.openxmlformats.org/drawingml/2006/main" prst="rect">
            <a:avLst/>
          </a:prstGeom>
          <a:solidFill xmlns:a="http://schemas.openxmlformats.org/drawingml/2006/main">
            <a:srgbClr val="EAF6F0"/>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FCA95F9F-DF8D-44CB-86CE-9CEFFDFAECEC}"/>
              </a:ext>
            </a:extLst>
          </p:cNvPr>
          <p:cNvSpPr>
            <a:spLocks xmlns:a="http://schemas.openxmlformats.org/drawingml/2006/main" noGrp="1"/>
          </p:cNvSpPr>
          <p:nvPr/>
        </p:nvSpPr>
        <p:spPr>
          <a:xfrm xmlns:a="http://schemas.openxmlformats.org/drawingml/2006/main">
            <a:off x="819150" y="5619750"/>
            <a:ext cx="10553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1575" b="1">
                <a:solidFill>
                  <a:srgbClr val="2C8A62"/>
                </a:solidFill>
                <a:latin typeface="Arial Unicode MS"/>
                <a:ea typeface="Arial Unicode MS"/>
                <a:cs typeface="Arial Unicode MS"/>
              </a:defRPr>
            </a:pPr>
            <a:r>
              <a:rPr sz="1575" b="1">
                <a:solidFill>
                  <a:srgbClr val="2C8A62"/>
                </a:solidFill>
                <a:latin typeface="Arial Unicode MS"/>
                <a:ea typeface="Arial Unicode MS"/>
                <a:cs typeface="Arial Unicode MS"/>
              </a:rPr>
              <a:t>Frozen v2：3 个初始点 + 2 次 GP-UCB reveal 即找到 100% 产率。</a:t>
            </a:r>
          </a:p>
        </p:txBody>
      </p:sp>
      <p:sp>
        <p:nvSpPr>
          <p:cNvPr id="24" name="">
            <a:extLst xmlns:a="http://schemas.openxmlformats.org/drawingml/2006/main">
              <a:ext uri="{FF2B5EF4-FFF2-40B4-BE49-F238E27FC236}">
                <a16:creationId xmlns:a16="http://schemas.microsoft.com/office/drawing/2014/main" id="{1F4D980E-77A4-440A-8273-6483298C8DDF}"/>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frozen evidence update · 2026-08-12</a:t>
            </a:r>
          </a:p>
        </p:txBody>
      </p:sp>
    </p:spTree>
    <p:extLst>
      <p:ext uri="{BB962C8B-B14F-4D97-AF65-F5344CB8AC3E}">
        <p14:creationId xmlns:p14="http://schemas.microsoft.com/office/powerpoint/2010/main" val="1742490521"/>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2" name="">
            <a:extLst xmlns:a="http://schemas.openxmlformats.org/drawingml/2006/main">
              <a:ext uri="{FF2B5EF4-FFF2-40B4-BE49-F238E27FC236}">
                <a16:creationId xmlns:a16="http://schemas.microsoft.com/office/drawing/2014/main" id="{F0BAC3A6-599B-439B-A1E9-262638C38D5C}"/>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BROADER OFFLINE EVIDENCE</a:t>
            </a:r>
          </a:p>
        </p:txBody>
      </p:sp>
      <p:sp>
        <p:nvSpPr>
          <p:cNvPr id="2" name="">
            <a:extLst xmlns:a="http://schemas.openxmlformats.org/drawingml/2006/main">
              <a:ext uri="{FF2B5EF4-FFF2-40B4-BE49-F238E27FC236}">
                <a16:creationId xmlns:a16="http://schemas.microsoft.com/office/drawing/2014/main" id="{431FE078-244A-4322-B51D-3DBA89A63E71}"/>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25</a:t>
            </a:r>
          </a:p>
        </p:txBody>
      </p:sp>
      <p:sp>
        <p:nvSpPr>
          <p:cNvPr id="3" name="">
            <a:extLst xmlns:a="http://schemas.openxmlformats.org/drawingml/2006/main">
              <a:ext uri="{FF2B5EF4-FFF2-40B4-BE49-F238E27FC236}">
                <a16:creationId xmlns:a16="http://schemas.microsoft.com/office/drawing/2014/main" id="{945FF534-9B1D-489E-8ADC-3FC2676BA406}"/>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00" b="1">
                <a:solidFill>
                  <a:srgbClr val="17232E"/>
                </a:solidFill>
                <a:latin typeface="Arial Unicode MS"/>
                <a:ea typeface="Arial Unicode MS"/>
                <a:cs typeface="Arial Unicode MS"/>
              </a:defRPr>
            </a:pPr>
            <a:r>
              <a:rPr sz="2400" b="1">
                <a:solidFill>
                  <a:srgbClr val="17232E"/>
                </a:solidFill>
                <a:latin typeface="Arial Unicode MS"/>
                <a:ea typeface="Arial Unicode MS"/>
                <a:cs typeface="Arial Unicode MS"/>
              </a:rPr>
              <a:t>多领域离线 suite 支持平台价值，但不等于零成本部署</a:t>
            </a:r>
          </a:p>
        </p:txBody>
      </p:sp>
      <p:sp>
        <p:nvSpPr>
          <p:cNvPr id="4" name="">
            <a:extLst xmlns:a="http://schemas.openxmlformats.org/drawingml/2006/main">
              <a:ext uri="{FF2B5EF4-FFF2-40B4-BE49-F238E27FC236}">
                <a16:creationId xmlns:a16="http://schemas.microsoft.com/office/drawing/2014/main" id="{F59C6A16-D894-4FA7-98EA-405C9327C90F}"/>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6550E6B9-690A-4E69-8757-6A1004652419}"/>
              </a:ext>
            </a:extLst>
          </p:cNvPr>
          <p:cNvSpPr>
            <a:spLocks xmlns:a="http://schemas.openxmlformats.org/drawingml/2006/main" noGrp="1"/>
          </p:cNvSpPr>
          <p:nvPr/>
        </p:nvSpPr>
        <p:spPr>
          <a:xfrm xmlns:a="http://schemas.openxmlformats.org/drawingml/2006/main">
            <a:off x="647700" y="1581150"/>
            <a:ext cx="4696810" cy="466725"/>
          </a:xfrm>
          <a:prstGeom xmlns:a="http://schemas.openxmlformats.org/drawingml/2006/main" prst="rect">
            <a:avLst/>
          </a:prstGeom>
          <a:solidFill xmlns:a="http://schemas.openxmlformats.org/drawingml/2006/main">
            <a:srgbClr val="17324D"/>
          </a:solidFill>
          <a:ln xmlns:a="http://schemas.openxmlformats.org/drawingml/2006/main" w="9525">
            <a:solidFill>
              <a:srgbClr val="FFFFFF"/>
            </a:solidFill>
            <a:prstDash val="solid"/>
          </a:ln>
        </p:spPr>
      </p:sp>
      <p:sp>
        <p:nvSpPr>
          <p:cNvPr id="6" name="">
            <a:extLst xmlns:a="http://schemas.openxmlformats.org/drawingml/2006/main">
              <a:ext uri="{FF2B5EF4-FFF2-40B4-BE49-F238E27FC236}">
                <a16:creationId xmlns:a16="http://schemas.microsoft.com/office/drawing/2014/main" id="{0E009763-0230-4A16-8BE2-6DE24E830CC7}"/>
              </a:ext>
            </a:extLst>
          </p:cNvPr>
          <p:cNvSpPr>
            <a:spLocks xmlns:a="http://schemas.openxmlformats.org/drawingml/2006/main" noGrp="1"/>
          </p:cNvSpPr>
          <p:nvPr/>
        </p:nvSpPr>
        <p:spPr>
          <a:xfrm xmlns:a="http://schemas.openxmlformats.org/drawingml/2006/main">
            <a:off x="723900" y="1647825"/>
            <a:ext cx="454441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125" b="1">
                <a:solidFill>
                  <a:srgbClr val="FFFFFF"/>
                </a:solidFill>
                <a:latin typeface="Arial Unicode MS"/>
                <a:ea typeface="Arial Unicode MS"/>
                <a:cs typeface="Arial Unicode MS"/>
              </a:defRPr>
            </a:pPr>
            <a:r>
              <a:rPr sz="1125" b="1">
                <a:solidFill>
                  <a:srgbClr val="FFFFFF"/>
                </a:solidFill>
                <a:latin typeface="Arial Unicode MS"/>
                <a:ea typeface="Arial Unicode MS"/>
                <a:cs typeface="Arial Unicode MS"/>
              </a:rPr>
              <a:t>Source → target</a:t>
            </a:r>
          </a:p>
        </p:txBody>
      </p:sp>
      <p:sp>
        <p:nvSpPr>
          <p:cNvPr id="7" name="">
            <a:extLst xmlns:a="http://schemas.openxmlformats.org/drawingml/2006/main">
              <a:ext uri="{FF2B5EF4-FFF2-40B4-BE49-F238E27FC236}">
                <a16:creationId xmlns:a16="http://schemas.microsoft.com/office/drawing/2014/main" id="{EBE512EA-F1C3-4D30-9775-DF75C511D78F}"/>
              </a:ext>
            </a:extLst>
          </p:cNvPr>
          <p:cNvSpPr>
            <a:spLocks xmlns:a="http://schemas.openxmlformats.org/drawingml/2006/main" noGrp="1"/>
          </p:cNvSpPr>
          <p:nvPr/>
        </p:nvSpPr>
        <p:spPr>
          <a:xfrm xmlns:a="http://schemas.openxmlformats.org/drawingml/2006/main">
            <a:off x="5344510" y="1581150"/>
            <a:ext cx="2066597" cy="466725"/>
          </a:xfrm>
          <a:prstGeom xmlns:a="http://schemas.openxmlformats.org/drawingml/2006/main" prst="rect">
            <a:avLst/>
          </a:prstGeom>
          <a:solidFill xmlns:a="http://schemas.openxmlformats.org/drawingml/2006/main">
            <a:srgbClr val="17324D"/>
          </a:solidFill>
          <a:ln xmlns:a="http://schemas.openxmlformats.org/drawingml/2006/main" w="9525">
            <a:solidFill>
              <a:srgbClr val="FFFFFF"/>
            </a:solidFill>
            <a:prstDash val="solid"/>
          </a:ln>
        </p:spPr>
      </p:sp>
      <p:sp>
        <p:nvSpPr>
          <p:cNvPr id="8" name="">
            <a:extLst xmlns:a="http://schemas.openxmlformats.org/drawingml/2006/main">
              <a:ext uri="{FF2B5EF4-FFF2-40B4-BE49-F238E27FC236}">
                <a16:creationId xmlns:a16="http://schemas.microsoft.com/office/drawing/2014/main" id="{E4FBE453-61E7-4F45-B34B-AAB211AFB130}"/>
              </a:ext>
            </a:extLst>
          </p:cNvPr>
          <p:cNvSpPr>
            <a:spLocks xmlns:a="http://schemas.openxmlformats.org/drawingml/2006/main" noGrp="1"/>
          </p:cNvSpPr>
          <p:nvPr/>
        </p:nvSpPr>
        <p:spPr>
          <a:xfrm xmlns:a="http://schemas.openxmlformats.org/drawingml/2006/main">
            <a:off x="5420710" y="1647825"/>
            <a:ext cx="1914197"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125" b="1">
                <a:solidFill>
                  <a:srgbClr val="FFFFFF"/>
                </a:solidFill>
                <a:latin typeface="Arial Unicode MS"/>
                <a:ea typeface="Arial Unicode MS"/>
                <a:cs typeface="Arial Unicode MS"/>
              </a:defRPr>
            </a:pPr>
            <a:r>
              <a:rPr sz="1125" b="1">
                <a:solidFill>
                  <a:srgbClr val="FFFFFF"/>
                </a:solidFill>
                <a:latin typeface="Arial Unicode MS"/>
                <a:ea typeface="Arial Unicode MS"/>
                <a:cs typeface="Arial Unicode MS"/>
              </a:rPr>
              <a:t>部署</a:t>
            </a:r>
          </a:p>
        </p:txBody>
      </p:sp>
      <p:sp>
        <p:nvSpPr>
          <p:cNvPr id="9" name="">
            <a:extLst xmlns:a="http://schemas.openxmlformats.org/drawingml/2006/main">
              <a:ext uri="{FF2B5EF4-FFF2-40B4-BE49-F238E27FC236}">
                <a16:creationId xmlns:a16="http://schemas.microsoft.com/office/drawing/2014/main" id="{AED67E2B-135A-4F21-A6CF-CAC84386248C}"/>
              </a:ext>
            </a:extLst>
          </p:cNvPr>
          <p:cNvSpPr>
            <a:spLocks xmlns:a="http://schemas.openxmlformats.org/drawingml/2006/main" noGrp="1"/>
          </p:cNvSpPr>
          <p:nvPr/>
        </p:nvSpPr>
        <p:spPr>
          <a:xfrm xmlns:a="http://schemas.openxmlformats.org/drawingml/2006/main">
            <a:off x="7411107" y="1581150"/>
            <a:ext cx="2066597" cy="466725"/>
          </a:xfrm>
          <a:prstGeom xmlns:a="http://schemas.openxmlformats.org/drawingml/2006/main" prst="rect">
            <a:avLst/>
          </a:prstGeom>
          <a:solidFill xmlns:a="http://schemas.openxmlformats.org/drawingml/2006/main">
            <a:srgbClr val="17324D"/>
          </a:solidFill>
          <a:ln xmlns:a="http://schemas.openxmlformats.org/drawingml/2006/main" w="9525">
            <a:solidFill>
              <a:srgbClr val="FFFFFF"/>
            </a:solidFill>
            <a:prstDash val="solid"/>
          </a:ln>
        </p:spPr>
      </p:sp>
      <p:sp>
        <p:nvSpPr>
          <p:cNvPr id="10" name="">
            <a:extLst xmlns:a="http://schemas.openxmlformats.org/drawingml/2006/main">
              <a:ext uri="{FF2B5EF4-FFF2-40B4-BE49-F238E27FC236}">
                <a16:creationId xmlns:a16="http://schemas.microsoft.com/office/drawing/2014/main" id="{2C09D60E-B4AC-4723-850F-04B1C6B85E05}"/>
              </a:ext>
            </a:extLst>
          </p:cNvPr>
          <p:cNvSpPr>
            <a:spLocks xmlns:a="http://schemas.openxmlformats.org/drawingml/2006/main" noGrp="1"/>
          </p:cNvSpPr>
          <p:nvPr/>
        </p:nvSpPr>
        <p:spPr>
          <a:xfrm xmlns:a="http://schemas.openxmlformats.org/drawingml/2006/main">
            <a:off x="7487307" y="1647825"/>
            <a:ext cx="1914197"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125" b="1">
                <a:solidFill>
                  <a:srgbClr val="FFFFFF"/>
                </a:solidFill>
                <a:latin typeface="Arial Unicode MS"/>
                <a:ea typeface="Arial Unicode MS"/>
                <a:cs typeface="Arial Unicode MS"/>
              </a:defRPr>
            </a:pPr>
            <a:r>
              <a:rPr sz="1125" b="1">
                <a:solidFill>
                  <a:srgbClr val="FFFFFF"/>
                </a:solidFill>
                <a:latin typeface="Arial Unicode MS"/>
                <a:ea typeface="Arial Unicode MS"/>
                <a:cs typeface="Arial Unicode MS"/>
              </a:rPr>
              <a:t>Final best Δ</a:t>
            </a:r>
          </a:p>
        </p:txBody>
      </p:sp>
      <p:sp>
        <p:nvSpPr>
          <p:cNvPr id="11" name="">
            <a:extLst xmlns:a="http://schemas.openxmlformats.org/drawingml/2006/main">
              <a:ext uri="{FF2B5EF4-FFF2-40B4-BE49-F238E27FC236}">
                <a16:creationId xmlns:a16="http://schemas.microsoft.com/office/drawing/2014/main" id="{C2FA0816-339D-4615-8FA0-AED213FACBF0}"/>
              </a:ext>
            </a:extLst>
          </p:cNvPr>
          <p:cNvSpPr>
            <a:spLocks xmlns:a="http://schemas.openxmlformats.org/drawingml/2006/main" noGrp="1"/>
          </p:cNvSpPr>
          <p:nvPr/>
        </p:nvSpPr>
        <p:spPr>
          <a:xfrm xmlns:a="http://schemas.openxmlformats.org/drawingml/2006/main">
            <a:off x="9477703" y="1581150"/>
            <a:ext cx="2066597" cy="466725"/>
          </a:xfrm>
          <a:prstGeom xmlns:a="http://schemas.openxmlformats.org/drawingml/2006/main" prst="rect">
            <a:avLst/>
          </a:prstGeom>
          <a:solidFill xmlns:a="http://schemas.openxmlformats.org/drawingml/2006/main">
            <a:srgbClr val="17324D"/>
          </a:solidFill>
          <a:ln xmlns:a="http://schemas.openxmlformats.org/drawingml/2006/main" w="9525">
            <a:solidFill>
              <a:srgbClr val="FFFFFF"/>
            </a:solidFill>
            <a:prstDash val="solid"/>
          </a:ln>
        </p:spPr>
      </p:sp>
      <p:sp>
        <p:nvSpPr>
          <p:cNvPr id="12" name="">
            <a:extLst xmlns:a="http://schemas.openxmlformats.org/drawingml/2006/main">
              <a:ext uri="{FF2B5EF4-FFF2-40B4-BE49-F238E27FC236}">
                <a16:creationId xmlns:a16="http://schemas.microsoft.com/office/drawing/2014/main" id="{5254BC9C-916F-49F1-B5F6-6F8740124BB4}"/>
              </a:ext>
            </a:extLst>
          </p:cNvPr>
          <p:cNvSpPr>
            <a:spLocks xmlns:a="http://schemas.openxmlformats.org/drawingml/2006/main" noGrp="1"/>
          </p:cNvSpPr>
          <p:nvPr/>
        </p:nvSpPr>
        <p:spPr>
          <a:xfrm xmlns:a="http://schemas.openxmlformats.org/drawingml/2006/main">
            <a:off x="9553903" y="1647825"/>
            <a:ext cx="1914197"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125" b="1">
                <a:solidFill>
                  <a:srgbClr val="FFFFFF"/>
                </a:solidFill>
                <a:latin typeface="Arial Unicode MS"/>
                <a:ea typeface="Arial Unicode MS"/>
                <a:cs typeface="Arial Unicode MS"/>
              </a:defRPr>
            </a:pPr>
            <a:r>
              <a:rPr sz="1125" b="1">
                <a:solidFill>
                  <a:srgbClr val="FFFFFF"/>
                </a:solidFill>
                <a:latin typeface="Arial Unicode MS"/>
                <a:ea typeface="Arial Unicode MS"/>
                <a:cs typeface="Arial Unicode MS"/>
              </a:rPr>
              <a:t>AUC Δ</a:t>
            </a:r>
          </a:p>
        </p:txBody>
      </p:sp>
      <p:sp>
        <p:nvSpPr>
          <p:cNvPr id="13" name="">
            <a:extLst xmlns:a="http://schemas.openxmlformats.org/drawingml/2006/main">
              <a:ext uri="{FF2B5EF4-FFF2-40B4-BE49-F238E27FC236}">
                <a16:creationId xmlns:a16="http://schemas.microsoft.com/office/drawing/2014/main" id="{8575E669-F1E9-4B8B-8891-B319F7FD908B}"/>
              </a:ext>
            </a:extLst>
          </p:cNvPr>
          <p:cNvSpPr>
            <a:spLocks xmlns:a="http://schemas.openxmlformats.org/drawingml/2006/main" noGrp="1"/>
          </p:cNvSpPr>
          <p:nvPr/>
        </p:nvSpPr>
        <p:spPr>
          <a:xfrm xmlns:a="http://schemas.openxmlformats.org/drawingml/2006/main">
            <a:off x="647700" y="2047875"/>
            <a:ext cx="4696810" cy="466725"/>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14" name="">
            <a:extLst xmlns:a="http://schemas.openxmlformats.org/drawingml/2006/main">
              <a:ext uri="{FF2B5EF4-FFF2-40B4-BE49-F238E27FC236}">
                <a16:creationId xmlns:a16="http://schemas.microsoft.com/office/drawing/2014/main" id="{DB6C4731-CF12-484D-B7D6-8CC107F2E62E}"/>
              </a:ext>
            </a:extLst>
          </p:cNvPr>
          <p:cNvSpPr>
            <a:spLocks xmlns:a="http://schemas.openxmlformats.org/drawingml/2006/main" noGrp="1"/>
          </p:cNvSpPr>
          <p:nvPr/>
        </p:nvSpPr>
        <p:spPr>
          <a:xfrm xmlns:a="http://schemas.openxmlformats.org/drawingml/2006/main">
            <a:off x="723900" y="2114550"/>
            <a:ext cx="454441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050" b="1">
                <a:solidFill>
                  <a:srgbClr val="17232E"/>
                </a:solidFill>
                <a:latin typeface="Arial Unicode MS"/>
                <a:ea typeface="Arial Unicode MS"/>
                <a:cs typeface="Arial Unicode MS"/>
              </a:defRPr>
            </a:pPr>
            <a:r>
              <a:rPr sz="1050" b="1">
                <a:solidFill>
                  <a:srgbClr val="17232E"/>
                </a:solidFill>
                <a:latin typeface="Arial Unicode MS"/>
                <a:ea typeface="Arial Unicode MS"/>
                <a:cs typeface="Arial Unicode MS"/>
              </a:rPr>
              <a:t>ChemLex → Buchwald-Hartwig</a:t>
            </a:r>
          </a:p>
        </p:txBody>
      </p:sp>
      <p:sp>
        <p:nvSpPr>
          <p:cNvPr id="15" name="">
            <a:extLst xmlns:a="http://schemas.openxmlformats.org/drawingml/2006/main">
              <a:ext uri="{FF2B5EF4-FFF2-40B4-BE49-F238E27FC236}">
                <a16:creationId xmlns:a16="http://schemas.microsoft.com/office/drawing/2014/main" id="{90FBE7EF-EA56-4363-81AD-94CC9FA2A12D}"/>
              </a:ext>
            </a:extLst>
          </p:cNvPr>
          <p:cNvSpPr>
            <a:spLocks xmlns:a="http://schemas.openxmlformats.org/drawingml/2006/main" noGrp="1"/>
          </p:cNvSpPr>
          <p:nvPr/>
        </p:nvSpPr>
        <p:spPr>
          <a:xfrm xmlns:a="http://schemas.openxmlformats.org/drawingml/2006/main">
            <a:off x="5344510" y="2047875"/>
            <a:ext cx="2066597" cy="466725"/>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16" name="">
            <a:extLst xmlns:a="http://schemas.openxmlformats.org/drawingml/2006/main">
              <a:ext uri="{FF2B5EF4-FFF2-40B4-BE49-F238E27FC236}">
                <a16:creationId xmlns:a16="http://schemas.microsoft.com/office/drawing/2014/main" id="{14C3C1FE-3D80-4823-AD7D-166239980A67}"/>
              </a:ext>
            </a:extLst>
          </p:cNvPr>
          <p:cNvSpPr>
            <a:spLocks xmlns:a="http://schemas.openxmlformats.org/drawingml/2006/main" noGrp="1"/>
          </p:cNvSpPr>
          <p:nvPr/>
        </p:nvSpPr>
        <p:spPr>
          <a:xfrm xmlns:a="http://schemas.openxmlformats.org/drawingml/2006/main">
            <a:off x="5420710" y="2114550"/>
            <a:ext cx="1914197"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050" b="1">
                <a:solidFill>
                  <a:srgbClr val="2C8A62"/>
                </a:solidFill>
                <a:latin typeface="Arial Unicode MS"/>
                <a:ea typeface="Arial Unicode MS"/>
                <a:cs typeface="Arial Unicode MS"/>
              </a:defRPr>
            </a:pPr>
            <a:r>
              <a:rPr sz="1050" b="1">
                <a:solidFill>
                  <a:srgbClr val="2C8A62"/>
                </a:solidFill>
                <a:latin typeface="Arial Unicode MS"/>
                <a:ea typeface="Arial Unicode MS"/>
                <a:cs typeface="Arial Unicode MS"/>
              </a:rPr>
              <a:t>transfer</a:t>
            </a:r>
          </a:p>
        </p:txBody>
      </p:sp>
      <p:sp>
        <p:nvSpPr>
          <p:cNvPr id="17" name="">
            <a:extLst xmlns:a="http://schemas.openxmlformats.org/drawingml/2006/main">
              <a:ext uri="{FF2B5EF4-FFF2-40B4-BE49-F238E27FC236}">
                <a16:creationId xmlns:a16="http://schemas.microsoft.com/office/drawing/2014/main" id="{EF187086-7AC2-456A-BB9A-5CB673D9030C}"/>
              </a:ext>
            </a:extLst>
          </p:cNvPr>
          <p:cNvSpPr>
            <a:spLocks xmlns:a="http://schemas.openxmlformats.org/drawingml/2006/main" noGrp="1"/>
          </p:cNvSpPr>
          <p:nvPr/>
        </p:nvSpPr>
        <p:spPr>
          <a:xfrm xmlns:a="http://schemas.openxmlformats.org/drawingml/2006/main">
            <a:off x="7411107" y="2047875"/>
            <a:ext cx="2066597" cy="466725"/>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18" name="">
            <a:extLst xmlns:a="http://schemas.openxmlformats.org/drawingml/2006/main">
              <a:ext uri="{FF2B5EF4-FFF2-40B4-BE49-F238E27FC236}">
                <a16:creationId xmlns:a16="http://schemas.microsoft.com/office/drawing/2014/main" id="{305D6101-09DE-446E-993D-685FF9997145}"/>
              </a:ext>
            </a:extLst>
          </p:cNvPr>
          <p:cNvSpPr>
            <a:spLocks xmlns:a="http://schemas.openxmlformats.org/drawingml/2006/main" noGrp="1"/>
          </p:cNvSpPr>
          <p:nvPr/>
        </p:nvSpPr>
        <p:spPr>
          <a:xfrm xmlns:a="http://schemas.openxmlformats.org/drawingml/2006/main">
            <a:off x="7487307" y="2114550"/>
            <a:ext cx="1914197"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050" b="1">
                <a:solidFill>
                  <a:srgbClr val="2C8A62"/>
                </a:solidFill>
                <a:latin typeface="Arial Unicode MS"/>
                <a:ea typeface="Arial Unicode MS"/>
                <a:cs typeface="Arial Unicode MS"/>
              </a:defRPr>
            </a:pPr>
            <a:r>
              <a:rPr sz="1050" b="1">
                <a:solidFill>
                  <a:srgbClr val="2C8A62"/>
                </a:solidFill>
                <a:latin typeface="Arial Unicode MS"/>
                <a:ea typeface="Arial Unicode MS"/>
                <a:cs typeface="Arial Unicode MS"/>
              </a:rPr>
              <a:t>+9.197</a:t>
            </a:r>
          </a:p>
        </p:txBody>
      </p:sp>
      <p:sp>
        <p:nvSpPr>
          <p:cNvPr id="19" name="">
            <a:extLst xmlns:a="http://schemas.openxmlformats.org/drawingml/2006/main">
              <a:ext uri="{FF2B5EF4-FFF2-40B4-BE49-F238E27FC236}">
                <a16:creationId xmlns:a16="http://schemas.microsoft.com/office/drawing/2014/main" id="{D2631463-7863-40E3-A1D5-075DA36531EB}"/>
              </a:ext>
            </a:extLst>
          </p:cNvPr>
          <p:cNvSpPr>
            <a:spLocks xmlns:a="http://schemas.openxmlformats.org/drawingml/2006/main" noGrp="1"/>
          </p:cNvSpPr>
          <p:nvPr/>
        </p:nvSpPr>
        <p:spPr>
          <a:xfrm xmlns:a="http://schemas.openxmlformats.org/drawingml/2006/main">
            <a:off x="9477703" y="2047875"/>
            <a:ext cx="2066597" cy="466725"/>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20" name="">
            <a:extLst xmlns:a="http://schemas.openxmlformats.org/drawingml/2006/main">
              <a:ext uri="{FF2B5EF4-FFF2-40B4-BE49-F238E27FC236}">
                <a16:creationId xmlns:a16="http://schemas.microsoft.com/office/drawing/2014/main" id="{5DB70779-FB76-478D-BA9D-4413BC9581BB}"/>
              </a:ext>
            </a:extLst>
          </p:cNvPr>
          <p:cNvSpPr>
            <a:spLocks xmlns:a="http://schemas.openxmlformats.org/drawingml/2006/main" noGrp="1"/>
          </p:cNvSpPr>
          <p:nvPr/>
        </p:nvSpPr>
        <p:spPr>
          <a:xfrm xmlns:a="http://schemas.openxmlformats.org/drawingml/2006/main">
            <a:off x="9553903" y="2114550"/>
            <a:ext cx="1914197"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050" b="1">
                <a:solidFill>
                  <a:srgbClr val="2C8A62"/>
                </a:solidFill>
                <a:latin typeface="Arial Unicode MS"/>
                <a:ea typeface="Arial Unicode MS"/>
                <a:cs typeface="Arial Unicode MS"/>
              </a:defRPr>
            </a:pPr>
            <a:r>
              <a:rPr sz="1050" b="1">
                <a:solidFill>
                  <a:srgbClr val="2C8A62"/>
                </a:solidFill>
                <a:latin typeface="Arial Unicode MS"/>
                <a:ea typeface="Arial Unicode MS"/>
                <a:cs typeface="Arial Unicode MS"/>
              </a:rPr>
              <a:t>+11.057</a:t>
            </a:r>
          </a:p>
        </p:txBody>
      </p:sp>
      <p:sp>
        <p:nvSpPr>
          <p:cNvPr id="21" name="">
            <a:extLst xmlns:a="http://schemas.openxmlformats.org/drawingml/2006/main">
              <a:ext uri="{FF2B5EF4-FFF2-40B4-BE49-F238E27FC236}">
                <a16:creationId xmlns:a16="http://schemas.microsoft.com/office/drawing/2014/main" id="{1C0149DD-B883-4274-A4AC-EA80E96B4AF5}"/>
              </a:ext>
            </a:extLst>
          </p:cNvPr>
          <p:cNvSpPr>
            <a:spLocks xmlns:a="http://schemas.openxmlformats.org/drawingml/2006/main" noGrp="1"/>
          </p:cNvSpPr>
          <p:nvPr/>
        </p:nvSpPr>
        <p:spPr>
          <a:xfrm xmlns:a="http://schemas.openxmlformats.org/drawingml/2006/main">
            <a:off x="647700" y="2514600"/>
            <a:ext cx="4696810" cy="466725"/>
          </a:xfrm>
          <a:prstGeom xmlns:a="http://schemas.openxmlformats.org/drawingml/2006/main" prst="rect">
            <a:avLst/>
          </a:prstGeom>
          <a:solidFill xmlns:a="http://schemas.openxmlformats.org/drawingml/2006/main">
            <a:srgbClr val="F1F4F6"/>
          </a:solidFill>
          <a:ln xmlns:a="http://schemas.openxmlformats.org/drawingml/2006/main" w="9525">
            <a:solidFill>
              <a:srgbClr val="FFFFFF"/>
            </a:solidFill>
            <a:prstDash val="solid"/>
          </a:ln>
        </p:spPr>
      </p:sp>
      <p:sp>
        <p:nvSpPr>
          <p:cNvPr id="22" name="">
            <a:extLst xmlns:a="http://schemas.openxmlformats.org/drawingml/2006/main">
              <a:ext uri="{FF2B5EF4-FFF2-40B4-BE49-F238E27FC236}">
                <a16:creationId xmlns:a16="http://schemas.microsoft.com/office/drawing/2014/main" id="{375CBC35-B23B-4443-9128-E5AE21A7EDA3}"/>
              </a:ext>
            </a:extLst>
          </p:cNvPr>
          <p:cNvSpPr>
            <a:spLocks xmlns:a="http://schemas.openxmlformats.org/drawingml/2006/main" noGrp="1"/>
          </p:cNvSpPr>
          <p:nvPr/>
        </p:nvSpPr>
        <p:spPr>
          <a:xfrm xmlns:a="http://schemas.openxmlformats.org/drawingml/2006/main">
            <a:off x="723900" y="2581275"/>
            <a:ext cx="454441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050" b="1">
                <a:solidFill>
                  <a:srgbClr val="17232E"/>
                </a:solidFill>
                <a:latin typeface="Arial Unicode MS"/>
                <a:ea typeface="Arial Unicode MS"/>
                <a:cs typeface="Arial Unicode MS"/>
              </a:defRPr>
            </a:pPr>
            <a:r>
              <a:rPr sz="1050" b="1">
                <a:solidFill>
                  <a:srgbClr val="17232E"/>
                </a:solidFill>
                <a:latin typeface="Arial Unicode MS"/>
                <a:ea typeface="Arial Unicode MS"/>
                <a:cs typeface="Arial Unicode MS"/>
              </a:rPr>
              <a:t>Dielectric → expt. gap</a:t>
            </a:r>
          </a:p>
        </p:txBody>
      </p:sp>
      <p:sp>
        <p:nvSpPr>
          <p:cNvPr id="23" name="">
            <a:extLst xmlns:a="http://schemas.openxmlformats.org/drawingml/2006/main">
              <a:ext uri="{FF2B5EF4-FFF2-40B4-BE49-F238E27FC236}">
                <a16:creationId xmlns:a16="http://schemas.microsoft.com/office/drawing/2014/main" id="{1466D18B-0701-46B9-B045-5B52B9E5966D}"/>
              </a:ext>
            </a:extLst>
          </p:cNvPr>
          <p:cNvSpPr>
            <a:spLocks xmlns:a="http://schemas.openxmlformats.org/drawingml/2006/main" noGrp="1"/>
          </p:cNvSpPr>
          <p:nvPr/>
        </p:nvSpPr>
        <p:spPr>
          <a:xfrm xmlns:a="http://schemas.openxmlformats.org/drawingml/2006/main">
            <a:off x="5344510" y="2514600"/>
            <a:ext cx="2066597" cy="466725"/>
          </a:xfrm>
          <a:prstGeom xmlns:a="http://schemas.openxmlformats.org/drawingml/2006/main" prst="rect">
            <a:avLst/>
          </a:prstGeom>
          <a:solidFill xmlns:a="http://schemas.openxmlformats.org/drawingml/2006/main">
            <a:srgbClr val="F1F4F6"/>
          </a:solidFill>
          <a:ln xmlns:a="http://schemas.openxmlformats.org/drawingml/2006/main" w="9525">
            <a:solidFill>
              <a:srgbClr val="FFFFFF"/>
            </a:solidFill>
            <a:prstDash val="solid"/>
          </a:ln>
        </p:spPr>
      </p:sp>
      <p:sp>
        <p:nvSpPr>
          <p:cNvPr id="24" name="">
            <a:extLst xmlns:a="http://schemas.openxmlformats.org/drawingml/2006/main">
              <a:ext uri="{FF2B5EF4-FFF2-40B4-BE49-F238E27FC236}">
                <a16:creationId xmlns:a16="http://schemas.microsoft.com/office/drawing/2014/main" id="{55A412CF-AB4D-45BB-87C4-9F59C95AC710}"/>
              </a:ext>
            </a:extLst>
          </p:cNvPr>
          <p:cNvSpPr>
            <a:spLocks xmlns:a="http://schemas.openxmlformats.org/drawingml/2006/main" noGrp="1"/>
          </p:cNvSpPr>
          <p:nvPr/>
        </p:nvSpPr>
        <p:spPr>
          <a:xfrm xmlns:a="http://schemas.openxmlformats.org/drawingml/2006/main">
            <a:off x="5420710" y="2581275"/>
            <a:ext cx="1914197"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050" b="1">
                <a:solidFill>
                  <a:srgbClr val="2C8A62"/>
                </a:solidFill>
                <a:latin typeface="Arial Unicode MS"/>
                <a:ea typeface="Arial Unicode MS"/>
                <a:cs typeface="Arial Unicode MS"/>
              </a:defRPr>
            </a:pPr>
            <a:r>
              <a:rPr sz="1050" b="1">
                <a:solidFill>
                  <a:srgbClr val="2C8A62"/>
                </a:solidFill>
                <a:latin typeface="Arial Unicode MS"/>
                <a:ea typeface="Arial Unicode MS"/>
                <a:cs typeface="Arial Unicode MS"/>
              </a:rPr>
              <a:t>transfer</a:t>
            </a:r>
          </a:p>
        </p:txBody>
      </p:sp>
      <p:sp>
        <p:nvSpPr>
          <p:cNvPr id="25" name="">
            <a:extLst xmlns:a="http://schemas.openxmlformats.org/drawingml/2006/main">
              <a:ext uri="{FF2B5EF4-FFF2-40B4-BE49-F238E27FC236}">
                <a16:creationId xmlns:a16="http://schemas.microsoft.com/office/drawing/2014/main" id="{94A2441A-F34E-4F37-887C-4F9CAFCFF355}"/>
              </a:ext>
            </a:extLst>
          </p:cNvPr>
          <p:cNvSpPr>
            <a:spLocks xmlns:a="http://schemas.openxmlformats.org/drawingml/2006/main" noGrp="1"/>
          </p:cNvSpPr>
          <p:nvPr/>
        </p:nvSpPr>
        <p:spPr>
          <a:xfrm xmlns:a="http://schemas.openxmlformats.org/drawingml/2006/main">
            <a:off x="7411107" y="2514600"/>
            <a:ext cx="2066597" cy="466725"/>
          </a:xfrm>
          <a:prstGeom xmlns:a="http://schemas.openxmlformats.org/drawingml/2006/main" prst="rect">
            <a:avLst/>
          </a:prstGeom>
          <a:solidFill xmlns:a="http://schemas.openxmlformats.org/drawingml/2006/main">
            <a:srgbClr val="F1F4F6"/>
          </a:solidFill>
          <a:ln xmlns:a="http://schemas.openxmlformats.org/drawingml/2006/main" w="9525">
            <a:solidFill>
              <a:srgbClr val="FFFFFF"/>
            </a:solidFill>
            <a:prstDash val="solid"/>
          </a:ln>
        </p:spPr>
      </p:sp>
      <p:sp>
        <p:nvSpPr>
          <p:cNvPr id="26" name="">
            <a:extLst xmlns:a="http://schemas.openxmlformats.org/drawingml/2006/main">
              <a:ext uri="{FF2B5EF4-FFF2-40B4-BE49-F238E27FC236}">
                <a16:creationId xmlns:a16="http://schemas.microsoft.com/office/drawing/2014/main" id="{DA22FB48-5699-4930-B69F-4EE9853749C3}"/>
              </a:ext>
            </a:extLst>
          </p:cNvPr>
          <p:cNvSpPr>
            <a:spLocks xmlns:a="http://schemas.openxmlformats.org/drawingml/2006/main" noGrp="1"/>
          </p:cNvSpPr>
          <p:nvPr/>
        </p:nvSpPr>
        <p:spPr>
          <a:xfrm xmlns:a="http://schemas.openxmlformats.org/drawingml/2006/main">
            <a:off x="7487307" y="2581275"/>
            <a:ext cx="1914197"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050" b="1">
                <a:solidFill>
                  <a:srgbClr val="2C8A62"/>
                </a:solidFill>
                <a:latin typeface="Arial Unicode MS"/>
                <a:ea typeface="Arial Unicode MS"/>
                <a:cs typeface="Arial Unicode MS"/>
              </a:defRPr>
            </a:pPr>
            <a:r>
              <a:rPr sz="1050" b="1">
                <a:solidFill>
                  <a:srgbClr val="2C8A62"/>
                </a:solidFill>
                <a:latin typeface="Arial Unicode MS"/>
                <a:ea typeface="Arial Unicode MS"/>
                <a:cs typeface="Arial Unicode MS"/>
              </a:rPr>
              <a:t>+32.699</a:t>
            </a:r>
          </a:p>
        </p:txBody>
      </p:sp>
      <p:sp>
        <p:nvSpPr>
          <p:cNvPr id="27" name="">
            <a:extLst xmlns:a="http://schemas.openxmlformats.org/drawingml/2006/main">
              <a:ext uri="{FF2B5EF4-FFF2-40B4-BE49-F238E27FC236}">
                <a16:creationId xmlns:a16="http://schemas.microsoft.com/office/drawing/2014/main" id="{758AAA7B-41DC-48E9-9D3E-4A04857D4FE9}"/>
              </a:ext>
            </a:extLst>
          </p:cNvPr>
          <p:cNvSpPr>
            <a:spLocks xmlns:a="http://schemas.openxmlformats.org/drawingml/2006/main" noGrp="1"/>
          </p:cNvSpPr>
          <p:nvPr/>
        </p:nvSpPr>
        <p:spPr>
          <a:xfrm xmlns:a="http://schemas.openxmlformats.org/drawingml/2006/main">
            <a:off x="9477703" y="2514600"/>
            <a:ext cx="2066597" cy="466725"/>
          </a:xfrm>
          <a:prstGeom xmlns:a="http://schemas.openxmlformats.org/drawingml/2006/main" prst="rect">
            <a:avLst/>
          </a:prstGeom>
          <a:solidFill xmlns:a="http://schemas.openxmlformats.org/drawingml/2006/main">
            <a:srgbClr val="F1F4F6"/>
          </a:solidFill>
          <a:ln xmlns:a="http://schemas.openxmlformats.org/drawingml/2006/main" w="9525">
            <a:solidFill>
              <a:srgbClr val="FFFFFF"/>
            </a:solidFill>
            <a:prstDash val="solid"/>
          </a:ln>
        </p:spPr>
      </p:sp>
      <p:sp>
        <p:nvSpPr>
          <p:cNvPr id="28" name="">
            <a:extLst xmlns:a="http://schemas.openxmlformats.org/drawingml/2006/main">
              <a:ext uri="{FF2B5EF4-FFF2-40B4-BE49-F238E27FC236}">
                <a16:creationId xmlns:a16="http://schemas.microsoft.com/office/drawing/2014/main" id="{77081A1A-FB3C-4E55-B6A8-4C5CC4496976}"/>
              </a:ext>
            </a:extLst>
          </p:cNvPr>
          <p:cNvSpPr>
            <a:spLocks xmlns:a="http://schemas.openxmlformats.org/drawingml/2006/main" noGrp="1"/>
          </p:cNvSpPr>
          <p:nvPr/>
        </p:nvSpPr>
        <p:spPr>
          <a:xfrm xmlns:a="http://schemas.openxmlformats.org/drawingml/2006/main">
            <a:off x="9553903" y="2581275"/>
            <a:ext cx="1914197"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050" b="1">
                <a:solidFill>
                  <a:srgbClr val="2C8A62"/>
                </a:solidFill>
                <a:latin typeface="Arial Unicode MS"/>
                <a:ea typeface="Arial Unicode MS"/>
                <a:cs typeface="Arial Unicode MS"/>
              </a:defRPr>
            </a:pPr>
            <a:r>
              <a:rPr sz="1050" b="1">
                <a:solidFill>
                  <a:srgbClr val="2C8A62"/>
                </a:solidFill>
                <a:latin typeface="Arial Unicode MS"/>
                <a:ea typeface="Arial Unicode MS"/>
                <a:cs typeface="Arial Unicode MS"/>
              </a:rPr>
              <a:t>+48.028</a:t>
            </a:r>
          </a:p>
        </p:txBody>
      </p:sp>
      <p:sp>
        <p:nvSpPr>
          <p:cNvPr id="29" name="">
            <a:extLst xmlns:a="http://schemas.openxmlformats.org/drawingml/2006/main">
              <a:ext uri="{FF2B5EF4-FFF2-40B4-BE49-F238E27FC236}">
                <a16:creationId xmlns:a16="http://schemas.microsoft.com/office/drawing/2014/main" id="{645BFFD1-291F-4F77-B48A-414C5E129603}"/>
              </a:ext>
            </a:extLst>
          </p:cNvPr>
          <p:cNvSpPr>
            <a:spLocks xmlns:a="http://schemas.openxmlformats.org/drawingml/2006/main" noGrp="1"/>
          </p:cNvSpPr>
          <p:nvPr/>
        </p:nvSpPr>
        <p:spPr>
          <a:xfrm xmlns:a="http://schemas.openxmlformats.org/drawingml/2006/main">
            <a:off x="647700" y="2981325"/>
            <a:ext cx="4696810" cy="466725"/>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30" name="">
            <a:extLst xmlns:a="http://schemas.openxmlformats.org/drawingml/2006/main">
              <a:ext uri="{FF2B5EF4-FFF2-40B4-BE49-F238E27FC236}">
                <a16:creationId xmlns:a16="http://schemas.microsoft.com/office/drawing/2014/main" id="{BC335125-F3EA-4544-AB0C-FA95CE59CECB}"/>
              </a:ext>
            </a:extLst>
          </p:cNvPr>
          <p:cNvSpPr>
            <a:spLocks xmlns:a="http://schemas.openxmlformats.org/drawingml/2006/main" noGrp="1"/>
          </p:cNvSpPr>
          <p:nvPr/>
        </p:nvSpPr>
        <p:spPr>
          <a:xfrm xmlns:a="http://schemas.openxmlformats.org/drawingml/2006/main">
            <a:off x="723900" y="3048000"/>
            <a:ext cx="454441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050" b="1">
                <a:solidFill>
                  <a:srgbClr val="17232E"/>
                </a:solidFill>
                <a:latin typeface="Arial Unicode MS"/>
                <a:ea typeface="Arial Unicode MS"/>
                <a:cs typeface="Arial Unicode MS"/>
              </a:defRPr>
            </a:pPr>
            <a:r>
              <a:rPr sz="1050" b="1">
                <a:solidFill>
                  <a:srgbClr val="17232E"/>
                </a:solidFill>
                <a:latin typeface="Arial Unicode MS"/>
                <a:ea typeface="Arial Unicode MS"/>
                <a:cs typeface="Arial Unicode MS"/>
              </a:rPr>
              <a:t>Expt. gap → dielectric</a:t>
            </a:r>
          </a:p>
        </p:txBody>
      </p:sp>
      <p:sp>
        <p:nvSpPr>
          <p:cNvPr id="31" name="">
            <a:extLst xmlns:a="http://schemas.openxmlformats.org/drawingml/2006/main">
              <a:ext uri="{FF2B5EF4-FFF2-40B4-BE49-F238E27FC236}">
                <a16:creationId xmlns:a16="http://schemas.microsoft.com/office/drawing/2014/main" id="{6E4E6A3D-A4A7-4377-9FFD-F7D3DF8B30C3}"/>
              </a:ext>
            </a:extLst>
          </p:cNvPr>
          <p:cNvSpPr>
            <a:spLocks xmlns:a="http://schemas.openxmlformats.org/drawingml/2006/main" noGrp="1"/>
          </p:cNvSpPr>
          <p:nvPr/>
        </p:nvSpPr>
        <p:spPr>
          <a:xfrm xmlns:a="http://schemas.openxmlformats.org/drawingml/2006/main">
            <a:off x="5344510" y="2981325"/>
            <a:ext cx="2066597" cy="466725"/>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32" name="">
            <a:extLst xmlns:a="http://schemas.openxmlformats.org/drawingml/2006/main">
              <a:ext uri="{FF2B5EF4-FFF2-40B4-BE49-F238E27FC236}">
                <a16:creationId xmlns:a16="http://schemas.microsoft.com/office/drawing/2014/main" id="{D0059A69-7329-436B-9840-3976F81EFE1A}"/>
              </a:ext>
            </a:extLst>
          </p:cNvPr>
          <p:cNvSpPr>
            <a:spLocks xmlns:a="http://schemas.openxmlformats.org/drawingml/2006/main" noGrp="1"/>
          </p:cNvSpPr>
          <p:nvPr/>
        </p:nvSpPr>
        <p:spPr>
          <a:xfrm xmlns:a="http://schemas.openxmlformats.org/drawingml/2006/main">
            <a:off x="5420710" y="3048000"/>
            <a:ext cx="1914197"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050" b="1">
                <a:solidFill>
                  <a:srgbClr val="2C8A62"/>
                </a:solidFill>
                <a:latin typeface="Arial Unicode MS"/>
                <a:ea typeface="Arial Unicode MS"/>
                <a:cs typeface="Arial Unicode MS"/>
              </a:defRPr>
            </a:pPr>
            <a:r>
              <a:rPr sz="1050" b="1">
                <a:solidFill>
                  <a:srgbClr val="2C8A62"/>
                </a:solidFill>
                <a:latin typeface="Arial Unicode MS"/>
                <a:ea typeface="Arial Unicode MS"/>
                <a:cs typeface="Arial Unicode MS"/>
              </a:rPr>
              <a:t>transfer</a:t>
            </a:r>
          </a:p>
        </p:txBody>
      </p:sp>
      <p:sp>
        <p:nvSpPr>
          <p:cNvPr id="33" name="">
            <a:extLst xmlns:a="http://schemas.openxmlformats.org/drawingml/2006/main">
              <a:ext uri="{FF2B5EF4-FFF2-40B4-BE49-F238E27FC236}">
                <a16:creationId xmlns:a16="http://schemas.microsoft.com/office/drawing/2014/main" id="{C3EFC0D4-EB1C-43E4-BDE1-E2E32733913A}"/>
              </a:ext>
            </a:extLst>
          </p:cNvPr>
          <p:cNvSpPr>
            <a:spLocks xmlns:a="http://schemas.openxmlformats.org/drawingml/2006/main" noGrp="1"/>
          </p:cNvSpPr>
          <p:nvPr/>
        </p:nvSpPr>
        <p:spPr>
          <a:xfrm xmlns:a="http://schemas.openxmlformats.org/drawingml/2006/main">
            <a:off x="7411107" y="2981325"/>
            <a:ext cx="2066597" cy="466725"/>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34" name="">
            <a:extLst xmlns:a="http://schemas.openxmlformats.org/drawingml/2006/main">
              <a:ext uri="{FF2B5EF4-FFF2-40B4-BE49-F238E27FC236}">
                <a16:creationId xmlns:a16="http://schemas.microsoft.com/office/drawing/2014/main" id="{247E67FF-A0AE-417C-BD18-0047E114A315}"/>
              </a:ext>
            </a:extLst>
          </p:cNvPr>
          <p:cNvSpPr>
            <a:spLocks xmlns:a="http://schemas.openxmlformats.org/drawingml/2006/main" noGrp="1"/>
          </p:cNvSpPr>
          <p:nvPr/>
        </p:nvSpPr>
        <p:spPr>
          <a:xfrm xmlns:a="http://schemas.openxmlformats.org/drawingml/2006/main">
            <a:off x="7487307" y="3048000"/>
            <a:ext cx="1914197"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050" b="1">
                <a:solidFill>
                  <a:srgbClr val="2C8A62"/>
                </a:solidFill>
                <a:latin typeface="Arial Unicode MS"/>
                <a:ea typeface="Arial Unicode MS"/>
                <a:cs typeface="Arial Unicode MS"/>
              </a:defRPr>
            </a:pPr>
            <a:r>
              <a:rPr sz="1050" b="1">
                <a:solidFill>
                  <a:srgbClr val="2C8A62"/>
                </a:solidFill>
                <a:latin typeface="Arial Unicode MS"/>
                <a:ea typeface="Arial Unicode MS"/>
                <a:cs typeface="Arial Unicode MS"/>
              </a:rPr>
              <a:t>+18.065</a:t>
            </a:r>
          </a:p>
        </p:txBody>
      </p:sp>
      <p:sp>
        <p:nvSpPr>
          <p:cNvPr id="35" name="">
            <a:extLst xmlns:a="http://schemas.openxmlformats.org/drawingml/2006/main">
              <a:ext uri="{FF2B5EF4-FFF2-40B4-BE49-F238E27FC236}">
                <a16:creationId xmlns:a16="http://schemas.microsoft.com/office/drawing/2014/main" id="{01AD809E-89E5-4DE2-95EA-AFC35D78592F}"/>
              </a:ext>
            </a:extLst>
          </p:cNvPr>
          <p:cNvSpPr>
            <a:spLocks xmlns:a="http://schemas.openxmlformats.org/drawingml/2006/main" noGrp="1"/>
          </p:cNvSpPr>
          <p:nvPr/>
        </p:nvSpPr>
        <p:spPr>
          <a:xfrm xmlns:a="http://schemas.openxmlformats.org/drawingml/2006/main">
            <a:off x="9477703" y="2981325"/>
            <a:ext cx="2066597" cy="466725"/>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36" name="">
            <a:extLst xmlns:a="http://schemas.openxmlformats.org/drawingml/2006/main">
              <a:ext uri="{FF2B5EF4-FFF2-40B4-BE49-F238E27FC236}">
                <a16:creationId xmlns:a16="http://schemas.microsoft.com/office/drawing/2014/main" id="{0E1FE451-A24F-4ACD-AE2A-E38ED5E7C5C1}"/>
              </a:ext>
            </a:extLst>
          </p:cNvPr>
          <p:cNvSpPr>
            <a:spLocks xmlns:a="http://schemas.openxmlformats.org/drawingml/2006/main" noGrp="1"/>
          </p:cNvSpPr>
          <p:nvPr/>
        </p:nvSpPr>
        <p:spPr>
          <a:xfrm xmlns:a="http://schemas.openxmlformats.org/drawingml/2006/main">
            <a:off x="9553903" y="3048000"/>
            <a:ext cx="1914197"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050" b="1">
                <a:solidFill>
                  <a:srgbClr val="2C8A62"/>
                </a:solidFill>
                <a:latin typeface="Arial Unicode MS"/>
                <a:ea typeface="Arial Unicode MS"/>
                <a:cs typeface="Arial Unicode MS"/>
              </a:defRPr>
            </a:pPr>
            <a:r>
              <a:rPr sz="1050" b="1">
                <a:solidFill>
                  <a:srgbClr val="2C8A62"/>
                </a:solidFill>
                <a:latin typeface="Arial Unicode MS"/>
                <a:ea typeface="Arial Unicode MS"/>
                <a:cs typeface="Arial Unicode MS"/>
              </a:rPr>
              <a:t>+23.723</a:t>
            </a:r>
          </a:p>
        </p:txBody>
      </p:sp>
      <p:sp>
        <p:nvSpPr>
          <p:cNvPr id="37" name="">
            <a:extLst xmlns:a="http://schemas.openxmlformats.org/drawingml/2006/main">
              <a:ext uri="{FF2B5EF4-FFF2-40B4-BE49-F238E27FC236}">
                <a16:creationId xmlns:a16="http://schemas.microsoft.com/office/drawing/2014/main" id="{B66E55AB-4EFE-4846-BBDF-50AD0A826A73}"/>
              </a:ext>
            </a:extLst>
          </p:cNvPr>
          <p:cNvSpPr>
            <a:spLocks xmlns:a="http://schemas.openxmlformats.org/drawingml/2006/main" noGrp="1"/>
          </p:cNvSpPr>
          <p:nvPr/>
        </p:nvSpPr>
        <p:spPr>
          <a:xfrm xmlns:a="http://schemas.openxmlformats.org/drawingml/2006/main">
            <a:off x="647700" y="3448050"/>
            <a:ext cx="4696810" cy="466725"/>
          </a:xfrm>
          <a:prstGeom xmlns:a="http://schemas.openxmlformats.org/drawingml/2006/main" prst="rect">
            <a:avLst/>
          </a:prstGeom>
          <a:solidFill xmlns:a="http://schemas.openxmlformats.org/drawingml/2006/main">
            <a:srgbClr val="F1F4F6"/>
          </a:solidFill>
          <a:ln xmlns:a="http://schemas.openxmlformats.org/drawingml/2006/main" w="9525">
            <a:solidFill>
              <a:srgbClr val="FFFFFF"/>
            </a:solidFill>
            <a:prstDash val="solid"/>
          </a:ln>
        </p:spPr>
      </p:sp>
      <p:sp>
        <p:nvSpPr>
          <p:cNvPr id="38" name="">
            <a:extLst xmlns:a="http://schemas.openxmlformats.org/drawingml/2006/main">
              <a:ext uri="{FF2B5EF4-FFF2-40B4-BE49-F238E27FC236}">
                <a16:creationId xmlns:a16="http://schemas.microsoft.com/office/drawing/2014/main" id="{53E7B76F-924E-4D96-B3E5-5ED5F8F7D254}"/>
              </a:ext>
            </a:extLst>
          </p:cNvPr>
          <p:cNvSpPr>
            <a:spLocks xmlns:a="http://schemas.openxmlformats.org/drawingml/2006/main" noGrp="1"/>
          </p:cNvSpPr>
          <p:nvPr/>
        </p:nvSpPr>
        <p:spPr>
          <a:xfrm xmlns:a="http://schemas.openxmlformats.org/drawingml/2006/main">
            <a:off x="723900" y="3514725"/>
            <a:ext cx="454441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050" b="1">
                <a:solidFill>
                  <a:srgbClr val="17232E"/>
                </a:solidFill>
                <a:latin typeface="Arial Unicode MS"/>
                <a:ea typeface="Arial Unicode MS"/>
                <a:cs typeface="Arial Unicode MS"/>
              </a:defRPr>
            </a:pPr>
            <a:r>
              <a:rPr sz="1050" b="1">
                <a:solidFill>
                  <a:srgbClr val="17232E"/>
                </a:solidFill>
                <a:latin typeface="Arial Unicode MS"/>
                <a:ea typeface="Arial Unicode MS"/>
                <a:cs typeface="Arial Unicode MS"/>
              </a:rPr>
              <a:t>Phonons → dielectric</a:t>
            </a:r>
          </a:p>
        </p:txBody>
      </p:sp>
      <p:sp>
        <p:nvSpPr>
          <p:cNvPr id="39" name="">
            <a:extLst xmlns:a="http://schemas.openxmlformats.org/drawingml/2006/main">
              <a:ext uri="{FF2B5EF4-FFF2-40B4-BE49-F238E27FC236}">
                <a16:creationId xmlns:a16="http://schemas.microsoft.com/office/drawing/2014/main" id="{3C2CA5BF-1536-415E-9CE9-CADDE2FD0F6D}"/>
              </a:ext>
            </a:extLst>
          </p:cNvPr>
          <p:cNvSpPr>
            <a:spLocks xmlns:a="http://schemas.openxmlformats.org/drawingml/2006/main" noGrp="1"/>
          </p:cNvSpPr>
          <p:nvPr/>
        </p:nvSpPr>
        <p:spPr>
          <a:xfrm xmlns:a="http://schemas.openxmlformats.org/drawingml/2006/main">
            <a:off x="5344510" y="3448050"/>
            <a:ext cx="2066597" cy="466725"/>
          </a:xfrm>
          <a:prstGeom xmlns:a="http://schemas.openxmlformats.org/drawingml/2006/main" prst="rect">
            <a:avLst/>
          </a:prstGeom>
          <a:solidFill xmlns:a="http://schemas.openxmlformats.org/drawingml/2006/main">
            <a:srgbClr val="F1F4F6"/>
          </a:solidFill>
          <a:ln xmlns:a="http://schemas.openxmlformats.org/drawingml/2006/main" w="9525">
            <a:solidFill>
              <a:srgbClr val="FFFFFF"/>
            </a:solidFill>
            <a:prstDash val="solid"/>
          </a:ln>
        </p:spPr>
      </p:sp>
      <p:sp>
        <p:nvSpPr>
          <p:cNvPr id="40" name="">
            <a:extLst xmlns:a="http://schemas.openxmlformats.org/drawingml/2006/main">
              <a:ext uri="{FF2B5EF4-FFF2-40B4-BE49-F238E27FC236}">
                <a16:creationId xmlns:a16="http://schemas.microsoft.com/office/drawing/2014/main" id="{4A76FBCF-7152-4EAC-9D74-7A5D079E8C7A}"/>
              </a:ext>
            </a:extLst>
          </p:cNvPr>
          <p:cNvSpPr>
            <a:spLocks xmlns:a="http://schemas.openxmlformats.org/drawingml/2006/main" noGrp="1"/>
          </p:cNvSpPr>
          <p:nvPr/>
        </p:nvSpPr>
        <p:spPr>
          <a:xfrm xmlns:a="http://schemas.openxmlformats.org/drawingml/2006/main">
            <a:off x="5420710" y="3514725"/>
            <a:ext cx="1914197"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050" b="1">
                <a:solidFill>
                  <a:srgbClr val="687681"/>
                </a:solidFill>
                <a:latin typeface="Arial Unicode MS"/>
                <a:ea typeface="Arial Unicode MS"/>
                <a:cs typeface="Arial Unicode MS"/>
              </a:defRPr>
            </a:pPr>
            <a:r>
              <a:rPr sz="1050" b="1">
                <a:solidFill>
                  <a:srgbClr val="687681"/>
                </a:solidFill>
                <a:latin typeface="Arial Unicode MS"/>
                <a:ea typeface="Arial Unicode MS"/>
                <a:cs typeface="Arial Unicode MS"/>
              </a:rPr>
              <a:t>fallback</a:t>
            </a:r>
          </a:p>
        </p:txBody>
      </p:sp>
      <p:sp>
        <p:nvSpPr>
          <p:cNvPr id="41" name="">
            <a:extLst xmlns:a="http://schemas.openxmlformats.org/drawingml/2006/main">
              <a:ext uri="{FF2B5EF4-FFF2-40B4-BE49-F238E27FC236}">
                <a16:creationId xmlns:a16="http://schemas.microsoft.com/office/drawing/2014/main" id="{EDD7FE1C-E49D-475A-953D-630D9AA710C6}"/>
              </a:ext>
            </a:extLst>
          </p:cNvPr>
          <p:cNvSpPr>
            <a:spLocks xmlns:a="http://schemas.openxmlformats.org/drawingml/2006/main" noGrp="1"/>
          </p:cNvSpPr>
          <p:nvPr/>
        </p:nvSpPr>
        <p:spPr>
          <a:xfrm xmlns:a="http://schemas.openxmlformats.org/drawingml/2006/main">
            <a:off x="7411107" y="3448050"/>
            <a:ext cx="2066597" cy="466725"/>
          </a:xfrm>
          <a:prstGeom xmlns:a="http://schemas.openxmlformats.org/drawingml/2006/main" prst="rect">
            <a:avLst/>
          </a:prstGeom>
          <a:solidFill xmlns:a="http://schemas.openxmlformats.org/drawingml/2006/main">
            <a:srgbClr val="F1F4F6"/>
          </a:solidFill>
          <a:ln xmlns:a="http://schemas.openxmlformats.org/drawingml/2006/main" w="9525">
            <a:solidFill>
              <a:srgbClr val="FFFFFF"/>
            </a:solidFill>
            <a:prstDash val="solid"/>
          </a:ln>
        </p:spPr>
      </p:sp>
      <p:sp>
        <p:nvSpPr>
          <p:cNvPr id="42" name="">
            <a:extLst xmlns:a="http://schemas.openxmlformats.org/drawingml/2006/main">
              <a:ext uri="{FF2B5EF4-FFF2-40B4-BE49-F238E27FC236}">
                <a16:creationId xmlns:a16="http://schemas.microsoft.com/office/drawing/2014/main" id="{5594C083-D2C9-4613-93A7-1D96023D75D2}"/>
              </a:ext>
            </a:extLst>
          </p:cNvPr>
          <p:cNvSpPr>
            <a:spLocks xmlns:a="http://schemas.openxmlformats.org/drawingml/2006/main" noGrp="1"/>
          </p:cNvSpPr>
          <p:nvPr/>
        </p:nvSpPr>
        <p:spPr>
          <a:xfrm xmlns:a="http://schemas.openxmlformats.org/drawingml/2006/main">
            <a:off x="7487307" y="3514725"/>
            <a:ext cx="1914197"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050" b="1">
                <a:solidFill>
                  <a:srgbClr val="17232E"/>
                </a:solidFill>
                <a:latin typeface="Arial Unicode MS"/>
                <a:ea typeface="Arial Unicode MS"/>
                <a:cs typeface="Arial Unicode MS"/>
              </a:defRPr>
            </a:pPr>
            <a:r>
              <a:rPr sz="1050" b="1">
                <a:solidFill>
                  <a:srgbClr val="17232E"/>
                </a:solidFill>
                <a:latin typeface="Arial Unicode MS"/>
                <a:ea typeface="Arial Unicode MS"/>
                <a:cs typeface="Arial Unicode MS"/>
              </a:rPr>
              <a:t>0</a:t>
            </a:r>
          </a:p>
        </p:txBody>
      </p:sp>
      <p:sp>
        <p:nvSpPr>
          <p:cNvPr id="43" name="">
            <a:extLst xmlns:a="http://schemas.openxmlformats.org/drawingml/2006/main">
              <a:ext uri="{FF2B5EF4-FFF2-40B4-BE49-F238E27FC236}">
                <a16:creationId xmlns:a16="http://schemas.microsoft.com/office/drawing/2014/main" id="{DD338986-07AA-45C2-8B9C-44FD10F5278B}"/>
              </a:ext>
            </a:extLst>
          </p:cNvPr>
          <p:cNvSpPr>
            <a:spLocks xmlns:a="http://schemas.openxmlformats.org/drawingml/2006/main" noGrp="1"/>
          </p:cNvSpPr>
          <p:nvPr/>
        </p:nvSpPr>
        <p:spPr>
          <a:xfrm xmlns:a="http://schemas.openxmlformats.org/drawingml/2006/main">
            <a:off x="9477703" y="3448050"/>
            <a:ext cx="2066597" cy="466725"/>
          </a:xfrm>
          <a:prstGeom xmlns:a="http://schemas.openxmlformats.org/drawingml/2006/main" prst="rect">
            <a:avLst/>
          </a:prstGeom>
          <a:solidFill xmlns:a="http://schemas.openxmlformats.org/drawingml/2006/main">
            <a:srgbClr val="F1F4F6"/>
          </a:solidFill>
          <a:ln xmlns:a="http://schemas.openxmlformats.org/drawingml/2006/main" w="9525">
            <a:solidFill>
              <a:srgbClr val="FFFFFF"/>
            </a:solidFill>
            <a:prstDash val="solid"/>
          </a:ln>
        </p:spPr>
      </p:sp>
      <p:sp>
        <p:nvSpPr>
          <p:cNvPr id="44" name="">
            <a:extLst xmlns:a="http://schemas.openxmlformats.org/drawingml/2006/main">
              <a:ext uri="{FF2B5EF4-FFF2-40B4-BE49-F238E27FC236}">
                <a16:creationId xmlns:a16="http://schemas.microsoft.com/office/drawing/2014/main" id="{B4A2E727-D127-40A3-A9A9-84F2EDB8A6A3}"/>
              </a:ext>
            </a:extLst>
          </p:cNvPr>
          <p:cNvSpPr>
            <a:spLocks xmlns:a="http://schemas.openxmlformats.org/drawingml/2006/main" noGrp="1"/>
          </p:cNvSpPr>
          <p:nvPr/>
        </p:nvSpPr>
        <p:spPr>
          <a:xfrm xmlns:a="http://schemas.openxmlformats.org/drawingml/2006/main">
            <a:off x="9553903" y="3514725"/>
            <a:ext cx="1914197"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050" b="1">
                <a:solidFill>
                  <a:srgbClr val="17232E"/>
                </a:solidFill>
                <a:latin typeface="Arial Unicode MS"/>
                <a:ea typeface="Arial Unicode MS"/>
                <a:cs typeface="Arial Unicode MS"/>
              </a:defRPr>
            </a:pPr>
            <a:r>
              <a:rPr sz="1050" b="1">
                <a:solidFill>
                  <a:srgbClr val="17232E"/>
                </a:solidFill>
                <a:latin typeface="Arial Unicode MS"/>
                <a:ea typeface="Arial Unicode MS"/>
                <a:cs typeface="Arial Unicode MS"/>
              </a:rPr>
              <a:t>0</a:t>
            </a:r>
          </a:p>
        </p:txBody>
      </p:sp>
      <p:sp>
        <p:nvSpPr>
          <p:cNvPr id="45" name="">
            <a:extLst xmlns:a="http://schemas.openxmlformats.org/drawingml/2006/main">
              <a:ext uri="{FF2B5EF4-FFF2-40B4-BE49-F238E27FC236}">
                <a16:creationId xmlns:a16="http://schemas.microsoft.com/office/drawing/2014/main" id="{B025456A-7DDF-44A5-ABD1-8A56399582FD}"/>
              </a:ext>
            </a:extLst>
          </p:cNvPr>
          <p:cNvSpPr>
            <a:spLocks xmlns:a="http://schemas.openxmlformats.org/drawingml/2006/main" noGrp="1"/>
          </p:cNvSpPr>
          <p:nvPr/>
        </p:nvSpPr>
        <p:spPr>
          <a:xfrm xmlns:a="http://schemas.openxmlformats.org/drawingml/2006/main">
            <a:off x="647700" y="3914775"/>
            <a:ext cx="4696810" cy="466725"/>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46" name="">
            <a:extLst xmlns:a="http://schemas.openxmlformats.org/drawingml/2006/main">
              <a:ext uri="{FF2B5EF4-FFF2-40B4-BE49-F238E27FC236}">
                <a16:creationId xmlns:a16="http://schemas.microsoft.com/office/drawing/2014/main" id="{8C0D3ED8-8DC2-4B40-BEFA-8A89F032366A}"/>
              </a:ext>
            </a:extLst>
          </p:cNvPr>
          <p:cNvSpPr>
            <a:spLocks xmlns:a="http://schemas.openxmlformats.org/drawingml/2006/main" noGrp="1"/>
          </p:cNvSpPr>
          <p:nvPr/>
        </p:nvSpPr>
        <p:spPr>
          <a:xfrm xmlns:a="http://schemas.openxmlformats.org/drawingml/2006/main">
            <a:off x="723900" y="3981450"/>
            <a:ext cx="454441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050" b="1">
                <a:solidFill>
                  <a:srgbClr val="17232E"/>
                </a:solidFill>
                <a:latin typeface="Arial Unicode MS"/>
                <a:ea typeface="Arial Unicode MS"/>
                <a:cs typeface="Arial Unicode MS"/>
              </a:defRPr>
            </a:pPr>
            <a:r>
              <a:rPr sz="1050" b="1">
                <a:solidFill>
                  <a:srgbClr val="17232E"/>
                </a:solidFill>
                <a:latin typeface="Arial Unicode MS"/>
                <a:ea typeface="Arial Unicode MS"/>
                <a:cs typeface="Arial Unicode MS"/>
              </a:rPr>
              <a:t>ESOL → Lipophilicity</a:t>
            </a:r>
          </a:p>
        </p:txBody>
      </p:sp>
      <p:sp>
        <p:nvSpPr>
          <p:cNvPr id="47" name="">
            <a:extLst xmlns:a="http://schemas.openxmlformats.org/drawingml/2006/main">
              <a:ext uri="{FF2B5EF4-FFF2-40B4-BE49-F238E27FC236}">
                <a16:creationId xmlns:a16="http://schemas.microsoft.com/office/drawing/2014/main" id="{096D6689-C73B-4D86-8467-8CD8D2DCE8E8}"/>
              </a:ext>
            </a:extLst>
          </p:cNvPr>
          <p:cNvSpPr>
            <a:spLocks xmlns:a="http://schemas.openxmlformats.org/drawingml/2006/main" noGrp="1"/>
          </p:cNvSpPr>
          <p:nvPr/>
        </p:nvSpPr>
        <p:spPr>
          <a:xfrm xmlns:a="http://schemas.openxmlformats.org/drawingml/2006/main">
            <a:off x="5344510" y="3914775"/>
            <a:ext cx="2066597" cy="466725"/>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48" name="">
            <a:extLst xmlns:a="http://schemas.openxmlformats.org/drawingml/2006/main">
              <a:ext uri="{FF2B5EF4-FFF2-40B4-BE49-F238E27FC236}">
                <a16:creationId xmlns:a16="http://schemas.microsoft.com/office/drawing/2014/main" id="{D8079F03-B3FF-4C12-ACDD-329BA34B98B2}"/>
              </a:ext>
            </a:extLst>
          </p:cNvPr>
          <p:cNvSpPr>
            <a:spLocks xmlns:a="http://schemas.openxmlformats.org/drawingml/2006/main" noGrp="1"/>
          </p:cNvSpPr>
          <p:nvPr/>
        </p:nvSpPr>
        <p:spPr>
          <a:xfrm xmlns:a="http://schemas.openxmlformats.org/drawingml/2006/main">
            <a:off x="5420710" y="3981450"/>
            <a:ext cx="1914197"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050" b="1">
                <a:solidFill>
                  <a:srgbClr val="687681"/>
                </a:solidFill>
                <a:latin typeface="Arial Unicode MS"/>
                <a:ea typeface="Arial Unicode MS"/>
                <a:cs typeface="Arial Unicode MS"/>
              </a:defRPr>
            </a:pPr>
            <a:r>
              <a:rPr sz="1050" b="1">
                <a:solidFill>
                  <a:srgbClr val="687681"/>
                </a:solidFill>
                <a:latin typeface="Arial Unicode MS"/>
                <a:ea typeface="Arial Unicode MS"/>
                <a:cs typeface="Arial Unicode MS"/>
              </a:rPr>
              <a:t>fallback</a:t>
            </a:r>
          </a:p>
        </p:txBody>
      </p:sp>
      <p:sp>
        <p:nvSpPr>
          <p:cNvPr id="49" name="">
            <a:extLst xmlns:a="http://schemas.openxmlformats.org/drawingml/2006/main">
              <a:ext uri="{FF2B5EF4-FFF2-40B4-BE49-F238E27FC236}">
                <a16:creationId xmlns:a16="http://schemas.microsoft.com/office/drawing/2014/main" id="{39870948-7040-4DE9-9913-18677C6A46D9}"/>
              </a:ext>
            </a:extLst>
          </p:cNvPr>
          <p:cNvSpPr>
            <a:spLocks xmlns:a="http://schemas.openxmlformats.org/drawingml/2006/main" noGrp="1"/>
          </p:cNvSpPr>
          <p:nvPr/>
        </p:nvSpPr>
        <p:spPr>
          <a:xfrm xmlns:a="http://schemas.openxmlformats.org/drawingml/2006/main">
            <a:off x="7411107" y="3914775"/>
            <a:ext cx="2066597" cy="466725"/>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50" name="">
            <a:extLst xmlns:a="http://schemas.openxmlformats.org/drawingml/2006/main">
              <a:ext uri="{FF2B5EF4-FFF2-40B4-BE49-F238E27FC236}">
                <a16:creationId xmlns:a16="http://schemas.microsoft.com/office/drawing/2014/main" id="{14A38BEF-0853-47C7-BE46-F6A3A23C20BC}"/>
              </a:ext>
            </a:extLst>
          </p:cNvPr>
          <p:cNvSpPr>
            <a:spLocks xmlns:a="http://schemas.openxmlformats.org/drawingml/2006/main" noGrp="1"/>
          </p:cNvSpPr>
          <p:nvPr/>
        </p:nvSpPr>
        <p:spPr>
          <a:xfrm xmlns:a="http://schemas.openxmlformats.org/drawingml/2006/main">
            <a:off x="7487307" y="3981450"/>
            <a:ext cx="1914197"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050" b="1">
                <a:solidFill>
                  <a:srgbClr val="17232E"/>
                </a:solidFill>
                <a:latin typeface="Arial Unicode MS"/>
                <a:ea typeface="Arial Unicode MS"/>
                <a:cs typeface="Arial Unicode MS"/>
              </a:defRPr>
            </a:pPr>
            <a:r>
              <a:rPr sz="1050" b="1">
                <a:solidFill>
                  <a:srgbClr val="17232E"/>
                </a:solidFill>
                <a:latin typeface="Arial Unicode MS"/>
                <a:ea typeface="Arial Unicode MS"/>
                <a:cs typeface="Arial Unicode MS"/>
              </a:rPr>
              <a:t>0</a:t>
            </a:r>
          </a:p>
        </p:txBody>
      </p:sp>
      <p:sp>
        <p:nvSpPr>
          <p:cNvPr id="51" name="">
            <a:extLst xmlns:a="http://schemas.openxmlformats.org/drawingml/2006/main">
              <a:ext uri="{FF2B5EF4-FFF2-40B4-BE49-F238E27FC236}">
                <a16:creationId xmlns:a16="http://schemas.microsoft.com/office/drawing/2014/main" id="{A517DF61-DA65-4F38-9C51-AED6C8346527}"/>
              </a:ext>
            </a:extLst>
          </p:cNvPr>
          <p:cNvSpPr>
            <a:spLocks xmlns:a="http://schemas.openxmlformats.org/drawingml/2006/main" noGrp="1"/>
          </p:cNvSpPr>
          <p:nvPr/>
        </p:nvSpPr>
        <p:spPr>
          <a:xfrm xmlns:a="http://schemas.openxmlformats.org/drawingml/2006/main">
            <a:off x="9477703" y="3914775"/>
            <a:ext cx="2066597" cy="466725"/>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52" name="">
            <a:extLst xmlns:a="http://schemas.openxmlformats.org/drawingml/2006/main">
              <a:ext uri="{FF2B5EF4-FFF2-40B4-BE49-F238E27FC236}">
                <a16:creationId xmlns:a16="http://schemas.microsoft.com/office/drawing/2014/main" id="{8E4C44D3-1F77-4AAD-A96C-461473863662}"/>
              </a:ext>
            </a:extLst>
          </p:cNvPr>
          <p:cNvSpPr>
            <a:spLocks xmlns:a="http://schemas.openxmlformats.org/drawingml/2006/main" noGrp="1"/>
          </p:cNvSpPr>
          <p:nvPr/>
        </p:nvSpPr>
        <p:spPr>
          <a:xfrm xmlns:a="http://schemas.openxmlformats.org/drawingml/2006/main">
            <a:off x="9553903" y="3981450"/>
            <a:ext cx="1914197"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050" b="1">
                <a:solidFill>
                  <a:srgbClr val="17232E"/>
                </a:solidFill>
                <a:latin typeface="Arial Unicode MS"/>
                <a:ea typeface="Arial Unicode MS"/>
                <a:cs typeface="Arial Unicode MS"/>
              </a:defRPr>
            </a:pPr>
            <a:r>
              <a:rPr sz="1050" b="1">
                <a:solidFill>
                  <a:srgbClr val="17232E"/>
                </a:solidFill>
                <a:latin typeface="Arial Unicode MS"/>
                <a:ea typeface="Arial Unicode MS"/>
                <a:cs typeface="Arial Unicode MS"/>
              </a:rPr>
              <a:t>0</a:t>
            </a:r>
          </a:p>
        </p:txBody>
      </p:sp>
      <p:sp>
        <p:nvSpPr>
          <p:cNvPr id="53" name="">
            <a:extLst xmlns:a="http://schemas.openxmlformats.org/drawingml/2006/main">
              <a:ext uri="{FF2B5EF4-FFF2-40B4-BE49-F238E27FC236}">
                <a16:creationId xmlns:a16="http://schemas.microsoft.com/office/drawing/2014/main" id="{531A60E8-03C7-464A-89C9-F1D0E15ADE40}"/>
              </a:ext>
            </a:extLst>
          </p:cNvPr>
          <p:cNvSpPr>
            <a:spLocks xmlns:a="http://schemas.openxmlformats.org/drawingml/2006/main" noGrp="1"/>
          </p:cNvSpPr>
          <p:nvPr/>
        </p:nvSpPr>
        <p:spPr>
          <a:xfrm xmlns:a="http://schemas.openxmlformats.org/drawingml/2006/main">
            <a:off x="647700" y="4381500"/>
            <a:ext cx="4696810" cy="466725"/>
          </a:xfrm>
          <a:prstGeom xmlns:a="http://schemas.openxmlformats.org/drawingml/2006/main" prst="rect">
            <a:avLst/>
          </a:prstGeom>
          <a:solidFill xmlns:a="http://schemas.openxmlformats.org/drawingml/2006/main">
            <a:srgbClr val="F1F4F6"/>
          </a:solidFill>
          <a:ln xmlns:a="http://schemas.openxmlformats.org/drawingml/2006/main" w="9525">
            <a:solidFill>
              <a:srgbClr val="FFFFFF"/>
            </a:solidFill>
            <a:prstDash val="solid"/>
          </a:ln>
        </p:spPr>
      </p:sp>
      <p:sp>
        <p:nvSpPr>
          <p:cNvPr id="54" name="">
            <a:extLst xmlns:a="http://schemas.openxmlformats.org/drawingml/2006/main">
              <a:ext uri="{FF2B5EF4-FFF2-40B4-BE49-F238E27FC236}">
                <a16:creationId xmlns:a16="http://schemas.microsoft.com/office/drawing/2014/main" id="{4D50EC47-9A5D-4703-8B9E-3007F1EAF3C3}"/>
              </a:ext>
            </a:extLst>
          </p:cNvPr>
          <p:cNvSpPr>
            <a:spLocks xmlns:a="http://schemas.openxmlformats.org/drawingml/2006/main" noGrp="1"/>
          </p:cNvSpPr>
          <p:nvPr/>
        </p:nvSpPr>
        <p:spPr>
          <a:xfrm xmlns:a="http://schemas.openxmlformats.org/drawingml/2006/main">
            <a:off x="723900" y="4448175"/>
            <a:ext cx="454441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050" b="1">
                <a:solidFill>
                  <a:srgbClr val="17232E"/>
                </a:solidFill>
                <a:latin typeface="Arial Unicode MS"/>
                <a:ea typeface="Arial Unicode MS"/>
                <a:cs typeface="Arial Unicode MS"/>
              </a:defRPr>
            </a:pPr>
            <a:r>
              <a:rPr sz="1050" b="1">
                <a:solidFill>
                  <a:srgbClr val="17232E"/>
                </a:solidFill>
                <a:latin typeface="Arial Unicode MS"/>
                <a:ea typeface="Arial Unicode MS"/>
                <a:cs typeface="Arial Unicode MS"/>
              </a:rPr>
              <a:t>FreeSolv → Lipophilicity</a:t>
            </a:r>
          </a:p>
        </p:txBody>
      </p:sp>
      <p:sp>
        <p:nvSpPr>
          <p:cNvPr id="55" name="">
            <a:extLst xmlns:a="http://schemas.openxmlformats.org/drawingml/2006/main">
              <a:ext uri="{FF2B5EF4-FFF2-40B4-BE49-F238E27FC236}">
                <a16:creationId xmlns:a16="http://schemas.microsoft.com/office/drawing/2014/main" id="{19E99707-BD36-4B7B-BED7-A7AC70C1E47D}"/>
              </a:ext>
            </a:extLst>
          </p:cNvPr>
          <p:cNvSpPr>
            <a:spLocks xmlns:a="http://schemas.openxmlformats.org/drawingml/2006/main" noGrp="1"/>
          </p:cNvSpPr>
          <p:nvPr/>
        </p:nvSpPr>
        <p:spPr>
          <a:xfrm xmlns:a="http://schemas.openxmlformats.org/drawingml/2006/main">
            <a:off x="5344510" y="4381500"/>
            <a:ext cx="2066597" cy="466725"/>
          </a:xfrm>
          <a:prstGeom xmlns:a="http://schemas.openxmlformats.org/drawingml/2006/main" prst="rect">
            <a:avLst/>
          </a:prstGeom>
          <a:solidFill xmlns:a="http://schemas.openxmlformats.org/drawingml/2006/main">
            <a:srgbClr val="F1F4F6"/>
          </a:solidFill>
          <a:ln xmlns:a="http://schemas.openxmlformats.org/drawingml/2006/main" w="9525">
            <a:solidFill>
              <a:srgbClr val="FFFFFF"/>
            </a:solidFill>
            <a:prstDash val="solid"/>
          </a:ln>
        </p:spPr>
      </p:sp>
      <p:sp>
        <p:nvSpPr>
          <p:cNvPr id="56" name="">
            <a:extLst xmlns:a="http://schemas.openxmlformats.org/drawingml/2006/main">
              <a:ext uri="{FF2B5EF4-FFF2-40B4-BE49-F238E27FC236}">
                <a16:creationId xmlns:a16="http://schemas.microsoft.com/office/drawing/2014/main" id="{F5DD46FB-803A-45F4-A3DD-958C6C3230E3}"/>
              </a:ext>
            </a:extLst>
          </p:cNvPr>
          <p:cNvSpPr>
            <a:spLocks xmlns:a="http://schemas.openxmlformats.org/drawingml/2006/main" noGrp="1"/>
          </p:cNvSpPr>
          <p:nvPr/>
        </p:nvSpPr>
        <p:spPr>
          <a:xfrm xmlns:a="http://schemas.openxmlformats.org/drawingml/2006/main">
            <a:off x="5420710" y="4448175"/>
            <a:ext cx="1914197"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050" b="1">
                <a:solidFill>
                  <a:srgbClr val="2C8A62"/>
                </a:solidFill>
                <a:latin typeface="Arial Unicode MS"/>
                <a:ea typeface="Arial Unicode MS"/>
                <a:cs typeface="Arial Unicode MS"/>
              </a:defRPr>
            </a:pPr>
            <a:r>
              <a:rPr sz="1050" b="1">
                <a:solidFill>
                  <a:srgbClr val="2C8A62"/>
                </a:solidFill>
                <a:latin typeface="Arial Unicode MS"/>
                <a:ea typeface="Arial Unicode MS"/>
                <a:cs typeface="Arial Unicode MS"/>
              </a:rPr>
              <a:t>transfer</a:t>
            </a:r>
          </a:p>
        </p:txBody>
      </p:sp>
      <p:sp>
        <p:nvSpPr>
          <p:cNvPr id="57" name="">
            <a:extLst xmlns:a="http://schemas.openxmlformats.org/drawingml/2006/main">
              <a:ext uri="{FF2B5EF4-FFF2-40B4-BE49-F238E27FC236}">
                <a16:creationId xmlns:a16="http://schemas.microsoft.com/office/drawing/2014/main" id="{475ED646-7618-4BEB-85C4-CA846A3DE65E}"/>
              </a:ext>
            </a:extLst>
          </p:cNvPr>
          <p:cNvSpPr>
            <a:spLocks xmlns:a="http://schemas.openxmlformats.org/drawingml/2006/main" noGrp="1"/>
          </p:cNvSpPr>
          <p:nvPr/>
        </p:nvSpPr>
        <p:spPr>
          <a:xfrm xmlns:a="http://schemas.openxmlformats.org/drawingml/2006/main">
            <a:off x="7411107" y="4381500"/>
            <a:ext cx="2066597" cy="466725"/>
          </a:xfrm>
          <a:prstGeom xmlns:a="http://schemas.openxmlformats.org/drawingml/2006/main" prst="rect">
            <a:avLst/>
          </a:prstGeom>
          <a:solidFill xmlns:a="http://schemas.openxmlformats.org/drawingml/2006/main">
            <a:srgbClr val="F1F4F6"/>
          </a:solidFill>
          <a:ln xmlns:a="http://schemas.openxmlformats.org/drawingml/2006/main" w="9525">
            <a:solidFill>
              <a:srgbClr val="FFFFFF"/>
            </a:solidFill>
            <a:prstDash val="solid"/>
          </a:ln>
        </p:spPr>
      </p:sp>
      <p:sp>
        <p:nvSpPr>
          <p:cNvPr id="58" name="">
            <a:extLst xmlns:a="http://schemas.openxmlformats.org/drawingml/2006/main">
              <a:ext uri="{FF2B5EF4-FFF2-40B4-BE49-F238E27FC236}">
                <a16:creationId xmlns:a16="http://schemas.microsoft.com/office/drawing/2014/main" id="{07BB18F1-2727-4735-80FC-84B582C10860}"/>
              </a:ext>
            </a:extLst>
          </p:cNvPr>
          <p:cNvSpPr>
            <a:spLocks xmlns:a="http://schemas.openxmlformats.org/drawingml/2006/main" noGrp="1"/>
          </p:cNvSpPr>
          <p:nvPr/>
        </p:nvSpPr>
        <p:spPr>
          <a:xfrm xmlns:a="http://schemas.openxmlformats.org/drawingml/2006/main">
            <a:off x="7487307" y="4448175"/>
            <a:ext cx="1914197"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050" b="1">
                <a:solidFill>
                  <a:srgbClr val="2C8A62"/>
                </a:solidFill>
                <a:latin typeface="Arial Unicode MS"/>
                <a:ea typeface="Arial Unicode MS"/>
                <a:cs typeface="Arial Unicode MS"/>
              </a:defRPr>
            </a:pPr>
            <a:r>
              <a:rPr sz="1050" b="1">
                <a:solidFill>
                  <a:srgbClr val="2C8A62"/>
                </a:solidFill>
                <a:latin typeface="Arial Unicode MS"/>
                <a:ea typeface="Arial Unicode MS"/>
                <a:cs typeface="Arial Unicode MS"/>
              </a:rPr>
              <a:t>+2.976</a:t>
            </a:r>
          </a:p>
        </p:txBody>
      </p:sp>
      <p:sp>
        <p:nvSpPr>
          <p:cNvPr id="59" name="">
            <a:extLst xmlns:a="http://schemas.openxmlformats.org/drawingml/2006/main">
              <a:ext uri="{FF2B5EF4-FFF2-40B4-BE49-F238E27FC236}">
                <a16:creationId xmlns:a16="http://schemas.microsoft.com/office/drawing/2014/main" id="{1A11D023-C617-495E-822A-C7FB37125B50}"/>
              </a:ext>
            </a:extLst>
          </p:cNvPr>
          <p:cNvSpPr>
            <a:spLocks xmlns:a="http://schemas.openxmlformats.org/drawingml/2006/main" noGrp="1"/>
          </p:cNvSpPr>
          <p:nvPr/>
        </p:nvSpPr>
        <p:spPr>
          <a:xfrm xmlns:a="http://schemas.openxmlformats.org/drawingml/2006/main">
            <a:off x="9477703" y="4381500"/>
            <a:ext cx="2066597" cy="466725"/>
          </a:xfrm>
          <a:prstGeom xmlns:a="http://schemas.openxmlformats.org/drawingml/2006/main" prst="rect">
            <a:avLst/>
          </a:prstGeom>
          <a:solidFill xmlns:a="http://schemas.openxmlformats.org/drawingml/2006/main">
            <a:srgbClr val="F1F4F6"/>
          </a:solidFill>
          <a:ln xmlns:a="http://schemas.openxmlformats.org/drawingml/2006/main" w="9525">
            <a:solidFill>
              <a:srgbClr val="FFFFFF"/>
            </a:solidFill>
            <a:prstDash val="solid"/>
          </a:ln>
        </p:spPr>
      </p:sp>
      <p:sp>
        <p:nvSpPr>
          <p:cNvPr id="60" name="">
            <a:extLst xmlns:a="http://schemas.openxmlformats.org/drawingml/2006/main">
              <a:ext uri="{FF2B5EF4-FFF2-40B4-BE49-F238E27FC236}">
                <a16:creationId xmlns:a16="http://schemas.microsoft.com/office/drawing/2014/main" id="{CBFCD9B9-88E6-49C4-8F75-00469C11BBC4}"/>
              </a:ext>
            </a:extLst>
          </p:cNvPr>
          <p:cNvSpPr>
            <a:spLocks xmlns:a="http://schemas.openxmlformats.org/drawingml/2006/main" noGrp="1"/>
          </p:cNvSpPr>
          <p:nvPr/>
        </p:nvSpPr>
        <p:spPr>
          <a:xfrm xmlns:a="http://schemas.openxmlformats.org/drawingml/2006/main">
            <a:off x="9553903" y="4448175"/>
            <a:ext cx="1914197"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050" b="1">
                <a:solidFill>
                  <a:srgbClr val="2C8A62"/>
                </a:solidFill>
                <a:latin typeface="Arial Unicode MS"/>
                <a:ea typeface="Arial Unicode MS"/>
                <a:cs typeface="Arial Unicode MS"/>
              </a:defRPr>
            </a:pPr>
            <a:r>
              <a:rPr sz="1050" b="1">
                <a:solidFill>
                  <a:srgbClr val="2C8A62"/>
                </a:solidFill>
                <a:latin typeface="Arial Unicode MS"/>
                <a:ea typeface="Arial Unicode MS"/>
                <a:cs typeface="Arial Unicode MS"/>
              </a:rPr>
              <a:t>+3.727</a:t>
            </a:r>
          </a:p>
        </p:txBody>
      </p:sp>
      <p:sp>
        <p:nvSpPr>
          <p:cNvPr id="61" name="">
            <a:extLst xmlns:a="http://schemas.openxmlformats.org/drawingml/2006/main">
              <a:ext uri="{FF2B5EF4-FFF2-40B4-BE49-F238E27FC236}">
                <a16:creationId xmlns:a16="http://schemas.microsoft.com/office/drawing/2014/main" id="{41746FD7-1596-4FF7-8A1B-4954DEEA7897}"/>
              </a:ext>
            </a:extLst>
          </p:cNvPr>
          <p:cNvSpPr>
            <a:spLocks xmlns:a="http://schemas.openxmlformats.org/drawingml/2006/main" noGrp="1"/>
          </p:cNvSpPr>
          <p:nvPr/>
        </p:nvSpPr>
        <p:spPr>
          <a:xfrm xmlns:a="http://schemas.openxmlformats.org/drawingml/2006/main">
            <a:off x="647700" y="4848225"/>
            <a:ext cx="4696810" cy="466725"/>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62" name="">
            <a:extLst xmlns:a="http://schemas.openxmlformats.org/drawingml/2006/main">
              <a:ext uri="{FF2B5EF4-FFF2-40B4-BE49-F238E27FC236}">
                <a16:creationId xmlns:a16="http://schemas.microsoft.com/office/drawing/2014/main" id="{0079143F-6941-403C-A39B-FC12909AFB92}"/>
              </a:ext>
            </a:extLst>
          </p:cNvPr>
          <p:cNvSpPr>
            <a:spLocks xmlns:a="http://schemas.openxmlformats.org/drawingml/2006/main" noGrp="1"/>
          </p:cNvSpPr>
          <p:nvPr/>
        </p:nvSpPr>
        <p:spPr>
          <a:xfrm xmlns:a="http://schemas.openxmlformats.org/drawingml/2006/main">
            <a:off x="723900" y="4914900"/>
            <a:ext cx="454441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050" b="1">
                <a:solidFill>
                  <a:srgbClr val="17232E"/>
                </a:solidFill>
                <a:latin typeface="Arial Unicode MS"/>
                <a:ea typeface="Arial Unicode MS"/>
                <a:cs typeface="Arial Unicode MS"/>
              </a:defRPr>
            </a:pPr>
            <a:r>
              <a:rPr sz="1050" b="1">
                <a:solidFill>
                  <a:srgbClr val="17232E"/>
                </a:solidFill>
                <a:latin typeface="Arial Unicode MS"/>
                <a:ea typeface="Arial Unicode MS"/>
                <a:cs typeface="Arial Unicode MS"/>
              </a:rPr>
              <a:t>Lipophilicity → FreeSolv</a:t>
            </a:r>
          </a:p>
        </p:txBody>
      </p:sp>
      <p:sp>
        <p:nvSpPr>
          <p:cNvPr id="63" name="">
            <a:extLst xmlns:a="http://schemas.openxmlformats.org/drawingml/2006/main">
              <a:ext uri="{FF2B5EF4-FFF2-40B4-BE49-F238E27FC236}">
                <a16:creationId xmlns:a16="http://schemas.microsoft.com/office/drawing/2014/main" id="{8C108454-EC2D-443F-BCF2-04313EBCFB67}"/>
              </a:ext>
            </a:extLst>
          </p:cNvPr>
          <p:cNvSpPr>
            <a:spLocks xmlns:a="http://schemas.openxmlformats.org/drawingml/2006/main" noGrp="1"/>
          </p:cNvSpPr>
          <p:nvPr/>
        </p:nvSpPr>
        <p:spPr>
          <a:xfrm xmlns:a="http://schemas.openxmlformats.org/drawingml/2006/main">
            <a:off x="5344510" y="4848225"/>
            <a:ext cx="2066597" cy="466725"/>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64" name="">
            <a:extLst xmlns:a="http://schemas.openxmlformats.org/drawingml/2006/main">
              <a:ext uri="{FF2B5EF4-FFF2-40B4-BE49-F238E27FC236}">
                <a16:creationId xmlns:a16="http://schemas.microsoft.com/office/drawing/2014/main" id="{5DC8509F-B830-4223-880C-E7A336EAD569}"/>
              </a:ext>
            </a:extLst>
          </p:cNvPr>
          <p:cNvSpPr>
            <a:spLocks xmlns:a="http://schemas.openxmlformats.org/drawingml/2006/main" noGrp="1"/>
          </p:cNvSpPr>
          <p:nvPr/>
        </p:nvSpPr>
        <p:spPr>
          <a:xfrm xmlns:a="http://schemas.openxmlformats.org/drawingml/2006/main">
            <a:off x="5420710" y="4914900"/>
            <a:ext cx="1914197"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050" b="1">
                <a:solidFill>
                  <a:srgbClr val="687681"/>
                </a:solidFill>
                <a:latin typeface="Arial Unicode MS"/>
                <a:ea typeface="Arial Unicode MS"/>
                <a:cs typeface="Arial Unicode MS"/>
              </a:defRPr>
            </a:pPr>
            <a:r>
              <a:rPr sz="1050" b="1">
                <a:solidFill>
                  <a:srgbClr val="687681"/>
                </a:solidFill>
                <a:latin typeface="Arial Unicode MS"/>
                <a:ea typeface="Arial Unicode MS"/>
                <a:cs typeface="Arial Unicode MS"/>
              </a:rPr>
              <a:t>fallback</a:t>
            </a:r>
          </a:p>
        </p:txBody>
      </p:sp>
      <p:sp>
        <p:nvSpPr>
          <p:cNvPr id="65" name="">
            <a:extLst xmlns:a="http://schemas.openxmlformats.org/drawingml/2006/main">
              <a:ext uri="{FF2B5EF4-FFF2-40B4-BE49-F238E27FC236}">
                <a16:creationId xmlns:a16="http://schemas.microsoft.com/office/drawing/2014/main" id="{C00831A6-1599-4194-BF78-003C99ED64B0}"/>
              </a:ext>
            </a:extLst>
          </p:cNvPr>
          <p:cNvSpPr>
            <a:spLocks xmlns:a="http://schemas.openxmlformats.org/drawingml/2006/main" noGrp="1"/>
          </p:cNvSpPr>
          <p:nvPr/>
        </p:nvSpPr>
        <p:spPr>
          <a:xfrm xmlns:a="http://schemas.openxmlformats.org/drawingml/2006/main">
            <a:off x="7411107" y="4848225"/>
            <a:ext cx="2066597" cy="466725"/>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66" name="">
            <a:extLst xmlns:a="http://schemas.openxmlformats.org/drawingml/2006/main">
              <a:ext uri="{FF2B5EF4-FFF2-40B4-BE49-F238E27FC236}">
                <a16:creationId xmlns:a16="http://schemas.microsoft.com/office/drawing/2014/main" id="{C0DCF14D-E239-4DD4-9638-AD9E799DEB79}"/>
              </a:ext>
            </a:extLst>
          </p:cNvPr>
          <p:cNvSpPr>
            <a:spLocks xmlns:a="http://schemas.openxmlformats.org/drawingml/2006/main" noGrp="1"/>
          </p:cNvSpPr>
          <p:nvPr/>
        </p:nvSpPr>
        <p:spPr>
          <a:xfrm xmlns:a="http://schemas.openxmlformats.org/drawingml/2006/main">
            <a:off x="7487307" y="4914900"/>
            <a:ext cx="1914197"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050" b="1">
                <a:solidFill>
                  <a:srgbClr val="17232E"/>
                </a:solidFill>
                <a:latin typeface="Arial Unicode MS"/>
                <a:ea typeface="Arial Unicode MS"/>
                <a:cs typeface="Arial Unicode MS"/>
              </a:defRPr>
            </a:pPr>
            <a:r>
              <a:rPr sz="1050" b="1">
                <a:solidFill>
                  <a:srgbClr val="17232E"/>
                </a:solidFill>
                <a:latin typeface="Arial Unicode MS"/>
                <a:ea typeface="Arial Unicode MS"/>
                <a:cs typeface="Arial Unicode MS"/>
              </a:rPr>
              <a:t>0</a:t>
            </a:r>
          </a:p>
        </p:txBody>
      </p:sp>
      <p:sp>
        <p:nvSpPr>
          <p:cNvPr id="67" name="">
            <a:extLst xmlns:a="http://schemas.openxmlformats.org/drawingml/2006/main">
              <a:ext uri="{FF2B5EF4-FFF2-40B4-BE49-F238E27FC236}">
                <a16:creationId xmlns:a16="http://schemas.microsoft.com/office/drawing/2014/main" id="{020E8F05-DD90-4B6F-A6D8-44037B7D7C45}"/>
              </a:ext>
            </a:extLst>
          </p:cNvPr>
          <p:cNvSpPr>
            <a:spLocks xmlns:a="http://schemas.openxmlformats.org/drawingml/2006/main" noGrp="1"/>
          </p:cNvSpPr>
          <p:nvPr/>
        </p:nvSpPr>
        <p:spPr>
          <a:xfrm xmlns:a="http://schemas.openxmlformats.org/drawingml/2006/main">
            <a:off x="9477703" y="4848225"/>
            <a:ext cx="2066597" cy="466725"/>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68" name="">
            <a:extLst xmlns:a="http://schemas.openxmlformats.org/drawingml/2006/main">
              <a:ext uri="{FF2B5EF4-FFF2-40B4-BE49-F238E27FC236}">
                <a16:creationId xmlns:a16="http://schemas.microsoft.com/office/drawing/2014/main" id="{864F6642-805D-4464-A746-091DCA2E9E12}"/>
              </a:ext>
            </a:extLst>
          </p:cNvPr>
          <p:cNvSpPr>
            <a:spLocks xmlns:a="http://schemas.openxmlformats.org/drawingml/2006/main" noGrp="1"/>
          </p:cNvSpPr>
          <p:nvPr/>
        </p:nvSpPr>
        <p:spPr>
          <a:xfrm xmlns:a="http://schemas.openxmlformats.org/drawingml/2006/main">
            <a:off x="9553903" y="4914900"/>
            <a:ext cx="1914197"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050" b="1">
                <a:solidFill>
                  <a:srgbClr val="17232E"/>
                </a:solidFill>
                <a:latin typeface="Arial Unicode MS"/>
                <a:ea typeface="Arial Unicode MS"/>
                <a:cs typeface="Arial Unicode MS"/>
              </a:defRPr>
            </a:pPr>
            <a:r>
              <a:rPr sz="1050" b="1">
                <a:solidFill>
                  <a:srgbClr val="17232E"/>
                </a:solidFill>
                <a:latin typeface="Arial Unicode MS"/>
                <a:ea typeface="Arial Unicode MS"/>
                <a:cs typeface="Arial Unicode MS"/>
              </a:rPr>
              <a:t>0</a:t>
            </a:r>
          </a:p>
        </p:txBody>
      </p:sp>
      <p:sp>
        <p:nvSpPr>
          <p:cNvPr id="69" name="">
            <a:extLst xmlns:a="http://schemas.openxmlformats.org/drawingml/2006/main">
              <a:ext uri="{FF2B5EF4-FFF2-40B4-BE49-F238E27FC236}">
                <a16:creationId xmlns:a16="http://schemas.microsoft.com/office/drawing/2014/main" id="{63CCC13B-9F5A-422B-8FCB-59791FD32C9C}"/>
              </a:ext>
            </a:extLst>
          </p:cNvPr>
          <p:cNvSpPr>
            <a:spLocks xmlns:a="http://schemas.openxmlformats.org/drawingml/2006/main" noGrp="1"/>
          </p:cNvSpPr>
          <p:nvPr/>
        </p:nvSpPr>
        <p:spPr>
          <a:xfrm xmlns:a="http://schemas.openxmlformats.org/drawingml/2006/main">
            <a:off x="647700" y="5505450"/>
            <a:ext cx="10896600" cy="552450"/>
          </a:xfrm>
          <a:prstGeom xmlns:a="http://schemas.openxmlformats.org/drawingml/2006/main" prst="rect">
            <a:avLst/>
          </a:prstGeom>
          <a:solidFill xmlns:a="http://schemas.openxmlformats.org/drawingml/2006/main">
            <a:srgbClr val="FBECEC"/>
          </a:solidFill>
          <a:ln xmlns:a="http://schemas.openxmlformats.org/drawingml/2006/main" w="0">
            <a:noFill/>
            <a:prstDash val="solid"/>
          </a:ln>
        </p:spPr>
      </p:sp>
      <p:sp>
        <p:nvSpPr>
          <p:cNvPr id="70" name="">
            <a:extLst xmlns:a="http://schemas.openxmlformats.org/drawingml/2006/main">
              <a:ext uri="{FF2B5EF4-FFF2-40B4-BE49-F238E27FC236}">
                <a16:creationId xmlns:a16="http://schemas.microsoft.com/office/drawing/2014/main" id="{251D2268-1314-40F6-B569-211E680BC40C}"/>
              </a:ext>
            </a:extLst>
          </p:cNvPr>
          <p:cNvSpPr>
            <a:spLocks xmlns:a="http://schemas.openxmlformats.org/drawingml/2006/main" noGrp="1"/>
          </p:cNvSpPr>
          <p:nvPr/>
        </p:nvSpPr>
        <p:spPr>
          <a:xfrm xmlns:a="http://schemas.openxmlformats.org/drawingml/2006/main">
            <a:off x="819150" y="5619750"/>
            <a:ext cx="10553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1275" b="1">
                <a:solidFill>
                  <a:srgbClr val="C94D4D"/>
                </a:solidFill>
                <a:latin typeface="Arial Unicode MS"/>
                <a:ea typeface="Arial Unicode MS"/>
                <a:cs typeface="Arial Unicode MS"/>
              </a:defRPr>
            </a:pPr>
            <a:r>
              <a:rPr sz="1275" b="1">
                <a:solidFill>
                  <a:srgbClr val="C94D4D"/>
                </a:solidFill>
                <a:latin typeface="Arial Unicode MS"/>
                <a:ea typeface="Arial Unicode MS"/>
                <a:cs typeface="Arial Unicode MS"/>
              </a:rPr>
              <a:t>限制：50 calibration seeds 使用了 archived target outcomes；这是严格的离线选择，不是新 wet-lab task 的零成本 gate。</a:t>
            </a:r>
          </a:p>
        </p:txBody>
      </p:sp>
      <p:sp>
        <p:nvSpPr>
          <p:cNvPr id="71" name="">
            <a:extLst xmlns:a="http://schemas.openxmlformats.org/drawingml/2006/main">
              <a:ext uri="{FF2B5EF4-FFF2-40B4-BE49-F238E27FC236}">
                <a16:creationId xmlns:a16="http://schemas.microsoft.com/office/drawing/2014/main" id="{BD25B769-1E1B-45A9-97AB-EAA85C009072}"/>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frozen evidence update · 2026-08-12</a:t>
            </a:r>
          </a:p>
        </p:txBody>
      </p:sp>
    </p:spTree>
    <p:extLst>
      <p:ext uri="{BB962C8B-B14F-4D97-AF65-F5344CB8AC3E}">
        <p14:creationId xmlns:p14="http://schemas.microsoft.com/office/powerpoint/2010/main" val="2034941636"/>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738C20BA-DA39-4B82-A409-D24FE216F929}"/>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CLASSICAL TRANSFER BO</a:t>
            </a:r>
          </a:p>
        </p:txBody>
      </p:sp>
      <p:sp>
        <p:nvSpPr>
          <p:cNvPr id="2" name="">
            <a:extLst xmlns:a="http://schemas.openxmlformats.org/drawingml/2006/main">
              <a:ext uri="{FF2B5EF4-FFF2-40B4-BE49-F238E27FC236}">
                <a16:creationId xmlns:a16="http://schemas.microsoft.com/office/drawing/2014/main" id="{7250A54A-F474-4960-81F5-F856C5EA85BE}"/>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26</a:t>
            </a:r>
          </a:p>
        </p:txBody>
      </p:sp>
      <p:sp>
        <p:nvSpPr>
          <p:cNvPr id="3" name="">
            <a:extLst xmlns:a="http://schemas.openxmlformats.org/drawingml/2006/main">
              <a:ext uri="{FF2B5EF4-FFF2-40B4-BE49-F238E27FC236}">
                <a16:creationId xmlns:a16="http://schemas.microsoft.com/office/drawing/2014/main" id="{84055019-D1C4-47A4-9A33-F6E43A4C21BB}"/>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700" b="1">
                <a:solidFill>
                  <a:srgbClr val="17232E"/>
                </a:solidFill>
                <a:latin typeface="Arial Unicode MS"/>
                <a:ea typeface="Arial Unicode MS"/>
                <a:cs typeface="Arial Unicode MS"/>
              </a:defRPr>
            </a:pPr>
            <a:r>
              <a:rPr sz="2700" b="1">
                <a:solidFill>
                  <a:srgbClr val="17232E"/>
                </a:solidFill>
                <a:latin typeface="Arial Unicode MS"/>
                <a:ea typeface="Arial Unicode MS"/>
                <a:cs typeface="Arial Unicode MS"/>
              </a:rPr>
              <a:t>没有一种 transfer family 在所有任务上都可靠</a:t>
            </a:r>
          </a:p>
        </p:txBody>
      </p:sp>
      <p:sp>
        <p:nvSpPr>
          <p:cNvPr id="4" name="">
            <a:extLst xmlns:a="http://schemas.openxmlformats.org/drawingml/2006/main">
              <a:ext uri="{FF2B5EF4-FFF2-40B4-BE49-F238E27FC236}">
                <a16:creationId xmlns:a16="http://schemas.microsoft.com/office/drawing/2014/main" id="{F5E30845-6C63-4BF3-8835-9D27F30A038E}"/>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9FC261B-BD86-494A-9C92-F77E85395AA7}"/>
              </a:ext>
            </a:extLst>
          </p:cNvPr>
          <p:cNvSpPr>
            <a:spLocks xmlns:a="http://schemas.openxmlformats.org/drawingml/2006/main" noGrp="1"/>
          </p:cNvSpPr>
          <p:nvPr/>
        </p:nvSpPr>
        <p:spPr>
          <a:xfrm xmlns:a="http://schemas.openxmlformats.org/drawingml/2006/main">
            <a:off x="647700" y="1676400"/>
            <a:ext cx="3048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2100" b="1">
                <a:solidFill>
                  <a:srgbClr val="2F6FB6"/>
                </a:solidFill>
                <a:latin typeface="Arial Unicode MS"/>
                <a:ea typeface="Arial Unicode MS"/>
                <a:cs typeface="Arial Unicode MS"/>
              </a:defRPr>
            </a:pPr>
            <a:r>
              <a:rPr sz="2100" b="1">
                <a:solidFill>
                  <a:srgbClr val="2F6FB6"/>
                </a:solidFill>
                <a:latin typeface="Arial Unicode MS"/>
                <a:ea typeface="Arial Unicode MS"/>
                <a:cs typeface="Arial Unicode MS"/>
              </a:rPr>
              <a:t>RGPE</a:t>
            </a:r>
          </a:p>
        </p:txBody>
      </p:sp>
      <p:sp>
        <p:nvSpPr>
          <p:cNvPr id="6" name="">
            <a:extLst xmlns:a="http://schemas.openxmlformats.org/drawingml/2006/main">
              <a:ext uri="{FF2B5EF4-FFF2-40B4-BE49-F238E27FC236}">
                <a16:creationId xmlns:a16="http://schemas.microsoft.com/office/drawing/2014/main" id="{9E1623CB-5551-47CF-AC54-1579B86778C1}"/>
              </a:ext>
            </a:extLst>
          </p:cNvPr>
          <p:cNvSpPr>
            <a:spLocks xmlns:a="http://schemas.openxmlformats.org/drawingml/2006/main" noGrp="1"/>
          </p:cNvSpPr>
          <p:nvPr/>
        </p:nvSpPr>
        <p:spPr>
          <a:xfrm xmlns:a="http://schemas.openxmlformats.org/drawingml/2006/main">
            <a:off x="647700" y="2247900"/>
            <a:ext cx="3238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0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Dielectric → expt. gap：显著强正向</a:t>
            </a:r>
          </a:p>
          <a:p xmlns:a="http://schemas.openxmlformats.org/drawingml/2006/main">
            <a:pPr algn="l">
              <a:lnSpc>
                <a:spcPct val="120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其余 4 条 final-score 比较显著变差</a:t>
            </a:r>
          </a:p>
          <a:p xmlns:a="http://schemas.openxmlformats.org/drawingml/2006/main">
            <a:pPr algn="l">
              <a:lnSpc>
                <a:spcPct val="120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说明经典 transfer 同样会负迁移</a:t>
            </a:r>
          </a:p>
        </p:txBody>
      </p:sp>
      <p:sp>
        <p:nvSpPr>
          <p:cNvPr id="7" name="">
            <a:extLst xmlns:a="http://schemas.openxmlformats.org/drawingml/2006/main">
              <a:ext uri="{FF2B5EF4-FFF2-40B4-BE49-F238E27FC236}">
                <a16:creationId xmlns:a16="http://schemas.microsoft.com/office/drawing/2014/main" id="{B3A6E767-9A44-44BC-9885-B4690CCD1D5B}"/>
              </a:ext>
            </a:extLst>
          </p:cNvPr>
          <p:cNvSpPr>
            <a:spLocks xmlns:a="http://schemas.openxmlformats.org/drawingml/2006/main" noGrp="1"/>
          </p:cNvSpPr>
          <p:nvPr/>
        </p:nvSpPr>
        <p:spPr>
          <a:xfrm xmlns:a="http://schemas.openxmlformats.org/drawingml/2006/main">
            <a:off x="4381500" y="1676400"/>
            <a:ext cx="3238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2100" b="1">
                <a:solidFill>
                  <a:srgbClr val="D99A33"/>
                </a:solidFill>
                <a:latin typeface="Arial Unicode MS"/>
                <a:ea typeface="Arial Unicode MS"/>
                <a:cs typeface="Arial Unicode MS"/>
              </a:defRPr>
            </a:pPr>
            <a:r>
              <a:rPr sz="2100" b="1">
                <a:solidFill>
                  <a:srgbClr val="D99A33"/>
                </a:solidFill>
                <a:latin typeface="Arial Unicode MS"/>
                <a:ea typeface="Arial Unicode MS"/>
                <a:cs typeface="Arial Unicode MS"/>
              </a:rPr>
              <a:t>Two-task ICM GP</a:t>
            </a:r>
          </a:p>
        </p:txBody>
      </p:sp>
      <p:sp>
        <p:nvSpPr>
          <p:cNvPr id="8" name="">
            <a:extLst xmlns:a="http://schemas.openxmlformats.org/drawingml/2006/main">
              <a:ext uri="{FF2B5EF4-FFF2-40B4-BE49-F238E27FC236}">
                <a16:creationId xmlns:a16="http://schemas.microsoft.com/office/drawing/2014/main" id="{18099468-DE00-4577-82EE-1460408E6D01}"/>
              </a:ext>
            </a:extLst>
          </p:cNvPr>
          <p:cNvSpPr>
            <a:spLocks xmlns:a="http://schemas.openxmlformats.org/drawingml/2006/main" noGrp="1"/>
          </p:cNvSpPr>
          <p:nvPr/>
        </p:nvSpPr>
        <p:spPr>
          <a:xfrm xmlns:a="http://schemas.openxmlformats.org/drawingml/2006/main">
            <a:off x="4381500" y="2247900"/>
            <a:ext cx="3238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0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整体比 RGPE 更保守</a:t>
            </a:r>
          </a:p>
          <a:p xmlns:a="http://schemas.openxmlformats.org/drawingml/2006/main">
            <a:pPr algn="l">
              <a:lnSpc>
                <a:spcPct val="120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部分路径点估计为正</a:t>
            </a:r>
          </a:p>
          <a:p xmlns:a="http://schemas.openxmlformats.org/drawingml/2006/main">
            <a:pPr algn="l">
              <a:lnSpc>
                <a:spcPct val="120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仍然不是普遍最优</a:t>
            </a:r>
          </a:p>
        </p:txBody>
      </p:sp>
      <p:sp>
        <p:nvSpPr>
          <p:cNvPr id="9" name="">
            <a:extLst xmlns:a="http://schemas.openxmlformats.org/drawingml/2006/main">
              <a:ext uri="{FF2B5EF4-FFF2-40B4-BE49-F238E27FC236}">
                <a16:creationId xmlns:a16="http://schemas.microsoft.com/office/drawing/2014/main" id="{6CE1A69A-4D87-4B82-8C16-3F22DFAEC4AF}"/>
              </a:ext>
            </a:extLst>
          </p:cNvPr>
          <p:cNvSpPr>
            <a:spLocks xmlns:a="http://schemas.openxmlformats.org/drawingml/2006/main" noGrp="1"/>
          </p:cNvSpPr>
          <p:nvPr/>
        </p:nvSpPr>
        <p:spPr>
          <a:xfrm xmlns:a="http://schemas.openxmlformats.org/drawingml/2006/main">
            <a:off x="8286750" y="1676400"/>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2100" b="1">
                <a:solidFill>
                  <a:srgbClr val="2C8A62"/>
                </a:solidFill>
                <a:latin typeface="Arial Unicode MS"/>
                <a:ea typeface="Arial Unicode MS"/>
                <a:cs typeface="Arial Unicode MS"/>
              </a:defRPr>
            </a:pPr>
            <a:r>
              <a:rPr sz="2100" b="1">
                <a:solidFill>
                  <a:srgbClr val="2C8A62"/>
                </a:solidFill>
                <a:latin typeface="Arial Unicode MS"/>
                <a:ea typeface="Arial Unicode MS"/>
                <a:cs typeface="Arial Unicode MS"/>
              </a:rPr>
              <a:t>Hybrid router</a:t>
            </a:r>
          </a:p>
        </p:txBody>
      </p:sp>
      <p:sp>
        <p:nvSpPr>
          <p:cNvPr id="10" name="">
            <a:extLst xmlns:a="http://schemas.openxmlformats.org/drawingml/2006/main">
              <a:ext uri="{FF2B5EF4-FFF2-40B4-BE49-F238E27FC236}">
                <a16:creationId xmlns:a16="http://schemas.microsoft.com/office/drawing/2014/main" id="{AC5BFDE5-1125-47D2-8040-B03ADCA4C00F}"/>
              </a:ext>
            </a:extLst>
          </p:cNvPr>
          <p:cNvSpPr>
            <a:spLocks xmlns:a="http://schemas.openxmlformats.org/drawingml/2006/main" noGrp="1"/>
          </p:cNvSpPr>
          <p:nvPr/>
        </p:nvSpPr>
        <p:spPr>
          <a:xfrm xmlns:a="http://schemas.openxmlformats.org/drawingml/2006/main">
            <a:off x="8286750" y="2247900"/>
            <a:ext cx="31432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0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AUC 在 5 / 5 路径为正</a:t>
            </a:r>
          </a:p>
          <a:p xmlns:a="http://schemas.openxmlformats.org/drawingml/2006/main">
            <a:pPr algn="l">
              <a:lnSpc>
                <a:spcPct val="120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Final score 在 4 / 5 显著为正</a:t>
            </a:r>
          </a:p>
          <a:p xmlns:a="http://schemas.openxmlformats.org/drawingml/2006/main">
            <a:pPr algn="l">
              <a:lnSpc>
                <a:spcPct val="120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但仍依赖 target calibration</a:t>
            </a:r>
          </a:p>
        </p:txBody>
      </p:sp>
      <p:sp>
        <p:nvSpPr>
          <p:cNvPr id="11" name="">
            <a:extLst xmlns:a="http://schemas.openxmlformats.org/drawingml/2006/main">
              <a:ext uri="{FF2B5EF4-FFF2-40B4-BE49-F238E27FC236}">
                <a16:creationId xmlns:a16="http://schemas.microsoft.com/office/drawing/2014/main" id="{65B02D67-8B24-4D14-B636-97446CC5FC1E}"/>
              </a:ext>
            </a:extLst>
          </p:cNvPr>
          <p:cNvSpPr>
            <a:spLocks xmlns:a="http://schemas.openxmlformats.org/drawingml/2006/main" noGrp="1"/>
          </p:cNvSpPr>
          <p:nvPr/>
        </p:nvSpPr>
        <p:spPr>
          <a:xfrm xmlns:a="http://schemas.openxmlformats.org/drawingml/2006/main">
            <a:off x="647700" y="4095750"/>
            <a:ext cx="10896600" cy="1200150"/>
          </a:xfrm>
          <a:prstGeom xmlns:a="http://schemas.openxmlformats.org/drawingml/2006/main" prst="rect">
            <a:avLst/>
          </a:prstGeom>
          <a:solidFill xmlns:a="http://schemas.openxmlformats.org/drawingml/2006/main">
            <a:srgbClr val="17324D"/>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5754AC1B-641F-4F97-9959-599C67A158EA}"/>
              </a:ext>
            </a:extLst>
          </p:cNvPr>
          <p:cNvSpPr>
            <a:spLocks xmlns:a="http://schemas.openxmlformats.org/drawingml/2006/main" noGrp="1"/>
          </p:cNvSpPr>
          <p:nvPr/>
        </p:nvSpPr>
        <p:spPr>
          <a:xfrm xmlns:a="http://schemas.openxmlformats.org/drawingml/2006/main">
            <a:off x="876300" y="430530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650" b="1">
                <a:solidFill>
                  <a:srgbClr val="6DCBF4"/>
                </a:solidFill>
                <a:latin typeface="Arial Unicode MS"/>
                <a:ea typeface="Arial Unicode MS"/>
                <a:cs typeface="Arial Unicode MS"/>
              </a:defRPr>
            </a:pPr>
            <a:r>
              <a:rPr sz="1650" b="1">
                <a:solidFill>
                  <a:srgbClr val="6DCBF4"/>
                </a:solidFill>
                <a:latin typeface="Arial Unicode MS"/>
                <a:ea typeface="Arial Unicode MS"/>
                <a:cs typeface="Arial Unicode MS"/>
              </a:rPr>
              <a:t>关键解释</a:t>
            </a:r>
          </a:p>
        </p:txBody>
      </p:sp>
      <p:sp>
        <p:nvSpPr>
          <p:cNvPr id="13" name="">
            <a:extLst xmlns:a="http://schemas.openxmlformats.org/drawingml/2006/main">
              <a:ext uri="{FF2B5EF4-FFF2-40B4-BE49-F238E27FC236}">
                <a16:creationId xmlns:a16="http://schemas.microsoft.com/office/drawing/2014/main" id="{EA6C18EC-6511-4DC9-9C81-BFD391F6AD6B}"/>
              </a:ext>
            </a:extLst>
          </p:cNvPr>
          <p:cNvSpPr>
            <a:spLocks xmlns:a="http://schemas.openxmlformats.org/drawingml/2006/main" noGrp="1"/>
          </p:cNvSpPr>
          <p:nvPr/>
        </p:nvSpPr>
        <p:spPr>
          <a:xfrm xmlns:a="http://schemas.openxmlformats.org/drawingml/2006/main">
            <a:off x="2457450" y="4248150"/>
            <a:ext cx="8858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575" b="1">
                <a:solidFill>
                  <a:srgbClr val="FFFFFF"/>
                </a:solidFill>
                <a:latin typeface="Arial Unicode MS"/>
                <a:ea typeface="Arial Unicode MS"/>
                <a:cs typeface="Arial Unicode MS"/>
              </a:defRPr>
            </a:pPr>
            <a:r>
              <a:rPr sz="1575" b="1">
                <a:solidFill>
                  <a:srgbClr val="FFFFFF"/>
                </a:solidFill>
                <a:latin typeface="Arial Unicode MS"/>
                <a:ea typeface="Arial Unicode MS"/>
                <a:cs typeface="Arial Unicode MS"/>
              </a:rPr>
              <a:t>这 5 条路径中的 CARE source-transfer candidates 全部被 gate 拒绝；CARE 的正向值主要来自 target-only fallback，不能写成 source transfer 的胜利。</a:t>
            </a:r>
          </a:p>
        </p:txBody>
      </p:sp>
      <p:sp>
        <p:nvSpPr>
          <p:cNvPr id="14" name="">
            <a:extLst xmlns:a="http://schemas.openxmlformats.org/drawingml/2006/main">
              <a:ext uri="{FF2B5EF4-FFF2-40B4-BE49-F238E27FC236}">
                <a16:creationId xmlns:a16="http://schemas.microsoft.com/office/drawing/2014/main" id="{EBF2548B-5607-4C20-B6E7-DDAF5E60AA00}"/>
              </a:ext>
            </a:extLst>
          </p:cNvPr>
          <p:cNvSpPr>
            <a:spLocks xmlns:a="http://schemas.openxmlformats.org/drawingml/2006/main" noGrp="1"/>
          </p:cNvSpPr>
          <p:nvPr/>
        </p:nvSpPr>
        <p:spPr>
          <a:xfrm xmlns:a="http://schemas.openxmlformats.org/drawingml/2006/main">
            <a:off x="647700" y="5619750"/>
            <a:ext cx="10896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1425" b="0">
                <a:solidFill>
                  <a:srgbClr val="687681"/>
                </a:solidFill>
                <a:latin typeface="Arial Unicode MS"/>
                <a:ea typeface="Arial Unicode MS"/>
                <a:cs typeface="Arial Unicode MS"/>
              </a:defRPr>
            </a:pPr>
            <a:r>
              <a:rPr sz="1425" b="0">
                <a:solidFill>
                  <a:srgbClr val="687681"/>
                </a:solidFill>
                <a:latin typeface="Arial Unicode MS"/>
                <a:ea typeface="Arial Unicode MS"/>
                <a:cs typeface="Arial Unicode MS"/>
              </a:rPr>
              <a:t>系统价值：比较、路由与拒绝负迁移，而不是宣称某个固定 transfer 方法全面胜出。</a:t>
            </a:r>
          </a:p>
        </p:txBody>
      </p:sp>
      <p:sp>
        <p:nvSpPr>
          <p:cNvPr id="15" name="">
            <a:extLst xmlns:a="http://schemas.openxmlformats.org/drawingml/2006/main">
              <a:ext uri="{FF2B5EF4-FFF2-40B4-BE49-F238E27FC236}">
                <a16:creationId xmlns:a16="http://schemas.microsoft.com/office/drawing/2014/main" id="{B1AA47C3-821F-4B17-B77E-515104314890}"/>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frozen evidence update · 2026-08-12</a:t>
            </a:r>
          </a:p>
        </p:txBody>
      </p:sp>
    </p:spTree>
    <p:extLst>
      <p:ext uri="{BB962C8B-B14F-4D97-AF65-F5344CB8AC3E}">
        <p14:creationId xmlns:p14="http://schemas.microsoft.com/office/powerpoint/2010/main" val="1255914920"/>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53320A01-A985-47F7-8FEC-964C8E2660F2}"/>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LLM AND MEMORY</a:t>
            </a:r>
          </a:p>
        </p:txBody>
      </p:sp>
      <p:sp>
        <p:nvSpPr>
          <p:cNvPr id="2" name="">
            <a:extLst xmlns:a="http://schemas.openxmlformats.org/drawingml/2006/main">
              <a:ext uri="{FF2B5EF4-FFF2-40B4-BE49-F238E27FC236}">
                <a16:creationId xmlns:a16="http://schemas.microsoft.com/office/drawing/2014/main" id="{FE6DF21D-3861-40CC-A1E8-BBB75532F122}"/>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27</a:t>
            </a:r>
          </a:p>
        </p:txBody>
      </p:sp>
      <p:sp>
        <p:nvSpPr>
          <p:cNvPr id="3" name="">
            <a:extLst xmlns:a="http://schemas.openxmlformats.org/drawingml/2006/main">
              <a:ext uri="{FF2B5EF4-FFF2-40B4-BE49-F238E27FC236}">
                <a16:creationId xmlns:a16="http://schemas.microsoft.com/office/drawing/2014/main" id="{5DF69E02-335D-41B8-A22B-5ECCA3E0C07F}"/>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700" b="1">
                <a:solidFill>
                  <a:srgbClr val="17232E"/>
                </a:solidFill>
                <a:latin typeface="Arial Unicode MS"/>
                <a:ea typeface="Arial Unicode MS"/>
                <a:cs typeface="Arial Unicode MS"/>
              </a:defRPr>
            </a:pPr>
            <a:r>
              <a:rPr sz="2700" b="1">
                <a:solidFill>
                  <a:srgbClr val="17232E"/>
                </a:solidFill>
                <a:latin typeface="Arial Unicode MS"/>
                <a:ea typeface="Arial Unicode MS"/>
                <a:cs typeface="Arial Unicode MS"/>
              </a:rPr>
              <a:t>LLM 是 hypothesis compiler；知识库保存可复用证据</a:t>
            </a:r>
          </a:p>
        </p:txBody>
      </p:sp>
      <p:sp>
        <p:nvSpPr>
          <p:cNvPr id="4" name="">
            <a:extLst xmlns:a="http://schemas.openxmlformats.org/drawingml/2006/main">
              <a:ext uri="{FF2B5EF4-FFF2-40B4-BE49-F238E27FC236}">
                <a16:creationId xmlns:a16="http://schemas.microsoft.com/office/drawing/2014/main" id="{03990AEE-8EAA-4FEA-8BA8-63016CA37C5E}"/>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C78C46E-7F92-4BFA-BDD2-22E3079D103B}"/>
              </a:ext>
            </a:extLst>
          </p:cNvPr>
          <p:cNvSpPr>
            <a:spLocks xmlns:a="http://schemas.openxmlformats.org/drawingml/2006/main" noGrp="1"/>
          </p:cNvSpPr>
          <p:nvPr/>
        </p:nvSpPr>
        <p:spPr>
          <a:xfrm xmlns:a="http://schemas.openxmlformats.org/drawingml/2006/main">
            <a:off x="647700" y="1676400"/>
            <a:ext cx="4953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75" b="1">
                <a:solidFill>
                  <a:srgbClr val="2F6FB6"/>
                </a:solidFill>
                <a:latin typeface="Arial Unicode MS"/>
                <a:ea typeface="Arial Unicode MS"/>
                <a:cs typeface="Arial Unicode MS"/>
              </a:defRPr>
            </a:pPr>
            <a:r>
              <a:rPr sz="1875" b="1">
                <a:solidFill>
                  <a:srgbClr val="2F6FB6"/>
                </a:solidFill>
                <a:latin typeface="Arial Unicode MS"/>
                <a:ea typeface="Arial Unicode MS"/>
                <a:cs typeface="Arial Unicode MS"/>
              </a:rPr>
              <a:t>LLM 在完整平台中的角色</a:t>
            </a:r>
          </a:p>
        </p:txBody>
      </p:sp>
      <p:sp>
        <p:nvSpPr>
          <p:cNvPr id="6" name="">
            <a:extLst xmlns:a="http://schemas.openxmlformats.org/drawingml/2006/main">
              <a:ext uri="{FF2B5EF4-FFF2-40B4-BE49-F238E27FC236}">
                <a16:creationId xmlns:a16="http://schemas.microsoft.com/office/drawing/2014/main" id="{7B7E27F3-DFCE-45DB-AF72-4E7C9C4AFC33}"/>
              </a:ext>
            </a:extLst>
          </p:cNvPr>
          <p:cNvSpPr>
            <a:spLocks xmlns:a="http://schemas.openxmlformats.org/drawingml/2006/main" noGrp="1"/>
          </p:cNvSpPr>
          <p:nvPr/>
        </p:nvSpPr>
        <p:spPr>
          <a:xfrm xmlns:a="http://schemas.openxmlformats.org/drawingml/2006/main">
            <a:off x="647700" y="2133600"/>
            <a:ext cx="4953000" cy="2952750"/>
          </a:xfrm>
          <a:prstGeom xmlns:a="http://schemas.openxmlformats.org/drawingml/2006/main" prst="rect">
            <a:avLst/>
          </a:prstGeom>
          <a:solidFill xmlns:a="http://schemas.openxmlformats.org/drawingml/2006/main">
            <a:srgbClr val="EAF3FB"/>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B69740F3-D61D-43AE-BD77-11E091D33B1C}"/>
              </a:ext>
            </a:extLst>
          </p:cNvPr>
          <p:cNvSpPr>
            <a:spLocks xmlns:a="http://schemas.openxmlformats.org/drawingml/2006/main" noGrp="1"/>
          </p:cNvSpPr>
          <p:nvPr/>
        </p:nvSpPr>
        <p:spPr>
          <a:xfrm xmlns:a="http://schemas.openxmlformats.org/drawingml/2006/main">
            <a:off x="914400" y="2419350"/>
            <a:ext cx="441960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8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读取 source/target schema 与统计摘要</a:t>
            </a:r>
          </a:p>
          <a:p xmlns:a="http://schemas.openxmlformats.org/drawingml/2006/main">
            <a:pPr algn="l">
              <a:lnSpc>
                <a:spcPct val="118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生成 role map 与结构化 hypothesis</a:t>
            </a:r>
          </a:p>
          <a:p xmlns:a="http://schemas.openxmlformats.org/drawingml/2006/main">
            <a:pPr algn="l">
              <a:lnSpc>
                <a:spcPct val="118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提议 kernel / prior / routing patch</a:t>
            </a:r>
          </a:p>
          <a:p xmlns:a="http://schemas.openxmlformats.org/drawingml/2006/main">
            <a:pPr algn="l">
              <a:lnSpc>
                <a:spcPct val="118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输出 rationale、confidence、failure condition</a:t>
            </a:r>
          </a:p>
          <a:p xmlns:a="http://schemas.openxmlformats.org/drawingml/2006/main">
            <a:pPr algn="l">
              <a:lnSpc>
                <a:spcPct val="118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必须超过 fixed data-only control 才能归因给 LLM</a:t>
            </a:r>
          </a:p>
        </p:txBody>
      </p:sp>
      <p:sp>
        <p:nvSpPr>
          <p:cNvPr id="8" name="">
            <a:extLst xmlns:a="http://schemas.openxmlformats.org/drawingml/2006/main">
              <a:ext uri="{FF2B5EF4-FFF2-40B4-BE49-F238E27FC236}">
                <a16:creationId xmlns:a16="http://schemas.microsoft.com/office/drawing/2014/main" id="{A5B54CB7-5DB4-41AE-A5A0-374AD4823FC8}"/>
              </a:ext>
            </a:extLst>
          </p:cNvPr>
          <p:cNvSpPr>
            <a:spLocks xmlns:a="http://schemas.openxmlformats.org/drawingml/2006/main" noGrp="1"/>
          </p:cNvSpPr>
          <p:nvPr/>
        </p:nvSpPr>
        <p:spPr>
          <a:xfrm xmlns:a="http://schemas.openxmlformats.org/drawingml/2006/main">
            <a:off x="6515100" y="1676400"/>
            <a:ext cx="4953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75" b="1">
                <a:solidFill>
                  <a:srgbClr val="2C8A62"/>
                </a:solidFill>
                <a:latin typeface="Arial Unicode MS"/>
                <a:ea typeface="Arial Unicode MS"/>
                <a:cs typeface="Arial Unicode MS"/>
              </a:defRPr>
            </a:pPr>
            <a:r>
              <a:rPr sz="1875" b="1">
                <a:solidFill>
                  <a:srgbClr val="2C8A62"/>
                </a:solidFill>
                <a:latin typeface="Arial Unicode MS"/>
                <a:ea typeface="Arial Unicode MS"/>
                <a:cs typeface="Arial Unicode MS"/>
              </a:rPr>
              <a:t>SkillBank 已沉淀</a:t>
            </a:r>
          </a:p>
        </p:txBody>
      </p:sp>
      <p:sp>
        <p:nvSpPr>
          <p:cNvPr id="9" name="">
            <a:extLst xmlns:a="http://schemas.openxmlformats.org/drawingml/2006/main">
              <a:ext uri="{FF2B5EF4-FFF2-40B4-BE49-F238E27FC236}">
                <a16:creationId xmlns:a16="http://schemas.microsoft.com/office/drawing/2014/main" id="{7FA29A73-D837-46D5-BCD7-35256B5CAD48}"/>
              </a:ext>
            </a:extLst>
          </p:cNvPr>
          <p:cNvSpPr>
            <a:spLocks xmlns:a="http://schemas.openxmlformats.org/drawingml/2006/main" noGrp="1"/>
          </p:cNvSpPr>
          <p:nvPr/>
        </p:nvSpPr>
        <p:spPr>
          <a:xfrm xmlns:a="http://schemas.openxmlformats.org/drawingml/2006/main">
            <a:off x="6515100" y="2133600"/>
            <a:ext cx="4953000" cy="2952750"/>
          </a:xfrm>
          <a:prstGeom xmlns:a="http://schemas.openxmlformats.org/drawingml/2006/main" prst="rect">
            <a:avLst/>
          </a:prstGeom>
          <a:solidFill xmlns:a="http://schemas.openxmlformats.org/drawingml/2006/main">
            <a:srgbClr val="EAF6F0"/>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413C23F-F4FB-4740-A03E-FD59095EF372}"/>
              </a:ext>
            </a:extLst>
          </p:cNvPr>
          <p:cNvSpPr>
            <a:spLocks xmlns:a="http://schemas.openxmlformats.org/drawingml/2006/main" noGrp="1"/>
          </p:cNvSpPr>
          <p:nvPr/>
        </p:nvSpPr>
        <p:spPr>
          <a:xfrm xmlns:a="http://schemas.openxmlformats.org/drawingml/2006/main">
            <a:off x="6781800" y="2419350"/>
            <a:ext cx="441960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8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dataset / task cards 与 role maps</a:t>
            </a:r>
          </a:p>
          <a:p xmlns:a="http://schemas.openxmlformats.org/drawingml/2006/main">
            <a:pPr algn="l">
              <a:lnSpc>
                <a:spcPct val="118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frozen TransferSkill 与执行参数</a:t>
            </a:r>
          </a:p>
          <a:p xmlns:a="http://schemas.openxmlformats.org/drawingml/2006/main">
            <a:pPr algn="l">
              <a:lnSpc>
                <a:spcPct val="118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positive、negative、rejected cases</a:t>
            </a:r>
          </a:p>
          <a:p xmlns:a="http://schemas.openxmlformats.org/drawingml/2006/main">
            <a:pPr algn="l">
              <a:lnSpc>
                <a:spcPct val="118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per-round candidate / score / outcome trace</a:t>
            </a:r>
          </a:p>
          <a:p xmlns:a="http://schemas.openxmlformats.org/drawingml/2006/main">
            <a:pPr algn="l">
              <a:lnSpc>
                <a:spcPct val="118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commit、config、model record 与 SHA-256</a:t>
            </a:r>
          </a:p>
        </p:txBody>
      </p:sp>
      <p:sp>
        <p:nvSpPr>
          <p:cNvPr id="11" name="">
            <a:extLst xmlns:a="http://schemas.openxmlformats.org/drawingml/2006/main">
              <a:ext uri="{FF2B5EF4-FFF2-40B4-BE49-F238E27FC236}">
                <a16:creationId xmlns:a16="http://schemas.microsoft.com/office/drawing/2014/main" id="{5943CA1F-900E-483D-AB5E-6520F8DFE223}"/>
              </a:ext>
            </a:extLst>
          </p:cNvPr>
          <p:cNvSpPr>
            <a:spLocks xmlns:a="http://schemas.openxmlformats.org/drawingml/2006/main" noGrp="1"/>
          </p:cNvSpPr>
          <p:nvPr/>
        </p:nvSpPr>
        <p:spPr>
          <a:xfrm xmlns:a="http://schemas.openxmlformats.org/drawingml/2006/main">
            <a:off x="647700" y="5391150"/>
            <a:ext cx="10896600" cy="552450"/>
          </a:xfrm>
          <a:prstGeom xmlns:a="http://schemas.openxmlformats.org/drawingml/2006/main" prst="rect">
            <a:avLst/>
          </a:prstGeom>
          <a:solidFill xmlns:a="http://schemas.openxmlformats.org/drawingml/2006/main">
            <a:srgbClr val="FBECEC"/>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F08EC97E-B1D8-4800-A164-614AD71EAFD5}"/>
              </a:ext>
            </a:extLst>
          </p:cNvPr>
          <p:cNvSpPr>
            <a:spLocks xmlns:a="http://schemas.openxmlformats.org/drawingml/2006/main" noGrp="1"/>
          </p:cNvSpPr>
          <p:nvPr/>
        </p:nvSpPr>
        <p:spPr>
          <a:xfrm xmlns:a="http://schemas.openxmlformats.org/drawingml/2006/main">
            <a:off x="819150" y="5524500"/>
            <a:ext cx="10553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1500" b="1">
                <a:solidFill>
                  <a:srgbClr val="C94D4D"/>
                </a:solidFill>
                <a:latin typeface="Arial Unicode MS"/>
                <a:ea typeface="Arial Unicode MS"/>
                <a:cs typeface="Arial Unicode MS"/>
              </a:defRPr>
            </a:pPr>
            <a:r>
              <a:rPr sz="1500" b="1">
                <a:solidFill>
                  <a:srgbClr val="C94D4D"/>
                </a:solidFill>
                <a:latin typeface="Arial Unicode MS"/>
                <a:ea typeface="Arial Unicode MS"/>
                <a:cs typeface="Arial Unicode MS"/>
              </a:rPr>
              <a:t>最新 v2 external 没有使用 LLM，因此结果只能证明 source-outcome initial design。</a:t>
            </a:r>
          </a:p>
        </p:txBody>
      </p:sp>
      <p:sp>
        <p:nvSpPr>
          <p:cNvPr id="13" name="">
            <a:extLst xmlns:a="http://schemas.openxmlformats.org/drawingml/2006/main">
              <a:ext uri="{FF2B5EF4-FFF2-40B4-BE49-F238E27FC236}">
                <a16:creationId xmlns:a16="http://schemas.microsoft.com/office/drawing/2014/main" id="{BA9999D4-62A6-41B7-9468-BC729B8D43D0}"/>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frozen evidence update · 2026-08-12</a:t>
            </a:r>
          </a:p>
        </p:txBody>
      </p:sp>
    </p:spTree>
    <p:extLst>
      <p:ext uri="{BB962C8B-B14F-4D97-AF65-F5344CB8AC3E}">
        <p14:creationId xmlns:p14="http://schemas.microsoft.com/office/powerpoint/2010/main" val="606239023"/>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A29BDB7B-9656-46AB-BA80-573A9D14FF8C}"/>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CONCLUSIONS</a:t>
            </a:r>
          </a:p>
        </p:txBody>
      </p:sp>
      <p:sp>
        <p:nvSpPr>
          <p:cNvPr id="2" name="">
            <a:extLst xmlns:a="http://schemas.openxmlformats.org/drawingml/2006/main">
              <a:ext uri="{FF2B5EF4-FFF2-40B4-BE49-F238E27FC236}">
                <a16:creationId xmlns:a16="http://schemas.microsoft.com/office/drawing/2014/main" id="{C3D0AB3E-CB21-4CA3-A795-35EAF6EC458D}"/>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28</a:t>
            </a:r>
          </a:p>
        </p:txBody>
      </p:sp>
      <p:sp>
        <p:nvSpPr>
          <p:cNvPr id="3" name="">
            <a:extLst xmlns:a="http://schemas.openxmlformats.org/drawingml/2006/main">
              <a:ext uri="{FF2B5EF4-FFF2-40B4-BE49-F238E27FC236}">
                <a16:creationId xmlns:a16="http://schemas.microsoft.com/office/drawing/2014/main" id="{949075D9-EF76-435C-B565-47D85621FB7A}"/>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550" b="1">
                <a:solidFill>
                  <a:srgbClr val="17232E"/>
                </a:solidFill>
                <a:latin typeface="Arial Unicode MS"/>
                <a:ea typeface="Arial Unicode MS"/>
                <a:cs typeface="Arial Unicode MS"/>
              </a:defRPr>
            </a:pPr>
            <a:r>
              <a:rPr sz="2550" b="1">
                <a:solidFill>
                  <a:srgbClr val="17232E"/>
                </a:solidFill>
                <a:latin typeface="Arial Unicode MS"/>
                <a:ea typeface="Arial Unicode MS"/>
                <a:cs typeface="Arial Unicode MS"/>
              </a:rPr>
              <a:t>当前最强贡献是可信迁移框架，而不是“所有任务都提升”</a:t>
            </a:r>
          </a:p>
        </p:txBody>
      </p:sp>
      <p:sp>
        <p:nvSpPr>
          <p:cNvPr id="4" name="">
            <a:extLst xmlns:a="http://schemas.openxmlformats.org/drawingml/2006/main">
              <a:ext uri="{FF2B5EF4-FFF2-40B4-BE49-F238E27FC236}">
                <a16:creationId xmlns:a16="http://schemas.microsoft.com/office/drawing/2014/main" id="{B67C6A89-8F4E-4B26-AA8A-9B5928F38EBB}"/>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80BBF1B7-F03E-4D3E-8E67-C4B51509DD36}"/>
              </a:ext>
            </a:extLst>
          </p:cNvPr>
          <p:cNvSpPr>
            <a:spLocks xmlns:a="http://schemas.openxmlformats.org/drawingml/2006/main" noGrp="1"/>
          </p:cNvSpPr>
          <p:nvPr/>
        </p:nvSpPr>
        <p:spPr>
          <a:xfrm xmlns:a="http://schemas.openxmlformats.org/drawingml/2006/main">
            <a:off x="647700" y="1714500"/>
            <a:ext cx="314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75" b="1">
                <a:solidFill>
                  <a:srgbClr val="2C8A62"/>
                </a:solidFill>
                <a:latin typeface="Arial Unicode MS"/>
                <a:ea typeface="Arial Unicode MS"/>
                <a:cs typeface="Arial Unicode MS"/>
              </a:defRPr>
            </a:pPr>
            <a:r>
              <a:rPr sz="1875" b="1">
                <a:solidFill>
                  <a:srgbClr val="2C8A62"/>
                </a:solidFill>
                <a:latin typeface="Arial Unicode MS"/>
                <a:ea typeface="Arial Unicode MS"/>
                <a:cs typeface="Arial Unicode MS"/>
              </a:rPr>
              <a:t>已经成立</a:t>
            </a:r>
          </a:p>
        </p:txBody>
      </p:sp>
      <p:sp>
        <p:nvSpPr>
          <p:cNvPr id="6" name="">
            <a:extLst xmlns:a="http://schemas.openxmlformats.org/drawingml/2006/main">
              <a:ext uri="{FF2B5EF4-FFF2-40B4-BE49-F238E27FC236}">
                <a16:creationId xmlns:a16="http://schemas.microsoft.com/office/drawing/2014/main" id="{541BB159-98FA-4CB7-90C1-4F83EC636034}"/>
              </a:ext>
            </a:extLst>
          </p:cNvPr>
          <p:cNvSpPr>
            <a:spLocks xmlns:a="http://schemas.openxmlformats.org/drawingml/2006/main" noGrp="1"/>
          </p:cNvSpPr>
          <p:nvPr/>
        </p:nvSpPr>
        <p:spPr>
          <a:xfrm xmlns:a="http://schemas.openxmlformats.org/drawingml/2006/main">
            <a:off x="647700" y="2171700"/>
            <a:ext cx="3143250" cy="28575"/>
          </a:xfrm>
          <a:prstGeom xmlns:a="http://schemas.openxmlformats.org/drawingml/2006/main" prst="rect">
            <a:avLst/>
          </a:prstGeom>
          <a:solidFill xmlns:a="http://schemas.openxmlformats.org/drawingml/2006/main">
            <a:srgbClr val="2C8A62"/>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A912CC5-4923-44F7-9F17-6FE869A158D1}"/>
              </a:ext>
            </a:extLst>
          </p:cNvPr>
          <p:cNvSpPr>
            <a:spLocks xmlns:a="http://schemas.openxmlformats.org/drawingml/2006/main" noGrp="1"/>
          </p:cNvSpPr>
          <p:nvPr/>
        </p:nvSpPr>
        <p:spPr>
          <a:xfrm xmlns:a="http://schemas.openxmlformats.org/drawingml/2006/main">
            <a:off x="647700" y="2457450"/>
            <a:ext cx="3143250" cy="2266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0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统一、可审计的 replay harness</a:t>
            </a:r>
          </a:p>
          <a:p xmlns:a="http://schemas.openxmlformats.org/drawingml/2006/main">
            <a:pPr algn="l">
              <a:lnSpc>
                <a:spcPct val="120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source-outcome initial design 有实际价值</a:t>
            </a:r>
          </a:p>
          <a:p xmlns:a="http://schemas.openxmlformats.org/drawingml/2006/main">
            <a:pPr algn="l">
              <a:lnSpc>
                <a:spcPct val="120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v1 失败推动 v2 skill revision</a:t>
            </a:r>
          </a:p>
          <a:p xmlns:a="http://schemas.openxmlformats.org/drawingml/2006/main">
            <a:pPr algn="l">
              <a:lnSpc>
                <a:spcPct val="120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外部 Suzuki target AUC +8.66</a:t>
            </a:r>
          </a:p>
        </p:txBody>
      </p:sp>
      <p:sp>
        <p:nvSpPr>
          <p:cNvPr id="8" name="">
            <a:extLst xmlns:a="http://schemas.openxmlformats.org/drawingml/2006/main">
              <a:ext uri="{FF2B5EF4-FFF2-40B4-BE49-F238E27FC236}">
                <a16:creationId xmlns:a16="http://schemas.microsoft.com/office/drawing/2014/main" id="{F58D76B6-0C51-49CE-9D1E-4F513150DFAC}"/>
              </a:ext>
            </a:extLst>
          </p:cNvPr>
          <p:cNvSpPr>
            <a:spLocks xmlns:a="http://schemas.openxmlformats.org/drawingml/2006/main" noGrp="1"/>
          </p:cNvSpPr>
          <p:nvPr/>
        </p:nvSpPr>
        <p:spPr>
          <a:xfrm xmlns:a="http://schemas.openxmlformats.org/drawingml/2006/main">
            <a:off x="4343400" y="1714500"/>
            <a:ext cx="314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75" b="1">
                <a:solidFill>
                  <a:srgbClr val="C94D4D"/>
                </a:solidFill>
                <a:latin typeface="Arial Unicode MS"/>
                <a:ea typeface="Arial Unicode MS"/>
                <a:cs typeface="Arial Unicode MS"/>
              </a:defRPr>
            </a:pPr>
            <a:r>
              <a:rPr sz="1875" b="1">
                <a:solidFill>
                  <a:srgbClr val="C94D4D"/>
                </a:solidFill>
                <a:latin typeface="Arial Unicode MS"/>
                <a:ea typeface="Arial Unicode MS"/>
                <a:cs typeface="Arial Unicode MS"/>
              </a:rPr>
              <a:t>仍未成立</a:t>
            </a:r>
          </a:p>
        </p:txBody>
      </p:sp>
      <p:sp>
        <p:nvSpPr>
          <p:cNvPr id="9" name="">
            <a:extLst xmlns:a="http://schemas.openxmlformats.org/drawingml/2006/main">
              <a:ext uri="{FF2B5EF4-FFF2-40B4-BE49-F238E27FC236}">
                <a16:creationId xmlns:a16="http://schemas.microsoft.com/office/drawing/2014/main" id="{4C78EC39-2EC9-4733-B825-0BEC7C15C8C2}"/>
              </a:ext>
            </a:extLst>
          </p:cNvPr>
          <p:cNvSpPr>
            <a:spLocks xmlns:a="http://schemas.openxmlformats.org/drawingml/2006/main" noGrp="1"/>
          </p:cNvSpPr>
          <p:nvPr/>
        </p:nvSpPr>
        <p:spPr>
          <a:xfrm xmlns:a="http://schemas.openxmlformats.org/drawingml/2006/main">
            <a:off x="4343400" y="2171700"/>
            <a:ext cx="3143250" cy="28575"/>
          </a:xfrm>
          <a:prstGeom xmlns:a="http://schemas.openxmlformats.org/drawingml/2006/main" prst="rect">
            <a:avLst/>
          </a:prstGeom>
          <a:solidFill xmlns:a="http://schemas.openxmlformats.org/drawingml/2006/main">
            <a:srgbClr val="C94D4D"/>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865D9756-76E5-4C97-8C5E-A82723637C34}"/>
              </a:ext>
            </a:extLst>
          </p:cNvPr>
          <p:cNvSpPr>
            <a:spLocks xmlns:a="http://schemas.openxmlformats.org/drawingml/2006/main" noGrp="1"/>
          </p:cNvSpPr>
          <p:nvPr/>
        </p:nvSpPr>
        <p:spPr>
          <a:xfrm xmlns:a="http://schemas.openxmlformats.org/drawingml/2006/main">
            <a:off x="4343400" y="2457450"/>
            <a:ext cx="3143250" cy="2266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0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任意跨领域稳定迁移</a:t>
            </a:r>
          </a:p>
          <a:p xmlns:a="http://schemas.openxmlformats.org/drawingml/2006/main">
            <a:pPr algn="l">
              <a:lnSpc>
                <a:spcPct val="120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LLM 在多数路径上优于 fixed rule</a:t>
            </a:r>
          </a:p>
          <a:p xmlns:a="http://schemas.openxmlformats.org/drawingml/2006/main">
            <a:pPr algn="l">
              <a:lnSpc>
                <a:spcPct val="120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source 在优化全程持续贡献</a:t>
            </a:r>
          </a:p>
          <a:p xmlns:a="http://schemas.openxmlformats.org/drawingml/2006/main">
            <a:pPr algn="l">
              <a:lnSpc>
                <a:spcPct val="120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单个 target 的 task-level 显著性</a:t>
            </a:r>
          </a:p>
        </p:txBody>
      </p:sp>
      <p:sp>
        <p:nvSpPr>
          <p:cNvPr id="11" name="">
            <a:extLst xmlns:a="http://schemas.openxmlformats.org/drawingml/2006/main">
              <a:ext uri="{FF2B5EF4-FFF2-40B4-BE49-F238E27FC236}">
                <a16:creationId xmlns:a16="http://schemas.microsoft.com/office/drawing/2014/main" id="{8658FD17-3604-4C08-9D62-259A8CD41389}"/>
              </a:ext>
            </a:extLst>
          </p:cNvPr>
          <p:cNvSpPr>
            <a:spLocks xmlns:a="http://schemas.openxmlformats.org/drawingml/2006/main" noGrp="1"/>
          </p:cNvSpPr>
          <p:nvPr/>
        </p:nvSpPr>
        <p:spPr>
          <a:xfrm xmlns:a="http://schemas.openxmlformats.org/drawingml/2006/main">
            <a:off x="8039100" y="1714500"/>
            <a:ext cx="314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75" b="1">
                <a:solidFill>
                  <a:srgbClr val="2F6FB6"/>
                </a:solidFill>
                <a:latin typeface="Arial Unicode MS"/>
                <a:ea typeface="Arial Unicode MS"/>
                <a:cs typeface="Arial Unicode MS"/>
              </a:defRPr>
            </a:pPr>
            <a:r>
              <a:rPr sz="1875" b="1">
                <a:solidFill>
                  <a:srgbClr val="2F6FB6"/>
                </a:solidFill>
                <a:latin typeface="Arial Unicode MS"/>
                <a:ea typeface="Arial Unicode MS"/>
                <a:cs typeface="Arial Unicode MS"/>
              </a:rPr>
              <a:t>项目定位</a:t>
            </a:r>
          </a:p>
        </p:txBody>
      </p:sp>
      <p:sp>
        <p:nvSpPr>
          <p:cNvPr id="12" name="">
            <a:extLst xmlns:a="http://schemas.openxmlformats.org/drawingml/2006/main">
              <a:ext uri="{FF2B5EF4-FFF2-40B4-BE49-F238E27FC236}">
                <a16:creationId xmlns:a16="http://schemas.microsoft.com/office/drawing/2014/main" id="{4C00D390-494A-44C0-9320-DABFCBF23643}"/>
              </a:ext>
            </a:extLst>
          </p:cNvPr>
          <p:cNvSpPr>
            <a:spLocks xmlns:a="http://schemas.openxmlformats.org/drawingml/2006/main" noGrp="1"/>
          </p:cNvSpPr>
          <p:nvPr/>
        </p:nvSpPr>
        <p:spPr>
          <a:xfrm xmlns:a="http://schemas.openxmlformats.org/drawingml/2006/main">
            <a:off x="8039100" y="2171700"/>
            <a:ext cx="3143250" cy="28575"/>
          </a:xfrm>
          <a:prstGeom xmlns:a="http://schemas.openxmlformats.org/drawingml/2006/main" prst="rect">
            <a:avLst/>
          </a:prstGeom>
          <a:solidFill xmlns:a="http://schemas.openxmlformats.org/drawingml/2006/main">
            <a:srgbClr val="2F6FB6"/>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875A80F3-41A6-448E-A5AF-1FE70A2518A2}"/>
              </a:ext>
            </a:extLst>
          </p:cNvPr>
          <p:cNvSpPr>
            <a:spLocks xmlns:a="http://schemas.openxmlformats.org/drawingml/2006/main" noGrp="1"/>
          </p:cNvSpPr>
          <p:nvPr/>
        </p:nvSpPr>
        <p:spPr>
          <a:xfrm xmlns:a="http://schemas.openxmlformats.org/drawingml/2006/main">
            <a:off x="8039100" y="2457450"/>
            <a:ext cx="3143250" cy="2266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0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可信赖的科学知识迁移框架</a:t>
            </a:r>
          </a:p>
          <a:p xmlns:a="http://schemas.openxmlformats.org/drawingml/2006/main">
            <a:pPr algn="l">
              <a:lnSpc>
                <a:spcPct val="120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强 baseline 与冻结协议</a:t>
            </a:r>
          </a:p>
          <a:p xmlns:a="http://schemas.openxmlformats.org/drawingml/2006/main">
            <a:pPr algn="l">
              <a:lnSpc>
                <a:spcPct val="120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负迁移审计与 exact fallback</a:t>
            </a:r>
          </a:p>
          <a:p xmlns:a="http://schemas.openxmlformats.org/drawingml/2006/main">
            <a:pPr algn="l">
              <a:lnSpc>
                <a:spcPct val="120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成功和失败共同进入 SkillBank</a:t>
            </a:r>
          </a:p>
        </p:txBody>
      </p:sp>
      <p:sp>
        <p:nvSpPr>
          <p:cNvPr id="14" name="">
            <a:extLst xmlns:a="http://schemas.openxmlformats.org/drawingml/2006/main">
              <a:ext uri="{FF2B5EF4-FFF2-40B4-BE49-F238E27FC236}">
                <a16:creationId xmlns:a16="http://schemas.microsoft.com/office/drawing/2014/main" id="{7D5E5127-3A1E-41A1-A426-C997D67F8FE7}"/>
              </a:ext>
            </a:extLst>
          </p:cNvPr>
          <p:cNvSpPr>
            <a:spLocks xmlns:a="http://schemas.openxmlformats.org/drawingml/2006/main" noGrp="1"/>
          </p:cNvSpPr>
          <p:nvPr/>
        </p:nvSpPr>
        <p:spPr>
          <a:xfrm xmlns:a="http://schemas.openxmlformats.org/drawingml/2006/main">
            <a:off x="647700" y="5219700"/>
            <a:ext cx="10896600" cy="800100"/>
          </a:xfrm>
          <a:prstGeom xmlns:a="http://schemas.openxmlformats.org/drawingml/2006/main" prst="rect">
            <a:avLst/>
          </a:prstGeom>
          <a:solidFill xmlns:a="http://schemas.openxmlformats.org/drawingml/2006/main">
            <a:srgbClr val="17324D"/>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33E041F7-EA07-487F-BE80-377B985995F0}"/>
              </a:ext>
            </a:extLst>
          </p:cNvPr>
          <p:cNvSpPr>
            <a:spLocks xmlns:a="http://schemas.openxmlformats.org/drawingml/2006/main" noGrp="1"/>
          </p:cNvSpPr>
          <p:nvPr/>
        </p:nvSpPr>
        <p:spPr>
          <a:xfrm xmlns:a="http://schemas.openxmlformats.org/drawingml/2006/main">
            <a:off x="857250" y="535305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9125"/>
          </a:bodyPr>
          <a:lstStyle xmlns:a="http://schemas.openxmlformats.org/drawingml/2006/main"/>
          <a:p xmlns:a="http://schemas.openxmlformats.org/drawingml/2006/main">
            <a:pPr algn="ctr">
              <a:lnSpc>
                <a:spcPct val="106000"/>
              </a:lnSpc>
              <a:buNone/>
              <a:defRPr sz="1725" b="1">
                <a:solidFill>
                  <a:srgbClr val="FFFFFF"/>
                </a:solidFill>
                <a:latin typeface="Arial Unicode MS"/>
                <a:ea typeface="Arial Unicode MS"/>
                <a:cs typeface="Arial Unicode MS"/>
              </a:defRPr>
            </a:pPr>
            <a:r>
              <a:rPr sz="1725" b="1">
                <a:solidFill>
                  <a:srgbClr val="FFFFFF"/>
                </a:solidFill>
                <a:latin typeface="Arial Unicode MS"/>
                <a:ea typeface="Arial Unicode MS"/>
                <a:cs typeface="Arial Unicode MS"/>
              </a:rPr>
              <a:t>历史实验可以形成可执行、可拒绝、可验证的迁移 skill；</a:t>
            </a:r>
          </a:p>
          <a:p xmlns:a="http://schemas.openxmlformats.org/drawingml/2006/main">
            <a:pPr algn="ctr">
              <a:lnSpc>
                <a:spcPct val="106000"/>
              </a:lnSpc>
              <a:buNone/>
              <a:defRPr sz="1725" b="1">
                <a:solidFill>
                  <a:srgbClr val="FFFFFF"/>
                </a:solidFill>
                <a:latin typeface="Arial Unicode MS"/>
                <a:ea typeface="Arial Unicode MS"/>
                <a:cs typeface="Arial Unicode MS"/>
              </a:defRPr>
            </a:pPr>
            <a:r>
              <a:rPr sz="1725" b="1">
                <a:solidFill>
                  <a:srgbClr val="FFFFFF"/>
                </a:solidFill>
                <a:latin typeface="Arial Unicode MS"/>
                <a:ea typeface="Arial Unicode MS"/>
                <a:cs typeface="Arial Unicode MS"/>
              </a:rPr>
              <a:t>但每一个泛化结论都必须由冻结后的新任务来支持。</a:t>
            </a:r>
          </a:p>
        </p:txBody>
      </p:sp>
      <p:sp>
        <p:nvSpPr>
          <p:cNvPr id="16" name="">
            <a:extLst xmlns:a="http://schemas.openxmlformats.org/drawingml/2006/main">
              <a:ext uri="{FF2B5EF4-FFF2-40B4-BE49-F238E27FC236}">
                <a16:creationId xmlns:a16="http://schemas.microsoft.com/office/drawing/2014/main" id="{0CEC8148-EB5E-4F69-A75F-9ADF66683CC1}"/>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frozen evidence update · 2026-08-12</a:t>
            </a:r>
          </a:p>
        </p:txBody>
      </p:sp>
    </p:spTree>
    <p:extLst>
      <p:ext uri="{BB962C8B-B14F-4D97-AF65-F5344CB8AC3E}">
        <p14:creationId xmlns:p14="http://schemas.microsoft.com/office/powerpoint/2010/main" val="1506026605"/>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15FD4670-F115-4943-8CCB-D9CD87342FD7}"/>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NEXT EXPERIMENTS</a:t>
            </a:r>
          </a:p>
        </p:txBody>
      </p:sp>
      <p:sp>
        <p:nvSpPr>
          <p:cNvPr id="2" name="">
            <a:extLst xmlns:a="http://schemas.openxmlformats.org/drawingml/2006/main">
              <a:ext uri="{FF2B5EF4-FFF2-40B4-BE49-F238E27FC236}">
                <a16:creationId xmlns:a16="http://schemas.microsoft.com/office/drawing/2014/main" id="{A48DAC25-504E-400C-990A-043F8F3C7ED8}"/>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29</a:t>
            </a:r>
          </a:p>
        </p:txBody>
      </p:sp>
      <p:sp>
        <p:nvSpPr>
          <p:cNvPr id="3" name="">
            <a:extLst xmlns:a="http://schemas.openxmlformats.org/drawingml/2006/main">
              <a:ext uri="{FF2B5EF4-FFF2-40B4-BE49-F238E27FC236}">
                <a16:creationId xmlns:a16="http://schemas.microsoft.com/office/drawing/2014/main" id="{441C823E-7406-4BCB-98ED-09D82F519505}"/>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550" b="1">
                <a:solidFill>
                  <a:srgbClr val="17232E"/>
                </a:solidFill>
                <a:latin typeface="Arial Unicode MS"/>
                <a:ea typeface="Arial Unicode MS"/>
                <a:cs typeface="Arial Unicode MS"/>
              </a:defRPr>
            </a:pPr>
            <a:r>
              <a:rPr sz="2550" b="1">
                <a:solidFill>
                  <a:srgbClr val="17232E"/>
                </a:solidFill>
                <a:latin typeface="Arial Unicode MS"/>
                <a:ea typeface="Arial Unicode MS"/>
                <a:cs typeface="Arial Unicode MS"/>
              </a:rPr>
              <a:t>下一步要把一个外部正例扩展成可重复的泛化证据</a:t>
            </a:r>
          </a:p>
        </p:txBody>
      </p:sp>
      <p:sp>
        <p:nvSpPr>
          <p:cNvPr id="4" name="">
            <a:extLst xmlns:a="http://schemas.openxmlformats.org/drawingml/2006/main">
              <a:ext uri="{FF2B5EF4-FFF2-40B4-BE49-F238E27FC236}">
                <a16:creationId xmlns:a16="http://schemas.microsoft.com/office/drawing/2014/main" id="{F01D85E2-5465-42FB-BBB4-643BEEFA3493}"/>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8B334864-FEA0-47B5-9FBB-435C8A5E3FAF}"/>
              </a:ext>
            </a:extLst>
          </p:cNvPr>
          <p:cNvSpPr>
            <a:spLocks xmlns:a="http://schemas.openxmlformats.org/drawingml/2006/main" noGrp="1"/>
          </p:cNvSpPr>
          <p:nvPr/>
        </p:nvSpPr>
        <p:spPr>
          <a:xfrm xmlns:a="http://schemas.openxmlformats.org/drawingml/2006/main">
            <a:off x="647700" y="156210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350" b="1">
                <a:solidFill>
                  <a:srgbClr val="C94D4D"/>
                </a:solidFill>
                <a:latin typeface="Arial Unicode MS"/>
                <a:ea typeface="Arial Unicode MS"/>
                <a:cs typeface="Arial Unicode MS"/>
              </a:defRPr>
            </a:pPr>
            <a:r>
              <a:rPr sz="1350" b="1">
                <a:solidFill>
                  <a:srgbClr val="C94D4D"/>
                </a:solidFill>
                <a:latin typeface="Arial Unicode MS"/>
                <a:ea typeface="Arial Unicode MS"/>
                <a:cs typeface="Arial Unicode MS"/>
              </a:rPr>
              <a:t>P0</a:t>
            </a:r>
          </a:p>
        </p:txBody>
      </p:sp>
      <p:sp>
        <p:nvSpPr>
          <p:cNvPr id="6" name="">
            <a:extLst xmlns:a="http://schemas.openxmlformats.org/drawingml/2006/main">
              <a:ext uri="{FF2B5EF4-FFF2-40B4-BE49-F238E27FC236}">
                <a16:creationId xmlns:a16="http://schemas.microsoft.com/office/drawing/2014/main" id="{F70BDD02-8301-4541-9BB8-117065C81BB5}"/>
              </a:ext>
            </a:extLst>
          </p:cNvPr>
          <p:cNvSpPr>
            <a:spLocks xmlns:a="http://schemas.openxmlformats.org/drawingml/2006/main" noGrp="1"/>
          </p:cNvSpPr>
          <p:nvPr/>
        </p:nvSpPr>
        <p:spPr>
          <a:xfrm xmlns:a="http://schemas.openxmlformats.org/drawingml/2006/main">
            <a:off x="1371600" y="1543050"/>
            <a:ext cx="3238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725" b="1">
                <a:solidFill>
                  <a:srgbClr val="17232E"/>
                </a:solidFill>
                <a:latin typeface="Arial Unicode MS"/>
                <a:ea typeface="Arial Unicode MS"/>
                <a:cs typeface="Arial Unicode MS"/>
              </a:defRPr>
            </a:pPr>
            <a:r>
              <a:rPr sz="1725" b="1">
                <a:solidFill>
                  <a:srgbClr val="17232E"/>
                </a:solidFill>
                <a:latin typeface="Arial Unicode MS"/>
                <a:ea typeface="Arial Unicode MS"/>
                <a:cs typeface="Arial Unicode MS"/>
              </a:rPr>
              <a:t>扩大 external targets</a:t>
            </a:r>
          </a:p>
        </p:txBody>
      </p:sp>
      <p:sp>
        <p:nvSpPr>
          <p:cNvPr id="7" name="">
            <a:extLst xmlns:a="http://schemas.openxmlformats.org/drawingml/2006/main">
              <a:ext uri="{FF2B5EF4-FFF2-40B4-BE49-F238E27FC236}">
                <a16:creationId xmlns:a16="http://schemas.microsoft.com/office/drawing/2014/main" id="{536AEB8F-4F14-4D7F-8BFE-5F40140EEFD0}"/>
              </a:ext>
            </a:extLst>
          </p:cNvPr>
          <p:cNvSpPr>
            <a:spLocks xmlns:a="http://schemas.openxmlformats.org/drawingml/2006/main" noGrp="1"/>
          </p:cNvSpPr>
          <p:nvPr/>
        </p:nvSpPr>
        <p:spPr>
          <a:xfrm xmlns:a="http://schemas.openxmlformats.org/drawingml/2006/main">
            <a:off x="4743450" y="1543050"/>
            <a:ext cx="6762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350" b="0">
                <a:solidFill>
                  <a:srgbClr val="687681"/>
                </a:solidFill>
                <a:latin typeface="Arial Unicode MS"/>
                <a:ea typeface="Arial Unicode MS"/>
                <a:cs typeface="Arial Unicode MS"/>
              </a:defRPr>
            </a:pPr>
            <a:r>
              <a:rPr sz="1350" b="0">
                <a:solidFill>
                  <a:srgbClr val="687681"/>
                </a:solidFill>
                <a:latin typeface="Arial Unicode MS"/>
                <a:ea typeface="Arial Unicode MS"/>
                <a:cs typeface="Arial Unicode MS"/>
              </a:rPr>
              <a:t>冻结同一 v2 skill family，在更多未参与开发的 C-N、Suzuki 或其他 reaction campaigns 上执行。</a:t>
            </a:r>
          </a:p>
        </p:txBody>
      </p:sp>
      <p:sp>
        <p:nvSpPr>
          <p:cNvPr id="8" name="">
            <a:extLst xmlns:a="http://schemas.openxmlformats.org/drawingml/2006/main">
              <a:ext uri="{FF2B5EF4-FFF2-40B4-BE49-F238E27FC236}">
                <a16:creationId xmlns:a16="http://schemas.microsoft.com/office/drawing/2014/main" id="{4F1DCE68-CD77-47AC-A6A8-3C87E80C986E}"/>
              </a:ext>
            </a:extLst>
          </p:cNvPr>
          <p:cNvSpPr>
            <a:spLocks xmlns:a="http://schemas.openxmlformats.org/drawingml/2006/main" noGrp="1"/>
          </p:cNvSpPr>
          <p:nvPr/>
        </p:nvSpPr>
        <p:spPr>
          <a:xfrm xmlns:a="http://schemas.openxmlformats.org/drawingml/2006/main">
            <a:off x="1371600" y="2114550"/>
            <a:ext cx="10172700" cy="9525"/>
          </a:xfrm>
          <a:prstGeom xmlns:a="http://schemas.openxmlformats.org/drawingml/2006/main" prst="rect">
            <a:avLst/>
          </a:prstGeom>
          <a:solidFill xmlns:a="http://schemas.openxmlformats.org/drawingml/2006/main">
            <a:srgbClr val="C9D0D6"/>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F325C014-1053-4D24-9453-57B62ABD6250}"/>
              </a:ext>
            </a:extLst>
          </p:cNvPr>
          <p:cNvSpPr>
            <a:spLocks xmlns:a="http://schemas.openxmlformats.org/drawingml/2006/main" noGrp="1"/>
          </p:cNvSpPr>
          <p:nvPr/>
        </p:nvSpPr>
        <p:spPr>
          <a:xfrm xmlns:a="http://schemas.openxmlformats.org/drawingml/2006/main">
            <a:off x="647700" y="24193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350" b="1">
                <a:solidFill>
                  <a:srgbClr val="C94D4D"/>
                </a:solidFill>
                <a:latin typeface="Arial Unicode MS"/>
                <a:ea typeface="Arial Unicode MS"/>
                <a:cs typeface="Arial Unicode MS"/>
              </a:defRPr>
            </a:pPr>
            <a:r>
              <a:rPr sz="1350" b="1">
                <a:solidFill>
                  <a:srgbClr val="C94D4D"/>
                </a:solidFill>
                <a:latin typeface="Arial Unicode MS"/>
                <a:ea typeface="Arial Unicode MS"/>
                <a:cs typeface="Arial Unicode MS"/>
              </a:rPr>
              <a:t>P0</a:t>
            </a:r>
          </a:p>
        </p:txBody>
      </p:sp>
      <p:sp>
        <p:nvSpPr>
          <p:cNvPr id="10" name="">
            <a:extLst xmlns:a="http://schemas.openxmlformats.org/drawingml/2006/main">
              <a:ext uri="{FF2B5EF4-FFF2-40B4-BE49-F238E27FC236}">
                <a16:creationId xmlns:a16="http://schemas.microsoft.com/office/drawing/2014/main" id="{194BA39D-9130-45BB-A901-4F1B4809F62A}"/>
              </a:ext>
            </a:extLst>
          </p:cNvPr>
          <p:cNvSpPr>
            <a:spLocks xmlns:a="http://schemas.openxmlformats.org/drawingml/2006/main" noGrp="1"/>
          </p:cNvSpPr>
          <p:nvPr/>
        </p:nvSpPr>
        <p:spPr>
          <a:xfrm xmlns:a="http://schemas.openxmlformats.org/drawingml/2006/main">
            <a:off x="1371600" y="2400300"/>
            <a:ext cx="3238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725" b="1">
                <a:solidFill>
                  <a:srgbClr val="17232E"/>
                </a:solidFill>
                <a:latin typeface="Arial Unicode MS"/>
                <a:ea typeface="Arial Unicode MS"/>
                <a:cs typeface="Arial Unicode MS"/>
              </a:defRPr>
            </a:pPr>
            <a:r>
              <a:rPr sz="1725" b="1">
                <a:solidFill>
                  <a:srgbClr val="17232E"/>
                </a:solidFill>
                <a:latin typeface="Arial Unicode MS"/>
                <a:ea typeface="Arial Unicode MS"/>
                <a:cs typeface="Arial Unicode MS"/>
              </a:rPr>
              <a:t>冻结统一 Confirmation Protocol</a:t>
            </a:r>
          </a:p>
        </p:txBody>
      </p:sp>
      <p:sp>
        <p:nvSpPr>
          <p:cNvPr id="11" name="">
            <a:extLst xmlns:a="http://schemas.openxmlformats.org/drawingml/2006/main">
              <a:ext uri="{FF2B5EF4-FFF2-40B4-BE49-F238E27FC236}">
                <a16:creationId xmlns:a16="http://schemas.microsoft.com/office/drawing/2014/main" id="{FFC33DDD-1B61-4718-93DE-764FF5656F3B}"/>
              </a:ext>
            </a:extLst>
          </p:cNvPr>
          <p:cNvSpPr>
            <a:spLocks xmlns:a="http://schemas.openxmlformats.org/drawingml/2006/main" noGrp="1"/>
          </p:cNvSpPr>
          <p:nvPr/>
        </p:nvSpPr>
        <p:spPr>
          <a:xfrm xmlns:a="http://schemas.openxmlformats.org/drawingml/2006/main">
            <a:off x="4743450" y="2400300"/>
            <a:ext cx="6762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350" b="0">
                <a:solidFill>
                  <a:srgbClr val="687681"/>
                </a:solidFill>
                <a:latin typeface="Arial Unicode MS"/>
                <a:ea typeface="Arial Unicode MS"/>
                <a:cs typeface="Arial Unicode MS"/>
              </a:defRPr>
            </a:pPr>
            <a:r>
              <a:rPr sz="1350" b="0">
                <a:solidFill>
                  <a:srgbClr val="687681"/>
                </a:solidFill>
                <a:latin typeface="Arial Unicode MS"/>
                <a:ea typeface="Arial Unicode MS"/>
                <a:cs typeface="Arial Unicode MS"/>
              </a:rPr>
              <a:t>固定任务根列表、预算、primary metric、selection hash 和 skill fingerprint。</a:t>
            </a:r>
          </a:p>
        </p:txBody>
      </p:sp>
      <p:sp>
        <p:nvSpPr>
          <p:cNvPr id="12" name="">
            <a:extLst xmlns:a="http://schemas.openxmlformats.org/drawingml/2006/main">
              <a:ext uri="{FF2B5EF4-FFF2-40B4-BE49-F238E27FC236}">
                <a16:creationId xmlns:a16="http://schemas.microsoft.com/office/drawing/2014/main" id="{747D2C15-59AF-439D-9643-8842BEF5A0BF}"/>
              </a:ext>
            </a:extLst>
          </p:cNvPr>
          <p:cNvSpPr>
            <a:spLocks xmlns:a="http://schemas.openxmlformats.org/drawingml/2006/main" noGrp="1"/>
          </p:cNvSpPr>
          <p:nvPr/>
        </p:nvSpPr>
        <p:spPr>
          <a:xfrm xmlns:a="http://schemas.openxmlformats.org/drawingml/2006/main">
            <a:off x="1371600" y="2971800"/>
            <a:ext cx="10172700" cy="9525"/>
          </a:xfrm>
          <a:prstGeom xmlns:a="http://schemas.openxmlformats.org/drawingml/2006/main" prst="rect">
            <a:avLst/>
          </a:prstGeom>
          <a:solidFill xmlns:a="http://schemas.openxmlformats.org/drawingml/2006/main">
            <a:srgbClr val="C9D0D6"/>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B1602130-693F-44B0-9EF9-1120A2674994}"/>
              </a:ext>
            </a:extLst>
          </p:cNvPr>
          <p:cNvSpPr>
            <a:spLocks xmlns:a="http://schemas.openxmlformats.org/drawingml/2006/main" noGrp="1"/>
          </p:cNvSpPr>
          <p:nvPr/>
        </p:nvSpPr>
        <p:spPr>
          <a:xfrm xmlns:a="http://schemas.openxmlformats.org/drawingml/2006/main">
            <a:off x="647700" y="327660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350" b="1">
                <a:solidFill>
                  <a:srgbClr val="D99A33"/>
                </a:solidFill>
                <a:latin typeface="Arial Unicode MS"/>
                <a:ea typeface="Arial Unicode MS"/>
                <a:cs typeface="Arial Unicode MS"/>
              </a:defRPr>
            </a:pPr>
            <a:r>
              <a:rPr sz="1350" b="1">
                <a:solidFill>
                  <a:srgbClr val="D99A33"/>
                </a:solidFill>
                <a:latin typeface="Arial Unicode MS"/>
                <a:ea typeface="Arial Unicode MS"/>
                <a:cs typeface="Arial Unicode MS"/>
              </a:rPr>
              <a:t>P1</a:t>
            </a:r>
          </a:p>
        </p:txBody>
      </p:sp>
      <p:sp>
        <p:nvSpPr>
          <p:cNvPr id="14" name="">
            <a:extLst xmlns:a="http://schemas.openxmlformats.org/drawingml/2006/main">
              <a:ext uri="{FF2B5EF4-FFF2-40B4-BE49-F238E27FC236}">
                <a16:creationId xmlns:a16="http://schemas.microsoft.com/office/drawing/2014/main" id="{D81B7BD4-9B29-47DF-8495-AAB49611DAD6}"/>
              </a:ext>
            </a:extLst>
          </p:cNvPr>
          <p:cNvSpPr>
            <a:spLocks xmlns:a="http://schemas.openxmlformats.org/drawingml/2006/main" noGrp="1"/>
          </p:cNvSpPr>
          <p:nvPr/>
        </p:nvSpPr>
        <p:spPr>
          <a:xfrm xmlns:a="http://schemas.openxmlformats.org/drawingml/2006/main">
            <a:off x="1371600" y="3257550"/>
            <a:ext cx="3238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725" b="1">
                <a:solidFill>
                  <a:srgbClr val="17232E"/>
                </a:solidFill>
                <a:latin typeface="Arial Unicode MS"/>
                <a:ea typeface="Arial Unicode MS"/>
                <a:cs typeface="Arial Unicode MS"/>
              </a:defRPr>
            </a:pPr>
            <a:r>
              <a:rPr sz="1725" b="1">
                <a:solidFill>
                  <a:srgbClr val="17232E"/>
                </a:solidFill>
                <a:latin typeface="Arial Unicode MS"/>
                <a:ea typeface="Arial Unicode MS"/>
                <a:cs typeface="Arial Unicode MS"/>
              </a:rPr>
              <a:t>隔离 LLM 增量</a:t>
            </a:r>
          </a:p>
        </p:txBody>
      </p:sp>
      <p:sp>
        <p:nvSpPr>
          <p:cNvPr id="15" name="">
            <a:extLst xmlns:a="http://schemas.openxmlformats.org/drawingml/2006/main">
              <a:ext uri="{FF2B5EF4-FFF2-40B4-BE49-F238E27FC236}">
                <a16:creationId xmlns:a16="http://schemas.microsoft.com/office/drawing/2014/main" id="{F7E2328F-3380-4DFD-9022-638D766A2AA2}"/>
              </a:ext>
            </a:extLst>
          </p:cNvPr>
          <p:cNvSpPr>
            <a:spLocks xmlns:a="http://schemas.openxmlformats.org/drawingml/2006/main" noGrp="1"/>
          </p:cNvSpPr>
          <p:nvPr/>
        </p:nvSpPr>
        <p:spPr>
          <a:xfrm xmlns:a="http://schemas.openxmlformats.org/drawingml/2006/main">
            <a:off x="4743450" y="3257550"/>
            <a:ext cx="6762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350" b="0">
                <a:solidFill>
                  <a:srgbClr val="687681"/>
                </a:solidFill>
                <a:latin typeface="Arial Unicode MS"/>
                <a:ea typeface="Arial Unicode MS"/>
                <a:cs typeface="Arial Unicode MS"/>
              </a:defRPr>
            </a:pPr>
            <a:r>
              <a:rPr sz="1350" b="0">
                <a:solidFill>
                  <a:srgbClr val="687681"/>
                </a:solidFill>
                <a:latin typeface="Arial Unicode MS"/>
                <a:ea typeface="Arial Unicode MS"/>
                <a:cs typeface="Arial Unicode MS"/>
              </a:rPr>
              <a:t>在同一 v2 执行器上比较 fixed v2、LLM hypothesis-only、matched random hypothesis。</a:t>
            </a:r>
          </a:p>
        </p:txBody>
      </p:sp>
      <p:sp>
        <p:nvSpPr>
          <p:cNvPr id="16" name="">
            <a:extLst xmlns:a="http://schemas.openxmlformats.org/drawingml/2006/main">
              <a:ext uri="{FF2B5EF4-FFF2-40B4-BE49-F238E27FC236}">
                <a16:creationId xmlns:a16="http://schemas.microsoft.com/office/drawing/2014/main" id="{B9F1C9EC-7BEA-4F97-BFB5-307D83211D54}"/>
              </a:ext>
            </a:extLst>
          </p:cNvPr>
          <p:cNvSpPr>
            <a:spLocks xmlns:a="http://schemas.openxmlformats.org/drawingml/2006/main" noGrp="1"/>
          </p:cNvSpPr>
          <p:nvPr/>
        </p:nvSpPr>
        <p:spPr>
          <a:xfrm xmlns:a="http://schemas.openxmlformats.org/drawingml/2006/main">
            <a:off x="1371600" y="3829050"/>
            <a:ext cx="10172700" cy="9525"/>
          </a:xfrm>
          <a:prstGeom xmlns:a="http://schemas.openxmlformats.org/drawingml/2006/main" prst="rect">
            <a:avLst/>
          </a:prstGeom>
          <a:solidFill xmlns:a="http://schemas.openxmlformats.org/drawingml/2006/main">
            <a:srgbClr val="C9D0D6"/>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4412FADC-6E8F-4EE9-97AF-057DCFE29B1B}"/>
              </a:ext>
            </a:extLst>
          </p:cNvPr>
          <p:cNvSpPr>
            <a:spLocks xmlns:a="http://schemas.openxmlformats.org/drawingml/2006/main" noGrp="1"/>
          </p:cNvSpPr>
          <p:nvPr/>
        </p:nvSpPr>
        <p:spPr>
          <a:xfrm xmlns:a="http://schemas.openxmlformats.org/drawingml/2006/main">
            <a:off x="647700" y="4133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350" b="1">
                <a:solidFill>
                  <a:srgbClr val="D99A33"/>
                </a:solidFill>
                <a:latin typeface="Arial Unicode MS"/>
                <a:ea typeface="Arial Unicode MS"/>
                <a:cs typeface="Arial Unicode MS"/>
              </a:defRPr>
            </a:pPr>
            <a:r>
              <a:rPr sz="1350" b="1">
                <a:solidFill>
                  <a:srgbClr val="D99A33"/>
                </a:solidFill>
                <a:latin typeface="Arial Unicode MS"/>
                <a:ea typeface="Arial Unicode MS"/>
                <a:cs typeface="Arial Unicode MS"/>
              </a:rPr>
              <a:t>P1</a:t>
            </a:r>
          </a:p>
        </p:txBody>
      </p:sp>
      <p:sp>
        <p:nvSpPr>
          <p:cNvPr id="18" name="">
            <a:extLst xmlns:a="http://schemas.openxmlformats.org/drawingml/2006/main">
              <a:ext uri="{FF2B5EF4-FFF2-40B4-BE49-F238E27FC236}">
                <a16:creationId xmlns:a16="http://schemas.microsoft.com/office/drawing/2014/main" id="{DC0B300A-1C83-401A-9587-621A23DBD42E}"/>
              </a:ext>
            </a:extLst>
          </p:cNvPr>
          <p:cNvSpPr>
            <a:spLocks xmlns:a="http://schemas.openxmlformats.org/drawingml/2006/main" noGrp="1"/>
          </p:cNvSpPr>
          <p:nvPr/>
        </p:nvSpPr>
        <p:spPr>
          <a:xfrm xmlns:a="http://schemas.openxmlformats.org/drawingml/2006/main">
            <a:off x="1371600" y="4114800"/>
            <a:ext cx="3238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725" b="1">
                <a:solidFill>
                  <a:srgbClr val="17232E"/>
                </a:solidFill>
                <a:latin typeface="Arial Unicode MS"/>
                <a:ea typeface="Arial Unicode MS"/>
                <a:cs typeface="Arial Unicode MS"/>
              </a:defRPr>
            </a:pPr>
            <a:r>
              <a:rPr sz="1725" b="1">
                <a:solidFill>
                  <a:srgbClr val="17232E"/>
                </a:solidFill>
                <a:latin typeface="Arial Unicode MS"/>
                <a:ea typeface="Arial Unicode MS"/>
                <a:cs typeface="Arial Unicode MS"/>
              </a:rPr>
              <a:t>验证 skill accumulation</a:t>
            </a:r>
          </a:p>
        </p:txBody>
      </p:sp>
      <p:sp>
        <p:nvSpPr>
          <p:cNvPr id="19" name="">
            <a:extLst xmlns:a="http://schemas.openxmlformats.org/drawingml/2006/main">
              <a:ext uri="{FF2B5EF4-FFF2-40B4-BE49-F238E27FC236}">
                <a16:creationId xmlns:a16="http://schemas.microsoft.com/office/drawing/2014/main" id="{1942F77C-24E3-40DE-B5AD-69FA8D65A4D9}"/>
              </a:ext>
            </a:extLst>
          </p:cNvPr>
          <p:cNvSpPr>
            <a:spLocks xmlns:a="http://schemas.openxmlformats.org/drawingml/2006/main" noGrp="1"/>
          </p:cNvSpPr>
          <p:nvPr/>
        </p:nvSpPr>
        <p:spPr>
          <a:xfrm xmlns:a="http://schemas.openxmlformats.org/drawingml/2006/main">
            <a:off x="4743450" y="4114800"/>
            <a:ext cx="6762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350" b="0">
                <a:solidFill>
                  <a:srgbClr val="687681"/>
                </a:solidFill>
                <a:latin typeface="Arial Unicode MS"/>
                <a:ea typeface="Arial Unicode MS"/>
                <a:cs typeface="Arial Unicode MS"/>
              </a:defRPr>
            </a:pPr>
            <a:r>
              <a:rPr sz="1350" b="0">
                <a:solidFill>
                  <a:srgbClr val="687681"/>
                </a:solidFill>
                <a:latin typeface="Arial Unicode MS"/>
                <a:ea typeface="Arial Unicode MS"/>
                <a:cs typeface="Arial Unicode MS"/>
              </a:rPr>
              <a:t>completed target 进入 SkillBank，研究连续任务中的更新、复用和 abstention。</a:t>
            </a:r>
          </a:p>
        </p:txBody>
      </p:sp>
      <p:sp>
        <p:nvSpPr>
          <p:cNvPr id="20" name="">
            <a:extLst xmlns:a="http://schemas.openxmlformats.org/drawingml/2006/main">
              <a:ext uri="{FF2B5EF4-FFF2-40B4-BE49-F238E27FC236}">
                <a16:creationId xmlns:a16="http://schemas.microsoft.com/office/drawing/2014/main" id="{2AA038A5-B85E-4CE0-A529-B423B909EC1E}"/>
              </a:ext>
            </a:extLst>
          </p:cNvPr>
          <p:cNvSpPr>
            <a:spLocks xmlns:a="http://schemas.openxmlformats.org/drawingml/2006/main" noGrp="1"/>
          </p:cNvSpPr>
          <p:nvPr/>
        </p:nvSpPr>
        <p:spPr>
          <a:xfrm xmlns:a="http://schemas.openxmlformats.org/drawingml/2006/main">
            <a:off x="1371600" y="4686300"/>
            <a:ext cx="10172700" cy="9525"/>
          </a:xfrm>
          <a:prstGeom xmlns:a="http://schemas.openxmlformats.org/drawingml/2006/main" prst="rect">
            <a:avLst/>
          </a:prstGeom>
          <a:solidFill xmlns:a="http://schemas.openxmlformats.org/drawingml/2006/main">
            <a:srgbClr val="C9D0D6"/>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408C1AF7-2183-4918-AF54-7EDA7D5E7525}"/>
              </a:ext>
            </a:extLst>
          </p:cNvPr>
          <p:cNvSpPr>
            <a:spLocks xmlns:a="http://schemas.openxmlformats.org/drawingml/2006/main" noGrp="1"/>
          </p:cNvSpPr>
          <p:nvPr/>
        </p:nvSpPr>
        <p:spPr>
          <a:xfrm xmlns:a="http://schemas.openxmlformats.org/drawingml/2006/main">
            <a:off x="647700" y="499110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350" b="1">
                <a:solidFill>
                  <a:srgbClr val="2F6FB6"/>
                </a:solidFill>
                <a:latin typeface="Arial Unicode MS"/>
                <a:ea typeface="Arial Unicode MS"/>
                <a:cs typeface="Arial Unicode MS"/>
              </a:defRPr>
            </a:pPr>
            <a:r>
              <a:rPr sz="1350" b="1">
                <a:solidFill>
                  <a:srgbClr val="2F6FB6"/>
                </a:solidFill>
                <a:latin typeface="Arial Unicode MS"/>
                <a:ea typeface="Arial Unicode MS"/>
                <a:cs typeface="Arial Unicode MS"/>
              </a:rPr>
              <a:t>P2</a:t>
            </a:r>
          </a:p>
        </p:txBody>
      </p:sp>
      <p:sp>
        <p:nvSpPr>
          <p:cNvPr id="22" name="">
            <a:extLst xmlns:a="http://schemas.openxmlformats.org/drawingml/2006/main">
              <a:ext uri="{FF2B5EF4-FFF2-40B4-BE49-F238E27FC236}">
                <a16:creationId xmlns:a16="http://schemas.microsoft.com/office/drawing/2014/main" id="{BEC89D97-975C-4152-BF18-3D623BB3FF7F}"/>
              </a:ext>
            </a:extLst>
          </p:cNvPr>
          <p:cNvSpPr>
            <a:spLocks xmlns:a="http://schemas.openxmlformats.org/drawingml/2006/main" noGrp="1"/>
          </p:cNvSpPr>
          <p:nvPr/>
        </p:nvSpPr>
        <p:spPr>
          <a:xfrm xmlns:a="http://schemas.openxmlformats.org/drawingml/2006/main">
            <a:off x="1371600" y="4972050"/>
            <a:ext cx="3238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725" b="1">
                <a:solidFill>
                  <a:srgbClr val="17232E"/>
                </a:solidFill>
                <a:latin typeface="Arial Unicode MS"/>
                <a:ea typeface="Arial Unicode MS"/>
                <a:cs typeface="Arial Unicode MS"/>
              </a:defRPr>
            </a:pPr>
            <a:r>
              <a:rPr sz="1725" b="1">
                <a:solidFill>
                  <a:srgbClr val="17232E"/>
                </a:solidFill>
                <a:latin typeface="Arial Unicode MS"/>
                <a:ea typeface="Arial Unicode MS"/>
                <a:cs typeface="Arial Unicode MS"/>
              </a:rPr>
              <a:t>扩展相邻领域</a:t>
            </a:r>
          </a:p>
        </p:txBody>
      </p:sp>
      <p:sp>
        <p:nvSpPr>
          <p:cNvPr id="23" name="">
            <a:extLst xmlns:a="http://schemas.openxmlformats.org/drawingml/2006/main">
              <a:ext uri="{FF2B5EF4-FFF2-40B4-BE49-F238E27FC236}">
                <a16:creationId xmlns:a16="http://schemas.microsoft.com/office/drawing/2014/main" id="{369A71F8-971C-49E9-890B-3253547EF8AE}"/>
              </a:ext>
            </a:extLst>
          </p:cNvPr>
          <p:cNvSpPr>
            <a:spLocks xmlns:a="http://schemas.openxmlformats.org/drawingml/2006/main" noGrp="1"/>
          </p:cNvSpPr>
          <p:nvPr/>
        </p:nvSpPr>
        <p:spPr>
          <a:xfrm xmlns:a="http://schemas.openxmlformats.org/drawingml/2006/main">
            <a:off x="4743450" y="4972050"/>
            <a:ext cx="6762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350" b="0">
                <a:solidFill>
                  <a:srgbClr val="687681"/>
                </a:solidFill>
                <a:latin typeface="Arial Unicode MS"/>
                <a:ea typeface="Arial Unicode MS"/>
                <a:cs typeface="Arial Unicode MS"/>
              </a:defRPr>
            </a:pPr>
            <a:r>
              <a:rPr sz="1350" b="0">
                <a:solidFill>
                  <a:srgbClr val="687681"/>
                </a:solidFill>
                <a:latin typeface="Arial Unicode MS"/>
                <a:ea typeface="Arial Unicode MS"/>
                <a:cs typeface="Arial Unicode MS"/>
              </a:rPr>
              <a:t>优先 reaction→reaction、molecule→molecule、materials→materials，再进入远距离迁移。</a:t>
            </a:r>
          </a:p>
        </p:txBody>
      </p:sp>
      <p:sp>
        <p:nvSpPr>
          <p:cNvPr id="24" name="">
            <a:extLst xmlns:a="http://schemas.openxmlformats.org/drawingml/2006/main">
              <a:ext uri="{FF2B5EF4-FFF2-40B4-BE49-F238E27FC236}">
                <a16:creationId xmlns:a16="http://schemas.microsoft.com/office/drawing/2014/main" id="{E5F26420-90EE-4202-9AD4-944AB9DCEFD7}"/>
              </a:ext>
            </a:extLst>
          </p:cNvPr>
          <p:cNvSpPr>
            <a:spLocks xmlns:a="http://schemas.openxmlformats.org/drawingml/2006/main" noGrp="1"/>
          </p:cNvSpPr>
          <p:nvPr/>
        </p:nvSpPr>
        <p:spPr>
          <a:xfrm xmlns:a="http://schemas.openxmlformats.org/drawingml/2006/main">
            <a:off x="1371600" y="5543550"/>
            <a:ext cx="10172700" cy="9525"/>
          </a:xfrm>
          <a:prstGeom xmlns:a="http://schemas.openxmlformats.org/drawingml/2006/main" prst="rect">
            <a:avLst/>
          </a:prstGeom>
          <a:solidFill xmlns:a="http://schemas.openxmlformats.org/drawingml/2006/main">
            <a:srgbClr val="C9D0D6"/>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F9432C87-26D5-472F-A8C3-E8925CC4602D}"/>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frozen evidence update · 2026-08-12</a:t>
            </a:r>
          </a:p>
        </p:txBody>
      </p:sp>
    </p:spTree>
    <p:extLst>
      <p:ext uri="{BB962C8B-B14F-4D97-AF65-F5344CB8AC3E}">
        <p14:creationId xmlns:p14="http://schemas.microsoft.com/office/powerpoint/2010/main" val="1622014521"/>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8E2E0B27-7CC2-4A84-9C83-7B53B764DC2F}"/>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APPENDIX · INTERPRETATION</a:t>
            </a:r>
          </a:p>
        </p:txBody>
      </p:sp>
      <p:sp>
        <p:nvSpPr>
          <p:cNvPr id="2" name="">
            <a:extLst xmlns:a="http://schemas.openxmlformats.org/drawingml/2006/main">
              <a:ext uri="{FF2B5EF4-FFF2-40B4-BE49-F238E27FC236}">
                <a16:creationId xmlns:a16="http://schemas.microsoft.com/office/drawing/2014/main" id="{A116716A-9ABA-4C87-A5AD-AD8B43CCE41D}"/>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30</a:t>
            </a:r>
          </a:p>
        </p:txBody>
      </p:sp>
      <p:sp>
        <p:nvSpPr>
          <p:cNvPr id="3" name="">
            <a:extLst xmlns:a="http://schemas.openxmlformats.org/drawingml/2006/main">
              <a:ext uri="{FF2B5EF4-FFF2-40B4-BE49-F238E27FC236}">
                <a16:creationId xmlns:a16="http://schemas.microsoft.com/office/drawing/2014/main" id="{7402655C-7536-4759-AC68-C955E637E078}"/>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700" b="1">
                <a:solidFill>
                  <a:srgbClr val="17232E"/>
                </a:solidFill>
                <a:latin typeface="Arial Unicode MS"/>
                <a:ea typeface="Arial Unicode MS"/>
                <a:cs typeface="Arial Unicode MS"/>
              </a:defRPr>
            </a:pPr>
            <a:r>
              <a:rPr sz="2700" b="1">
                <a:solidFill>
                  <a:srgbClr val="17232E"/>
                </a:solidFill>
                <a:latin typeface="Arial Unicode MS"/>
                <a:ea typeface="Arial Unicode MS"/>
                <a:cs typeface="Arial Unicode MS"/>
              </a:rPr>
              <a:t>四个问题决定我们能把结论说到哪一步</a:t>
            </a:r>
          </a:p>
        </p:txBody>
      </p:sp>
      <p:sp>
        <p:nvSpPr>
          <p:cNvPr id="4" name="">
            <a:extLst xmlns:a="http://schemas.openxmlformats.org/drawingml/2006/main">
              <a:ext uri="{FF2B5EF4-FFF2-40B4-BE49-F238E27FC236}">
                <a16:creationId xmlns:a16="http://schemas.microsoft.com/office/drawing/2014/main" id="{54E3DAE4-4A28-4BB9-9736-87BEBDEFA013}"/>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600AA72-E77D-4722-A504-A819FC03A61A}"/>
              </a:ext>
            </a:extLst>
          </p:cNvPr>
          <p:cNvSpPr>
            <a:spLocks xmlns:a="http://schemas.openxmlformats.org/drawingml/2006/main" noGrp="1"/>
          </p:cNvSpPr>
          <p:nvPr/>
        </p:nvSpPr>
        <p:spPr>
          <a:xfrm xmlns:a="http://schemas.openxmlformats.org/drawingml/2006/main">
            <a:off x="647700" y="1600200"/>
            <a:ext cx="495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500" b="1">
                <a:solidFill>
                  <a:srgbClr val="2F6FB6"/>
                </a:solidFill>
                <a:latin typeface="Arial Unicode MS"/>
                <a:ea typeface="Arial Unicode MS"/>
                <a:cs typeface="Arial Unicode MS"/>
              </a:defRPr>
            </a:pPr>
            <a:r>
              <a:rPr sz="1500" b="1">
                <a:solidFill>
                  <a:srgbClr val="2F6FB6"/>
                </a:solidFill>
                <a:latin typeface="Arial Unicode MS"/>
                <a:ea typeface="Arial Unicode MS"/>
                <a:cs typeface="Arial Unicode MS"/>
              </a:rPr>
              <a:t>Q1</a:t>
            </a:r>
          </a:p>
        </p:txBody>
      </p:sp>
      <p:sp>
        <p:nvSpPr>
          <p:cNvPr id="6" name="">
            <a:extLst xmlns:a="http://schemas.openxmlformats.org/drawingml/2006/main">
              <a:ext uri="{FF2B5EF4-FFF2-40B4-BE49-F238E27FC236}">
                <a16:creationId xmlns:a16="http://schemas.microsoft.com/office/drawing/2014/main" id="{45464281-8A6A-464A-9AB3-2F35EDCFDB9A}"/>
              </a:ext>
            </a:extLst>
          </p:cNvPr>
          <p:cNvSpPr>
            <a:spLocks xmlns:a="http://schemas.openxmlformats.org/drawingml/2006/main" noGrp="1"/>
          </p:cNvSpPr>
          <p:nvPr/>
        </p:nvSpPr>
        <p:spPr>
          <a:xfrm xmlns:a="http://schemas.openxmlformats.org/drawingml/2006/main">
            <a:off x="1295400" y="1581150"/>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650" b="1">
                <a:solidFill>
                  <a:srgbClr val="17232E"/>
                </a:solidFill>
                <a:latin typeface="Arial Unicode MS"/>
                <a:ea typeface="Arial Unicode MS"/>
                <a:cs typeface="Arial Unicode MS"/>
              </a:defRPr>
            </a:pPr>
            <a:r>
              <a:rPr sz="1650" b="1">
                <a:solidFill>
                  <a:srgbClr val="17232E"/>
                </a:solidFill>
                <a:latin typeface="Arial Unicode MS"/>
                <a:ea typeface="Arial Unicode MS"/>
                <a:cs typeface="Arial Unicode MS"/>
              </a:rPr>
              <a:t>这是不是挑了三个好 seed？</a:t>
            </a:r>
          </a:p>
        </p:txBody>
      </p:sp>
      <p:sp>
        <p:nvSpPr>
          <p:cNvPr id="7" name="">
            <a:extLst xmlns:a="http://schemas.openxmlformats.org/drawingml/2006/main">
              <a:ext uri="{FF2B5EF4-FFF2-40B4-BE49-F238E27FC236}">
                <a16:creationId xmlns:a16="http://schemas.microsoft.com/office/drawing/2014/main" id="{3E875563-3FCA-4E08-A69F-D51D754AFC8E}"/>
              </a:ext>
            </a:extLst>
          </p:cNvPr>
          <p:cNvSpPr>
            <a:spLocks xmlns:a="http://schemas.openxmlformats.org/drawingml/2006/main" noGrp="1"/>
          </p:cNvSpPr>
          <p:nvPr/>
        </p:nvSpPr>
        <p:spPr>
          <a:xfrm xmlns:a="http://schemas.openxmlformats.org/drawingml/2006/main">
            <a:off x="5600700" y="1581150"/>
            <a:ext cx="6096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350" b="0">
                <a:solidFill>
                  <a:srgbClr val="687681"/>
                </a:solidFill>
                <a:latin typeface="Arial Unicode MS"/>
                <a:ea typeface="Arial Unicode MS"/>
                <a:cs typeface="Arial Unicode MS"/>
              </a:defRPr>
            </a:pPr>
            <a:r>
              <a:rPr sz="1350" b="0">
                <a:solidFill>
                  <a:srgbClr val="687681"/>
                </a:solidFill>
                <a:latin typeface="Arial Unicode MS"/>
                <a:ea typeface="Arial Unicode MS"/>
                <a:cs typeface="Arial Unicode MS"/>
              </a:rPr>
              <a:t>不是。前三个点是冻结算法输出的初始实验；external target 在冻结前没有读取 outcome。</a:t>
            </a:r>
          </a:p>
        </p:txBody>
      </p:sp>
      <p:sp>
        <p:nvSpPr>
          <p:cNvPr id="8" name="">
            <a:extLst xmlns:a="http://schemas.openxmlformats.org/drawingml/2006/main">
              <a:ext uri="{FF2B5EF4-FFF2-40B4-BE49-F238E27FC236}">
                <a16:creationId xmlns:a16="http://schemas.microsoft.com/office/drawing/2014/main" id="{8B09052F-315E-46AD-9540-DE83C61F2492}"/>
              </a:ext>
            </a:extLst>
          </p:cNvPr>
          <p:cNvSpPr>
            <a:spLocks xmlns:a="http://schemas.openxmlformats.org/drawingml/2006/main" noGrp="1"/>
          </p:cNvSpPr>
          <p:nvPr/>
        </p:nvSpPr>
        <p:spPr>
          <a:xfrm xmlns:a="http://schemas.openxmlformats.org/drawingml/2006/main">
            <a:off x="1295400" y="2324100"/>
            <a:ext cx="10248900" cy="9525"/>
          </a:xfrm>
          <a:prstGeom xmlns:a="http://schemas.openxmlformats.org/drawingml/2006/main" prst="rect">
            <a:avLst/>
          </a:prstGeom>
          <a:solidFill xmlns:a="http://schemas.openxmlformats.org/drawingml/2006/main">
            <a:srgbClr val="C9D0D6"/>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E00122AB-6571-4B52-BA92-8452780921A4}"/>
              </a:ext>
            </a:extLst>
          </p:cNvPr>
          <p:cNvSpPr>
            <a:spLocks xmlns:a="http://schemas.openxmlformats.org/drawingml/2006/main" noGrp="1"/>
          </p:cNvSpPr>
          <p:nvPr/>
        </p:nvSpPr>
        <p:spPr>
          <a:xfrm xmlns:a="http://schemas.openxmlformats.org/drawingml/2006/main">
            <a:off x="647700" y="2667000"/>
            <a:ext cx="495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500" b="1">
                <a:solidFill>
                  <a:srgbClr val="2F6FB6"/>
                </a:solidFill>
                <a:latin typeface="Arial Unicode MS"/>
                <a:ea typeface="Arial Unicode MS"/>
                <a:cs typeface="Arial Unicode MS"/>
              </a:defRPr>
            </a:pPr>
            <a:r>
              <a:rPr sz="1500" b="1">
                <a:solidFill>
                  <a:srgbClr val="2F6FB6"/>
                </a:solidFill>
                <a:latin typeface="Arial Unicode MS"/>
                <a:ea typeface="Arial Unicode MS"/>
                <a:cs typeface="Arial Unicode MS"/>
              </a:rPr>
              <a:t>Q2</a:t>
            </a:r>
          </a:p>
        </p:txBody>
      </p:sp>
      <p:sp>
        <p:nvSpPr>
          <p:cNvPr id="10" name="">
            <a:extLst xmlns:a="http://schemas.openxmlformats.org/drawingml/2006/main">
              <a:ext uri="{FF2B5EF4-FFF2-40B4-BE49-F238E27FC236}">
                <a16:creationId xmlns:a16="http://schemas.microsoft.com/office/drawing/2014/main" id="{E90D1861-1EC1-406E-A4D5-F47E4711E882}"/>
              </a:ext>
            </a:extLst>
          </p:cNvPr>
          <p:cNvSpPr>
            <a:spLocks xmlns:a="http://schemas.openxmlformats.org/drawingml/2006/main" noGrp="1"/>
          </p:cNvSpPr>
          <p:nvPr/>
        </p:nvSpPr>
        <p:spPr>
          <a:xfrm xmlns:a="http://schemas.openxmlformats.org/drawingml/2006/main">
            <a:off x="1295400" y="2647950"/>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650" b="1">
                <a:solidFill>
                  <a:srgbClr val="17232E"/>
                </a:solidFill>
                <a:latin typeface="Arial Unicode MS"/>
                <a:ea typeface="Arial Unicode MS"/>
                <a:cs typeface="Arial Unicode MS"/>
              </a:defRPr>
            </a:pPr>
            <a:r>
              <a:rPr sz="1650" b="1">
                <a:solidFill>
                  <a:srgbClr val="17232E"/>
                </a:solidFill>
                <a:latin typeface="Arial Unicode MS"/>
                <a:ea typeface="Arial Unicode MS"/>
                <a:cs typeface="Arial Unicode MS"/>
              </a:rPr>
              <a:t>为什么不持续使用 source prior？</a:t>
            </a:r>
          </a:p>
        </p:txBody>
      </p:sp>
      <p:sp>
        <p:nvSpPr>
          <p:cNvPr id="11" name="">
            <a:extLst xmlns:a="http://schemas.openxmlformats.org/drawingml/2006/main">
              <a:ext uri="{FF2B5EF4-FFF2-40B4-BE49-F238E27FC236}">
                <a16:creationId xmlns:a16="http://schemas.microsoft.com/office/drawing/2014/main" id="{AD3DE315-AC0D-4E71-9864-C5956B403D59}"/>
              </a:ext>
            </a:extLst>
          </p:cNvPr>
          <p:cNvSpPr>
            <a:spLocks xmlns:a="http://schemas.openxmlformats.org/drawingml/2006/main" noGrp="1"/>
          </p:cNvSpPr>
          <p:nvPr/>
        </p:nvSpPr>
        <p:spPr>
          <a:xfrm xmlns:a="http://schemas.openxmlformats.org/drawingml/2006/main">
            <a:off x="5600700" y="2647950"/>
            <a:ext cx="6096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350" b="0">
                <a:solidFill>
                  <a:srgbClr val="687681"/>
                </a:solidFill>
                <a:latin typeface="Arial Unicode MS"/>
                <a:ea typeface="Arial Unicode MS"/>
                <a:cs typeface="Arial Unicode MS"/>
              </a:defRPr>
            </a:pPr>
            <a:r>
              <a:rPr sz="1350" b="0">
                <a:solidFill>
                  <a:srgbClr val="687681"/>
                </a:solidFill>
                <a:latin typeface="Arial Unicode MS"/>
                <a:ea typeface="Arial Unicode MS"/>
                <a:cs typeface="Arial Unicode MS"/>
              </a:rPr>
              <a:t>当前先隔离 initial-design contribution；持续 prior 需要与 warm-start-only 单独比较。</a:t>
            </a:r>
          </a:p>
        </p:txBody>
      </p:sp>
      <p:sp>
        <p:nvSpPr>
          <p:cNvPr id="12" name="">
            <a:extLst xmlns:a="http://schemas.openxmlformats.org/drawingml/2006/main">
              <a:ext uri="{FF2B5EF4-FFF2-40B4-BE49-F238E27FC236}">
                <a16:creationId xmlns:a16="http://schemas.microsoft.com/office/drawing/2014/main" id="{F5A13D3E-5890-4A76-960C-AF40E45466CC}"/>
              </a:ext>
            </a:extLst>
          </p:cNvPr>
          <p:cNvSpPr>
            <a:spLocks xmlns:a="http://schemas.openxmlformats.org/drawingml/2006/main" noGrp="1"/>
          </p:cNvSpPr>
          <p:nvPr/>
        </p:nvSpPr>
        <p:spPr>
          <a:xfrm xmlns:a="http://schemas.openxmlformats.org/drawingml/2006/main">
            <a:off x="1295400" y="3390900"/>
            <a:ext cx="10248900" cy="9525"/>
          </a:xfrm>
          <a:prstGeom xmlns:a="http://schemas.openxmlformats.org/drawingml/2006/main" prst="rect">
            <a:avLst/>
          </a:prstGeom>
          <a:solidFill xmlns:a="http://schemas.openxmlformats.org/drawingml/2006/main">
            <a:srgbClr val="C9D0D6"/>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2D369D4C-ACAF-4C87-BF8E-92B7ACD3831D}"/>
              </a:ext>
            </a:extLst>
          </p:cNvPr>
          <p:cNvSpPr>
            <a:spLocks xmlns:a="http://schemas.openxmlformats.org/drawingml/2006/main" noGrp="1"/>
          </p:cNvSpPr>
          <p:nvPr/>
        </p:nvSpPr>
        <p:spPr>
          <a:xfrm xmlns:a="http://schemas.openxmlformats.org/drawingml/2006/main">
            <a:off x="647700" y="3733800"/>
            <a:ext cx="495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500" b="1">
                <a:solidFill>
                  <a:srgbClr val="2F6FB6"/>
                </a:solidFill>
                <a:latin typeface="Arial Unicode MS"/>
                <a:ea typeface="Arial Unicode MS"/>
                <a:cs typeface="Arial Unicode MS"/>
              </a:defRPr>
            </a:pPr>
            <a:r>
              <a:rPr sz="1500" b="1">
                <a:solidFill>
                  <a:srgbClr val="2F6FB6"/>
                </a:solidFill>
                <a:latin typeface="Arial Unicode MS"/>
                <a:ea typeface="Arial Unicode MS"/>
                <a:cs typeface="Arial Unicode MS"/>
              </a:rPr>
              <a:t>Q3</a:t>
            </a:r>
          </a:p>
        </p:txBody>
      </p:sp>
      <p:sp>
        <p:nvSpPr>
          <p:cNvPr id="14" name="">
            <a:extLst xmlns:a="http://schemas.openxmlformats.org/drawingml/2006/main">
              <a:ext uri="{FF2B5EF4-FFF2-40B4-BE49-F238E27FC236}">
                <a16:creationId xmlns:a16="http://schemas.microsoft.com/office/drawing/2014/main" id="{C5553307-89A6-4620-BC68-19B0986CB620}"/>
              </a:ext>
            </a:extLst>
          </p:cNvPr>
          <p:cNvSpPr>
            <a:spLocks xmlns:a="http://schemas.openxmlformats.org/drawingml/2006/main" noGrp="1"/>
          </p:cNvSpPr>
          <p:nvPr/>
        </p:nvSpPr>
        <p:spPr>
          <a:xfrm xmlns:a="http://schemas.openxmlformats.org/drawingml/2006/main">
            <a:off x="1295400" y="3714750"/>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650" b="1">
                <a:solidFill>
                  <a:srgbClr val="17232E"/>
                </a:solidFill>
                <a:latin typeface="Arial Unicode MS"/>
                <a:ea typeface="Arial Unicode MS"/>
                <a:cs typeface="Arial Unicode MS"/>
              </a:defRPr>
            </a:pPr>
            <a:r>
              <a:rPr sz="1650" b="1">
                <a:solidFill>
                  <a:srgbClr val="17232E"/>
                </a:solidFill>
                <a:latin typeface="Arial Unicode MS"/>
                <a:ea typeface="Arial Unicode MS"/>
                <a:cs typeface="Arial Unicode MS"/>
              </a:rPr>
              <a:t>为什么 +8.66 不直接说显著？</a:t>
            </a:r>
          </a:p>
        </p:txBody>
      </p:sp>
      <p:sp>
        <p:nvSpPr>
          <p:cNvPr id="15" name="">
            <a:extLst xmlns:a="http://schemas.openxmlformats.org/drawingml/2006/main">
              <a:ext uri="{FF2B5EF4-FFF2-40B4-BE49-F238E27FC236}">
                <a16:creationId xmlns:a16="http://schemas.microsoft.com/office/drawing/2014/main" id="{630CD8CA-4CAA-4612-AB8B-FDA3AA6B6DC7}"/>
              </a:ext>
            </a:extLst>
          </p:cNvPr>
          <p:cNvSpPr>
            <a:spLocks xmlns:a="http://schemas.openxmlformats.org/drawingml/2006/main" noGrp="1"/>
          </p:cNvSpPr>
          <p:nvPr/>
        </p:nvSpPr>
        <p:spPr>
          <a:xfrm xmlns:a="http://schemas.openxmlformats.org/drawingml/2006/main">
            <a:off x="5600700" y="3714750"/>
            <a:ext cx="6096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350" b="0">
                <a:solidFill>
                  <a:srgbClr val="687681"/>
                </a:solidFill>
                <a:latin typeface="Arial Unicode MS"/>
                <a:ea typeface="Arial Unicode MS"/>
                <a:cs typeface="Arial Unicode MS"/>
              </a:defRPr>
            </a:pPr>
            <a:r>
              <a:rPr sz="1350" b="0">
                <a:solidFill>
                  <a:srgbClr val="687681"/>
                </a:solidFill>
                <a:latin typeface="Arial Unicode MS"/>
                <a:ea typeface="Arial Unicode MS"/>
                <a:cs typeface="Arial Unicode MS"/>
              </a:rPr>
              <a:t>这是一个 target 上的大 effect；random seeds 不是独立科学任务，需要更多 external targets。</a:t>
            </a:r>
          </a:p>
        </p:txBody>
      </p:sp>
      <p:sp>
        <p:nvSpPr>
          <p:cNvPr id="16" name="">
            <a:extLst xmlns:a="http://schemas.openxmlformats.org/drawingml/2006/main">
              <a:ext uri="{FF2B5EF4-FFF2-40B4-BE49-F238E27FC236}">
                <a16:creationId xmlns:a16="http://schemas.microsoft.com/office/drawing/2014/main" id="{80500563-A4B9-408C-82C7-0614821A0886}"/>
              </a:ext>
            </a:extLst>
          </p:cNvPr>
          <p:cNvSpPr>
            <a:spLocks xmlns:a="http://schemas.openxmlformats.org/drawingml/2006/main" noGrp="1"/>
          </p:cNvSpPr>
          <p:nvPr/>
        </p:nvSpPr>
        <p:spPr>
          <a:xfrm xmlns:a="http://schemas.openxmlformats.org/drawingml/2006/main">
            <a:off x="1295400" y="4457700"/>
            <a:ext cx="10248900" cy="9525"/>
          </a:xfrm>
          <a:prstGeom xmlns:a="http://schemas.openxmlformats.org/drawingml/2006/main" prst="rect">
            <a:avLst/>
          </a:prstGeom>
          <a:solidFill xmlns:a="http://schemas.openxmlformats.org/drawingml/2006/main">
            <a:srgbClr val="C9D0D6"/>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9042ED95-FA35-456C-A7E6-BE77976D41A4}"/>
              </a:ext>
            </a:extLst>
          </p:cNvPr>
          <p:cNvSpPr>
            <a:spLocks xmlns:a="http://schemas.openxmlformats.org/drawingml/2006/main" noGrp="1"/>
          </p:cNvSpPr>
          <p:nvPr/>
        </p:nvSpPr>
        <p:spPr>
          <a:xfrm xmlns:a="http://schemas.openxmlformats.org/drawingml/2006/main">
            <a:off x="647700" y="4800600"/>
            <a:ext cx="495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500" b="1">
                <a:solidFill>
                  <a:srgbClr val="2F6FB6"/>
                </a:solidFill>
                <a:latin typeface="Arial Unicode MS"/>
                <a:ea typeface="Arial Unicode MS"/>
                <a:cs typeface="Arial Unicode MS"/>
              </a:defRPr>
            </a:pPr>
            <a:r>
              <a:rPr sz="1500" b="1">
                <a:solidFill>
                  <a:srgbClr val="2F6FB6"/>
                </a:solidFill>
                <a:latin typeface="Arial Unicode MS"/>
                <a:ea typeface="Arial Unicode MS"/>
                <a:cs typeface="Arial Unicode MS"/>
              </a:rPr>
              <a:t>Q4</a:t>
            </a:r>
          </a:p>
        </p:txBody>
      </p:sp>
      <p:sp>
        <p:nvSpPr>
          <p:cNvPr id="18" name="">
            <a:extLst xmlns:a="http://schemas.openxmlformats.org/drawingml/2006/main">
              <a:ext uri="{FF2B5EF4-FFF2-40B4-BE49-F238E27FC236}">
                <a16:creationId xmlns:a16="http://schemas.microsoft.com/office/drawing/2014/main" id="{95399F17-7F9B-4961-939A-B30D2CE2D824}"/>
              </a:ext>
            </a:extLst>
          </p:cNvPr>
          <p:cNvSpPr>
            <a:spLocks xmlns:a="http://schemas.openxmlformats.org/drawingml/2006/main" noGrp="1"/>
          </p:cNvSpPr>
          <p:nvPr/>
        </p:nvSpPr>
        <p:spPr>
          <a:xfrm xmlns:a="http://schemas.openxmlformats.org/drawingml/2006/main">
            <a:off x="1295400" y="4781550"/>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650" b="1">
                <a:solidFill>
                  <a:srgbClr val="17232E"/>
                </a:solidFill>
                <a:latin typeface="Arial Unicode MS"/>
                <a:ea typeface="Arial Unicode MS"/>
                <a:cs typeface="Arial Unicode MS"/>
              </a:defRPr>
            </a:pPr>
            <a:r>
              <a:rPr sz="1650" b="1">
                <a:solidFill>
                  <a:srgbClr val="17232E"/>
                </a:solidFill>
                <a:latin typeface="Arial Unicode MS"/>
                <a:ea typeface="Arial Unicode MS"/>
                <a:cs typeface="Arial Unicode MS"/>
              </a:rPr>
              <a:t>这算跨领域吗？</a:t>
            </a:r>
          </a:p>
        </p:txBody>
      </p:sp>
      <p:sp>
        <p:nvSpPr>
          <p:cNvPr id="19" name="">
            <a:extLst xmlns:a="http://schemas.openxmlformats.org/drawingml/2006/main">
              <a:ext uri="{FF2B5EF4-FFF2-40B4-BE49-F238E27FC236}">
                <a16:creationId xmlns:a16="http://schemas.microsoft.com/office/drawing/2014/main" id="{347CEFFC-9D2B-4D56-8549-C8919CF4FECA}"/>
              </a:ext>
            </a:extLst>
          </p:cNvPr>
          <p:cNvSpPr>
            <a:spLocks xmlns:a="http://schemas.openxmlformats.org/drawingml/2006/main" noGrp="1"/>
          </p:cNvSpPr>
          <p:nvPr/>
        </p:nvSpPr>
        <p:spPr>
          <a:xfrm xmlns:a="http://schemas.openxmlformats.org/drawingml/2006/main">
            <a:off x="5600700" y="4781550"/>
            <a:ext cx="6096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350" b="0">
                <a:solidFill>
                  <a:srgbClr val="687681"/>
                </a:solidFill>
                <a:latin typeface="Arial Unicode MS"/>
                <a:ea typeface="Arial Unicode MS"/>
                <a:cs typeface="Arial Unicode MS"/>
              </a:defRPr>
            </a:pPr>
            <a:r>
              <a:rPr sz="1350" b="0">
                <a:solidFill>
                  <a:srgbClr val="687681"/>
                </a:solidFill>
                <a:latin typeface="Arial Unicode MS"/>
                <a:ea typeface="Arial Unicode MS"/>
                <a:cs typeface="Arial Unicode MS"/>
              </a:rPr>
              <a:t>当前支持不同 reaction-optimization datasets 间迁移，不足以证明远距离跨领域。</a:t>
            </a:r>
          </a:p>
        </p:txBody>
      </p:sp>
      <p:sp>
        <p:nvSpPr>
          <p:cNvPr id="20" name="">
            <a:extLst xmlns:a="http://schemas.openxmlformats.org/drawingml/2006/main">
              <a:ext uri="{FF2B5EF4-FFF2-40B4-BE49-F238E27FC236}">
                <a16:creationId xmlns:a16="http://schemas.microsoft.com/office/drawing/2014/main" id="{DB86C844-45B1-4629-A0FE-ABC9819DB622}"/>
              </a:ext>
            </a:extLst>
          </p:cNvPr>
          <p:cNvSpPr>
            <a:spLocks xmlns:a="http://schemas.openxmlformats.org/drawingml/2006/main" noGrp="1"/>
          </p:cNvSpPr>
          <p:nvPr/>
        </p:nvSpPr>
        <p:spPr>
          <a:xfrm xmlns:a="http://schemas.openxmlformats.org/drawingml/2006/main">
            <a:off x="1295400" y="5524500"/>
            <a:ext cx="10248900" cy="9525"/>
          </a:xfrm>
          <a:prstGeom xmlns:a="http://schemas.openxmlformats.org/drawingml/2006/main" prst="rect">
            <a:avLst/>
          </a:prstGeom>
          <a:solidFill xmlns:a="http://schemas.openxmlformats.org/drawingml/2006/main">
            <a:srgbClr val="C9D0D6"/>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DDE8F6AD-D963-48A3-B0CD-B670B08A63A9}"/>
              </a:ext>
            </a:extLst>
          </p:cNvPr>
          <p:cNvSpPr>
            <a:spLocks xmlns:a="http://schemas.openxmlformats.org/drawingml/2006/main" noGrp="1"/>
          </p:cNvSpPr>
          <p:nvPr/>
        </p:nvSpPr>
        <p:spPr>
          <a:xfrm xmlns:a="http://schemas.openxmlformats.org/drawingml/2006/main">
            <a:off x="647700" y="5924550"/>
            <a:ext cx="10896600" cy="438150"/>
          </a:xfrm>
          <a:prstGeom xmlns:a="http://schemas.openxmlformats.org/drawingml/2006/main" prst="rect">
            <a:avLst/>
          </a:prstGeom>
          <a:solidFill xmlns:a="http://schemas.openxmlformats.org/drawingml/2006/main">
            <a:srgbClr val="17324D"/>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679E313E-A286-4567-B7C3-82084ACD04C4}"/>
              </a:ext>
            </a:extLst>
          </p:cNvPr>
          <p:cNvSpPr>
            <a:spLocks xmlns:a="http://schemas.openxmlformats.org/drawingml/2006/main" noGrp="1"/>
          </p:cNvSpPr>
          <p:nvPr/>
        </p:nvSpPr>
        <p:spPr>
          <a:xfrm xmlns:a="http://schemas.openxmlformats.org/drawingml/2006/main">
            <a:off x="800100" y="6029325"/>
            <a:ext cx="10591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1350" b="1">
                <a:solidFill>
                  <a:srgbClr val="FFFFFF"/>
                </a:solidFill>
                <a:latin typeface="Arial Unicode MS"/>
                <a:ea typeface="Arial Unicode MS"/>
                <a:cs typeface="Arial Unicode MS"/>
              </a:defRPr>
            </a:pPr>
            <a:r>
              <a:rPr sz="1350" b="1">
                <a:solidFill>
                  <a:srgbClr val="FFFFFF"/>
                </a:solidFill>
                <a:latin typeface="Arial Unicode MS"/>
                <a:ea typeface="Arial Unicode MS"/>
                <a:cs typeface="Arial Unicode MS"/>
              </a:rPr>
              <a:t>讨论重点：下一轮 external target、LLM hypothesis-only 对照和 Confirmation Protocol 如何冻结。</a:t>
            </a:r>
          </a:p>
        </p:txBody>
      </p:sp>
      <p:sp>
        <p:nvSpPr>
          <p:cNvPr id="23" name="">
            <a:extLst xmlns:a="http://schemas.openxmlformats.org/drawingml/2006/main">
              <a:ext uri="{FF2B5EF4-FFF2-40B4-BE49-F238E27FC236}">
                <a16:creationId xmlns:a16="http://schemas.microsoft.com/office/drawing/2014/main" id="{8919DA1E-FC7B-42BE-9E75-FEDA0E95E7BF}"/>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detailed status deck</a:t>
            </a:r>
          </a:p>
        </p:txBody>
      </p:sp>
    </p:spTree>
    <p:extLst>
      <p:ext uri="{BB962C8B-B14F-4D97-AF65-F5344CB8AC3E}">
        <p14:creationId xmlns:p14="http://schemas.microsoft.com/office/powerpoint/2010/main" val="166711646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2026-08-13T04:24:49.9330000Z</dcterms:created>
  <dcterms:modified xsi:type="dcterms:W3CDTF">2026-08-13T04:24:49.9330000Z</dcterms:modified>
</coreProperties>
</file>