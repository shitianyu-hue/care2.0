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0d849bf38c4a11" /><Relationship Type="http://schemas.openxmlformats.org/officeDocument/2006/relationships/extended-properties" Target="/docProps/app.xml" Id="Rbbf186e47d554724" /><Relationship Type="http://schemas.openxmlformats.org/officeDocument/2006/relationships/officeDocument" Target="/ppt/presentation.xml" Id="R8f40ecb151aa4d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29cfba185a40fc"/>
  </p:sldMasterIdLst>
  <p:notesMasterIdLst>
    <p:notesMasterId xmlns:r="http://schemas.openxmlformats.org/officeDocument/2006/relationships" r:id="R043608de5779426d"/>
  </p:notesMasterIdLst>
  <p:sldIdLst>
    <p:sldId xmlns:r="http://schemas.openxmlformats.org/officeDocument/2006/relationships" id="256" r:id="R8af92297f7cb46ae"/>
    <p:sldId xmlns:r="http://schemas.openxmlformats.org/officeDocument/2006/relationships" id="257" r:id="R4cb7010592fd4c93"/>
    <p:sldId xmlns:r="http://schemas.openxmlformats.org/officeDocument/2006/relationships" id="258" r:id="R257fb7d4910b4b4f"/>
    <p:sldId xmlns:r="http://schemas.openxmlformats.org/officeDocument/2006/relationships" id="259" r:id="R70d34d0ec3f8467c"/>
    <p:sldId xmlns:r="http://schemas.openxmlformats.org/officeDocument/2006/relationships" id="260" r:id="R5efaa29401fe46f6"/>
    <p:sldId xmlns:r="http://schemas.openxmlformats.org/officeDocument/2006/relationships" id="261" r:id="R8c76fffe4c1541c7"/>
    <p:sldId xmlns:r="http://schemas.openxmlformats.org/officeDocument/2006/relationships" id="262" r:id="R7d881d57d54b46c0"/>
    <p:sldId xmlns:r="http://schemas.openxmlformats.org/officeDocument/2006/relationships" id="263" r:id="Rbe3fa9ab87714d46"/>
    <p:sldId xmlns:r="http://schemas.openxmlformats.org/officeDocument/2006/relationships" id="264" r:id="R9cd4cad0403b4dd9"/>
    <p:sldId xmlns:r="http://schemas.openxmlformats.org/officeDocument/2006/relationships" id="265" r:id="R21e30dfc774a4c93"/>
    <p:sldId xmlns:r="http://schemas.openxmlformats.org/officeDocument/2006/relationships" id="266" r:id="Rb927a771c8d746b5"/>
    <p:sldId xmlns:r="http://schemas.openxmlformats.org/officeDocument/2006/relationships" id="267" r:id="R48be213db5c54107"/>
    <p:sldId xmlns:r="http://schemas.openxmlformats.org/officeDocument/2006/relationships" id="268" r:id="Ra350bfa70bd444e1"/>
    <p:sldId xmlns:r="http://schemas.openxmlformats.org/officeDocument/2006/relationships" id="269" r:id="R4e8132097b88446a"/>
    <p:sldId xmlns:r="http://schemas.openxmlformats.org/officeDocument/2006/relationships" id="270" r:id="Ra53d70c70518414e"/>
    <p:sldId xmlns:r="http://schemas.openxmlformats.org/officeDocument/2006/relationships" id="271" r:id="R2c5de1a5898a4311"/>
    <p:sldId xmlns:r="http://schemas.openxmlformats.org/officeDocument/2006/relationships" id="272" r:id="R2840009ca6b74c68"/>
    <p:sldId xmlns:r="http://schemas.openxmlformats.org/officeDocument/2006/relationships" id="273" r:id="R47f4195b82d1443b"/>
    <p:sldId xmlns:r="http://schemas.openxmlformats.org/officeDocument/2006/relationships" id="274" r:id="R122918ee7d8e42db"/>
    <p:sldId xmlns:r="http://schemas.openxmlformats.org/officeDocument/2006/relationships" id="275" r:id="R020a5724db6d48a5"/>
    <p:sldId xmlns:r="http://schemas.openxmlformats.org/officeDocument/2006/relationships" id="276" r:id="Rf0172deb0fe84df5"/>
    <p:sldId xmlns:r="http://schemas.openxmlformats.org/officeDocument/2006/relationships" id="277" r:id="R85c86e2e82094bd2"/>
    <p:sldId xmlns:r="http://schemas.openxmlformats.org/officeDocument/2006/relationships" id="278" r:id="R36537302fb0e4206"/>
    <p:sldId xmlns:r="http://schemas.openxmlformats.org/officeDocument/2006/relationships" id="279" r:id="R777d21c336d94ede"/>
    <p:sldId xmlns:r="http://schemas.openxmlformats.org/officeDocument/2006/relationships" id="280" r:id="Recdf496ffbe34ca6"/>
    <p:sldId xmlns:r="http://schemas.openxmlformats.org/officeDocument/2006/relationships" id="281" r:id="Rea3be511394040c1"/>
    <p:sldId xmlns:r="http://schemas.openxmlformats.org/officeDocument/2006/relationships" id="282" r:id="Rd1cb176f3de74b8a"/>
    <p:sldId xmlns:r="http://schemas.openxmlformats.org/officeDocument/2006/relationships" id="283" r:id="Rb2ffda780c5b47df"/>
    <p:sldId xmlns:r="http://schemas.openxmlformats.org/officeDocument/2006/relationships" id="284" r:id="R9c8015c425ca4c9d"/>
    <p:sldId xmlns:r="http://schemas.openxmlformats.org/officeDocument/2006/relationships" id="285" r:id="R0f278999b29f4b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145f5aaf5b49ae" /><Relationship Type="http://schemas.openxmlformats.org/officeDocument/2006/relationships/slideMaster" Target="/ppt/slideMasters/slideMaster1.xml" Id="R7229cfba185a40fc" /><Relationship Type="http://schemas.openxmlformats.org/officeDocument/2006/relationships/notesMaster" Target="/ppt/notesMasters/notesMaster1.xml" Id="R043608de5779426d" /><Relationship Type="http://schemas.openxmlformats.org/officeDocument/2006/relationships/presProps" Target="/ppt/presProps.xml" Id="R67df8716a84449c4" /><Relationship Type="http://schemas.openxmlformats.org/officeDocument/2006/relationships/tableStyles" Target="/ppt/tableStyles.xml" Id="Rc331c3bfa5a34832" /><Relationship Type="http://schemas.openxmlformats.org/officeDocument/2006/relationships/slide" Target="/ppt/slides/slide1.xml" Id="R8af92297f7cb46ae" /><Relationship Type="http://schemas.openxmlformats.org/officeDocument/2006/relationships/slide" Target="/ppt/slides/slide2.xml" Id="R4cb7010592fd4c93" /><Relationship Type="http://schemas.openxmlformats.org/officeDocument/2006/relationships/slide" Target="/ppt/slides/slide3.xml" Id="R257fb7d4910b4b4f" /><Relationship Type="http://schemas.openxmlformats.org/officeDocument/2006/relationships/slide" Target="/ppt/slides/slide4.xml" Id="R70d34d0ec3f8467c" /><Relationship Type="http://schemas.openxmlformats.org/officeDocument/2006/relationships/slide" Target="/ppt/slides/slide5.xml" Id="R5efaa29401fe46f6" /><Relationship Type="http://schemas.openxmlformats.org/officeDocument/2006/relationships/slide" Target="/ppt/slides/slide6.xml" Id="R8c76fffe4c1541c7" /><Relationship Type="http://schemas.openxmlformats.org/officeDocument/2006/relationships/slide" Target="/ppt/slides/slide7.xml" Id="R7d881d57d54b46c0" /><Relationship Type="http://schemas.openxmlformats.org/officeDocument/2006/relationships/slide" Target="/ppt/slides/slide8.xml" Id="Rbe3fa9ab87714d46" /><Relationship Type="http://schemas.openxmlformats.org/officeDocument/2006/relationships/slide" Target="/ppt/slides/slide9.xml" Id="R9cd4cad0403b4dd9" /><Relationship Type="http://schemas.openxmlformats.org/officeDocument/2006/relationships/slide" Target="/ppt/slides/slide10.xml" Id="R21e30dfc774a4c93" /><Relationship Type="http://schemas.openxmlformats.org/officeDocument/2006/relationships/slide" Target="/ppt/slides/slide11.xml" Id="Rb927a771c8d746b5" /><Relationship Type="http://schemas.openxmlformats.org/officeDocument/2006/relationships/slide" Target="/ppt/slides/slide12.xml" Id="R48be213db5c54107" /><Relationship Type="http://schemas.openxmlformats.org/officeDocument/2006/relationships/slide" Target="/ppt/slides/slide13.xml" Id="Ra350bfa70bd444e1" /><Relationship Type="http://schemas.openxmlformats.org/officeDocument/2006/relationships/slide" Target="/ppt/slides/slide14.xml" Id="R4e8132097b88446a" /><Relationship Type="http://schemas.openxmlformats.org/officeDocument/2006/relationships/slide" Target="/ppt/slides/slide15.xml" Id="Ra53d70c70518414e" /><Relationship Type="http://schemas.openxmlformats.org/officeDocument/2006/relationships/slide" Target="/ppt/slides/slide16.xml" Id="R2c5de1a5898a4311" /><Relationship Type="http://schemas.openxmlformats.org/officeDocument/2006/relationships/slide" Target="/ppt/slides/slide17.xml" Id="R2840009ca6b74c68" /><Relationship Type="http://schemas.openxmlformats.org/officeDocument/2006/relationships/slide" Target="/ppt/slides/slide18.xml" Id="R47f4195b82d1443b" /><Relationship Type="http://schemas.openxmlformats.org/officeDocument/2006/relationships/slide" Target="/ppt/slides/slide19.xml" Id="R122918ee7d8e42db" /><Relationship Type="http://schemas.openxmlformats.org/officeDocument/2006/relationships/slide" Target="/ppt/slides/slide20.xml" Id="R020a5724db6d48a5" /><Relationship Type="http://schemas.openxmlformats.org/officeDocument/2006/relationships/slide" Target="/ppt/slides/slide21.xml" Id="Rf0172deb0fe84df5" /><Relationship Type="http://schemas.openxmlformats.org/officeDocument/2006/relationships/slide" Target="/ppt/slides/slide22.xml" Id="R85c86e2e82094bd2" /><Relationship Type="http://schemas.openxmlformats.org/officeDocument/2006/relationships/slide" Target="/ppt/slides/slide23.xml" Id="R36537302fb0e4206" /><Relationship Type="http://schemas.openxmlformats.org/officeDocument/2006/relationships/slide" Target="/ppt/slides/slide24.xml" Id="R777d21c336d94ede" /><Relationship Type="http://schemas.openxmlformats.org/officeDocument/2006/relationships/slide" Target="/ppt/slides/slide25.xml" Id="Recdf496ffbe34ca6" /><Relationship Type="http://schemas.openxmlformats.org/officeDocument/2006/relationships/slide" Target="/ppt/slides/slide26.xml" Id="Rea3be511394040c1" /><Relationship Type="http://schemas.openxmlformats.org/officeDocument/2006/relationships/slide" Target="/ppt/slides/slide27.xml" Id="Rd1cb176f3de74b8a" /><Relationship Type="http://schemas.openxmlformats.org/officeDocument/2006/relationships/slide" Target="/ppt/slides/slide28.xml" Id="Rb2ffda780c5b47df" /><Relationship Type="http://schemas.openxmlformats.org/officeDocument/2006/relationships/slide" Target="/ppt/slides/slide29.xml" Id="R9c8015c425ca4c9d" /><Relationship Type="http://schemas.openxmlformats.org/officeDocument/2006/relationships/slide" Target="/ppt/slides/slide30.xml" Id="R0f278999b29f4b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84b19ab87b42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9fcc8db54a4162" /><Relationship Type="http://schemas.openxmlformats.org/officeDocument/2006/relationships/notesMaster" Target="/ppt/notesMasters/notesMaster1.xml" Id="R3a446b30a4474f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39f265121a4c9f" /><Relationship Type="http://schemas.openxmlformats.org/officeDocument/2006/relationships/notesMaster" Target="/ppt/notesMasters/notesMaster1.xml" Id="R20971ef083024d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07d0ba6a2b45ff" /><Relationship Type="http://schemas.openxmlformats.org/officeDocument/2006/relationships/notesMaster" Target="/ppt/notesMasters/notesMaster1.xml" Id="R35b2273fcf664b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4deadad78c436d" /><Relationship Type="http://schemas.openxmlformats.org/officeDocument/2006/relationships/notesMaster" Target="/ppt/notesMasters/notesMaster1.xml" Id="Rc02d94c22b734d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7893ec466e4348" /><Relationship Type="http://schemas.openxmlformats.org/officeDocument/2006/relationships/notesMaster" Target="/ppt/notesMasters/notesMaster1.xml" Id="R5cf0fefc8bb94f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09e0085d9a45e5" /><Relationship Type="http://schemas.openxmlformats.org/officeDocument/2006/relationships/notesMaster" Target="/ppt/notesMasters/notesMaster1.xml" Id="R17916b27e16b49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1304e52cfa40f4" /><Relationship Type="http://schemas.openxmlformats.org/officeDocument/2006/relationships/notesMaster" Target="/ppt/notesMasters/notesMaster1.xml" Id="Reb0886f82bca45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034f3c8af245ae" /><Relationship Type="http://schemas.openxmlformats.org/officeDocument/2006/relationships/notesMaster" Target="/ppt/notesMasters/notesMaster1.xml" Id="R717452efaa7f4b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8ec6a867ef4768" /><Relationship Type="http://schemas.openxmlformats.org/officeDocument/2006/relationships/notesMaster" Target="/ppt/notesMasters/notesMaster1.xml" Id="Rf57140a0242a4e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94ed583d4c4565" /><Relationship Type="http://schemas.openxmlformats.org/officeDocument/2006/relationships/notesMaster" Target="/ppt/notesMasters/notesMaster1.xml" Id="R56a50de74d654a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11f9895d854284" /><Relationship Type="http://schemas.openxmlformats.org/officeDocument/2006/relationships/notesMaster" Target="/ppt/notesMasters/notesMaster1.xml" Id="R0deca55974d549d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756db1c82a4e74" /><Relationship Type="http://schemas.openxmlformats.org/officeDocument/2006/relationships/notesMaster" Target="/ppt/notesMasters/notesMaster1.xml" Id="R1de7455d981c439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fb6d70ab19e4d65" /><Relationship Type="http://schemas.openxmlformats.org/officeDocument/2006/relationships/notesMaster" Target="/ppt/notesMasters/notesMaster1.xml" Id="R92d27fb1653340f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530b4c6234c4c43" /><Relationship Type="http://schemas.openxmlformats.org/officeDocument/2006/relationships/notesMaster" Target="/ppt/notesMasters/notesMaster1.xml" Id="Rd5bf0e3f25d748a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44256d820564bd3" /><Relationship Type="http://schemas.openxmlformats.org/officeDocument/2006/relationships/notesMaster" Target="/ppt/notesMasters/notesMaster1.xml" Id="Rebefacffef0349b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a3ab3796fc545ef" /><Relationship Type="http://schemas.openxmlformats.org/officeDocument/2006/relationships/notesMaster" Target="/ppt/notesMasters/notesMaster1.xml" Id="Recd146fd3ff1471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63dad3ed4364cf6" /><Relationship Type="http://schemas.openxmlformats.org/officeDocument/2006/relationships/notesMaster" Target="/ppt/notesMasters/notesMaster1.xml" Id="R91bddc039ec64fd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f94a5f48f994bfb" /><Relationship Type="http://schemas.openxmlformats.org/officeDocument/2006/relationships/notesMaster" Target="/ppt/notesMasters/notesMaster1.xml" Id="Rc70c30b2f0334a0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30e5f06e7ae4fdf" /><Relationship Type="http://schemas.openxmlformats.org/officeDocument/2006/relationships/notesMaster" Target="/ppt/notesMasters/notesMaster1.xml" Id="R8c11a84d583b490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eb2489c038344cc" /><Relationship Type="http://schemas.openxmlformats.org/officeDocument/2006/relationships/notesMaster" Target="/ppt/notesMasters/notesMaster1.xml" Id="R56d3e16caacc480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fd06c6d6b184f0c" /><Relationship Type="http://schemas.openxmlformats.org/officeDocument/2006/relationships/notesMaster" Target="/ppt/notesMasters/notesMaster1.xml" Id="R54e9c94e9aa04da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73da1108d8248de" /><Relationship Type="http://schemas.openxmlformats.org/officeDocument/2006/relationships/notesMaster" Target="/ppt/notesMasters/notesMaster1.xml" Id="Rdb44c34f821f404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d5990a978654a53" /><Relationship Type="http://schemas.openxmlformats.org/officeDocument/2006/relationships/notesMaster" Target="/ppt/notesMasters/notesMaster1.xml" Id="R61b1978c0779480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5d34354e1ca4b79" /><Relationship Type="http://schemas.openxmlformats.org/officeDocument/2006/relationships/notesMaster" Target="/ppt/notesMasters/notesMaster1.xml" Id="R08e2e65cf3374c3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95a5719afee40d4" /><Relationship Type="http://schemas.openxmlformats.org/officeDocument/2006/relationships/notesMaster" Target="/ppt/notesMasters/notesMaster1.xml" Id="R52df3294d14e4c7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42ae7dcfc064e54" /><Relationship Type="http://schemas.openxmlformats.org/officeDocument/2006/relationships/notesMaster" Target="/ppt/notesMasters/notesMaster1.xml" Id="R36a2b0a3ea0f494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425a93e93604810" /><Relationship Type="http://schemas.openxmlformats.org/officeDocument/2006/relationships/notesMaster" Target="/ppt/notesMasters/notesMaster1.xml" Id="R2d598636d0164c6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80ea7442eec4c62" /><Relationship Type="http://schemas.openxmlformats.org/officeDocument/2006/relationships/notesMaster" Target="/ppt/notesMasters/notesMaster1.xml" Id="Ra559ff6eb2a04fe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ea66c3ad3b542b1" /><Relationship Type="http://schemas.openxmlformats.org/officeDocument/2006/relationships/notesMaster" Target="/ppt/notesMasters/notesMaster1.xml" Id="Rbec2adb1691945a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3f1a252604841f9" /><Relationship Type="http://schemas.openxmlformats.org/officeDocument/2006/relationships/notesMaster" Target="/ppt/notesMasters/notesMaster1.xml" Id="R68d35358f1ea4b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的重点不是发明一个永远获胜的优化器，而是建立一套可以验证、拒绝和复用历史实验经验的迁移框架。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开场先把项目定位讲清楚。CARE 2.0 研究的是：过去做过的实验，能不能在一个新实验刚开始、数据很少的时候帮助我们更快选到好条件。这里的 source 是已经完成、结果已知的历史实验，target 是准备开始的新实验。我们希望把 source 中真正有用的经验整理成可执行的 Skill，再用它改变 target 的开局；如果证据不足，就拒绝迁移，回到 target-only 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右侧四个词可以按顺序解释：历史实验提供数据；系统把数据整理成可执行 Skill；Skill影响新实验的决策；新实验的成功和失败再回到知识库。最近最重要的进展，是 v1 在独立验证中失败后，我们没有隐藏失败，而是根据失败 trace 修改出 v2，并在一个冻结后才执行的外部 Suzuki target 上看到明显提升。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source=历史任务；target=新任务；Skill=带执行逻辑、适用边界和证据记录的策略包。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下一页先给出目前最重要的结果，再逐步解释这个结果是怎么得到的。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最新外部验证显示 v2 能更早找到好实验，但当前证据只有一个外部 target，而且这轮没有使用 LLM。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这一页是整份汇报的数字摘要。第一，AUC 相对更强 baseline 提高 8.66。这里的 AUC 不是分类任务里的 ROC-AUC，而是把每一轮目前找到的最好结果连成 best-so-far 曲线，再计算曲线下面积。AUC 越高，说明越早找到高质量实验，而不只是最后一轮碰巧找到好点。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第二，Frozen v2 最终找到数据集中的 100% 产率。这里的 100% 是实验产率，不是准确率，也不是置信度。第三，v2 达到 100% 只需要 5 次总观测；成功的随机初始化运行中位数需要 7 次，所以在这个 target 上相当于少做两次实验。第四，目前只有 1 个严格冻结的外部 target，因此最准确的说法是：source-outcome initial design 在这个真实反应优化任务上有实际价值。不能直接说所有领域都提升，也不能把结果归因给 LLM，因为本轮 LLM 没有参与。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AUC=搜索全过程的效率；baseline=用来比较的对照方法；Frozen=策略和参数在看 target 结果前已锁定。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有了结果后，下面回到问题定义：我们到底在优化什么。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不是普通预测任务，而是每轮只能做一个实验、做完才看到结果的序贯决策问题。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左边是算法开始前允许知道的信息：已经完成的 source experiments、target 的变量和候选条件、固定预算，以及尚未揭示的 target outcome。中间是每一轮真实发生的事：算法选择一个候选条件，只看到这个被选条件的结果，然后更新 target model，再做下一轮选择。右边是目标：在相同预算下更早找到高质量候选，同时避免因为错误迁移浪费实验。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这里与普通训练集、测试集的区别是，算法不能一次看到完整 target 表格。它必须像真实实验一样逐轮揭示 outcome。我们真正比较的是 source history 是否改变了 target 的选点顺序，以及这种改变是否让有效实验更早发生。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candidate=可选择的实验条件；outcome=实验结果，例如产率；budget=最多允许做多少次 target 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接下来需要区分不同强度的证据，避免把离线正结果和真正外部验证混为一谈。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系统跑通、多任务离线比较和冻结外部验证是三个不同等级的证据。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这张图从下到上表示证据逐渐变强。第一层是多领域 replay：它证明统一接口、指标、gate 和 audit 可以跨反应、分子、材料数据运行，也能在不适合迁移时精确回退。但这层使用 archived target outcomes 做 calibration，所以属于离线 benchmark。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第二层加入 RGPE、multi-task ICM GP 等传统 transfer BO 方法。它告诉我们经典迁移算法也会出现负迁移，没有一种方法在所有路径都可靠。第三层是最新 frozen external confirmation：策略在看外部 target outcome 之前已经冻结，然后才执行，因此最接近真实部署。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LLM 的贡献还要单独放在第四个问题里做因果对照。即使完整平台包含 LLM，也不能因为某个包含 LLM 的系统取得好结果，就默认增益来自 LLM。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offline calibration=利用历史 target 结果选择方法；external confirmation=在策略冻结后才使用新 target 结果检验。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下面说明这些更严格的协议，是如何由团队此前的质疑直接推动出来的。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/Users/rentamac/Documents/Codex/2026-05-12/CARE2.0/experiments/care_replay/results/2026-08-08-classical-transfer-confirmation/README.md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对数据泄漏、baseline、手工规则和可审计性的质疑，已经被转换成具体代码修改与实验约束。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这一页不是在列会议意见，而是在展示意见如何真正改变系统。关于开发测试边界，我们改成 campaign-level 划分，并冻结 selection record；关于 baseline 不够强，我们加入 100-seed random-initial GP-UCB、space filling、RGPE 和 ICM GP；关于规则是不是手工调得太强，我们把规则、配置、hash 和失败路径全部记录；关于结果是否可重放，我们增加 SkillBank、JSONL audit 和 SHA-256 校验。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最新 external target 最重要的作用，是回应“是不是先看了 target 结果，再决定该不该迁移”这个质疑。答案是：外部 target 的 outcome 在策略冻结前没有加载，执行记录也有对应 fingerprint。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campaign-level split=按完整实验任务划分开发与验证；selection record=冻结的选点规则和参数记录。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协议明确以后，下面看最新 v2 的实际执行链路。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  <a:p xmlns:a="http://schemas.openxmlformats.org/drawingml/2006/main">
            <a:r>
              <a:t>- /Users/rentamac/Documents/Codex/2026-05-12/CARE2.0/experiments/care_replay/results/2026-08-08-classical-transfer-confirmation/README.md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source 只负责前三个初始实验，之后所有方法都使用完全相同的 target-only GP-UCB。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从左向右讲。首先，每个历史 campaign 单独训练一个 source expert。因为不同 campaign 的 outcome 尺度不同，我们不直接拼接原始数值，而是把每个 expert 的预测转成候选排序，再用中位数形成共识。TransferSkill 根据这个共识选择三个初始实验。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关键控制在黄色分界线之后：三个初始点做完后，source 信息完全退出。随后 10 轮所有方法都运行同一个 target-only GP-UCB，只用已经揭示的 target outcomes 建模。这样，Frozen v2、随机初始化和 space filling 之间唯一的区别就是前三个点怎么选，后续优化器、预算和观测规则完全一致。因此外部结果可以归因于 source-guided initial design，而不是后续偷偷使用了不同算法。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source expert=在单个历史 campaign 上训练的模型；initial design=优化开始前先做的少量初始实验。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为了避免误解，下一页把完整 CARE 平台和这次最小验证切片分开。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已实现更多模块，但最新外部结果只验证其中最小、最容易归因的一条路径。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左侧是完整 CARE 2.0 平台：LLM 可以读取 source/target schema，生成 role mapping 和 hypothesis；系统也支持 source prior、kernel patch、online router、calibration gate 和 audit。右侧是最新 v2 外部验证：只使用真实 source outcomes 生成 quality-bounded initial design，三个点之后 source 完全退出，而且 LLM 不参与选点或打分。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这样设计不是削弱 CARE，而是为了把因果关系讲清楚。如果一开始把 LLM、kernel、router 和 source prior 全部叠上去，即使结果提高，也不知道是哪一个模块起作用。现在先钉牢 source-outcome initial design 的价值，下一步再在相同执行器上加入 LLM，直接测 LLM 的增量。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验证切片=从完整系统中抽出一个可独立检验的最小模块组合；增量=加入某模块后相对固定对照多出来的收益。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下面解释 replay harness 如何模拟真实实验节奏并防止偷看答案。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完整数据表只充当隐藏环境；算法每轮只能看到自己已经选择过的实验结果。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Replay 的做法是把已有真实数据集当作一个可以查询的实验环境，而不是把整张表交给算法。开始时 target outcomes 全部隐藏。每一轮算法选择一个 candidate，环境只揭示这个点的真实 outcome，算法据此更新模型，再选择下一点。每轮的 candidate、score、outcome 和当前 best-so-far 都进入 trace。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所有对照使用相同 candidate pool、相同初始点数量、相同 reveal budget 和相同 seeds。这里 seed 是随机数种子，用来复现实验随机性，不是提前挑选的好实验点。Replay 仍然不能替代新的 wet-lab 实验，但它能严格检查数据泄漏，并评价有限预算下哪种策略更早找到好条件。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seed=控制随机过程的编号；reveal=执行一个候选后揭示结果；trace=逐轮决策记录。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有了统一 replay 协议，下面看目前接入了哪些真实数据。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平台已覆盖反应优化、分子性质和材料性质，但真正冻结的外部正例目前只在反应优化中。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反应优化包括 ChemLex Acid-Amine、Buchwald-Hartwig HTE、Baumgartner C-N 和 Suzuki MINLP；分子性质包括 ESOL、FreeSolv 和 Lipophilicity；材料性质包括 Matbench experimental gap、dielectric 和 phonons。它们让我们可以测试不同 schema、变量类型和 outcome 尺度下的统一接口。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需要特别说明，数据集多不等于每个领域都已证明迁移成功。分子和材料结果主要来自离线 calibration suite，用于验证平台兼容性、方法选择和 fallback；目前最强的冻结外部证据只来自 Suzuki MINLP2。因此汇报时应说“平台已跨领域运行”，而不是“跨领域迁移已经全面成立”。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schema=变量字段、类型和约束的结构；Matbench/MoleculeNet=公开的材料与分子性质 benchmark 集合。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不同数据能够统一接入后，下一步是把自然语言经验变成可执行 hypothesis。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/Users/rentamac/Documents/Codex/2026-05-12/CARE2.0/overview.md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Hypothesis 只有被编译成明确的选点和停止规则，才真正进入实验。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完整平台给 hypothesis generator 的输入包括 source history、target 的变量角色、候选空间、预算以及 SkillBank 中的成功和失败案例。输出不能只是“这个 source 看起来相似”，而必须结构化为：适用哪些 source、变量如何对齐、什么条件应该优先或惩罚、允许进入什么质量区域、置信度多高，以及在什么情况下应该失败或回退。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结构化输出再被编译成 TransferSkill，用来选择 candidate。target outcome 揭示后，系统更新 evidence status：支持、反驳、暂缓或者拒绝。最新 v2 的 hypothesis 不是 LLM 生成，而是固定规则，目的是先验证从 hypothesis 到执行再到反馈的链路。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role map=source 和 target 变量的语义对应关系；operator=把 hypothesis 转成选点动作的执行算子。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下一页具体说明一个 Skill 里到底保存什么。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Skill 是一个可重放、可审计、带失败条件的策略包，而不是一句 prompt。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一个合格的 Skill 至少包含五部分。第一是任务边界：source、target、变量角色以及不能对齐的字段。第二是执行逻辑：它影响 initial design、source prior、kernel 还是 router。第三是安全机制：哪些情况应该 abstain，何时 exact fallback。第四是证据记录：在哪些开发任务和独立任务上运行，使用哪些 seeds，CI、win、non-loss 和 negative cases 是什么。第五是可复现信息：模型记录、配置、commit 和 SHA-256 fingerprint。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 SkillBank 不是文档仓库，而是可执行对象与证据的集合。Baumgartner v2 当前应该标注为“在一个外部 target 上得到支持的 candidate skill”，不能标成通用规则。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abstention=系统主动不迁移；fallback=精确回到预先定义的 target-only 方法；fingerprint=用于确认版本没有被事后修改的哈希。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下面看 v2 如何把多个 source campaign 合成一个稳健共识。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/Users/rentamac/Documents/Codex/2026-05-12/CARE2.0/skill_banks/care2-baumgartner-initial-design/SKILL.md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每个 source 单独建模，先转成相对排序，再用中位数聚合，避免量纲和异常 campaign 主导结果。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第一步，每个 source campaign 单独训练 GP，保留各自内部的变量与 outcome 关系。第二步，把每个 expert 对 target candidates 的预测转成 0 到 1 的 rank score。这样我们只比较“这个 source 更偏好哪个候选”，不直接混合不同 campaign 的产率尺度。第三步，对多个 source 的 rank 取中位数，得到 consensus prior。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中位数的意义是稳健：如果某一个历史 campaign 对某些候选给出极端高分，它不会轻易压过其他 source。这里的 prior 不是 target 的真实结果，只是多个 source 对候选顺序的共同意见。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GP=高斯过程，用少量数据给出预测均值和不确定性；rank score=候选在一个 source 预测中的相对名次。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有了共识排序以后，v2 还增加了一个关键限制：多样性不能跨出 source 支持的质量区域。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v2 先限定 source 共识的高质量区域，再在区域内部选择互补实验。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v1 的第一个点取 source 排名最高的候选，第二、第三个点主要追求距离远、覆盖广。问题是“离得远”不代表“质量仍然好”，所以多样性可能把点推入 source 自己也不看好的区域。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v2 保留第一个 source consensus 最优点，但先建立 top-50% admissible region，也就是只允许第二、第三个点从 source 排名前一半的候选中产生；然后在这个质量区域内用 maximin 选择与已选点距离最大的候选。它同时保留质量和覆盖。前三个点选完后 source prior 退出，后面仍是统一的 target-only GP-UCB。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这里的 top-50% 是当前冻结协议中的经验参数，不应称为学界通用常数，后续需要做 threshold sensitivity。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admissible region=允许选点的候选区域；maximin=选择与现有点最小距离最大的候选，用于扩大覆盖。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前三个点不同以后，后续怎么保证比较公平？下一页解释统一的 GP-UCB。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三种方法在初始点之后使用同一个优化器，因此差异只来自 initial design。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GP-UCB 每轮给每个候选计算“预测均值加探索奖励”。预测均值代表当前看起来有多好，不确定性代表这个点还有多少未知信息，beta 控制探索与利用的平衡。算法选择 UCB 分数最高的候选执行。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公平性有四条：使用相同的 target observations；相同 GP-UCB 实现；相同 10 次 reveal budget；相同 candidate pool 和未选择结果不可见。Frozen v2、random initial 和 space filling 的前三个点不同，但从第四个观测开始完全运行同一套 target-only GP-UCB。因此如果 v2 曲线更高，是因为开局把优化器带到了更有价值的区域。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UCB=预测均值加不确定性奖励；exploration=探索未知区域；exploitation=利用当前高预测区域。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下面说明我们用哪些指标评价一个策略，不只看最后一轮。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主指标看整个搜索过程，辅助指标看最终质量、胜负、负迁移和实验节省。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Primary metric 是 best-so-far AUC。每一轮记录到目前为止观察到的最好 outcome，再对整条曲线求平均或面积。它奖励“尽早找到好条件”，特别适合实验昂贵的场景。Secondary metrics 包括 final best、达到阈值所需轮数、win/non-loss、negative transfer rate 和 gate acceptance rate。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需要区分两种统计单位。对多个独立 campaign 的开发或验证结果，可以在 task level 计算置信区间；同一个 target 上的 100 个 random seeds 只描述随机初始化分布，不能当作 100 个独立科学任务。因此外部 target 的 +8.66 是很大的实际 effect，但暂时不能称为跨任务统计显著。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best-so-far=截至当前轮找到的最好结果；CI=置信区间；effect size=提升幅度本身，而非只看 p 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评价指标确定后，系统需要一个 gate 来决定哪些策略有资格被冻结。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Gate 先检查稳定性和负迁移风险，再从合格策略中选择平均收益最高者。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第一步是资格检查：开发任务上 AUC delta 的 95% CI lower bound 必须大于 0，同时 task non-loss rate 至少为 0.8。前者要求平均收益具有统计支持，后者要求不能靠少数大胜掩盖大量失败。第二步只在 eligible routes 中选择 mean AUC gain 最大的策略，CI lower bound 用作并列时的次级标准。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要诚实说明阈值来源：CI lower &gt; 0 有明确统计含义；non-loss 0.8 是本项目预先冻结的经验门槛，不是普遍公认常数。后续应对 0.7、0.8、0.9 以及 admissible region 阈值做 sensitivity analysis，确认结论不依赖单一超参数。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gate=迁移准入与路由机制；non-loss=相对 baseline 没有变差的任务比例；eligible=通过资格检查。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有了 gate 以后，还要说明我们到底与哪些强对照比较。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Frozen v2 必须同时超过随机初始化和确定性的空间覆盖，对比口径完全一致。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第一列 Frozen v2 的前三个点由 source-guided skill 选择；第二列 random-initial GP-UCB 的前三个点随机选择，并用 100 个 seeds 描述随机性；第三列 space filling 用确定性规则最大化候选空间覆盖。三者之后都运行同一个 target-only GP-UCB、做 10 次 reveal，而且都不能预读 target outcome。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Random baseline 不是每轮都随机。只有前三个初始点随机，后续仍然是强的 GP-UCB。Space filling 也不是弱对照，它能给 GP 一个分散且覆盖面好的初始设计。主比较对象是每个 campaign 上表现更强的 target-only baseline，而不是挑一个最弱对照。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space filling=优先覆盖参数空间的确定性初始设计；stronger baseline=在给定 target 上两种 target-only 对照中更强者。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下面先回顾 v1 为什么在开发集看起来很好。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v1 在 9 个开发 campaign 上平均正向并全部 non-loss，因此当时看起来具备冻结资格。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v1 的开发结果是 mean AUC delta +1.321，task-level 95% CI 为 [0.315, 2.326]，下界大于 0；9 个 campaign 中 7 个获胜，9 个都没有输。按照预先定义的 gate，它确实是一个合格候选，而不是随意挑出来的规则。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v1 的主要设置是优先 same-substrate source，其次 same-precatalyst，diversity weight 为 0.85，后续指标是 10 轮 target-only GP-UCB 的 best-so-far AUC。但开发任务几乎都能找到 same-substrate source，所以 fallback 场景没有得到充分检验。这是为什么开发集漂亮仍然不能代替独立验证。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win=相对 stronger baseline 提升；non-loss=提升或持平；fallback=首选迁移条件不满足时使用的备用策略。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真正的独立任务到来后，v1 的问题暴露出来。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冻结后的 v1 在 4 个独立 campaign 上平均变差，说明开发收益没有泛化。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冻结后，v1 在 4 个新的 campaign 上 mean AUC delta 为 -1.205，95% CI 为 [-2.927, 0.518]，只有 1 个获胜，虽然 4 个都没有造成极端崩溃，但 final-best delta 为 -1.61。最大失败是 Morpholine + BuBrettPhos。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原因不是后续 GP-UCB 不公平，而是新 substrate 没有 same-substrate source，只能走 same-precatalyst fallback。v1 的多样性机制又没有限制第二、第三个点必须处于 source 高质量区域，因此开局可能被带到覆盖广但质量低的位置。这里最重要的结论是：开发集平均正向不等于冻结策略能泛化。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independent campaign=未用于规则或超参数选择的新实验任务；final-best delta=预算结束时最好结果之差。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下一页展示我们如何把这个失败转化为 v2，而不是继续在测试任务上调 v1。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v2 修复的是明确的 failure mode：多样性可以扩大覆盖，但不能跨出 source 支持的质量边界。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左侧是 v1 failure trace：第一个点通常位于 source 高排名区域；第二、第三个点受 diversity 加权影响，会远离已选点，却可能进入 source 低质量区域；新 substrate 下 fallback 风险进一步放大。右侧是 v2 的对应修改：第一个点仍取 consensus 最优；建立 source top-50% admissible region；第二、第三个点只在该区域内做 maximin；旧四个验证任务仅用于 post-hoc stress，不重新计作新证据。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这一步体现 CARE 的知识沉淀方式：失败不只是一个负数，而是形成“什么条件下多样性会破坏迁移”的 negative case，并转化为新的 Skill failure condition。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post-hoc stress=看到结果后用于理解失败和压力测试，不能作为新的独立验证；failure mode=可重复描述的失败机制。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下面用整条证据链说明，哪些结果只是开发，哪个结果真正改变了结论。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只有冻结后外部正向结果能支持泛化；开发结果和 post-hoc 结果不能替代它。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从左到右看五根柱。v1 在 9 个开发任务上 +1.32，但在 4 个独立任务上变成 -1.20；这说明 v1 没有泛化。v2 在 9 个开发任务上 +1.39，说明它可以成为新的冻结候选，但仍不算外部证据。真正改变项目状态的是 v2 在外部 Suzuki MINLP2 上 AUC +8.66。最右侧旧四任务 post-hoc 约 +0.38，只能支持修复方向，不能当成新的 held-out evidence。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汇报时要强调这条逻辑：开发用来选策略，独立验证用来检验策略；独立验证失败后可以分析和修复，但旧验证集从此变成开发信息，不能反复计算成新的泛化证据。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held-out=冻结前未用于选择策略的数据；post-hoc=看过结果以后进行的分析。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接下来详细介绍真正的外部验证任务。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MINLP1 作为完整 source，MINLP2 在策略冻结前只暴露 schema，不暴露 outcome。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左侧 Baumgartner Suzuki MINLP1 是完成的 source campaign，完整 outcomes 可用于训练 source expert。右侧 MINLP2 是 frozen target，在冻结前只知道候选变量与实验预算，不加载产率结果。两者共享 precatalyst、temperature、residence time 和 loading，因此 source-target 之间有明确的变量对应与反应优化基础。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执行前冻结五类信息：代码 commit、data version、config、selection record 和 skill fingerprint。然后 target 只按 3 个初始点加 10 次 reveal 的预算运行。这个设计防止我们看过 MINLP2 的答案再修改 v2。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MINLP=混合整数非线性规划形式的反应优化数据；schema-only=只读变量结构，不读结果值。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设置说清楚以后，下一页直接看 Frozen v2 与两个 target-only baseline 的结果。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Frozen v2 的优势不只体现在最终最好值，也体现在更早进入高产率区域。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左图比较 best-so-far AUC：Frozen v2 为 98.06，space filling 为 89.40，100 次 random 的均值为 88.84。因为 space filling 是两个 target-only 对照中更强者，主结果写成相对 stronger baseline +8.66。右图比较预算结束时的 final best：v2 找到 100% 产率，space filling 为 91.82，random 平均为 94.77。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100 个 random runs 中，只有 15 个 AUC 达到或超过 v2，说明 v2 位于随机初始化分布的高端。这里要避免把 100 seeds 写成 100 个独立任务；它们只说明同一个 target 上随机初始化的波动。最稳妥的结论是“在一个外部 target 上观察到大的实际提升”。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final best=预算结束时找到的最高 outcome；random mean=同一算法更换随机初始化后的平均结果。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实际 wet-lab 最关心的是少做多少轮，下一页把曲线差异翻译成实验次数。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在 MINLP2 上，v2 达到 100% 产率所需总观测数比成功随机运行的中位数少 2 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Frozen v2 的总观测数是 5：先执行 3 个 source-guided initial points，再做 2 次 target-only GP-UCB reveal，就已经找到 100% 产率。100 个 random-initial runs 中，只有 46 个在总预算内达到 100%；这些成功运行达到 100% 的中位数是 7 次总观测。由此得到“节省 2 次 target observations”。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右侧另一个数字是 15/100：只有 15 个随机运行的全过程 AUC 不低于 v2。Space filling 在预算内甚至没有达到 95%。因此 v2 的价值不是简单多算了模型，而是在相同实验预算下把最有价值的 target 实验提前了。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总观测数包含 3 个初始点；节省 2 次是相对成功 random runs 的中位数，不是所有 random runs 的平均。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单个外部结果之外，我们还有一个更广的离线多领域 suite，但它的证据等级较低。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/Users/rentamac/Documents/Codex/2026-05-12/CARE2.0/experiments/care_replay/results/2026-08-10-baumgartner-warmstart-v2-external-confirmation/confirmation/efficiency_summary.json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离线 suite 证明平台能跨数据类型选择迁移或回退，但不能代替全新任务上的零成本决策。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表中 7 条 source-target 路径覆盖反应、分子和材料。系统在 ChemLex 到 Buchwald-Hartwig、dielectric 与 experimental gap 的双向路径、FreeSolv 到 Lipophilicity 上选择 transfer；在 phonons 到 dielectric、ESOL 到 Lipophilicity、Lipophilicity 到 FreeSolv 上选择 fallback。正数表示相对 target-only baseline 的 final-best 和 AUC 改善，0 表示精确回退后与 baseline 完全相同。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限制写在红框里：这套选择使用了 50 个 archived target calibration seeds。也就是说系统利用历史 target outcomes 判断哪条路线更适合，解决的是离线方法选择问题。它不能证明面对一个从未做过的新 wet-lab target，系统可以零成本知道该不该迁移。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exact fallback=拒绝迁移后与预先定义的 target-only baseline 完全一致；calibration seed=用于离线选方法的随机重复。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为了判断我们的 baseline 是否足够强，下一页加入传统 transfer BO。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/Users/rentamac/Documents/Codex/2026-05-12/CARE2.0/experiments/care_replay/results/2026-07-24-source-outcome-transfer/README.md</a:t>
            </a:r>
          </a:p>
          <a:p xmlns:a="http://schemas.openxmlformats.org/drawingml/2006/main">
            <a:r>
              <a:t>- /Users/rentamac/Documents/Codex/2026-05-12/CARE2.0/overview.md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RGPE、ICM 和混合路由各有优势，但没有一个固定迁移方法在所有任务都可靠。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RGPE 会根据 source 模型在 target 观测上的排序损失给不同模型加权。它在 dielectric 到 experimental gap 上非常强，但在另外多条 final-score 比较中显著变差，说明经典方法也会负迁移。Two-task ICM GP 通过多任务协方差联合建模，整体更保守，但仍不是普遍最优。Hybrid router 在 calibration 信息帮助下选择方法，AUC 在五条路径上为正，支持路由机制的价值。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必须解释深蓝框中的限制：在这五条路径里，CARE 自己的 source-transfer candidates 全部被 gate 拒绝，所以 CARE 的正向结果主要来自 target-only fallback。不能把“系统避免了负迁移”写成“CARE source transfer 全面击败传统方法”。当前平台价值是比较、路由、拒绝和审计。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RGPE=按目标任务上的排序表现给多个 GP 专家加权；ICM=用任务间协方差联合建模的多任务 GP。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下面回到 LLM：它在完整平台里做什么，以及目前为什么还不能宣称它有独立优势。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/Users/rentamac/Documents/Codex/2026-05-12/CARE2.0/experiments/care_replay/results/2026-08-08-classical-transfer-confirmation/README.md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负责提出和编译可检验的迁移假设，SkillBank 保存执行证据；最新外部增益并不来自 LLM。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完整平台中，LLM 的输入是 source/target schema、统计摘要、已有 skill 与失败案例；输出是结构化 role map、hypothesis、kernel/prior/routing patch、rationale、confidence 和 failure condition。它更像策略专家或 hypothesis compiler，而不是直接预测每个实验 outcome。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SkillBank 保存 task cards、role maps、frozen TransferSkill、正负案例、被 gate 拒绝的案例、逐轮 candidate-score-outcome trace、commit、config 和模型记录。这样一个新任务可以检索相似经验，同时也能看到经验在哪里失败。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当前结论要克制：此前确实看到过 LLM 的正向信号，但 random-rule warm start 也能提高，部分 CARE 结果与 target-only LLM 相同。最新 v2 external 完全没有使用 LLM，所以它只能证明 source-outcome initial design。下一步必须在同一 v2 executor 上做 fixed v2、LLM hypothesis-only 和 matched random hypothesis 三组对照。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hypothesis-only=LLM 只生成迁移假设，不接触 target outcome，也不改变后续优化预算；matched random=输出格式和复杂度匹配的随机假设对照。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最后两页把已成立、未成立和下一步工作明确分开。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/Users/rentamac/Documents/Codex/2026-05-12/CARE2.0/skill_banks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已经成立的是可信迁移流程和一个外部正例；尚未成立的是所有任务提升与 LLM 普遍优势。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左栏是可以明确说的：我们建立了统一、可审计的 replay harness；source-outcome initial design 在一个真实外部 Suzuki target 上有实际价值；v1 的独立失败推动了 v2 的可解释修订；最新外部 AUC 相对强 baseline 提高 8.66。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中栏是不能说的：任意跨领域稳定迁移、LLM 在多数路径优于 fixed rule、source 在优化全程持续贡献，以及单个 target 的 task-level 显著性。右栏是项目真正的定位：可信赖的科学知识迁移框架，强调强 baseline、冻结协议、负迁移审计、exact fallback，以及成功与失败共同沉淀。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一句话收束：历史实验可以形成可执行、可拒绝、可验证的 Skill，但每个泛化结论都要由冻结后的新任务来支持。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可信迁移不等于每次都迁移；能够识别不该迁移并安全回退，也是系统能力。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最后说明怎样把一个外部正例扩展成论文级泛化证据。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优先增加真正外部 target，并在统一协议下隔离 LLM 的独立增量。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P0 第一项是扩大 external targets：冻结同一个 v2 skill family，在更多未参与开发的 C-N、Suzuki 或相邻 reaction campaigns 上执行。只有多个独立 target 才能计算 task-level CI。P0 第二项是冻结统一 Confirmation Protocol，包括任务根列表、预算、primary metric、selection hash 和 skill fingerprint，防止每个结果出来后改变口径。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 是隔离 LLM：在同一个 v2 executor 上比较 fixed v2、LLM hypothesis-only 和 matched random hypothesis，所有组使用相同 source、candidate pool 和 target budget。另一个 P1 是 skill accumulation：target 完成后进入 SkillBank，检验后续任务是否能稳定复用，以及系统是否会在不合适时 abstain。P2 才是扩展领域，顺序应先 reaction 到 reaction、molecule 到 molecule、materials 到 materials，再讨论远距离迁移。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Confirmation Protocol=事先冻结任务、预算、指标和版本的确认性实验协议；skill accumulation=随着完成任务增加，SkillBank 是否带来可重复收益。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最后一页准备回答最容易被问到的四个问题。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这四个问题决定目前能把结论说到哪一步。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问题一：是不是挑了三个好 seed？不是。前三个点是冻结的算法输出，不是随机 seed；external target 在冻结前没有读取 outcome。问题二：为什么不持续使用 source prior？因为当前实验先隔离 initial-design contribution，持续 prior 需要单独与 warm-start-only 比较，否则归因不清楚。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问题三：为什么 +8.66 不直接说统计显著？因为它来自一个 target。100 个 random seeds 不是 100 个独立科学任务，只能说明该 target 上随机初始化的分布。问题四：这算跨领域吗？目前是不同 reaction-optimization datasets 之间的迁移，属于同领域或相邻任务迁移，还不足以证明化学到材料等远距离跨领域泛化。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讨论应收束到三个具体决定：下一批 external targets 是什么；LLM hypothesis-only 对照如何冻结；Confirmation Protocol 和 SkillBank 的版本规则如何确定。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最稳妥的对外表述是：CARE 2.0 已获得一个严格外部 source-outcome transfer 正例，并形成了可扩展的验证框架。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结束汇报并进入任务、协议和专家 review 的具体讨论。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2e18595fbc4c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559793df1c4150" /><Relationship Type="http://schemas.openxmlformats.org/officeDocument/2006/relationships/slideLayout" Target="/ppt/slideLayouts/slideLayout1.xml" Id="Red746546248849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746546248849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b5be2743647fc" /><Relationship Type="http://schemas.openxmlformats.org/officeDocument/2006/relationships/notesSlide" Target="/ppt/notesSlides/notesSlide1.xml" Id="R4f07300205f948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6e5c621dc4e37" /><Relationship Type="http://schemas.openxmlformats.org/officeDocument/2006/relationships/notesSlide" Target="/ppt/notesSlides/notesSlide2.xml" Id="Rfc2909f1904d4f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59587c00743e3" /><Relationship Type="http://schemas.openxmlformats.org/officeDocument/2006/relationships/notesSlide" Target="/ppt/notesSlides/notesSlide3.xml" Id="Rc9f850eff60649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a5dfd6ae5e450d" /><Relationship Type="http://schemas.openxmlformats.org/officeDocument/2006/relationships/image" Target="/ppt/media/image.png" Id="Rd36a3b36d9734a47" /><Relationship Type="http://schemas.openxmlformats.org/officeDocument/2006/relationships/notesSlide" Target="/ppt/notesSlides/notesSlide4.xml" Id="R78db209bcddd44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c69e526504899" /><Relationship Type="http://schemas.openxmlformats.org/officeDocument/2006/relationships/image" Target="/ppt/media/image2.png" Id="R4924d62bd5704009" /><Relationship Type="http://schemas.openxmlformats.org/officeDocument/2006/relationships/notesSlide" Target="/ppt/notesSlides/notesSlide5.xml" Id="R2b3605f3c8d04f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e76a116624721" /><Relationship Type="http://schemas.openxmlformats.org/officeDocument/2006/relationships/image" Target="/ppt/media/image3.png" Id="Ra7cf7f4be849400c" /><Relationship Type="http://schemas.openxmlformats.org/officeDocument/2006/relationships/notesSlide" Target="/ppt/notesSlides/notesSlide6.xml" Id="R311066ea0e594b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80afb76f24e41" /><Relationship Type="http://schemas.openxmlformats.org/officeDocument/2006/relationships/notesSlide" Target="/ppt/notesSlides/notesSlide7.xml" Id="R2816b0fbc87843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0483f329c4908" /><Relationship Type="http://schemas.openxmlformats.org/officeDocument/2006/relationships/notesSlide" Target="/ppt/notesSlides/notesSlide8.xml" Id="R9cad5a4132f44d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e940f13f748c6" /><Relationship Type="http://schemas.openxmlformats.org/officeDocument/2006/relationships/notesSlide" Target="/ppt/notesSlides/notesSlide9.xml" Id="Ra2b511a8b77c4f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847af1d90454c" /><Relationship Type="http://schemas.openxmlformats.org/officeDocument/2006/relationships/notesSlide" Target="/ppt/notesSlides/notesSlide10.xml" Id="R6699252a1c6046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cbf3da623464d" /><Relationship Type="http://schemas.openxmlformats.org/officeDocument/2006/relationships/notesSlide" Target="/ppt/notesSlides/notesSlide11.xml" Id="R7d8b8ddbefd844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ee7111d554b1c" /><Relationship Type="http://schemas.openxmlformats.org/officeDocument/2006/relationships/notesSlide" Target="/ppt/notesSlides/notesSlide12.xml" Id="Rf350e9a6f03249e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de132d1184c9a" /><Relationship Type="http://schemas.openxmlformats.org/officeDocument/2006/relationships/image" Target="/ppt/media/image4.png" Id="Ra560f0c2cc23404a" /><Relationship Type="http://schemas.openxmlformats.org/officeDocument/2006/relationships/notesSlide" Target="/ppt/notesSlides/notesSlide13.xml" Id="R73446491390b430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41d73038c421b" /><Relationship Type="http://schemas.openxmlformats.org/officeDocument/2006/relationships/notesSlide" Target="/ppt/notesSlides/notesSlide14.xml" Id="Rdbb0dc58ed8e40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84c216bbd4688" /><Relationship Type="http://schemas.openxmlformats.org/officeDocument/2006/relationships/notesSlide" Target="/ppt/notesSlides/notesSlide15.xml" Id="R7f090629bb3148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f2b03d3b84802" /><Relationship Type="http://schemas.openxmlformats.org/officeDocument/2006/relationships/notesSlide" Target="/ppt/notesSlides/notesSlide16.xml" Id="R8a5fdff70d0040d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ddc41f662044ae" /><Relationship Type="http://schemas.openxmlformats.org/officeDocument/2006/relationships/notesSlide" Target="/ppt/notesSlides/notesSlide17.xml" Id="R21ccc03ab11c417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1c4b4715934f35" /><Relationship Type="http://schemas.openxmlformats.org/officeDocument/2006/relationships/notesSlide" Target="/ppt/notesSlides/notesSlide18.xml" Id="R2ac1932703814c9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3e73e2753459d" /><Relationship Type="http://schemas.openxmlformats.org/officeDocument/2006/relationships/notesSlide" Target="/ppt/notesSlides/notesSlide19.xml" Id="Rf84d554bafeb4cb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c33d52af24c08" /><Relationship Type="http://schemas.openxmlformats.org/officeDocument/2006/relationships/notesSlide" Target="/ppt/notesSlides/notesSlide20.xml" Id="Rf7102d7b4c88410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9af14d04f4308" /><Relationship Type="http://schemas.openxmlformats.org/officeDocument/2006/relationships/image" Target="/ppt/media/image5.png" Id="R69ddfb98b0294e4b" /><Relationship Type="http://schemas.openxmlformats.org/officeDocument/2006/relationships/notesSlide" Target="/ppt/notesSlides/notesSlide21.xml" Id="Rf2b5af50250e4bb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492703ac94db3" /><Relationship Type="http://schemas.openxmlformats.org/officeDocument/2006/relationships/notesSlide" Target="/ppt/notesSlides/notesSlide22.xml" Id="R5f1bdee91b254a6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06454e4f84e7d" /><Relationship Type="http://schemas.openxmlformats.org/officeDocument/2006/relationships/image" Target="/ppt/media/image6.png" Id="R2e792e6e54f74c82" /><Relationship Type="http://schemas.openxmlformats.org/officeDocument/2006/relationships/notesSlide" Target="/ppt/notesSlides/notesSlide23.xml" Id="R36ec31795f134d8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e5c7b8b3ab4e83" /><Relationship Type="http://schemas.openxmlformats.org/officeDocument/2006/relationships/notesSlide" Target="/ppt/notesSlides/notesSlide24.xml" Id="R8000d998f2fe492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36b6c3fa1434c" /><Relationship Type="http://schemas.openxmlformats.org/officeDocument/2006/relationships/notesSlide" Target="/ppt/notesSlides/notesSlide25.xml" Id="Ra06be21fcc704f2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e1a7b8cb24471" /><Relationship Type="http://schemas.openxmlformats.org/officeDocument/2006/relationships/notesSlide" Target="/ppt/notesSlides/notesSlide26.xml" Id="R65dcb67ec85840a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c340f0efaf46c3" /><Relationship Type="http://schemas.openxmlformats.org/officeDocument/2006/relationships/notesSlide" Target="/ppt/notesSlides/notesSlide27.xml" Id="R56b6717cd10f4a4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98e1c1c7094e90" /><Relationship Type="http://schemas.openxmlformats.org/officeDocument/2006/relationships/notesSlide" Target="/ppt/notesSlides/notesSlide28.xml" Id="R0a8592b5b7d144c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115a8c3714523" /><Relationship Type="http://schemas.openxmlformats.org/officeDocument/2006/relationships/notesSlide" Target="/ppt/notesSlides/notesSlide29.xml" Id="R02116326007e459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47f93aa8194852" /><Relationship Type="http://schemas.openxmlformats.org/officeDocument/2006/relationships/notesSlide" Target="/ppt/notesSlides/notesSlide30.xml" Id="Rb6a171c6d80f44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8E271C-34B3-42DF-A13E-92DBE145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A7513-11E5-4384-9DC6-D637E45D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面向科学实验的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可信知识迁移框架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CCB3B-9F6C-4B41-87A8-F655CA13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从 source-outcome skill 到冻结外部验证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7DBB6-057B-46DC-A4A3-292B6F5A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F227E-FE2B-427E-B353-C438A4CF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项目现状与方法更新 · 2026-08-12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F71BDC-E859-470D-9DF4-7E4A6AE2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30050-F0ED-4AA1-B0D8-101D1C40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历史实验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A99EE-8F93-47BC-87E9-9F174EF4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5345C-B8C1-4C40-9A57-3C6739DB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可执行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A0780-C370-44FE-995C-E2D0258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A5CDAC-E353-4F88-A4AF-B9F278F4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新实验决策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8D4BE3-2E42-4935-8812-48F73404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A24BB0-5ED4-4BCF-B485-D4DE46FB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证据沉淀</a:t>
            </a:r>
          </a:p>
        </p:txBody>
      </p:sp>
    </p:spTree>
    <p:extLst>
      <p:ext uri="{BB962C8B-B14F-4D97-AF65-F5344CB8AC3E}">
        <p14:creationId xmlns:p14="http://schemas.microsoft.com/office/powerpoint/2010/main" val="12317059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E1AEA8-9DD6-4777-BECF-D74824AB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CURRENT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C2F952-3612-418A-AA37-96FAB00F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676F04-9D31-44A0-B8E2-566FE0CA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最新结果已经从“开发集正向”走到“外部目标验证”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9E934E-89F9-4B50-8B9A-B1A7BFAC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2437A4-9E71-47D1-8F8E-DC7AF8EA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+8.66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DAE1C4-56D4-4BDF-8ED7-3062C059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AUC 相对更强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2472B-87AE-46D5-839F-20853D57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外部 Suzuki MINLP2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1D86A-34E4-446D-912A-F8E419D7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100%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9CF6C-DBEF-449E-8ED2-18AE983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最终找到的最高产率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8E7D25-D45C-4BC5-8942-69B502BA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第 5 次总观测达到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D07FD3-7263-448A-8916-B93B7930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2 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0D6FF4-A4B4-475B-8E64-7EF65AA5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节省 target observations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273DFF-EFFC-4352-922B-35E4F36B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相对成功 random 的中位数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D75FF3-AD1F-43A7-BACF-2413F97C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1 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F14200-839C-4376-9838-594822FD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冻结外部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046CE-3819-4652-AF5F-8518CD30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仍需扩大独立任务数量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3AAA66-12CB-470C-9959-18B356F6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14920E-C4C6-4393-A1F9-D54E3D4C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7DE3AD-2CCF-43FE-85DB-69CFFB07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4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2.0 已证明 source-outcome initial-design transfer 在真实 reaction-optimization 数据上具有实际价值；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本轮没有使用 LLM，暂不能声称任意跨领域迁移或 LLM 普遍优越。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19AAA9-A9D8-442C-9B5A-81677F02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698803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A3AF02-6DB1-47C5-AE6E-321CE77D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D92C8-C5DE-4731-85B4-73CCCDEA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9AE67-C99F-457E-BFD0-5C9111AA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昂贵实验中，历史经验能否真正减少试错？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8A18F9-7654-4FD6-B676-AF3EC8C9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9AF01A-9CC8-482A-A471-29CDED85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9A543-AE6B-4121-AEAA-AEDE43F2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366A1D-350E-4476-8FBD-DAECBCCF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已知信息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C13989-2727-4E97-8CC2-0FBDFCEE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已经完成的 source experiments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的公开候选条件与变量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固定、有限的实验预算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尚未揭示的 target outcome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32BE81-7A1A-499D-BCB5-ACB9B2B9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0581F-1616-458C-ACD1-8A786738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2304C0-071B-4673-8CAF-042F0A29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每轮决策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DCD595-02DB-4A5B-8FA3-EDF07D0E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选择一个候选实验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只观察被选点的真实结果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target model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决定迁移、持有或回退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0D6EAC-9A67-40EE-9102-A5B0DC33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3B8778-B374-4E02-9C21-BB8F9667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10D5A5-768C-4CF6-B7FD-AFDF0B41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700254-B79E-4B02-8CFA-F4D3B063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更早找到高质量候选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相同预算下提高 final best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不偷看 target outcome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避免负迁移并留下 trace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111E8-0D03-4B6E-853A-680412A1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168C7E-20DC-4E38-BA6F-96E870BC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核心问题：source history 是否改变 target 的选择顺序，并让有效实验更早发生？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061545-0D41-4FDB-A9C3-85B31B24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4206447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24C6C1-E8C0-49B5-80AC-BD4181AF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EVIDENCE LADDER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46BFC-D63C-4EC7-972B-589253CA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1F721-81BD-49A5-BCC2-133E989B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当前证据分三层，不能把所有正结果混成一个结论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2C2A12-34D1-4E8D-A00D-76EAEAE7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a3b36d9734a47"/>
          <a:stretch xmlns:a="http://schemas.openxmlformats.org/drawingml/2006/main"/>
        </p:blipFill>
        <p:spPr>
          <a:xfrm xmlns:a="http://schemas.openxmlformats.org/drawingml/2006/main">
            <a:off x="1566960" y="1238250"/>
            <a:ext cx="9058080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4EA209-4DF2-4840-A98E-8BC5A997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4486757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345B7-0232-4790-9341-81AB6CCD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REVIEW-DRIVEN REVISION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C50215-B16F-4182-8605-29AA5A9B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A856A-8866-4D96-8BC8-BCFA58A2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我们把关键质疑直接变成了实验协议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A7D3A-2228-4B50-9513-185A49FA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24d62bd5704009"/>
          <a:stretch xmlns:a="http://schemas.openxmlformats.org/drawingml/2006/main"/>
        </p:blipFill>
        <p:spPr>
          <a:xfrm xmlns:a="http://schemas.openxmlformats.org/drawingml/2006/main">
            <a:off x="1575410" y="1257300"/>
            <a:ext cx="9041181" cy="50958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E0783-D362-4865-8A01-880C2E62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3183651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F87AE5-EF43-4000-8317-C0D5C478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EXECUTION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DACE6-A1D2-4B18-A633-13DE35E6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1A26D-5EF0-4495-9862-664E32BD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历史实验只影响开局，目标观测开始后统一使用 target-only GP-UCB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3159F5-647A-47E6-8D3B-A3C2DAF2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f7f4be849400c"/>
          <a:stretch xmlns:a="http://schemas.openxmlformats.org/drawingml/2006/main"/>
        </p:blipFill>
        <p:spPr>
          <a:xfrm xmlns:a="http://schemas.openxmlformats.org/drawingml/2006/main">
            <a:off x="1575410" y="1257300"/>
            <a:ext cx="9041181" cy="50958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F594A-4817-42A3-9D8D-0BA2F711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4671903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D80E4-8804-47E7-BE25-1C923FDB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A52BBF-6335-4634-97A8-BB2F8F59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37376B-6719-45EA-B697-0E11389E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2.0 是完整平台；v2 是当前最干净的验证切片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E59D3-7609-4B01-B19E-77594550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3C7013-241A-46EB-B091-D82B9FF1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完整平台路线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79516-2DA8-4C41-A1C7-1B871957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4953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2FD73-ED41-4773-BAD0-024BDE85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4196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hypothesis 与 source-target role mapping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neighbor / additive / interaction source priors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kernel geometry patch 与 online routing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calibration gate、exact fallback 和 audit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用于研究不同模块如何组合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178D27-EC22-4A0E-8F79-C18C199D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38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最新 v2 外部验证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936566-1E81-4FEE-87BA-1E48ADD7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95500"/>
            <a:ext cx="4953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80034-735A-44EA-8C97-1D6DA222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81250"/>
            <a:ext cx="44196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只使用真实 source outcomes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quality-bounded initial design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3 个初始点后 source 完全退出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后续统一使用 target-only GP-UCB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本轮 LLM 不参与选点或调分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3AAD8-6FF1-4F92-B0E7-9C29BF58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524500"/>
            <a:ext cx="5181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21A5F2-A68A-4743-82B5-1504FA77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57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先把 source-outcome 的因果贡献钉牢，再重新加入 LLM。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8435B5-781E-4AC5-90C6-DF579622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5159566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20EFD2-A8E8-41CA-9C40-88D6E4D9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REPLAY HARNESS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A8FA4-C05F-4439-AF9D-936CFB39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C609F3-2235-4549-A4C6-E2338FA9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历史数据按真实实验节奏逐轮揭示，而不是一次性看完整答案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28D922-7E88-4CF0-A8B0-EFBF267A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F51BD7-2B8C-42A8-99EC-087F29FE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D036D-CEB2-48E8-955A-3AA85CBD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0B323-5C74-4872-8C5C-BF660B37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 target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outcomes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C0AEE3-4A69-41E9-9131-C347113D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763E7-F033-4E12-B883-90B14967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5E6FF-205C-4924-9FF5-5D74F7D4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选择一个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candidate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6DE645-10F7-4F21-B166-CE337FDA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C8B0B-66C8-49D5-A339-396A66C4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D4135E-4C09-4751-B68D-B58B57B5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只揭示该点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真实 outcome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6D8C7E-6B2B-4B7B-A1DC-A4ED92B2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6BB363-F0CE-4DAA-946C-486CD90B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BAACF7-6B9C-4490-A3F0-1FC83941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更新 target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F921D7-69A2-4753-911F-44C7F418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026B7B-BBB7-4C4E-99ED-45DF8E4D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记录 metric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6A6125-D0D1-42FA-B4CC-F0697797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E5C6E7-1A42-4BA2-BA64-BDCF7ED1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公平性约束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F5F357-0B0C-4A9B-A5A4-A1A59E60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candidate pool · 相同初始点数量 · 相同 reveal budget · 相同 seeds · 未选点 outcome 始终不可见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52B3ED-EC20-4D63-BC0A-224ABC30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不能替代新 wet-lab 实验，但能严格测试有限预算下的逐轮决策与数据泄漏。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E3C761-ADD9-4241-B456-9B0BF294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7791272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BDD68A-0C4E-48A0-9DA7-206877F5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DATASET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A9BBB9-227E-424D-98F6-71F8798F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DCFCA-2FEB-4413-AAB9-87106759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接口已经跨三个领域运行，但证据等级并不相同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0329D-0F05-4655-BD19-E2489557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132AE-4FC9-406E-A0A9-D17A7FFD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反应优化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B0C42C-DFC9-4C06-B15F-126AAC75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3009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B2D29-DED6-4F51-AD19-9878B55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009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ChemLex Acid-Amine Wetlab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Buchwald-Hartwig HTE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Baumgartner C-N campaigns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Suzuki MINLP1 / MINLP2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EB1815-FAA7-4A62-8355-7B9E64D2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95450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分子性质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EF34A8-A6E8-4CB6-9C0C-7CAFAB50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133600"/>
            <a:ext cx="3009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64A15E-8F9F-4EC4-B657-CA093A31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400300"/>
            <a:ext cx="3009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MoleculeNet ESOL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MoleculeNet FreeSolv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MoleculeNet Lipophilicity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用于 schema / outcome transfer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A2D19-CC44-4692-99C5-5A5FD6B5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95450"/>
            <a:ext cx="3962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材料性质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E23D9-F1FE-460D-958D-A5713D6C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33600"/>
            <a:ext cx="3962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6E0C0-EFDD-4CCB-B961-F4523202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00300"/>
            <a:ext cx="3962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Matbench experimental gap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Matbench dielectric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Matbench phonons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用于 materials transfer BO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1317E6-73BB-48AC-9DAB-C72FB040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10896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73F943-AFF0-41A5-85F6-1B0CA55D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71260-A02B-41D8-BFFC-2C71D50F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029200"/>
            <a:ext cx="8801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多领域数据证明平台能统一运行；冻结后外部正例目前只来自 Suzuki MINLP2。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24A542-67B1-45CE-86D4-32EB06F9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616024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FB0920-766A-48C5-BFE7-C24E2237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HYPOTHESIS GENERATION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FB5558-B9FB-495E-AB93-923EB247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55CD03-92D0-4D3A-9B33-9A121715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Hypothesis 必须落到可执行决策，而不是停留在自然语言描述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3FA2E2-CFC2-4910-BF3F-1C0764DF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BD0B98-B86B-4DD8-9DE9-1403D554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25944-76B1-4F2E-90BF-0C300EA7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E916A3-3C72-48CC-9D22-CA749D40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source history 与 outcome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target schema / variable roles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候选空间与实验预算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已有 SkillBank 与失败案例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7F6279-0FC2-4BA0-A6E2-06CDF9FD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3449D0-3151-4F64-9C94-ED98B7CE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结构化输出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E9A920-AAAF-4A9C-B499-540EB1F0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1B45F-E723-412D-952A-9C311D3D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scope 与 role map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prefer / penalize 条件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quality region 与 operator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confidence / failure condition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4EA604-AEFA-4812-8353-40983D2D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EB3679-C6CC-4F09-A05F-5284CEF5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148EC9-B541-4E8F-BF86-3CBE0233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2EEADF-41BD-4DF5-A816-B52995F2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编译为 TransferSkill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选择 candidate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揭示 target outcome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更新 evidence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88E305-BDA3-4F08-A01A-2FA93E61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95497D-9A70-4CA9-A601-251BCBF9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最新 v2 的 hypothesis 为固定规则，非 LLM 生成；目的是先验证执行链本身。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07FFE3-0500-46CB-B543-75B545B1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21327889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8719A3-17AA-447E-9089-22E45D18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TRANSFERSKILL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13FDC6-D5E1-4CA6-8A50-1C8DC584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4D543-F713-42DC-9C49-CD864277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Skill 是带证据边界的可执行对象，不是一段 prompt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67D86-D17B-4731-A569-BED4D20B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4F71D-1CB5-4A4F-BBF6-41FB006E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9EC8B-5394-4B6A-A2E7-FDA84028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383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任务边界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49EF5-D1C1-40F4-AC91-8675906E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38300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source、target、变量角色与不可对齐字段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952439-BECB-4503-AA2A-D987AF7D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33600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E18678-A00C-4791-8266-B799CFB4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669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8ED5E4-9192-4A73-A157-2A32ECE6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47925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执行逻辑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D3EB7-D5C3-416C-BB4A-8FF9DB6E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4792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initial design、prior、kernel patch 或 router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815A27-4EDB-4FD8-A804-21AC7AF7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43225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BA601-F59C-4F6D-97CB-0C77519F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799D9B-213E-47EC-BED9-E0716D2E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575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安全机制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D61D79-DDF5-45B9-93CE-603BCCC2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257550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failure condition、abstention 与 exact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ACED15-C5CE-4335-9A26-94513CDF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52850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D886C-36CB-4DAB-A590-3928EEA3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862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576700-71C2-4403-9F93-1157BE04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67175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证据记录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9D3C9C-DC85-4EBC-A093-973B097F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671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开发任务、seeds、CI、non-loss 与 negative cases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32AEEE-A168-4F81-9409-9F5D8DEC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62475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9DB5E9-1BB7-46F0-931F-B13F5157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A5C5AA-C571-4240-AC78-5C3F967A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768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可复现性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A8C983-39BA-4E10-932B-2811DC0E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876800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model record、config、commit 与 SHA-256 fingerprint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47E4A5-333A-46CF-8C0B-73B26FDE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72100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7BB7B1-FC49-4FC6-BB77-A09AC629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76400"/>
            <a:ext cx="23812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DAFD50-54C4-41D7-8C03-2612744F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9812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SkillBank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F95BB3-CDEA-4CFE-92F4-18A95064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09850"/>
            <a:ext cx="1885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SKILL.md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manifest.json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selection_record.json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audit.jsonl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SHA256SUMS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0DB015-8FEF-4EB8-907F-6C50E6A6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7531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08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当前 v2：candidate / one-target external support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AFA669-DF0F-497F-BC9E-AC82AD6F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7345171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64A00B-00CC-49B7-9DF3-058D3874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SOURCE EXPERTS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0F877-F1E7-4B10-8376-C84B052E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5552D8-AE05-4B6F-A749-014DE90F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多个 source 不直接拼接，而是先形成稳健的排序共识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F8F342-0925-45C3-B1B9-7D16E9F9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79CB0-157B-4817-BF17-36BF868F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每个 source 单独建模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76083-80E6-4A6B-8DF6-7A1EE2A6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98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每个 campaign 单独训练 GP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保留 campaign 内部的变量关系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避免直接混合不同 outcome 尺度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6E80C-AF1A-483C-99EF-4BE8A90D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78130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02E55D-ACC9-4BBD-9078-69561F52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95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转换成归一化 rank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521A7-0C9C-4ABE-9B21-FCCE5F29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098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预测值映射到 [0,1] 排序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只保留候选的相对优先级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降低 source 量纲与噪声差异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DC62B1-212D-4CB2-B247-7A4E845D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8130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FEA485-D760-4475-85F5-62F93CDC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954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中位数聚合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C423D-BEDD-4A15-9289-D70680B2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0980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抵抗单个 source 极端偏差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得到 consensus prior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表示共同认可的候选排序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AE6A86-4AA3-43E6-90A8-7674DDC4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7848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A5470-A453-4E1E-BC15-C8BF6FCB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784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πsrc(x) = median  rs(x)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BC78E-0E36-46EF-9DF4-D8BF367C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953000"/>
            <a:ext cx="784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这是相对优先级，不是 target 的绝对产率预测。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33A36A-E45E-484C-BFDB-C8BFD9E3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380649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F4C8F3-C271-4E1B-82E7-A6717146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QUALITY-BOUNDED WARM START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9F4F5D-218F-438E-B3D4-7C02FCFC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07F3F-0F92-49F5-AF14-7488553B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v1 的失败如何变成 v2 的质量约束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05FA9-3A27-483E-9085-01212936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60f0c2cc23404a"/>
          <a:stretch xmlns:a="http://schemas.openxmlformats.org/drawingml/2006/main"/>
        </p:blipFill>
        <p:spPr>
          <a:xfrm xmlns:a="http://schemas.openxmlformats.org/drawingml/2006/main">
            <a:off x="1600759" y="1276350"/>
            <a:ext cx="8990482" cy="5067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269DE-78D5-48A1-A464-88B4B79F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972697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04482-D543-4CDC-A49E-651CD50B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TARGET OPTIMIZATION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2146E6-3F32-4888-9148-4FCB1B8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D7E836-DD3A-426F-9B85-BC7B6F9C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三个初始点之后，所有方法进入完全相同的 GP-UCB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8785B-58BF-4FB5-A699-7BD7F0E6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FE2A6-931C-462D-9DDF-10C2FFB4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143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DE11C-B9F1-48FA-BD86-23BF50C6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461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522F76-1699-41DE-B2A0-BBDE0307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461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xₜ₊₁ = arg max [ μₜ(x) + √β · σₜ(x) 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A1B7C-3963-4394-8A59-289DA304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24250"/>
            <a:ext cx="3905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rPr>
              <a:t>μ：预测均值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rPr>
              <a:t>σ：模型不确定性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D9E5ED"/>
                </a:solidFill>
                <a:latin typeface="Arial Unicode MS"/>
                <a:ea typeface="Arial Unicode MS"/>
                <a:cs typeface="Arial Unicode MS"/>
              </a:rPr>
              <a:t>β：exploration 强度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24026A-8C79-416E-8695-81409F41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公平比较的四个相同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F3385-AEA5-486E-95DB-372013A5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4572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相同的 target observations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相同的 GP-UCB implementation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相同的 10 次 reveal budget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相同的候选池与 outcome 揭示顺序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22E1D5-991A-4B32-9F85-017835F8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33900"/>
            <a:ext cx="457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7D2222-5A15-4AEE-8B62-7CAF1F8A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因此 external result 可归因于 initial design，而不是后续优化器不同。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6F631-9E67-4574-B5F0-D7A46654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5554194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98A341-CF34-4D31-9A5A-ECEA0210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EVALUATION METRICS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BC769-084D-4E71-AE7B-9BD7A795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EEA982-7AD9-424E-8185-BDD18BE7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不只看最终最好值，更看多久找到好结果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E7124A-FC9B-4A95-B7DA-ED857F21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58968-070D-4E64-9E72-720C1926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0958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3324F-704A-45E4-8B26-12FD1217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Primary：best-so-far 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DD377-F0C2-43C5-977A-86BD4D90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Bₜ = maxᵢ≤ₜ yᵢ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6DF96E-96E5-422A-A225-95C0B845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AUC = (1/T) Σₜ Bₜ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81ECE9-4A45-4BEB-A4F6-41D8D697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越早进入高质量区域，AUC 越高。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02E0B-8B23-4C8B-959C-AF5C34AB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764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Secondary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36C4A-CB6D-47B5-AFFA-E3032688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28850"/>
            <a:ext cx="4953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Final best：预算结束时的最佳 outcome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Rounds to threshold：达到 95% / 100% 的轮数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Win / non-loss rate：跨 campaign 稳定性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Paired delta 与 95% confidence interval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Negative transfer rate 与 acceptance rate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5E6920-AFBE-43B7-9B71-A028C83B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1089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7ABEB6-0299-4489-9BBE-82075AB3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一个 external target 上的 100 个 random seeds 反映算法随机性，不等于 100 个独立科学任务。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F326FE-433A-49F0-AEE5-40ACF7E6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6963094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0378BE-6C08-4CE8-BB01-3A39B89E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CALIBRATION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57F65A-9697-4A49-A224-741EFC97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282AAD-D7E6-4B36-A2C1-3FCC3116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先过稳定性门槛，再在合格策略中比较收益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8FF15-A089-4BE1-9845-0D21691B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D0D164-D0E2-4495-98B7-FCEE1A8C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Step 1 · 资格检查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AF8F45-512F-42A9-B002-CC950FAD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47625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784DCE-64C9-4C34-B31C-470A2171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8400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95% CI lower bound &gt;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8B6A8A-50BE-4D4A-9F80-42C9279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22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并且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1C0681-F6EC-400F-9939-69BF064F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task non-loss rate ≥ 0.8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A3651B-75B7-485D-AE3B-C83AF782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028950"/>
            <a:ext cx="62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31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8574D-8F77-4E7B-AEDE-F2B93040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Step 2 · 冻结选择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E6278E-7FB5-4203-B463-4A7E464F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7625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8D916F-B953-4378-BABB-D925292F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90800"/>
            <a:ext cx="42291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eligible routes 中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mean AUC gain 最大者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0F81F2-A498-4615-8735-A0B44F6C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14750"/>
            <a:ext cx="422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CI lower bound 作为 tie-breaker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D75852-E15A-4867-828E-F0C3E326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5656BA-936C-4FFE-8D6A-957D26AB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阈值来源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B37C30-6710-4C3C-B7B4-42D9933A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1015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CI lower &gt; 0 有统计含义；non-loss 0.8 是预先冻结的经验门槛，需要 sensitivity analysis，不能写成学界通用常数。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2C63AF-001A-415E-B806-2527280F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93939539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D99FE2-E6A0-4011-A827-F8E6DEEB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BASELINE PROTOCOL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07A93-FB89-416E-802A-30BE8DFB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A8700-E2BD-4B93-9208-E75B9EEA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必须超过逐任务更强的 target-only 对照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4DF72-4B05-47E2-9FF2-8AA2BA1B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D0DF6A-C80F-42AD-A71C-B5920A43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7F3ED-68D2-4FA1-B6B2-7CF601C0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项目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DA220-9B1C-4F6C-8C16-AE06F970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BA75FD-3F5A-497F-A4EB-43B8DA97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Frozen v2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98162-791D-417F-A001-957D6F45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CB4066-3EED-44CB-BD8D-D330F390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Random-initial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225A5-2E1F-47AF-B109-B489F06F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FCD641-55B0-4B96-A1A9-D2003592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Space filling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CDD4A-2DF5-469B-A0D6-F9C8C09C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3D3E3-6618-4D00-B2A1-56A92ADB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前三个点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2BDB96-725A-474C-A204-E077C3BA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91EAB1-59C9-46BC-B109-7F7815D0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source-guided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B77E9-1F41-4AA5-95A5-8FF35E57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31E9E0-F01C-449D-B7EF-735A1602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random，100 seeds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4E43B-1E92-4678-A4AA-01D509BA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5D08C6-01FC-43AF-95B2-1268FA11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deterministic coverage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0254FD-1592-4585-A05D-4F28B968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C54B03-607E-4DD3-ADC5-A1FAB387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后续方法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132A48-7D15-4F6B-A16B-560F30EA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DAEB9B-1F59-4F06-8E0A-F558C04F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322BFC-663C-4BB1-8D95-5A75D948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D3E7C3-2325-476E-88F0-5D17769E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261242-BD28-4AB6-9EBC-8F8AE16B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09A8B5-72C2-4F44-892E-FCEB4B62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5ECF55-A7D4-4B9F-937A-58808A48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9E728D-2A6F-4A7D-A9CC-01F1E274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 reveal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9B7B9C-1F31-449E-B4FD-785EF700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C76101-9834-4190-83D7-2FA57492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F66E76-3E5E-4B19-8189-ED750A1E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DDEC59-4646-4C6A-B198-839B2D4B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16E06E-A56F-49B6-9BA1-CA32120A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2D61C9-1843-4C22-A8B2-8C0028AC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298893-4915-4C45-9D53-E703FAED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0CA971-24D0-4119-BD35-BF33185F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预读 target outcome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05C292-25A2-4391-A564-C2669B95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6396CD-E034-4852-9DFE-98C4FAD4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A6F37F-C8E7-4A4C-A3C1-7E5E5008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B1950D-423A-4CE8-BC67-A142B78C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88B705D-9100-4AB7-9AA5-98B26D85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461FBF-0926-4CC4-886D-F2FD132E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DEC058-6092-4DF5-8C7A-2DE14F09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B2D883-081A-4A27-9DC2-B75F6382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比较口径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24FBACE-F121-4E2C-8942-91E754C4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59EAD6A-180D-4CC6-AF26-0FC44ADE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相对逐 campaign stronger baseline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16432F4-49B3-4678-A8CA-DE6371B5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8D171EA-26FB-4154-8649-810899B8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 baseline 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0F8797-8648-441B-B414-9A857A7D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D45EA83-7788-4CBE-922C-185A02F3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 baseline 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CEE1D4-9871-4AA6-9349-26396E92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DCB8933-D29C-4736-87F5-BCDA6BDF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Random baseline 不是纯随机搜索：只有前三个点随机，之后仍运行完全相同的 GP-UCB。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AD3D49A-51F7-4830-8C67-EAA0D3C9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9956496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C5C036-01E5-470C-9F66-362ED701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V1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5BE815-AEB6-48A7-B900-B630780B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27744-2D78-4A2F-92D0-04D9F708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 9 个开发 campaign 上，v1 看起来已经成立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F5E9A-BAC2-4C46-8966-D5649AB9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81CE4-9964-4C10-ADC5-ED490A2D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+1.321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3EB2C-09A5-462E-9F7C-7BFF9DBE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mean AUC delta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E30BB-10C2-455B-BAE7-E4EDB369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vs stronger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47B65-FFBA-4E6D-AE0B-3B3BD1CA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2880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[0.315, 2.326]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24D55-586F-4755-B7B2-A43DC4EA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574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task-level 95% CI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C6EBF4-B492-4730-BD2A-EB821338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lower bound &gt;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F399D2-EA6E-4139-A910-34A79E5D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288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7 / 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138B1-DB2F-4CFB-8C1F-E1D009F7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574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task wins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1AF2B8-F2C5-45F3-8FA2-620ECD8B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57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多数 campaign 获胜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2876F8-A4D2-4E2C-81FA-945FCB34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828800"/>
            <a:ext cx="190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9 / 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440D8B-4E10-40CB-9D77-B9F00FCC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574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task non-loss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9FC1B6-AB8E-431E-91E9-1DC9BADE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开发集全部不输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012C8F-0ACB-40CE-B673-A0F029F0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10896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02452E-E7F1-43D6-921B-AD88983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被冻结的 v1 route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A83249-915A-4A74-BB22-6422071C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95750"/>
            <a:ext cx="76581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source scope：same substrate → same precatalyst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diversity weight：0.85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primary metric：10 轮 target-only GP-UCB 的 best-so-far AUC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122640-0DD9-4715-A09C-D72EE5B9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19750"/>
            <a:ext cx="1089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问题：开发任务几乎总能找到 same-substrate source，fallback 没有被充分检验。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0DEEFE-CBE3-42F8-A0D1-851D6C0D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20829937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713887-809D-450D-8282-DBBB9FB7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INDEPENDENT CONFIRMATION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B5240-E440-4434-A144-2FCEB26A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E6E3DB-EF59-4ABA-B92B-0D28E9AA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冻结后，v1 在 4 个独立 campaign 上没有泛化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CB5C0-734D-4B72-9EF5-72AB059A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A150CC-035D-4F4F-AF4D-655B90F5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411480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4F9E4-3605-42F1-B14C-0D40FC9A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40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-1.205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F6D9F8-AF6C-4FF5-9095-B22BA755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2250"/>
            <a:ext cx="3581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mean AUC delta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49570B-53E7-4180-BDAD-63C6CCA0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14700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95% CI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[-2.927, +0.518]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win / non-loss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1/4 · 1/4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final-best delta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-1.61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96324-08C0-4085-9CBA-CABE0469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676400"/>
            <a:ext cx="5638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最大失败：Morpholine-tBuBrettPhos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71F1A6-CA55-4576-8298-5E9F4FE9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24100"/>
            <a:ext cx="56388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新 substrate 没有 same-substrate source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只能退回 same-precatalyst fallback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v1 没有限制多样性点必须处于 source 高质量区域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开发阶段没有单独隔离 fallback 风险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25BC40-EB30-4CEF-9F33-F97811F2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686300"/>
            <a:ext cx="5638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570266-B213-4E2C-B9B5-142CA902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886325"/>
            <a:ext cx="518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开发集平均正向，不等于冻结策略能泛化。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37BC23-9A52-4022-9FFF-40F79C85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4123264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64689-03CD-4A4A-8708-96D68B95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FAILURE-DRIVEN REVISION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79AD4C-9DD7-4526-8A12-8EE90DDF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5FED43-7F9F-4A48-BC53-FB144C46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v2 没有隐藏失败，而是把失败编译成新的约束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F6DE4-357D-4EBC-B35F-69F44531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E0191-FBA9-4CA5-81A6-30CCD76B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v1 failure 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7E5B4-5BC4-4CBB-8A52-BB68ECA6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4762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49D7F3-7D63-4116-86E7-62B7153B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4229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第 1 点通常位于 source 高排名区域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第 2–3 点受到 diversity 加权影响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远离已选点，但可能进入 source 低质量区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新 substrate 下 fallback 风险被放大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A92E4-C19F-4DF2-A976-B0CC5CA5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81350"/>
            <a:ext cx="647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33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33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BAC7FA-09A8-4A7E-B0AC-6EE4017B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764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v2 revision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3B581-4699-43AD-98CB-6B47B761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762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A90DDB-CDD7-4AA5-BD84-5FAD8D11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57450"/>
            <a:ext cx="4229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第 1 点仍取 source consensus 最优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建立 source top-50% admissible region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第 2–3 点只在高质量区域内做 maximin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post-hoc stress 与 external evidence 分开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CCC0DD-B567-4592-BBDB-98D215DA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F51353-B665-44E3-BE10-98FF6774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修复目标：让 diversity 扩大覆盖，但不跨出 source evidence 支持的质量边界。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93132-DBE7-4F5E-8671-F82A2D3A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19131120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54988D-CA94-45ED-8E32-A91F4255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EVIDENCE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B568B-D2A6-4147-AF8E-7ABAB4F1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2D691-BDD9-4ED7-9009-A19CAE6D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开发正向不等于泛化；外部验证才真正改变结论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C8AEF-95A3-4BD0-8937-74B58EE5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dfb98b0294e4b"/>
          <a:stretch xmlns:a="http://schemas.openxmlformats.org/drawingml/2006/main"/>
        </p:blipFill>
        <p:spPr>
          <a:xfrm xmlns:a="http://schemas.openxmlformats.org/drawingml/2006/main">
            <a:off x="1651959" y="1238250"/>
            <a:ext cx="8888081" cy="5143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742F2-67F3-49F1-A5D3-26DF808F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42159710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8CB6C2-9715-4E28-9556-88F44F7D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EXTERNAL CONFIRMATION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059EB-9E91-43F9-BE85-7D6048A4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76ADDC-A14D-4E0E-923B-D4302D88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Suzuki MINLP2 的 outcome 在策略冻结前从未被加载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FA0304-DA70-47D0-9F51-64F4202A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BCF158-2AE3-4F37-A49F-3A2B72F6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Completed source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2CB849-C19F-44BC-A2F6-9D78E1F2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40957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8619C-E853-42B8-A502-E07ACE62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Baumgartner Suzuki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MINLP1 optimization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B37004-992E-49B9-A433-680EF4B8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3638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完整 outcomes 可见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训练 source expert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68A97-89CA-4E1F-962F-BA1F5E9F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9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28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F3D809-5B38-41F1-8383-D896E137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Frozen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E12FE2-8DC9-4B37-9F08-7A8F93EF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52650"/>
            <a:ext cx="40957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D537C1-FF53-4699-A77E-511DE9EF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5745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Baumgartner Suzuki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MINLP2 optimization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F32096-B63D-4DB5-9FBC-3F0CC15A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86150"/>
            <a:ext cx="3638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outcome 隐藏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3 + 10 target budget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27EF11-152B-4D28-B3DC-646AEBD0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共享变量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DDF133-931F-43F2-8807-832A5C25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7434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precatalyst · temperature · residence time · loading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61CD2C-87BB-4E21-B694-E4D92314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F00AC7-300C-430E-B264-5E236249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6735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执行前冻结：code · data version · config · selection record · skill fingerprint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6D12BA-6A59-4846-8B59-D248F090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68148312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144D9F-F2DB-40D5-996F-11BF30C1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8D00C-9644-4EDD-8D60-BBB52CFC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8555C-3CC4-49F1-BBA9-1E281870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Frozen v2 同时提高搜索过程和最终结果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90A01-02EA-43D5-AF4C-250903D6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92e6e54f74c82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3FE00-65D3-423B-B495-D5572FD6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56736211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8508A7-80A7-45AF-BC86-87CE79BE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EXPERIMENTAL EFFICIENCY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E0FF71-9DE8-4CA1-A0E9-6F1CDBBB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3B1FBD-CB4A-47B3-9EBD-596545FB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在这个 target 上，迁移相当于少做两次实验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1F11E-C474-4D46-AA71-440DCDB8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AECF2-8509-4334-B9E4-AF6F2FB1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达到 100% 产率所需总观测数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D4351-C746-47EA-9B33-03DC357E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Frozen v2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4F910-B85F-47BA-86C2-E37145A6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00350"/>
            <a:ext cx="2609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CB40DA-FCB1-41BD-B720-CB5F5481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47950"/>
            <a:ext cx="47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44D6FE-DB4B-48B0-A624-6E710A74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Random 成功运行中位数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96C0B8-B9B2-40DF-9CA5-B8776727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33800"/>
            <a:ext cx="3657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6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15F218-394E-4107-829F-7A3C288A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81400"/>
            <a:ext cx="47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E7D3CE-F2DC-40E8-8F0A-4844A5E1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Space filling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AF9CEC-43C4-4E31-A8DE-9C9888A6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67250"/>
            <a:ext cx="6572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5CADD-F114-4816-A53B-4CF09501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514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未达到 95%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F56145-6993-494F-ABCC-E340C1D5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105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FF4C77-78BA-4B84-BD9A-22D7A56D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7645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46 / 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25B2AA-5880-4CB2-8296-F05AFE31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random 在预算内达到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2290A7-2CBD-409D-88EA-C104FF4A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051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其余 54 次未达到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686324-0EE1-4989-B325-C1CBFD25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3909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15 / 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8E0FDB-84A2-4F6C-912C-7C76B429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195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random AUC ≥ frozen v2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835168-0880-43B5-862F-7AAA9C64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4196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v2 位于分布高端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683B84-7853-4A6F-83A3-B6899B27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86400"/>
            <a:ext cx="1089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0A9CDC-639E-406D-A9D8-F6044C5E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97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Frozen v2：3 个初始点 + 2 次 GP-UCB reveal 即找到 100% 产率。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D6DFA0-F02D-476D-A2A4-D4606C4C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27914724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E5FFF3F-A01F-4E26-9EEE-302E4D75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BROADER OFFLINE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4DE04E-80B8-46F4-8072-A4B3230D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0EC7E-DECE-42C8-A1C4-0FCCCD5C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多领域离线 suite 支持平台价值，但不等于零成本部署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963328-E2BF-4A69-B5CD-05AAD448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6B137-B276-4E84-9229-8B5F5843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93204-36F3-40EE-A55B-8A70FB13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47825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Source → 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BB8F4D-E1EB-4413-B6CD-73610FB4D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15811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BFBF8C-6E65-47E8-86B5-D8C5E20A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16478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部署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8C2F3-7EAA-4DFF-AD75-61854279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15811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8F9FB-5F37-4ED5-B302-78B4C5F9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16478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Final best 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F676E0-6766-4342-A3AD-7B556524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15811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0BAEF-74BB-4209-9218-B9C5F711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16478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AUC 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1736F9-3D92-402C-9915-645548B4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E465E-A087-4E6D-AC57-F6BA0AC9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ChemLex → Buchwald-Hartwig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D6C199-B52E-40B6-A4A4-278FED59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20478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1C225-F4F4-46A3-9F35-A8EC61BD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21145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transfer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C5E5E0-A6F6-41CB-82E7-24303476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20478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B64277-3AB9-481A-A09B-079E240D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21145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+9.197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B157C2-FF14-4DDF-8165-994CDC1A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20478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9617A5-6B52-4555-A24D-C622ECD2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21145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+11.057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AD691E-CA8C-4E3B-994C-E9DB1676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632F68-B796-4391-84A0-0142C2E1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81275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Dielectric → expt. gap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6DAFCC-7CBC-41A9-BA60-892DBB4F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25146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01F298-66BE-429A-BAF5-EE1F3485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25812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transfer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09102-644F-4CB2-941D-8C26D390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25146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B63BFF-38FE-4B9C-85A8-2EDD88F5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25812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+32.699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58DBAE-714B-41C4-85C2-2BE587B5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25146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7F8767-F473-46C4-A86A-174696AC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25812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+48.028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2132B0-129E-4B4D-A023-F23EB891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BED878-3EAF-41D4-B281-2662AA2A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Expt. gap → dielectric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53D89D-97DD-471C-B88F-2324EC58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29813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BB2D4E-C83F-4AC5-A6C5-0041A793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30480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transfer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0D12E8-51A0-427C-BE33-80A89400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29813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28839E-129B-49F0-9F81-D5A3BE84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30480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+18.065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D84947-A3D5-4247-8D4C-7710DA01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29813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BF1828-0BF2-4F06-98ED-AA674ACD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30480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+23.723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EB539-FF34-4810-B4F4-78F60C1A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B0B5AF-50B3-49EC-965E-26415803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14725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Phonons → dielectric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E41B7E-4C83-4384-B002-39933D2B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34480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AB7423-97C5-4068-8999-D95EFAE8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35147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fallback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31E5C2-530B-42B2-88C5-70F12693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34480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42F6E5-361A-4582-A6FD-EDB2E98A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35147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8FA73B-54E3-42CF-9EEB-F97B0D8E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344805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7EFE40-FF7C-4365-9F8C-C9C9F8FB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351472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839658-EC01-4921-A0F2-BFEB7B21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14775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BA31A5-B6A3-41D1-A0D5-945F68F2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ESOL → Lipophilicity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D62A90D-981F-4A66-9FA1-C46874F3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39147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B9E182-DA9D-41D7-86AD-EF836815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39814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fallback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E066702-0BD6-4109-BAD9-8E9BE4C4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39147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4EBDB79-77FC-4BA1-92BB-88A80B74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39814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47D76A-59C7-49BE-9CA5-9D0EF036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391477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A5E594D-FD92-44F3-A9F0-9E150936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398145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F11C11-04F6-4245-99C0-61806819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0AA8B89-F11A-417F-8AEB-5938A381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FreeSolv → Lipophilicity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6861A2F-3F59-4D67-B34E-E1E8911D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43815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8AA4A63-FD54-4744-96EA-A7D26680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44481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transfer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D0F56E-CB47-4FAA-A690-599CFD68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43815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9B2EA26-5F5B-4E5A-8C62-9460FC85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44481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+2.976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51467B-D228-48A5-B6A9-E31D2F52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4381500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9EA1156-18E3-454D-B338-E6B74E2E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4448175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+3.727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153D2A8-4C63-4858-A835-EB3020F7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48225"/>
            <a:ext cx="469681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729CFE8-E0AC-4FBA-BE36-37694D4B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454441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Lipophilicity → FreeSolv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C32DE5A-C2C8-4571-8A49-8EB48E25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510" y="48482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143D317-CA49-4179-BC71-2BA86A22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710" y="49149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fallback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B1DBBA9-1206-4A61-ABCB-8A88B1DC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107" y="48482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EAD285D-FBA0-4D3E-B64F-1779E77F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307" y="49149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BC535BD-42D1-4D13-AFEF-C7E13B4D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703" y="4848225"/>
            <a:ext cx="2066597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3FDA229-7805-42E1-9F88-E09758F1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903" y="4914900"/>
            <a:ext cx="19141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0E07859-E570-42A8-AEEA-39043C2E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89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3292F51-7AFB-4332-AA47-DDE44F5F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9750"/>
            <a:ext cx="10553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限制：50 calibration seeds 使用了 archived target outcomes；这是严格的离线选择，不是新 wet-lab task 的零成本 gate。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EFD9FC4-6879-4726-BFF4-9235F8A6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69655779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8FE473-A89B-4E90-A76A-983C768C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CLASSICAL TRANSFER BO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BB233D-D3EF-4928-A56C-27196796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4C9931-D452-46E3-B76F-355821EF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没有一种 transfer family 在所有任务上都可靠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877DA-0C60-42B9-BF0E-6A07098B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1461CB-92DA-4328-9E5F-8068D0F3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RGPE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4F3F9-1595-41F0-A2BD-16E17A98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Dielectric → expt. gap：显著强正向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其余 4 条 final-score 比较显著变差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说明经典 transfer 同样会负迁移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379C7-7E70-48DD-9E17-EAF14B20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764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Two-task ICM GP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C018F-8F82-463C-B473-9742AD8E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4790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整体比 RGPE 更保守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部分路径点估计为正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仍然不是普遍最优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2DB8D5-C147-438F-BF86-CA7DEBFE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Hybrid router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5FB685-A6B7-47F9-835F-4D4EBDCE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479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AUC 在 5 / 5 路径为正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Final score 在 4 / 5 显著为正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但仍依赖 target calibration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FC2166-EF42-4494-933F-B17E82C1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525946-9392-4639-8016-0C6E034E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关键解释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80F04-C6C3-418D-BC27-53C53094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248150"/>
            <a:ext cx="885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这 5 条路径中的 CARE source-transfer candidates 全部被 gate 拒绝；CARE 的正向值主要来自 target-only fallback，不能写成 source transfer 的胜利。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53850D-8771-4B77-97F7-01BAC3BE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19750"/>
            <a:ext cx="1089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系统价值：比较、路由与拒绝负迁移，而不是宣称某个固定 transfer 方法全面胜出。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3EAC8F-471F-468A-953D-595329DD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205556701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860983-3AF0-47FF-AC22-0BCCB9B9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AND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10B79-9D5B-4AD3-A234-473EC975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EBB55-46A4-4E58-A6E3-E689595F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 hypothesis compiler；知识库保存可复用证据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B9F524-97A0-4222-A2EC-549BE22A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1F03F-325A-4F7C-9A68-B25B8939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在完整平台中的角色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36095-1C7B-4551-936C-E6500CEE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49530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6FCC3B-0532-4E0F-8F29-B60B686F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44196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读取 source/target schema 与统计摘要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生成 role map 与结构化 hypothesis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提议 kernel / prior / routing patch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输出 rationale、confidence、failure condition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必须超过 fixed data-only control 才能归因给 LLM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0B03F-0333-407C-B320-55D57C09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SkillBank 已沉淀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27E2B-ED31-4A3A-99EC-7FFBE298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33600"/>
            <a:ext cx="49530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006FE-4FF2-4F86-AD22-F2A201CD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19350"/>
            <a:ext cx="44196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dataset / task cards 与 role maps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frozen TransferSkill 与执行参数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positive、negative、rejected cases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per-round candidate / score / outcome trace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commit、config、model record 与 SHA-256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674ED5-343A-4528-88A4-749F0505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91150"/>
            <a:ext cx="1089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6B58D-F029-49CE-9134-E26DE972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最新 v2 external 没有使用 LLM，因此结果只能证明 source-outcome initial design。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D363C-27C1-427E-9EDA-9668F1E6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5887637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80BA3-E356-496D-A8EA-3F7F81CF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CONCLUSIONS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27280E-8D0F-4085-93E3-FE159D0B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95D02-1B54-420C-A91B-96730C29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当前最强贡献是可信迁移框架，而不是“所有任务都提升”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C80E2-4B27-4AF2-B417-AABE6886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0AE7E-87AE-4D5B-AEEB-8628CB22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已经成立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8369F-6808-4BD3-B327-43F134FC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95695-85C3-45EF-9F1A-A3E73705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统一、可审计的 replay harness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source-outcome initial design 有实际价值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v1 失败推动 v2 skill revision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外部 Suzuki target AUC +8.66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1C8F16-4CA0-435F-A98D-185EB918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仍未成立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64D560-E445-4F89-90EE-5B6CDF7F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9A4072-68C9-4E34-AAE5-9F6C2347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任意跨领域稳定迁移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在多数路径上优于 fixed rule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在优化全程持续贡献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单个 target 的 task-level 显著性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D5481-5D46-41B7-9656-EDF278A4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项目定位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166CE9-74EA-4291-9323-0356347C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7DA928-BFC7-41D2-AD3E-0D18565C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可信赖的科学知识迁移框架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强 baseline 与冻结协议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负迁移审计与 exact fallback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成功和失败共同进入 SkillBank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597A1-86F3-4027-9E5E-1B4CE0E0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8CAA99-F52D-41AA-B889-BB626042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历史实验可以形成可执行、可拒绝、可验证的迁移 skill；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但每一个泛化结论都必须由冻结后的新任务来支持。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2A904A-9126-46FA-9605-4668B1CC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22332642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46CFB3-AC79-4307-B467-342F40D2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NEXT EXPERIMENTS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AE9193-B5C8-4516-8962-4FAFD7D8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8AD74-6F9B-4450-B342-3E8A8AE0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下一步要把一个外部正例扩展成可重复的泛化证据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93915A-EE5B-4526-A235-EEBF9D89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E7AF5-E145-48E9-917F-0EBDEB30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135981-0283-47EB-AA77-C5744D8F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43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扩大 external targets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90663D-1593-4F50-9555-71710C64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43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冻结同一 v2 skill family，在更多未参与开发的 C-N、Suzuki 或其他 reaction campaigns 上执行。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77233-4D18-4E0D-848F-2425AC1F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08078-3075-48DA-A4EB-1B7E1652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A0870A-FB5B-47B9-BE79-1018E400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冻结统一 Confirmation Protocol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3DB55B-BB5B-459C-9CE8-6C58B9DD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固定任务根列表、预算、primary metric、selection hash 和 skill fingerprint。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2C6A1-45CB-4B7F-BB0C-36068EF0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718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C3511-9C46-4D93-9508-C95E1725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6ED1C-12B9-4D30-B0B0-D44C0ACF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57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隔离 LLM 增量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CF511-D576-4B4F-9E5D-D2E643F7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575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在同一 v2 执行器上比较 fixed v2、LLM hypothesis-only、matched random hypothesis。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462000-CCB7-4C77-AB5B-63FB6BBE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290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CE84E4-6CDC-4CED-AF4A-3E9D6A72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C64274-9684-459B-901E-5B0121F4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验证 skill accumulation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33F442-818B-4833-A1C1-6477C65B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completed target 进入 SkillBank，研究连续任务中的更新、复用和 abstention。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EFBF3B-600A-48D1-A78A-0B82E35E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863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18FDE4-885B-4B20-B356-0AA41607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C47C96-79E2-41C1-AF43-0CCAEB21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扩展相邻领域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E76A66-F910-4C47-A25F-A9198D6D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72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优先 reaction→reaction、molecule→molecule、materials→materials，再进入远距离迁移。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C295DE-BC6C-40D7-B69F-7899481D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43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872D05-EAD9-42D3-BCD1-458002A3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2537340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B09543-D094-4E12-8E26-DAC653B8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APPENDIX · 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BB896A-AC8B-41AB-8F92-D188ACE0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42011-259A-4453-AB9D-0A7028FC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四个问题决定我们能把结论说到哪一步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74922-6B68-4E82-9ABE-96FC710F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73ED1-7D83-4D56-AFC9-2E1D6399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49B2E-19E0-40AB-8D5D-4D72B8B2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81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这是不是挑了三个好 seed？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71FCA3-B220-4C70-AC43-BEAB36AD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811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不是。前三个点是冻结算法输出的初始实验；external target 在冻结前没有读取 outcome。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92A3C8-54F4-4D5C-8EAB-48B012D5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2410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C0E05-A4D3-4F83-8500-DF1A7403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2E5F1F-A05E-4066-9456-C950DA71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47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为什么不持续使用 source prior？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1EB827-BDD3-4E1A-BFA3-B0B6F9B0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当前先隔离 initial-design contribution；持续 prior 需要与 warm-start-only 单独比较。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DDC64C-72CC-4B02-B4C8-FCABEA5A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9090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5FC9BE-D40B-4734-8F5F-36BBD2C2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76EE6-6457-4541-AF6D-04F06D39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为什么 +8.66 不直接说显著？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70828D-0CCE-44C2-A267-6ED7A709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这是一个 target 上的大 effect；random seeds 不是独立科学任务，需要更多 external targets。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8FE66-2467-4431-AE72-04993DCF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5770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F6E7B8-1DFB-4434-9834-9416292E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006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CC041C-22DB-4269-945F-641D5967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81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这算跨领域吗？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C816DF-1D35-460D-B983-41141A98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815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当前支持不同 reaction-optimization datasets 间迁移，不足以证明远距离跨领域。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0030D3-4407-41F7-86CB-8BA18F8B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524500"/>
            <a:ext cx="1024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512519-FF64-4C1B-B715-CB909E21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10896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56F0E3-1A6B-49E3-B193-2D1FDF42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29325"/>
            <a:ext cx="1059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讨论重点：下一轮 external target、LLM hypothesis-only 对照和 Confirmation Protocol 如何冻结。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C74BB3-9E8F-42F2-93E9-BB9E587F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detailed status deck</a:t>
            </a:r>
          </a:p>
        </p:txBody>
      </p:sp>
    </p:spTree>
    <p:extLst>
      <p:ext uri="{BB962C8B-B14F-4D97-AF65-F5344CB8AC3E}">
        <p14:creationId xmlns:p14="http://schemas.microsoft.com/office/powerpoint/2010/main" val="1373583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2026-08-13T04:58:53.6640000Z</dcterms:created>
  <dcterms:modified xsi:type="dcterms:W3CDTF">2026-08-13T04:58:53.6640000Z</dcterms:modified>
</coreProperties>
</file>