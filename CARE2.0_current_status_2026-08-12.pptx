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9a380da293451c" /><Relationship Type="http://schemas.openxmlformats.org/officeDocument/2006/relationships/extended-properties" Target="/docProps/app.xml" Id="R004285e48d90441a" /><Relationship Type="http://schemas.openxmlformats.org/officeDocument/2006/relationships/officeDocument" Target="/ppt/presentation.xml" Id="Rdffe9566972d44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7abbd0342f4454"/>
  </p:sldMasterIdLst>
  <p:notesMasterIdLst>
    <p:notesMasterId xmlns:r="http://schemas.openxmlformats.org/officeDocument/2006/relationships" r:id="Rcd783ab47a0840e7"/>
  </p:notesMasterIdLst>
  <p:sldIdLst>
    <p:sldId xmlns:r="http://schemas.openxmlformats.org/officeDocument/2006/relationships" id="256" r:id="R4e02d8bc7129424e"/>
    <p:sldId xmlns:r="http://schemas.openxmlformats.org/officeDocument/2006/relationships" id="257" r:id="R6082a5a3d95f4f20"/>
    <p:sldId xmlns:r="http://schemas.openxmlformats.org/officeDocument/2006/relationships" id="258" r:id="Re99567abd72e496a"/>
    <p:sldId xmlns:r="http://schemas.openxmlformats.org/officeDocument/2006/relationships" id="259" r:id="R27d3e42403a144f7"/>
    <p:sldId xmlns:r="http://schemas.openxmlformats.org/officeDocument/2006/relationships" id="260" r:id="Re91e1d56ef7f40cf"/>
    <p:sldId xmlns:r="http://schemas.openxmlformats.org/officeDocument/2006/relationships" id="261" r:id="R26ae8ff1c4d44d4f"/>
    <p:sldId xmlns:r="http://schemas.openxmlformats.org/officeDocument/2006/relationships" id="262" r:id="Rf4117d2919374956"/>
    <p:sldId xmlns:r="http://schemas.openxmlformats.org/officeDocument/2006/relationships" id="263" r:id="R874a6f17736d4d03"/>
    <p:sldId xmlns:r="http://schemas.openxmlformats.org/officeDocument/2006/relationships" id="264" r:id="Rbaa71068a0e94d01"/>
    <p:sldId xmlns:r="http://schemas.openxmlformats.org/officeDocument/2006/relationships" id="265" r:id="R7c9ddd5b34df45a7"/>
    <p:sldId xmlns:r="http://schemas.openxmlformats.org/officeDocument/2006/relationships" id="266" r:id="Ra954cf8db4b1477f"/>
    <p:sldId xmlns:r="http://schemas.openxmlformats.org/officeDocument/2006/relationships" id="267" r:id="Rba98524d744e44a7"/>
    <p:sldId xmlns:r="http://schemas.openxmlformats.org/officeDocument/2006/relationships" id="268" r:id="R472b12d69b284e66"/>
    <p:sldId xmlns:r="http://schemas.openxmlformats.org/officeDocument/2006/relationships" id="269" r:id="R1c6ff706bb01467a"/>
    <p:sldId xmlns:r="http://schemas.openxmlformats.org/officeDocument/2006/relationships" id="270" r:id="R7879ffefe7c648d3"/>
    <p:sldId xmlns:r="http://schemas.openxmlformats.org/officeDocument/2006/relationships" id="271" r:id="R2780463af66e41e1"/>
    <p:sldId xmlns:r="http://schemas.openxmlformats.org/officeDocument/2006/relationships" id="272" r:id="R97698278b3b84696"/>
    <p:sldId xmlns:r="http://schemas.openxmlformats.org/officeDocument/2006/relationships" id="273" r:id="Rb0f3e67915814b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a7e0d934d64266" /><Relationship Type="http://schemas.openxmlformats.org/officeDocument/2006/relationships/slideMaster" Target="/ppt/slideMasters/slideMaster1.xml" Id="R9f7abbd0342f4454" /><Relationship Type="http://schemas.openxmlformats.org/officeDocument/2006/relationships/notesMaster" Target="/ppt/notesMasters/notesMaster1.xml" Id="Rcd783ab47a0840e7" /><Relationship Type="http://schemas.openxmlformats.org/officeDocument/2006/relationships/presProps" Target="/ppt/presProps.xml" Id="R63a3b78525b84ed2" /><Relationship Type="http://schemas.openxmlformats.org/officeDocument/2006/relationships/tableStyles" Target="/ppt/tableStyles.xml" Id="R7a8a124ecd394fce" /><Relationship Type="http://schemas.openxmlformats.org/officeDocument/2006/relationships/slide" Target="/ppt/slides/slide1.xml" Id="R4e02d8bc7129424e" /><Relationship Type="http://schemas.openxmlformats.org/officeDocument/2006/relationships/slide" Target="/ppt/slides/slide2.xml" Id="R6082a5a3d95f4f20" /><Relationship Type="http://schemas.openxmlformats.org/officeDocument/2006/relationships/slide" Target="/ppt/slides/slide3.xml" Id="Re99567abd72e496a" /><Relationship Type="http://schemas.openxmlformats.org/officeDocument/2006/relationships/slide" Target="/ppt/slides/slide4.xml" Id="R27d3e42403a144f7" /><Relationship Type="http://schemas.openxmlformats.org/officeDocument/2006/relationships/slide" Target="/ppt/slides/slide5.xml" Id="Re91e1d56ef7f40cf" /><Relationship Type="http://schemas.openxmlformats.org/officeDocument/2006/relationships/slide" Target="/ppt/slides/slide6.xml" Id="R26ae8ff1c4d44d4f" /><Relationship Type="http://schemas.openxmlformats.org/officeDocument/2006/relationships/slide" Target="/ppt/slides/slide7.xml" Id="Rf4117d2919374956" /><Relationship Type="http://schemas.openxmlformats.org/officeDocument/2006/relationships/slide" Target="/ppt/slides/slide8.xml" Id="R874a6f17736d4d03" /><Relationship Type="http://schemas.openxmlformats.org/officeDocument/2006/relationships/slide" Target="/ppt/slides/slide9.xml" Id="Rbaa71068a0e94d01" /><Relationship Type="http://schemas.openxmlformats.org/officeDocument/2006/relationships/slide" Target="/ppt/slides/slide10.xml" Id="R7c9ddd5b34df45a7" /><Relationship Type="http://schemas.openxmlformats.org/officeDocument/2006/relationships/slide" Target="/ppt/slides/slide11.xml" Id="Ra954cf8db4b1477f" /><Relationship Type="http://schemas.openxmlformats.org/officeDocument/2006/relationships/slide" Target="/ppt/slides/slide12.xml" Id="Rba98524d744e44a7" /><Relationship Type="http://schemas.openxmlformats.org/officeDocument/2006/relationships/slide" Target="/ppt/slides/slide13.xml" Id="R472b12d69b284e66" /><Relationship Type="http://schemas.openxmlformats.org/officeDocument/2006/relationships/slide" Target="/ppt/slides/slide14.xml" Id="R1c6ff706bb01467a" /><Relationship Type="http://schemas.openxmlformats.org/officeDocument/2006/relationships/slide" Target="/ppt/slides/slide15.xml" Id="R7879ffefe7c648d3" /><Relationship Type="http://schemas.openxmlformats.org/officeDocument/2006/relationships/slide" Target="/ppt/slides/slide16.xml" Id="R2780463af66e41e1" /><Relationship Type="http://schemas.openxmlformats.org/officeDocument/2006/relationships/slide" Target="/ppt/slides/slide17.xml" Id="R97698278b3b84696" /><Relationship Type="http://schemas.openxmlformats.org/officeDocument/2006/relationships/slide" Target="/ppt/slides/slide18.xml" Id="Rb0f3e67915814b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d30d7031c647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ed6ca9d1174381" /><Relationship Type="http://schemas.openxmlformats.org/officeDocument/2006/relationships/notesMaster" Target="/ppt/notesMasters/notesMaster1.xml" Id="R2f1e147630954a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cd3e183310489b" /><Relationship Type="http://schemas.openxmlformats.org/officeDocument/2006/relationships/notesMaster" Target="/ppt/notesMasters/notesMaster1.xml" Id="Ra1eaea39db7241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5dd2d7f43a4196" /><Relationship Type="http://schemas.openxmlformats.org/officeDocument/2006/relationships/notesMaster" Target="/ppt/notesMasters/notesMaster1.xml" Id="R173bff149e4f4b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b3d69521fa4d21" /><Relationship Type="http://schemas.openxmlformats.org/officeDocument/2006/relationships/notesMaster" Target="/ppt/notesMasters/notesMaster1.xml" Id="R7d1688ffb15949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b346f9ef974e26" /><Relationship Type="http://schemas.openxmlformats.org/officeDocument/2006/relationships/notesMaster" Target="/ppt/notesMasters/notesMaster1.xml" Id="Rcaf2889719ce47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e1aad33c2b458b" /><Relationship Type="http://schemas.openxmlformats.org/officeDocument/2006/relationships/notesMaster" Target="/ppt/notesMasters/notesMaster1.xml" Id="Rcf995742ac4d48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21badc071840a6" /><Relationship Type="http://schemas.openxmlformats.org/officeDocument/2006/relationships/notesMaster" Target="/ppt/notesMasters/notesMaster1.xml" Id="R8f3f3562258940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6aca84ecbe4c75" /><Relationship Type="http://schemas.openxmlformats.org/officeDocument/2006/relationships/notesMaster" Target="/ppt/notesMasters/notesMaster1.xml" Id="R7b835979d15149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c867b554c5476f" /><Relationship Type="http://schemas.openxmlformats.org/officeDocument/2006/relationships/notesMaster" Target="/ppt/notesMasters/notesMaster1.xml" Id="R87d8a30dd0844c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4bde6fb3564f96" /><Relationship Type="http://schemas.openxmlformats.org/officeDocument/2006/relationships/notesMaster" Target="/ppt/notesMasters/notesMaster1.xml" Id="R2ad83e5bd3d94d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d90603323b4ff2" /><Relationship Type="http://schemas.openxmlformats.org/officeDocument/2006/relationships/notesMaster" Target="/ppt/notesMasters/notesMaster1.xml" Id="R3c3dde0aee6e49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d6808cdc544aea" /><Relationship Type="http://schemas.openxmlformats.org/officeDocument/2006/relationships/notesMaster" Target="/ppt/notesMasters/notesMaster1.xml" Id="R4b6fa55bd99f402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f24595c4d1b4540" /><Relationship Type="http://schemas.openxmlformats.org/officeDocument/2006/relationships/notesMaster" Target="/ppt/notesMasters/notesMaster1.xml" Id="Ra3ee2e5753344f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74a6a0328043ed" /><Relationship Type="http://schemas.openxmlformats.org/officeDocument/2006/relationships/notesMaster" Target="/ppt/notesMasters/notesMaster1.xml" Id="R2c12974f36e846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44cebc616e4a6e" /><Relationship Type="http://schemas.openxmlformats.org/officeDocument/2006/relationships/notesMaster" Target="/ppt/notesMasters/notesMaster1.xml" Id="Rcfa50933fea648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23582361634f6c" /><Relationship Type="http://schemas.openxmlformats.org/officeDocument/2006/relationships/notesMaster" Target="/ppt/notesMasters/notesMaster1.xml" Id="R9b31e8d6878e48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3e56f2092764411" /><Relationship Type="http://schemas.openxmlformats.org/officeDocument/2006/relationships/notesMaster" Target="/ppt/notesMasters/notesMaster1.xml" Id="R8594a3a665744a2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f72c125f5434aa8" /><Relationship Type="http://schemas.openxmlformats.org/officeDocument/2006/relationships/notesMaster" Target="/ppt/notesMasters/notesMaster1.xml" Id="R0abd38de3dc942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的重点不是发明一个永远获胜的优化器，而是建立一套可以验证、拒绝和复用历史实验经验的迁移框架。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开场先把项目定位讲清楚。CARE 2.0 研究的是：过去做过的实验，能不能在一个新实验刚开始、数据很少的时候帮助我们更快选到好条件。这里的 source 是已经完成、结果已知的历史实验，target 是准备开始的新实验。我们希望把 source 中真正有用的经验整理成可执行的 Skill，再用它改变 target 的开局；如果证据不足，就拒绝迁移，回到 target-only 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右侧四个词可以按顺序解释：历史实验提供数据；系统把数据整理成可执行 Skill；Skill影响新实验的决策；新实验的成功和失败再回到知识库。最近最重要的进展，是 v1 在独立验证中失败后，我们没有隐藏失败，而是根据失败 trace 修改出 v2，并在一个冻结后才执行的外部 Suzuki target 上看到明显提升。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source=历史任务；target=新任务；Skill=带执行逻辑、适用边界和证据记录的策略包。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下一页进入：最新状态：先给结论。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固定 v2 已有一个冻结外部正例；随后完成的真实 LLM 组件实验在五个 target 上平均 AUC 提高 2.12，但仍是回顾性证据。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这一页把两条证据分开讲。第一条是严格的外部证据：Frozen v2 在 Suzuki MINLP2 上相对更强 target-only baseline 的 best-so-far AUC 提高 8.66。这里的 AUC 表示搜索过程中多早找到高质量实验。这个结果在 target outcome 揭示前已经冻结，但该切片没有使用 LLM。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第二条是随后完成的真实 LLM 组件实验。我们通过 CommonStack 实际调用 openai/gpt-5.4，让模型在看不到 target outcome 的情况下生成 initial-design hypothesis；按任务结构选择 raw 或 compiled 方案后，五个 target 的平均 AUC 相对 fixed v2 提高 2.12，4/5 不下降。不过 95% 置信区间是 [-0.226, 4.473]，而且这五个 target 以前都被项目使用过，所以这是回顾性组件证据，不是新的外部确认。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AUC=搜索全过程的效率；Frozen=策略和参数在看 target 结果前已锁定；回顾性组件实验=在已有任务上检查模块行为，不能替代全新 target。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下一页进入：问题定义：有限预算的逐轮实验。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不是普通预测任务，而是每轮只能做一个实验、做完才看到结果的序贯决策问题。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左边是算法开始前允许知道的信息：已经完成的 source experiments、target 的变量和候选条件、固定预算，以及尚未揭示的 target outcome。中间是每一轮真实发生的事：算法选择一个候选条件，只看到这个被选条件的结果，然后更新 target model，再做下一轮选择。右边是目标：在相同预算下更早找到高质量候选，同时避免因为错误迁移浪费实验。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这里与普通训练集、测试集的区别是，算法不能一次看到完整 target 表格。它必须像真实实验一样逐轮揭示 outcome。我们真正比较的是 source history 是否改变了 target 的选点顺序，以及这种改变是否让有效实验更早发生。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candidate=可选择的实验条件；outcome=实验结果，例如产率；budget=最多允许做多少次 target 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下一页进入：v2 执行架构。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source 只负责前三个初始实验，之后所有方法都使用完全相同的 target-only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从左向右讲。首先，每个历史 campaign 单独训练一个 source expert。因为不同 campaign 的 outcome 尺度不同，我们不直接拼接原始数值，而是把每个 expert 的预测转成候选排序，再用中位数形成共识。TransferSkill 根据这个共识选择三个初始实验。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关键控制在黄色分界线之后：三个初始点做完后，source 信息完全退出。随后 10 轮所有方法都运行同一个 target-only GP-UCB，只用已经揭示的 target outcomes 建模。这样，Frozen v2、随机初始化和 space filling 之间唯一的区别就是前三个点怎么选，后续优化器、预算和观测规则完全一致。因此外部结果可以归因于 source-guided initial design，而不是后续偷偷使用了不同算法。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source expert=在单个历史 campaign 上训练的模型；initial design=优化开始前先做的少量初始实验。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下一页进入：Replay Harness 如何运行。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完整数据表只充当隐藏环境；算法每轮只能看到自己已经选择过的实验结果。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Replay 的做法是把已有真实数据集当作一个可以查询的实验环境，而不是把整张表交给算法。开始时 target outcomes 全部隐藏。每一轮算法选择一个 candidate，环境只揭示这个点的真实 outcome，算法据此更新模型，再选择下一点。每轮的 candidate、score、outcome 和当前 best-so-far 都进入 trace。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所有对照使用相同 candidate pool、相同初始点数量、相同 reveal budget 和相同 seeds。这里 seed 是随机数种子，用来复现实验随机性，不是提前挑选的好实验点。Replay 仍然不能替代新的 wet-lab 实验，但它能严格检查数据泄漏，并评价有限预算下哪种策略更早找到好条件。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seed=控制随机过程的编号；reveal=执行一个候选后揭示结果；trace=逐轮决策记录。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下一页进入：Hypothesis 的生成与执行。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Hypothesis 只有被编译成明确的选点和停止规则，才真正进入实验。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完整平台给 hypothesis generator 的输入包括 source history、target 的变量角色、候选空间、预算以及 SkillBank 中的成功和失败案例。输出不能只是“这个 source 看起来相似”，而必须结构化为：适用哪些 source、变量如何对齐、什么条件应该优先或惩罚、允许进入什么质量区域、置信度多高，以及在什么情况下应该失败或回退。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结构化输出再被编译成 TransferSkill，用来选择 candidate。target outcome 揭示后，系统更新 evidence status：支持、反驳、暂缓或者拒绝。最新 v2 的 hypothesis 不是 LLM 生成，而是固定规则，目的是先验证从 hypothesis 到执行再到反馈的链路。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role map=source 和 target 变量的语义对应关系；operator=把 hypothesis 转成选点动作的执行算子。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下一页进入：v1 失败如何变成 v2 质量约束。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/Users/rentamac/Documents/Codex/2026-05-12/CARE2.0/experiments/care_replay/CARE2_METHOD.md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v2 先限定 source 共识的高质量区域，再在区域内部选择互补实验。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v1 的第一个点取 source 排名最高的候选，第二、第三个点主要追求距离远、覆盖广。问题是“离得远”不代表“质量仍然好”，所以多样性可能把点推入 source 自己也不看好的区域。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v2 保留第一个 source consensus 最优点，但先建立 top-50% admissible region，也就是只允许第二、第三个点从 source 排名前一半的候选中产生；然后在这个质量区域内用 maximin 选择与已选点距离最大的候选。它同时保留质量和覆盖。前三个点选完后 source prior 退出，后面仍是统一的 target-only GP-UCB。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这里的 top-50% 是当前冻结协议中的经验参数，不应称为学界通用常数，后续需要做 threshold sensitivity。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admissible region=允许选点的候选区域；maximin=选择与现有点最小距离最大的候选，用于扩大覆盖。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下一页进入：评价指标。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主指标看整个搜索过程，辅助指标看最终质量、胜负、负迁移和实验节省。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Primary metric 是 best-so-far AUC。每一轮记录到目前为止观察到的最好 outcome，再对整条曲线求平均或面积。它奖励“尽早找到好条件”，特别适合实验昂贵的场景。Secondary metrics 包括 final best、达到阈值所需轮数、win/non-loss、negative transfer rate 和 gate acceptance rate。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需要区分两种统计单位。对多个独立 campaign 的开发或验证结果，可以在 task level 计算置信区间；同一个 target 上的 100 个 random seeds 只描述随机初始化分布，不能当作 100 个独立科学任务。因此外部 target 的 +8.66 是很大的实际 effect，但暂时不能称为跨任务统计显著。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best-so-far=截至当前轮找到的最好结果；CI=置信区间；effect size=提升幅度本身，而非只看 p 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下一页进入：Calibration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Gate 先检查稳定性和负迁移风险，再从合格策略中选择平均收益最高者。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第一步是资格检查：开发任务上 AUC delta 的 95% CI lower bound 必须大于 0，同时 task non-loss rate 至少为 0.8。前者要求平均收益具有统计支持，后者要求不能靠少数大胜掩盖大量失败。第二步只在 eligible routes 中选择 mean AUC gain 最大的策略，CI lower bound 用作并列时的次级标准。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要诚实说明阈值来源：CI lower &gt; 0 有明确统计含义；non-loss 0.8 是本项目预先冻结的经验门槛，不是普遍公认常数。后续应对 0.7、0.8、0.9 以及 admissible region 阈值做 sensitivity analysis，确认结论不依赖单一超参数。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gate=迁移准入与路由机制；non-loss=相对 baseline 没有变差的任务比例；eligible=通过资格检查。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下一页进入：Baseline Protocol。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Frozen v2 必须同时超过随机初始化和确定性的空间覆盖，对比口径完全一致。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第一列 Frozen v2 的前三个点由 source-guided skill 选择；第二列 random-initial GP-UCB 的前三个点随机选择，并用 100 个 seeds 描述随机性；第三列 space filling 用确定性规则最大化候选空间覆盖。三者之后都运行同一个 target-only GP-UCB、做 10 次 reveal，而且都不能预读 target outcome。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Random baseline 不是每轮都随机。只有前三个初始点随机，后续仍然是强的 GP-UCB。Space filling 也不是弱对照，它能给 GP 一个分散且覆盖面好的初始设计。主比较对象是每个 campaign 上表现更强的 target-only baseline，而不是挑一个最弱对照。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space filling=优先覆盖参数空间的确定性初始设计；stronger baseline=在给定 target 上两种 target-only 对照中更强者。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下一页进入：从 v1 到 v2 的证据链。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/Users/rentamac/Documents/Codex/2026-05-12/CARE2.0/experiments/care_replay/BAUMGARTNER_WARMSTART_V2_PROTOCOL.md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只有冻结后外部正向结果能支持泛化；开发结果和 post-hoc 结果不能替代它。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从左到右看五根柱。v1 在 9 个开发任务上 +1.32，但在 4 个独立任务上变成 -1.20；这说明 v1 没有泛化。v2 在 9 个开发任务上 +1.39，说明它可以成为新的冻结候选，但仍不算外部证据。真正改变项目状态的是 v2 在外部 Suzuki MINLP2 上 AUC +8.66。最右侧旧四任务 post-hoc 约 +0.38，只能支持修复方向，不能当成新的 held-out evidence。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汇报时要强调这条逻辑：开发用来选策略，独立验证用来检验策略；独立验证失败后可以分析和修复，但旧验证集从此变成开发信息，不能反复计算成新的泛化证据。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held-out=冻结前未用于选择策略的数据；post-hoc=看过结果以后进行的分析。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下一页进入：外部结果：过程与终点同时改善。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/Users/rentamac/Documents/Codex/2026-05-12/CARE2.0/experiments/care_replay/results/2026-08-10-baumgartner-warmstart-confirmation/README.md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Frozen v2 的优势不只体现在最终最好值，也体现在更早进入高产率区域。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左图比较 best-so-far AUC：Frozen v2 为 98.06，space filling 为 89.40，100 次 random 的均值为 88.84。因为 space filling 是两个 target-only 对照中更强者，主结果写成相对 stronger baseline +8.66。右图比较预算结束时的 final best：v2 找到 100% 产率，space filling 为 91.82，random 平均为 94.77。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100 个 random runs 中，只有 15 个 AUC 达到或超过 v2，说明 v2 位于随机初始化分布的高端。这里要避免把 100 seeds 写成 100 个独立任务；它们只说明同一个 target 上随机初始化的波动。最稳妥的结论是“在一个外部 target 上观察到大的实际提升”。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final best=预算结束时找到的最高 outcome；random mean=同一算法更换随机初始化后的平均结果。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下一页进入：传统 Transfer BO 对比。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/Users/rentamac/Documents/Codex/2026-05-12/CARE2.0/experiments/care_replay/results/2026-08-10-baumgartner-warmstart-v2-external-confirmation/README.md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RGPE、ICM 和混合路由各有优势，但没有一个固定迁移方法在所有任务都可靠。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RGPE 会根据 source 模型在 target 观测上的排序损失给不同模型加权。它在 dielectric 到 experimental gap 上非常强，但在另外多条 final-score 比较中显著变差，说明经典方法也会负迁移。Two-task ICM GP 通过多任务协方差联合建模，整体更保守，但仍不是普遍最优。Hybrid router 在 calibration 信息帮助下选择方法，AUC 在五条路径上为正，支持路由机制的价值。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必须解释深蓝框中的限制：在这五条路径里，CARE 自己的 source-transfer candidates 全部被 gate 拒绝，所以 CARE 的正向结果主要来自 target-only fallback。不能把“系统避免了负迁移”写成“CARE source transfer 全面击败传统方法”。当前平台价值是比较、路由、拒绝和审计。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RGPE=按目标任务上的排序表现给多个 GP 专家加权；ICM=用任务间协方差联合建模的多任务 GP。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下一页进入：真实 LLM 如何进入执行链。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/Users/rentamac/Documents/Codex/2026-05-12/CARE2.0/experiments/care_replay/results/2026-08-08-classical-transfer-confirmation/README.md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不再只是写解释，而是在看不到 target outcome 的情况下冻结一个可执行 initial-design hypothesis。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这一页讲清楚本轮新增的真实 LLM 调用。输入包括完成的 source outcomes、source 层统计、target schema、公开候选条件和 source-prior 排名短名单；明确不包含任何 target outcome。使用 CommonStack 上的 openai/gpt-5.4，模型输出一个 JSON hypothesis：三条 candidate IDs、各自角色、机制解释、置信度、失败条件和是否 abstain。原始 prompt、原始 response、token usage、API timing 和 SHA-256 都保存。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输出有两种执行方式。Raw LLM 直接执行模型选出的三个点；Compiled LLM 把模型提供的语义锚点，与 source 共识最优点和 top-50% 质量区内的 maximin 几何探针组合。三点以后，两种方法都退出 source 和 LLM，统一运行 target-only GP-UCB。这样 LLM 真正改变了实验开局，但后续预算和优化器仍可公平比较。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semantic anchor=LLM 根据科学机制挑出的重点条件；compiler=把语义建议转换成满足质量和几何约束的执行方案；abstain=LLM 主动拒绝迁移。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下一页进入：Suzuki LLM Case Study。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  <a:p xmlns:a="http://schemas.openxmlformats.org/drawingml/2006/main">
            <a:r>
              <a:t>- /Users/rentamac/Documents/Codex/2026-05-12/CARE2.0/experiments/care_replay/scripts/run_llm_initial_design_hypothesis.py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给出了正确的反应区域，但直接选三点覆盖不足；安全编译后 AUC 反超 fixed v2。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真实模型在不知道 MINLP2 产率的情况下提出：同底物 source 支持高温、高 loading 的 P2L1 XPhos Cl 区域，温度是主要迁移因子，置信度 0.73。Raw LLM 选了三个都集中在该催化剂家族的点，虽然初始质量不错，但给后续 GP 的几何信息不足，AUC 只有 91.819，低于 fixed v2 的 98.061。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安全 compiler 没有丢掉 LLM。它保留 LLM 的 candidate 024 作为 semantic anchor，加入 source 共识最优 candidate 039，再从 source top-50% 区域中选择 maximin geometry probe 013。这个三点组合 AUC 达到 100，比 fixed v2 高 1.939，二者 final best 都是 100%。这说明合理角色不是让 LLM 替代数值优化，而是让 LLM提出可解释的科学方向，由 compiler 保证可优化性。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Raw LLM=直接执行三点；Compiled LLM=保留一条 LLM 语义决策并加确定性安全约束；AUC=越早找到好结果越高。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下一页进入：五任务 LLM 组件结果。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/Users/rentamac/Documents/Codex/2026-05-12/CARE2.0/experiments/care_replay/results/2026-08-12-llm-hypothesis-initial-design/suzuki_minlp2/evaluation_compiled/summary.json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/Users/rentamac/Documents/Codex/2026-05-12/CARE2.0/experiments/care_replay/results/2026-08-12-llm-hypothesis-initial-design/suzuki_minlp2/llm_hypothesis_record.json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任务结构路由在五个 target 上平均 AUC 比 fixed v2 高 2.12，4/5 不下降，但置信区间仍跨零。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五个 target 都是真实 API 调用，共五条主 hypothesis、66,293 tokens。候选路由完全由任务结构决定：只有一个 completed source 时采用 compiled LLM；有多个 source 时采用 raw semantic design。每个 target 的后续 GP、预算和 candidate pool 与 fixed v2 完全一致。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逐任务 AUC delta 是：Suzuki +1.939，Morpholine-AlPhos +5.203，Phenethylamine-AlPhos -0.947，Morpholine-tBuBrettPhos +4.422，preliminary 0。平均 +2.123，win 3/5，non-loss 4/5，final best 5/5 不下降。95% CI 为 [-0.226, 4.473]，仍然跨 0，所以不能写成统计上已经证明 LLM 普遍优于 fixed rule。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还要说明，这条路由是在观察组件行为后形成，五个 target 也都曾被项目使用，因此属于 retrospective ablation。正确下一步是冻结 prompt、compiler 和 route，在全新的 target 上执行。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任务结构路由=按 source 数量选择 raw 或 compiled，不读取 target outcome；retrospective ablation=回顾性组件实验，不是新的外部确认。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下一页进入：结论边界。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/Users/rentamac/Documents/Codex/2026-05-12/CARE2.0/experiments/care_replay/results/2026-08-12-llm-hypothesis-initial-design/aggregate/suite_summary.json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已经成立的是可信迁移流程、一个外部固定规则正例和真实 LLM 的正向组件信号；尚未成立的是 LLM 外部普遍优势。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左栏是可以明确说的：我们建立了统一、可审计的 replay harness；固定 v2 在一个真实外部 Suzuki target 上相对强 baseline 的 AUC 提高 8.66；真实 LLM 已经生成并执行结构化 hypothesis；五任务回顾性组件实验平均 AUC 提高 2.12。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中栏是不能说的：任意跨领域稳定迁移、LLM 已在全新 target 普遍优于 fixed rule、task-level CI 已排除零增益，以及 source 在优化全程持续贡献。右栏是项目真正的定位：可信赖的科学知识迁移框架，强调强 baseline、冻结协议、负迁移审计、exact fallback，以及成功和失败共同沉淀。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一句话收束：历史实验可以形成可执行、可拒绝、可验证的 Skill，但每个泛化结论都要由冻结后的新任务来支持。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可信迁移不等于每次都迁移；能够识别不该迁移并安全回退，也是系统能力。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下一页进入：下一步实验。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优先冻结 prompt、compiler 和 route，再用真正外部 target 检验 LLM 的独立增量。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详细讲解</a:t>
            </a:r>
          </a:p>
          <a:p xmlns:a="http://schemas.openxmlformats.org/drawingml/2006/main">
            <a:r>
              <a:t>P0 第一项是扩大 external targets：冻结同一个 v2 skill family，在更多未参与开发的 C-N、Suzuki 或相邻 reaction campaigns 上执行。只有多个独立 target 才能计算 task-level CI。P0 第二项是冻结统一 Confirmation Protocol，包括任务根列表、预算、primary metric、selection hash 和 skill fingerprint，防止每个结果出来后改变口径。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针对 LLM，还要额外冻结 prompt、模型版本、raw/compiled route、compiler 参数和 trace schema。面对新 target 时不能再根据结果选择哪条路线。确认实验仍然比较 fixed v2、LLM hypothesis-only 和 matched random hypothesis，所有组使用相同 source、candidate pool、initial-design size 和 target budget。之后再研究 skill accumulation 和远距离领域扩展。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名词解释</a:t>
            </a:r>
          </a:p>
          <a:p xmlns:a="http://schemas.openxmlformats.org/drawingml/2006/main">
            <a:r>
              <a:t>Confirmation Protocol=事先冻结任务、预算、指标和版本的确认性实验协议；skill accumulation=随着完成任务增加，SkillBank 是否带来可重复收益。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转场</a:t>
            </a:r>
          </a:p>
          <a:p xmlns:a="http://schemas.openxmlformats.org/drawingml/2006/main">
            <a:r>
              <a:t>汇报结束，进入讨论。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/Users/rentamac/Documents/Codex/2026-05-12/CARE2.0/experiments/care_replay/results/2026-08-12-status-and-ppt/CARE2_CURRENT_STATUS_CN.md</a:t>
            </a:r>
          </a:p>
          <a:p xmlns:a="http://schemas.openxmlformats.org/drawingml/2006/main">
            <a:r>
              <a:t>- /Users/rentamac/Documents/Codex/2026-05-12/CARE2.0/experiments/care_replay/results/2026-08-12-llm-hypothesis-initial-design/README.md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ff6a43e48e4c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a6b6daad71496d" /><Relationship Type="http://schemas.openxmlformats.org/officeDocument/2006/relationships/slideLayout" Target="/ppt/slideLayouts/slideLayout1.xml" Id="R8377fd18f36d45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77fd18f36d45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616603cb34a1e" /><Relationship Type="http://schemas.openxmlformats.org/officeDocument/2006/relationships/notesSlide" Target="/ppt/notesSlides/notesSlide1.xml" Id="R58151d95a1d840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70305b2cf645c0" /><Relationship Type="http://schemas.openxmlformats.org/officeDocument/2006/relationships/notesSlide" Target="/ppt/notesSlides/notesSlide2.xml" Id="Rfe9ecf95ea70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30e91d6004942" /><Relationship Type="http://schemas.openxmlformats.org/officeDocument/2006/relationships/notesSlide" Target="/ppt/notesSlides/notesSlide3.xml" Id="R491d0ccc126549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eaf9d69a442e0" /><Relationship Type="http://schemas.openxmlformats.org/officeDocument/2006/relationships/image" Target="/ppt/media/image.png" Id="R0be3f493484b489b" /><Relationship Type="http://schemas.openxmlformats.org/officeDocument/2006/relationships/notesSlide" Target="/ppt/notesSlides/notesSlide4.xml" Id="R36847e70b2f440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df669c4a84d17" /><Relationship Type="http://schemas.openxmlformats.org/officeDocument/2006/relationships/notesSlide" Target="/ppt/notesSlides/notesSlide5.xml" Id="R22d4b0966f9f4d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2493e70bf49df" /><Relationship Type="http://schemas.openxmlformats.org/officeDocument/2006/relationships/notesSlide" Target="/ppt/notesSlides/notesSlide6.xml" Id="R2de825632d7140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a4e1830204a36" /><Relationship Type="http://schemas.openxmlformats.org/officeDocument/2006/relationships/image" Target="/ppt/media/image2.png" Id="R5fe3eb055f1c445d" /><Relationship Type="http://schemas.openxmlformats.org/officeDocument/2006/relationships/notesSlide" Target="/ppt/notesSlides/notesSlide7.xml" Id="R2c3435b056b142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8c2c18ff54f7f" /><Relationship Type="http://schemas.openxmlformats.org/officeDocument/2006/relationships/notesSlide" Target="/ppt/notesSlides/notesSlide8.xml" Id="Ra8582b999e3a45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2072ee8b440e7" /><Relationship Type="http://schemas.openxmlformats.org/officeDocument/2006/relationships/notesSlide" Target="/ppt/notesSlides/notesSlide9.xml" Id="R74018f8c479b41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b4beeb5ff4293" /><Relationship Type="http://schemas.openxmlformats.org/officeDocument/2006/relationships/notesSlide" Target="/ppt/notesSlides/notesSlide10.xml" Id="R4a8f398524cf4a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0ceced63b4c21" /><Relationship Type="http://schemas.openxmlformats.org/officeDocument/2006/relationships/image" Target="/ppt/media/image3.png" Id="R84359be7f3d04bcf" /><Relationship Type="http://schemas.openxmlformats.org/officeDocument/2006/relationships/notesSlide" Target="/ppt/notesSlides/notesSlide11.xml" Id="R3a4406a334084a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c0c11375f84972" /><Relationship Type="http://schemas.openxmlformats.org/officeDocument/2006/relationships/image" Target="/ppt/media/image4.png" Id="R27359271b5ce4e7a" /><Relationship Type="http://schemas.openxmlformats.org/officeDocument/2006/relationships/notesSlide" Target="/ppt/notesSlides/notesSlide12.xml" Id="R345c10ae863648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3d9582111408a" /><Relationship Type="http://schemas.openxmlformats.org/officeDocument/2006/relationships/notesSlide" Target="/ppt/notesSlides/notesSlide13.xml" Id="R5d8c777da6dc4f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eb326623e48b9" /><Relationship Type="http://schemas.openxmlformats.org/officeDocument/2006/relationships/notesSlide" Target="/ppt/notesSlides/notesSlide14.xml" Id="R88cff637512a437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ceba4683742ae" /><Relationship Type="http://schemas.openxmlformats.org/officeDocument/2006/relationships/notesSlide" Target="/ppt/notesSlides/notesSlide15.xml" Id="R805d3ab0e6da4e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fa170d2cb41d5" /><Relationship Type="http://schemas.openxmlformats.org/officeDocument/2006/relationships/notesSlide" Target="/ppt/notesSlides/notesSlide16.xml" Id="Rc696be5f9c29468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9814a089a4fab" /><Relationship Type="http://schemas.openxmlformats.org/officeDocument/2006/relationships/notesSlide" Target="/ppt/notesSlides/notesSlide17.xml" Id="R71806542a7e641a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ba232b166437f" /><Relationship Type="http://schemas.openxmlformats.org/officeDocument/2006/relationships/notesSlide" Target="/ppt/notesSlides/notesSlide18.xml" Id="R4fc749ecedb347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F90D85-6FCA-44FB-988E-656509B9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D3CEF-55EB-485B-9514-B52B4EFD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面向科学实验的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可信知识迁移框架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DA0930-5FDE-48B0-990B-0677DFDB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从 source-outcome skill 到冻结外部验证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C0801-2EDA-44F2-9884-299F874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B14BB-0B13-4FCE-9320-7564B8EF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项目现状与方法更新 · 精简汇报版 · 2026-08-12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B2853-78DB-4AEC-A8F8-20D98899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314B9-BFFF-425D-8693-BD8A12CC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AC50A-16A3-4A96-BFFC-E4CF141B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0353E-BAFC-453A-96D1-3DB75673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可执行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62BDF-A481-4F60-AA13-04ADFF26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A1789-B25D-43A0-9ED5-4E29304C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新实验决策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1DAE1-055F-4958-AA20-952A2A3C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866F4-F8CA-4216-ACA4-7E089787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证据沉淀</a:t>
            </a:r>
          </a:p>
        </p:txBody>
      </p:sp>
    </p:spTree>
    <p:extLst>
      <p:ext uri="{BB962C8B-B14F-4D97-AF65-F5344CB8AC3E}">
        <p14:creationId xmlns:p14="http://schemas.microsoft.com/office/powerpoint/2010/main" val="21089180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4A1954-41DE-4629-9E61-6EE5A639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CURRENT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D67D4-6144-4CC7-BB07-E5CE2C4F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6510A-3235-49C9-9570-D8544C06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外部固定规则证据与真实 LLM 证据已经分开验证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91ABF-CFEC-497E-870F-74D0354A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8BF37-3835-4BA1-8FD6-183C7A28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+8.66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90DA0-D1D7-49A4-A1F8-9599A0F9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外部 AUC 增益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78AA8-D699-462C-9623-7868E77E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Frozen v2；不含 LLM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BC5872-50FB-4FDA-9296-9BA74960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+2.12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874A81-119F-4EAE-A6AC-6FDB7908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平均 AUC 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5608B-6149-43AA-8AD3-19B572DC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5 个 target；回顾性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BA62EF-5798-4DAA-8E0E-66CF6501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4 /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5A0A6B-5401-41DC-9686-5E70AE82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路由不下降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10672-A806-4EA1-BF6D-EDC09CEC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win 3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507BD0-3F0E-4F62-8AC8-CE1C1739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1 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EB843A-61ED-45B1-9CE3-F77E81E2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冻结外部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877BF-2C40-41AE-B4B7-E49C4122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LLM 尚待外部确认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4E2D02-0E00-4BF7-BE6F-B43A666C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20F373-9946-419E-A849-22B3224E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AEE3D7-313E-4F05-9769-516B01AF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4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v2 已有一个严格外部正例；真实 LLM 已进入 hypothesis 与 initial-design 决策链，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五任务平均为正，但置信区间跨零，下一步必须在全新 target 上冻结确认。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8EA3B5-4FB5-4874-899C-CBB72304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569627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15B27-0E73-4BE7-851A-65F0030A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0455C-E8F0-4F7C-9DC2-3C78432D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FB8898-C241-43B8-83A2-8323744F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昂贵实验中，历史经验能否真正减少试错？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BC4E7-A96F-4E67-B193-B489EB5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D825D4-4506-4D41-986C-C65ED344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D8B22C-C877-43C4-B076-15DE313C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45C40-30EB-47A0-843F-D63F8E6D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已知信息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B5A02-D202-4E8E-831E-2F8D2675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已经完成的 source experiments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的公开候选条件与变量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固定、有限的实验预算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尚未揭示的 target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5C29D-C09C-4AFD-A79F-C6EC86E8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9C9A9-D1F4-4C4F-8FF1-6F50C48A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1B1D2-AA89-4E91-B73B-A5056DA6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每轮决策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D08D2-866A-439F-AE13-0F45F324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选择一个候选实验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只观察被选点的真实结果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target model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决定迁移、持有或回退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487013-E85B-4A86-A1DB-609B350D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0264D0-BEF9-4F23-8435-FD835E98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79BC8-B775-44EB-BD5F-64ECD6A3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20379-D10B-4A6A-BF23-66CD6959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更早找到高质量候选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相同预算下提高 final best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不偷看 target outcome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避免负迁移并留下 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BA65AB-22CE-473E-AA87-DE252659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3789FF-F87A-45AF-9F68-0339109A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核心问题：source history 是否改变 target 的选择顺序，并让有效实验更早发生？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C0A34-37A8-4144-B77B-4014548E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960440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44078-811C-42B4-A831-D22E2DDF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EXECUTION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9AF91-4328-4060-9F47-590AE271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4A026-352E-4652-B658-BC6C44E1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历史实验只影响开局，目标观测开始后统一使用 target-only GP-UCB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31769-69F4-4DF6-B4F5-1E932F62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3f493484b489b"/>
          <a:stretch xmlns:a="http://schemas.openxmlformats.org/drawingml/2006/main"/>
        </p:blipFill>
        <p:spPr>
          <a:xfrm xmlns:a="http://schemas.openxmlformats.org/drawingml/2006/main">
            <a:off x="1575410" y="1257300"/>
            <a:ext cx="9041181" cy="5095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0A3188-6E35-4CF0-9C0E-1BCEAA57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6122064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7F7E17-6BC8-47E7-A99B-F4E99A05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REPLAY 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131BD-730F-42A0-9973-9C66E212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5579D-81CE-46C1-A9B0-0E28AD75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历史数据按真实实验节奏逐轮揭示，而不是一次性看完整答案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2A662-C845-4E88-8DC0-92BCB628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2BACE-96AE-4D38-A953-9D4721F6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E33A5-551C-4E4C-9292-E4160247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D87EF-C96D-4E81-A3B3-76210C5D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 target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outcomes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B7D1C0-5E98-4766-BB33-D2CB654A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37F04-9122-4887-AD35-FE93E25A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9F607-D488-48C5-B87D-0CD11CC4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选择一个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candidate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41D1D-2778-438B-9327-F9E7E6CF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88334D-9189-4F7F-999C-B224612A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CD8D3-55B1-4EED-9507-F5CBF071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只揭示该点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真实 outcome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938F5D-269B-472B-8540-B00CE17E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F66ED-8972-41DA-8C88-EA64E9E5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2C215A-FB2F-457F-AEAD-B72E188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更新 target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CF5A24-AB49-4332-989B-90D38D7B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79D477-C820-4255-89BD-1CE5339C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记录 metric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CF5E51-610D-4B22-91AC-8E31969B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90ED38-3AE4-42BE-9251-B00FD638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公平性约束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75BDD-3D5B-4DF6-AF3F-07B5E8CF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candidate pool · 相同初始点数量 · 相同 reveal budget · 相同 seeds · 未选点 outcome 始终不可见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C1A04D-EB2C-43D6-8D92-82358F08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不能替代新 wet-lab 实验，但能严格测试有限预算下的逐轮决策与数据泄漏。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A66023-970B-4B6C-91E4-DE881B94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98014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796A0-B2BA-4B59-8EB8-629DB93F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HYPOTHESIS GENERATION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40DEA-D873-44BE-A090-86D36226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E0172-66E4-41CE-8CAE-952A2D13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Hypothesis 必须落到可执行决策，而不是停留在自然语言描述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318DC-0F73-4DD2-B6B2-78B2FC85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52BDF-DA32-4678-AB2A-85CE641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24E5C-0871-43A8-BE42-3FAA7AB3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3D6EF-E478-44F6-A36E-E66C6C88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source history 与 outcome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target schema / variable roles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候选空间与实验预算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已有 SkillBank 与失败案例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8CE06-30EE-470F-AE03-DFF7AFF9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FFDC3-FA6B-4A6E-894E-E1BCD256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结构化输出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15FCE-D409-4BB6-B152-52667B23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5AB0E1-321D-4D08-8794-53A8E39A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scope 与 role map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prefer / penalize 条件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quality region 与 operator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confidence / failure condition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A512D-1D2F-4609-93DD-21F5CC44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1E57E-0367-4314-A904-0FD07755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08D43-EA60-484F-9EB6-1C7B4FA4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E3E750-9E53-475F-A051-6CF71396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编译为 TransferSkill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选择 candidate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揭示 target outcome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更新 evidence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00EC6-122C-4A4E-B79B-DE8A47A7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03BD89-8785-4E87-B4A2-12565165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最新 v2 的 hypothesis 为固定规则，非 LLM 生成；目的是先验证执行链本身。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27D5E-68E5-453B-BE6D-14894FFB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975741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D67121-2822-49AA-B732-A34A7A0E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QUALITY-BOUNDED WARM START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85E6A-D8FA-4F6E-8894-D1561558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C6C521-3C6A-4DA0-91FD-D7E33577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v1 的失败如何变成 v2 的质量约束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8EFE2-B576-4A0D-B650-17F76C04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3eb055f1c445d"/>
          <a:stretch xmlns:a="http://schemas.openxmlformats.org/drawingml/2006/main"/>
        </p:blipFill>
        <p:spPr>
          <a:xfrm xmlns:a="http://schemas.openxmlformats.org/drawingml/2006/main">
            <a:off x="1600759" y="1276350"/>
            <a:ext cx="8990482" cy="5067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30997-3CE8-492C-A61F-6C239A6B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7579632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64A69-C8C2-4260-9F83-3FC7480C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EVALUATION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046B9-CC30-40CA-9695-8BB563BB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72063-D071-4899-A8C5-8320767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不只看最终最好值，更看多久找到好结果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337AD-3B5C-4B4C-8327-6905AC70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2C859-A588-4F0D-9868-BB40AAA2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0958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F70DB-47D9-4075-AA88-462B79B6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Primary：best-so-far AUC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531FA-60E5-449A-8C88-D25B92C0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Bₜ = maxᵢ≤ₜ yᵢ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D1920-4BDC-4580-B603-68EC4BCC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AUC = (1/T) Σₜ Bₜ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85B1F-7DAB-44B7-A193-E61FED33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越早进入高质量区域，AUC 越高。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2C003-C7B2-49AF-97CD-90F26202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6764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Secondary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7FA298-0FE6-4062-8A22-2ADEF036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4953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Final best：预算结束时的最佳 outcome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Rounds to threshold：达到 95% / 100% 的轮数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Win / non-loss rate：跨 campaign 稳定性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Paired delta 与 95% confidence interval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Negative transfer rate 与 acceptance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34594C-EF2F-40FE-B2C4-A6D4A7AA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10896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AA4102-AB75-449C-8FB2-CA8EE395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一个 external target 上的 100 个 random seeds 反映算法随机性，不等于 100 个独立科学任务。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817B56-F022-42C6-893A-76418389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72747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C950EC-882F-44E6-A721-348FB079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CALIBRATION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E91AD-39A6-46B4-9F5C-7869B709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23461-8B23-454B-B3C5-A0D8AC4B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先过稳定性门槛，再在合格策略中比较收益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7B2F2-4056-402F-8625-E4C368B4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46981-1289-4DC4-A4DA-5F99183F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Step 1 · 资格检查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36BC-0FE7-4E95-A9CF-FB2041AD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47625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67CB8-A5A9-4AAB-B64B-56F64BD0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95% CI lower bound 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82A25-3745-48E9-B66B-3A3D3BD7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22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并且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2CD9D-FA68-43F8-B3A0-83A9D2BD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task non-loss rate ≥ 0.8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B24676-CA40-4623-8956-E19D4D90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028950"/>
            <a:ext cx="62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31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20445D-939A-4668-9EBD-93347443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Step 2 · 冻结选择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E712C-ACED-4A32-9BED-A69AA3C8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52650"/>
            <a:ext cx="47625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A6E36-06DE-4DF9-A1BF-982845C5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90800"/>
            <a:ext cx="42291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eligible routes 中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mean AUC gain 最大者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737EE-D356-4967-8FF4-2AE800E0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14750"/>
            <a:ext cx="422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CI lower bound 作为 tie-breaker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645B23-A8B2-4669-8766-10FCE100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DE407-8847-428B-A0C6-A8DF49A1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阈值来源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37BFA-0350-491F-9BC1-43337905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101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CI lower &gt; 0 有统计含义；non-loss 0.8 是预先冻结的经验门槛，需要 sensitivity analysis，不能写成学界通用常数。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7AAAA-DA1E-4F21-B903-FB174401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57409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642FB6E-0643-4341-A236-771084A5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BASELINE PROTOCOL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B3EC5B-E7CB-4BD9-B69A-644097B5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EC7D04-3B7B-4FD9-A693-F9924D3A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必须超过逐任务更强的 target-only 对照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2F4F8-AD11-48AC-8765-6E3178DF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CD030-C923-46EF-A9D0-DA590A72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4CF73-A13B-48D9-8B68-9050B22F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项目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7A818-CACF-4539-BCFD-EE61B863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8DFB8D-9E7A-4833-8CD7-F5813FFF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Frozen v2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81E08-0F64-4F8B-9C86-6AB31D69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4A994A-7376-4B2D-A7C4-BB8393C3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Random-initial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2E63F-308A-490B-9164-D23EB3DE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F1CF0-FE7F-4109-B650-B3C92D6D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Space filling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EFB36-A40A-436C-B054-DD0FE2E5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5712A-168A-417B-AE68-36A38556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前三个点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7E8B9-4F7C-46A7-902C-5DD7E1C5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A689B2-266C-440C-93C3-0E0033B7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source-guided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1BCF32-A583-4011-90CF-AF5EEC2F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8F944E-5FF6-4A5D-8F66-638DFA38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random，100 seeds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79D50C-541C-4D7E-BD71-D0EB28ED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40F09-4EE2-4ED7-9C0F-90BE21DAE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deterministic coverage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9F3D83-35FA-45A6-AE03-898519E2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B66568-1131-44C1-82F9-3F26606C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后续方法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FB2D2A-3226-4996-B24F-8E6589AA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8A5EA0-EE29-4EFB-B450-86057A2F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AFC55E-095A-42CB-AF46-6D9DFA49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F39F27-9E71-43D4-9E87-CD6913A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E87C3A-3396-4971-9622-C3B92682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E5438F-8957-4FAB-A3D1-CA3093FB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2631D6-E427-4BDB-8CE6-4DAB70B0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FE2903-86E9-4FBD-842F-A1964BB4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 reveal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26647C-40D2-498F-B219-4B1A02B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D81003-169C-412D-BA39-0BBD56F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0A7D19-67A1-4E67-84B1-BD35D603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6F4F90-4CF2-4461-BD8A-D7A8090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F44EAC-A4D5-4D04-9F80-AD058211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42E5D2-2B1B-420B-B938-9E150F33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2ED5A5-1090-4136-906C-40DACAB1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C95D69-E134-421D-B180-57212CFB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预读 target outcome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BF47A8-4A9C-499A-8861-60DB4E53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2F3EF9-670B-48E5-9516-2B199D56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672696-86A2-4D2E-B5AA-1E0C2922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EE1A84-60D8-4CF6-9253-FA0083F1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29A05A-2E7A-4F47-8B9D-888B0E80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C14898-2416-492B-B70A-287657C7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DC0135-E3FC-47D9-B2EE-02B195AB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C54A20-D783-4249-A596-84031AA0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比较口径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6AC913-60F7-4456-A2DB-1C69F985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520D00-CE94-4426-A3C3-02201D93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相对逐 campaign stronger baseline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134B98-A85C-4858-89A4-CDEF3E10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647244-0A15-46CF-BFA6-FBE67F47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 baseline 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13180FC-779A-4086-A1BA-8BE5E4E5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03BA32-30CC-4681-88BA-3332F0AA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 baseline 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60A8E96-38E8-49F5-AC38-C05DB623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F1208C9-926B-4690-96A3-F1B89B55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Random baseline 不是纯随机搜索：只有前三个点随机，之后仍运行完全相同的 GP-UCB。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54EF1F7-F54B-44C6-A572-AAEDEE36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734596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B1D1B-B1EA-42E0-A14D-0A6C1878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EVIDENCE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CF3174-C03A-4B17-B1A7-32623B48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B0048-F0FC-4806-8EFC-1C0D2EDF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开发正向不等于泛化；外部验证才真正改变结论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BA82C-80AF-4ADD-B268-05A60C09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59be7f3d04bcf"/>
          <a:stretch xmlns:a="http://schemas.openxmlformats.org/drawingml/2006/main"/>
        </p:blipFill>
        <p:spPr>
          <a:xfrm xmlns:a="http://schemas.openxmlformats.org/drawingml/2006/main">
            <a:off x="1651959" y="1238250"/>
            <a:ext cx="8888081" cy="5143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384A2-08A0-462E-B057-1EDD231E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8319537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04A3E-FBAF-493D-B273-1BCDB424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86048-1D2F-4EED-A69C-D7FD2875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302AF-3DA6-46C3-BEF6-C07360B5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Frozen v2 同时提高搜索过程和最终结果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5A68F-0399-4AF5-86A8-0B6BA5F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59271b5ce4e7a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E0E23-F992-4956-94C1-2B881A8A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5669327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65C8A-92CE-4BDF-8BA3-7439FB2A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CLASSICAL TRANSFER BO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9EDAF-1763-422D-8519-23608249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5E84E-967D-4195-AEA8-C8F2C75C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没有一种 transfer family 在所有任务上都可靠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2BA1E-2948-4C32-AC22-AB587CF9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9C1A7-8661-4EFF-9C14-633443E6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RGPE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138A7-EC7C-49F3-BA49-11BBAEFD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Dielectric → expt. gap：显著强正向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其余 4 条 final-score 比较显著变差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说明经典 transfer 同样会负迁移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1374D-7879-4A69-A462-B0AE4ABB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764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Two-task ICM GP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1306F-0889-49F7-94A1-887423FC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4790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整体比 RGPE 更保守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部分路径点估计为正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仍然不是普遍最优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8D57CD-DE13-40C1-B78B-73BDDA9E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Hybrid router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53E85-6679-48CC-8FD0-00E4BDB1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479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AUC 在 5 / 5 路径为正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Final score 在 4 / 5 显著为正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但仍依赖 target calibration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DA958-BE54-41F8-88C2-BED74B9E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7FC61-13E1-42E8-94CF-029E5938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关键解释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A85BD1-8FF4-4D0D-A721-B17C1186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48150"/>
            <a:ext cx="8858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这 5 条路径中的 CARE source-transfer candidates 全部被 gate 拒绝；CARE 的正向值主要来自 target-only fallback，不能写成 source transfer 的胜利。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17F68-8EE5-49A1-A9AA-52AB80A7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19750"/>
            <a:ext cx="1089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系统价值：比较、路由与拒绝负迁移，而不是宣称某个固定 transfer 方法全面胜出。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DEC244-9267-4BCC-9C2A-16D53DAD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2636845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D737D0-B073-4250-A923-40FA8258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REAL LLM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DED13-5F07-48FF-9719-C734002A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1FC51D-8F86-4996-AB8E-C31D3F93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真正进入决策链，而不是只负责写解释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84771-2088-4000-BCE2-0D81DAD0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42C83-9817-4AC3-8AF3-ECCCFC12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允许输入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55EC0-A25B-462A-B852-A752F69D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42B69-99A1-470E-BA15-010E3B3A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完成的 source outcomes 与统计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target schema 与公开候选条件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source-prior 排名短名单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禁止读取任何 target outcome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4BF33-EE12-4C8E-BD3B-302CD104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0EB53-3F68-4D5F-977F-F3506CA5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真实模型调用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691C8-C524-455B-9688-6DB67B70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0C0C2-2BFD-4A44-8262-5611A21B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openai/gpt-5.4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01637-8F97-4155-91D7-7EABC5CD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F9F5A-0BCF-4BF7-AF70-BE818785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3 个 candidate IDs + 角色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机制 hypothesis 与 confidence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failure conditions / abstain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冻结为可重放 JSON 记录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D94504-9A27-458E-8FD4-C1D7835E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20DF3-6E47-48BE-AA6C-D5BDFBBF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执行与公平对照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ED1B2-7499-425A-B8EC-1785EEC1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DBE8EF-9650-47A0-8A01-A1BCB9BA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Raw LLM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F4753-F281-4EC2-98E6-BA8BAEE2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直接执行模型选出的 3 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6152A3-E9E0-4895-B0AF-EC96AD1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Compiled 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EB0E9-314D-4ECA-8E4A-8AAF8362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语义锚点 + source 锚点 + 几何探针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14172-E009-40C0-8E36-E605B8DC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之后统一 target-only GP-UCB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8EC865-B840-4F41-87B0-1499310B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A18794-089A-45B2-81A2-703A4182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trace 保存：prompt + raw response + model + token usage + latency + SHA-256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key 不进入代码、PPT 或结果文件。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6AB2E7-D079-45CD-BAB6-C268F671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047079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409645-AAB9-4285-8C2D-AE8C8C49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CASE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A2389-B986-4505-8E6A-9D52EC46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0C318-1016-426A-9CE6-E6A74793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Suzuki：保留 LLM 的科学判断，同时补上可优化性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EF398-75B6-4DDA-8DC3-463E257B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297B93-1431-4155-9DF2-212FEE2E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FA7AE-2D4D-443B-B812-1748DD69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hypothesis · confidence 0.73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BFF79-FB97-45B1-8235-08E9E0AD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同底物 source 支持高温、高 loading 的 P2L1 XPhos Cl 区域；温度是主要迁移因子。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6B2D0-47C4-460B-AF80-C0FD7A41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40269-CEEA-49BC-9F04-2C4411CA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CA10A-F4BB-451B-BA65-7D90BDEF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14656-094F-4F1C-9F5A-EDE9C078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三个初始实验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258648-1BE4-4A5C-956C-6F42E399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155D88-ED38-4643-8800-C3DEA461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13133-645F-4644-863A-01B9EB0B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45A53-9CDE-45FD-8DBE-EA489587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Final best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F35800-316A-41A8-BA43-2EE81265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F983D4-1490-4F96-890A-AA4D2DB4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相对 fixed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5CB51-34CC-4112-8CBF-45036CCA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165D17-E673-4587-ADB3-A1AB2959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 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1A1818-31B5-40EB-BF0A-0913AFE2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CFCB84-1C25-46F9-966E-38E558EA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024 / 059 / 057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A8BFC5-9BA7-48C7-B221-E7EE9D26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415133-CEC2-4286-83A4-9DAB5313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91.819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A53E71-4A10-4FC4-8A9B-1AA66F4F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59BA4-CA57-45EB-93B4-BCF5BD9C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91.819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F1DE4-FFA2-47A3-9683-B76AB225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DFACE8-59AA-438A-9899-8B1E7B00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-6.242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3058DB-CC83-4537-B499-B0CD4507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E7CF70-BF7E-4114-9742-431D7C14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Compiled LLM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52FA69-E73E-4797-9EB3-B6F9E142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1415BC-FFB9-4545-8F81-20B74AE4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039 / 024 / 013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6F2A29-6C6D-4B0F-A3B3-DE285E96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0C7A5B-FCE5-44AC-BECE-3C89888A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80DBED-66EB-4879-B233-454FC5ED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43C407-9517-44D8-BFEF-5DD62561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BC5291-2221-4E59-94F0-871232E3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3E9351-9662-418F-80A8-EA758CE0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+1.939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667084-0961-4A0E-A9AE-441DE97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03A70B-6BC9-4E17-A8EC-9F4FE926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Fixed v2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44B489-4117-473B-BAB6-F632EF06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BAADE8-75CB-46D2-BB1F-5384E799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039 / 038 / 028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6CBBEA-899D-4342-97BF-2840387E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5BDC05-CDA3-4D79-B5B6-A54D08E5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98.061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B8BB0D-46B6-4FC6-B9AB-6943548C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EAEF1C-C12B-4D0B-AE75-3E58BA43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5E7A58-593D-4491-8DCF-B7D989FC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F604B7-7EFB-439A-AC87-09F0C8E0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4C3537-DA8F-41F0-A354-81D6B155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A1DEB61-B2B1-412A-9E0E-3BD19235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Compiler 的三个角色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1B5055-7CC9-4AC9-A9FE-B8852FCC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039 source 共识锚点  +  024 LLM 语义锚点  +  013 maximin 几何探针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E0C2E0-EC31-4D9A-A41E-10A8D3EF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3AE85ED-49CE-4741-A9E6-F741FA6F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04E17F-E1C4-4BC2-8373-0F4E23CC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 compiler 来自组件行为分析，属于回顾性结果；需在新 target 上冻结确认。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352B6F-F85B-4A20-8790-79C62792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4795936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453902-EB0D-44A4-97DD-8A0E668D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COMPONENT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2A7EC-6DA6-479C-9816-0805FD32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AF0DA9-72DF-418A-AC89-7624E5A9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五个 target 平均为正，但还不能说 LLM 普遍优越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C963B-68C7-4AEC-9171-A77392AB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B590B-EA50-4FCA-B21D-6803BFA7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7479F-69D7-40A4-B6E2-3CEBC17C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3352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E0FBC-B1CC-4991-A2D7-DC053528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146685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0E645-3700-458C-8078-397A45B8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153352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执行方式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F41A4-CFCF-4AE8-BE39-A096164C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146685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88EBFE-90D3-44A3-84D2-3E56E14D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153352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AUC Δ vs fixed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A25F0-E92D-4ED4-8234-89522616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1E241-1B12-4962-B425-4DF3DD8D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Suzuki MINLP2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572336-0973-4BC3-86D4-4AB99F8F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198120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19D740-051A-4C72-8277-AD38B27E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204787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Compiled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B7A269-6435-421B-8A73-15781183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198120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A6F905-E264-475D-B582-F11279BC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204787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+1.939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598B3C-10F1-4460-9BC5-4E5CCA01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555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3FE85-BB3C-48FE-A6D6-76284EA7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6222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Morpholine · AlPhos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02E14-7E3C-4AAA-9253-C12E3836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249555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280788-FA85-4DAC-A713-21C25E43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256222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97BF39-9FD6-4DA5-A549-8A6C985C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249555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3189E8-2378-49D4-8F43-9384D6F5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256222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+5.203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9865AD-AE09-4D6A-BE4A-7D1530C6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39E786-B805-43D1-853F-1E7D7116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Phenethylamine · AlPhos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DDAF3D-002B-45D4-A55E-043C7BDF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300990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3D580C-4B5F-4D9E-BAC8-9D562975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307657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50FF10-6355-44DC-B106-81D9EEF7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300990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108839-3F4B-4690-87EA-A6912AC7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307657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-0.947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B3CC95-5C93-4727-9EB4-A8538612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3EBD09-74B7-4178-8746-1A9247D5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Morpholine · tBuBrettPhos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DC4113-1BF2-48B3-9E9A-EDBE7BFA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352425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3D5807-EF73-4209-B6DB-C898AB51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359092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6E8E7B-97E4-48A6-AF14-31CF4E6C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352425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76F495-0821-4E9F-BE1A-3CD1ABC1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359092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+4.422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5CD3E1-6A0E-46B0-A980-E1915A4C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342490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AE74A6-A623-416D-BFDE-E3772FF3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272503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tBuBrettPhos preliminary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68FC5C-F046-4BAE-AF72-B5B7599D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603" y="4038600"/>
            <a:ext cx="1868129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0F5210A-6611-4EF1-9AAA-18C9B5C8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803" y="4105275"/>
            <a:ext cx="1715729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Raw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93DBC8-5DE9-4BB7-80BF-557010BE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32" y="4038600"/>
            <a:ext cx="194596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136CD8-815C-47BA-97B1-53DEC267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932" y="4105275"/>
            <a:ext cx="179356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0.000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C1F2BD-DDDD-4123-90E3-225C0384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81150"/>
            <a:ext cx="2781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+2.123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4C8401-926B-447D-B8AA-FB90BE04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98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 AUC 增益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B2AA77-FE27-4D7E-A35C-2203C3FF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098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fixed v2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CBDC6D-ED96-47B1-B40F-BC692B15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2781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4 / 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A35B3F-1722-4DC6-ABE3-120EA928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任务不下降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FBD2D3-7A51-4922-A992-0F07D5BE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576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win 3 / 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63A65A-99FA-4BD2-AA08-75542015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76750"/>
            <a:ext cx="2781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 / 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D138B9-497E-4FD0-BBFE-43EB368F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054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Final best 不下降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43B477-D71D-4330-B9C4-E25A192F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5054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终点结果持平或更好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BD9F70-DBB2-4CE4-8080-FA76D2CA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B0617F-9F62-472B-B167-4A655CF1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681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95% task-level CI  [-0.226, 4.473]  ·  区间跨 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9061A2-2759-4D6F-9E5B-91C918F6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9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五个 target 均为项目既有任务；路由在观察组件行为后形成，因此当前结论是“有正向信号”，不是“已证明普遍优越”。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8D1C7ED-0CE2-453F-951F-A4117F88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3895626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8917B-9882-4E7A-9F61-3807722F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CONCLUSIONS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1AC22-F6EF-46A7-A967-D9C4C232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887A5-CDD0-42BC-822D-61C5147B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已真正参与迁移决策，但外部泛化仍需确认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4414A-5935-4D35-9E86-BBE934B5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77498-BF75-4ABE-A89A-ABB0E3E7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已经成立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3FF49-5836-4F29-B516-83E3377E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9EEA94-D0E1-4B5D-9113-439CB20B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统一、可审计的 replay harness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外部 fixed-v2 AUC +8.66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真实 LLM 生成可执行 hypothesis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五任务平均 AUC +2.12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9972C-BE6A-4DC5-BA63-AFC77D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仍未成立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C9CD36-C99F-4782-8593-245DB400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253015-3FFF-4707-A08E-75511E9C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任意跨领域稳定迁移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已在新 target 普遍优于 fixed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task-level CI 已排除零增益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在优化全程持续贡献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E052D-2F0B-4924-8418-4B30A47B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项目定位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6E2320-82C0-463A-BF35-AE0F0338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E9411-28F1-45C4-9300-86C518BA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可信赖的科学知识迁移框架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强 baseline 与冻结协议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负迁移审计与 exact fallback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成功和失败共同进入 SkillBank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E32DB-BF05-4809-9DE0-2C8B2347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9D979-8162-4675-912D-41A02469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历史实验可以形成可执行、可拒绝、可验证的迁移 skill；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但每一个泛化结论都必须由冻结后的新任务来支持。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DDD8AB-395D-495B-B5E0-566BB03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9012480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AC9B99-51D7-4DC8-9E13-2A59D65F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NEXT EXPERIMENTS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54D11-9BFC-4D80-AC8C-8F5C7DEC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43E9E-85AE-4FE4-8B42-0555D3C8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LLM prompt 与 compiler，在全新 target 上做确认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D1715-682B-4299-BED7-DC7F9EF0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75481-5EF8-400F-95FB-4038471A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96FEF-A2C6-4BB1-9668-AF90B1E2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扩大 external targets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560FA-F401-4999-8B42-74EC7FEB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冻结同一 v2 skill family，在更多未参与开发的 C-N、Suzuki 或其他 reaction campaigns 上执行。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0EE18-93F0-4E98-8EF8-C9F14D08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FC8C8-D460-41CB-B7F4-5A720B46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A4D2F-18D1-45AC-9E69-992D9FFC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冻结统一 Confirmation Protocol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E14AE-E46D-4670-B54F-12A530A7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固定任务根列表、预算、primary metric、selection hash 和 skill fingerprint。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5EEFA5-8514-4181-ADC6-BAE4A8BA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85B50C-7310-4ABF-9082-8F85FA99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30155-45BA-4E28-B394-82DDB37E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LLM Confirmation Protocol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0BD87-C077-4886-BEC2-2D4F8F29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固定 prompt、compiler、route、模型版本和 trace schema，再接触新的 target outcome。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8D56A-0DA6-45D4-9B25-A7897580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FBB7BB-F9E1-4AC5-970E-E403D138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1A070-5713-4092-B9B7-405EA557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验证 skill accumulation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FDC26-3147-4C5F-B490-EB77DF6E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completed target 进入 SkillBank，研究连续任务中的更新、复用和 abstention。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8FFAA6-2064-444F-BD04-1618749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3BD6A7-04BD-4C2A-92BB-E9A94DC2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0F457-C0D9-48E8-BD7A-102244D9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扩展相邻领域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222DA-6F5A-4050-BD1A-04D1762BD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优先 reaction→reaction、molecule→molecule、materials→materials，再进入远距离迁移。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449D4-ADB9-43E4-A3FD-4D68102D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E81C8C-8D46-4C93-A7B5-FE4FD992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frozen evidence update · 2026-08-12</a:t>
            </a:r>
          </a:p>
        </p:txBody>
      </p:sp>
    </p:spTree>
    <p:extLst>
      <p:ext uri="{BB962C8B-B14F-4D97-AF65-F5344CB8AC3E}">
        <p14:creationId xmlns:p14="http://schemas.microsoft.com/office/powerpoint/2010/main" val="17820022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2026-08-13T05:40:41.2600000Z</dcterms:created>
  <dcterms:modified xsi:type="dcterms:W3CDTF">2026-08-13T05:40:41.2600000Z</dcterms:modified>
</coreProperties>
</file>