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3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3a4f0753ddbe4e19" /><Relationship Type="http://schemas.openxmlformats.org/officeDocument/2006/relationships/extended-properties" Target="/docProps/app.xml" Id="R2e480cca8cc247db" /><Relationship Type="http://schemas.openxmlformats.org/officeDocument/2006/relationships/officeDocument" Target="/ppt/presentation.xml" Id="Re4dd4eeabd7442e8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7326bc47ad4a4a21"/>
  </p:sldMasterIdLst>
  <p:notesMasterIdLst>
    <p:notesMasterId xmlns:r="http://schemas.openxmlformats.org/officeDocument/2006/relationships" r:id="Rdcb66d15aa564148"/>
  </p:notesMasterIdLst>
  <p:sldIdLst>
    <p:sldId xmlns:r="http://schemas.openxmlformats.org/officeDocument/2006/relationships" id="256" r:id="Rcb592fbc57944900"/>
    <p:sldId xmlns:r="http://schemas.openxmlformats.org/officeDocument/2006/relationships" id="257" r:id="R65b184f7c6454aa4"/>
    <p:sldId xmlns:r="http://schemas.openxmlformats.org/officeDocument/2006/relationships" id="258" r:id="Ree86950017f448fe"/>
    <p:sldId xmlns:r="http://schemas.openxmlformats.org/officeDocument/2006/relationships" id="259" r:id="Rc3ad636328c24804"/>
    <p:sldId xmlns:r="http://schemas.openxmlformats.org/officeDocument/2006/relationships" id="260" r:id="Rda1efea6fe3e4c7a"/>
    <p:sldId xmlns:r="http://schemas.openxmlformats.org/officeDocument/2006/relationships" id="261" r:id="Rbe6f8238d6784f38"/>
    <p:sldId xmlns:r="http://schemas.openxmlformats.org/officeDocument/2006/relationships" id="262" r:id="R5145a7ef8d4d4e95"/>
    <p:sldId xmlns:r="http://schemas.openxmlformats.org/officeDocument/2006/relationships" id="263" r:id="R1290693a379e4781"/>
    <p:sldId xmlns:r="http://schemas.openxmlformats.org/officeDocument/2006/relationships" id="264" r:id="R8ecbbb5824ee47bc"/>
    <p:sldId xmlns:r="http://schemas.openxmlformats.org/officeDocument/2006/relationships" id="265" r:id="Ref87326418954c9a"/>
    <p:sldId xmlns:r="http://schemas.openxmlformats.org/officeDocument/2006/relationships" id="266" r:id="R21b54427172b4ec9"/>
    <p:sldId xmlns:r="http://schemas.openxmlformats.org/officeDocument/2006/relationships" id="267" r:id="Rd3d0cfc794a74468"/>
    <p:sldId xmlns:r="http://schemas.openxmlformats.org/officeDocument/2006/relationships" id="268" r:id="Rff86116ded4f4222"/>
    <p:sldId xmlns:r="http://schemas.openxmlformats.org/officeDocument/2006/relationships" id="269" r:id="R118273d88e664daa"/>
    <p:sldId xmlns:r="http://schemas.openxmlformats.org/officeDocument/2006/relationships" id="270" r:id="R30bd1e9ba4a64037"/>
    <p:sldId xmlns:r="http://schemas.openxmlformats.org/officeDocument/2006/relationships" id="271" r:id="R87f2faf4478c4282"/>
    <p:sldId xmlns:r="http://schemas.openxmlformats.org/officeDocument/2006/relationships" id="272" r:id="R3d2dfc950cb54aba"/>
    <p:sldId xmlns:r="http://schemas.openxmlformats.org/officeDocument/2006/relationships" id="273" r:id="R3f0e532567c34b0d"/>
    <p:sldId xmlns:r="http://schemas.openxmlformats.org/officeDocument/2006/relationships" id="274" r:id="Rda63523e7d1f477a"/>
    <p:sldId xmlns:r="http://schemas.openxmlformats.org/officeDocument/2006/relationships" id="275" r:id="R10b549309a834b00"/>
    <p:sldId xmlns:r="http://schemas.openxmlformats.org/officeDocument/2006/relationships" id="276" r:id="R09334f2164214b2a"/>
    <p:sldId xmlns:r="http://schemas.openxmlformats.org/officeDocument/2006/relationships" id="277" r:id="R9bee0797b09b45ef"/>
    <p:sldId xmlns:r="http://schemas.openxmlformats.org/officeDocument/2006/relationships" id="278" r:id="R0d17318317fd4fe7"/>
    <p:sldId xmlns:r="http://schemas.openxmlformats.org/officeDocument/2006/relationships" id="279" r:id="Ra41dfd6f551b4e04"/>
    <p:sldId xmlns:r="http://schemas.openxmlformats.org/officeDocument/2006/relationships" id="280" r:id="R3a0564b040a24872"/>
    <p:sldId xmlns:r="http://schemas.openxmlformats.org/officeDocument/2006/relationships" id="281" r:id="Rb82b83ac54c741f0"/>
    <p:sldId xmlns:r="http://schemas.openxmlformats.org/officeDocument/2006/relationships" id="282" r:id="R4159e0f0dd9446fd"/>
    <p:sldId xmlns:r="http://schemas.openxmlformats.org/officeDocument/2006/relationships" id="283" r:id="R4c74d77eb11d472a"/>
    <p:sldId xmlns:r="http://schemas.openxmlformats.org/officeDocument/2006/relationships" id="284" r:id="R3beead6c3ecf43c0"/>
    <p:sldId xmlns:r="http://schemas.openxmlformats.org/officeDocument/2006/relationships" id="285" r:id="Rb5969016015a4f84"/>
    <p:sldId xmlns:r="http://schemas.openxmlformats.org/officeDocument/2006/relationships" id="286" r:id="R0e834266383e430c"/>
    <p:sldId xmlns:r="http://schemas.openxmlformats.org/officeDocument/2006/relationships" id="287" r:id="R9d23b2523b9141fe"/>
    <p:sldId xmlns:r="http://schemas.openxmlformats.org/officeDocument/2006/relationships" id="288" r:id="R656ec4edd08c492d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abe5b1dd5fb34f4a" /><Relationship Type="http://schemas.openxmlformats.org/officeDocument/2006/relationships/slideMaster" Target="/ppt/slideMasters/slideMaster1.xml" Id="R7326bc47ad4a4a21" /><Relationship Type="http://schemas.openxmlformats.org/officeDocument/2006/relationships/notesMaster" Target="/ppt/notesMasters/notesMaster1.xml" Id="Rdcb66d15aa564148" /><Relationship Type="http://schemas.openxmlformats.org/officeDocument/2006/relationships/presProps" Target="/ppt/presProps.xml" Id="Rdd473ab3e9cd44ac" /><Relationship Type="http://schemas.openxmlformats.org/officeDocument/2006/relationships/tableStyles" Target="/ppt/tableStyles.xml" Id="Rb8a2ed801c5f40a3" /><Relationship Type="http://schemas.openxmlformats.org/officeDocument/2006/relationships/slide" Target="/ppt/slides/slide1.xml" Id="Rcb592fbc57944900" /><Relationship Type="http://schemas.openxmlformats.org/officeDocument/2006/relationships/slide" Target="/ppt/slides/slide2.xml" Id="R65b184f7c6454aa4" /><Relationship Type="http://schemas.openxmlformats.org/officeDocument/2006/relationships/slide" Target="/ppt/slides/slide3.xml" Id="Ree86950017f448fe" /><Relationship Type="http://schemas.openxmlformats.org/officeDocument/2006/relationships/slide" Target="/ppt/slides/slide4.xml" Id="Rc3ad636328c24804" /><Relationship Type="http://schemas.openxmlformats.org/officeDocument/2006/relationships/slide" Target="/ppt/slides/slide5.xml" Id="Rda1efea6fe3e4c7a" /><Relationship Type="http://schemas.openxmlformats.org/officeDocument/2006/relationships/slide" Target="/ppt/slides/slide6.xml" Id="Rbe6f8238d6784f38" /><Relationship Type="http://schemas.openxmlformats.org/officeDocument/2006/relationships/slide" Target="/ppt/slides/slide7.xml" Id="R5145a7ef8d4d4e95" /><Relationship Type="http://schemas.openxmlformats.org/officeDocument/2006/relationships/slide" Target="/ppt/slides/slide8.xml" Id="R1290693a379e4781" /><Relationship Type="http://schemas.openxmlformats.org/officeDocument/2006/relationships/slide" Target="/ppt/slides/slide9.xml" Id="R8ecbbb5824ee47bc" /><Relationship Type="http://schemas.openxmlformats.org/officeDocument/2006/relationships/slide" Target="/ppt/slides/slide10.xml" Id="Ref87326418954c9a" /><Relationship Type="http://schemas.openxmlformats.org/officeDocument/2006/relationships/slide" Target="/ppt/slides/slide11.xml" Id="R21b54427172b4ec9" /><Relationship Type="http://schemas.openxmlformats.org/officeDocument/2006/relationships/slide" Target="/ppt/slides/slide12.xml" Id="Rd3d0cfc794a74468" /><Relationship Type="http://schemas.openxmlformats.org/officeDocument/2006/relationships/slide" Target="/ppt/slides/slide13.xml" Id="Rff86116ded4f4222" /><Relationship Type="http://schemas.openxmlformats.org/officeDocument/2006/relationships/slide" Target="/ppt/slides/slide14.xml" Id="R118273d88e664daa" /><Relationship Type="http://schemas.openxmlformats.org/officeDocument/2006/relationships/slide" Target="/ppt/slides/slide15.xml" Id="R30bd1e9ba4a64037" /><Relationship Type="http://schemas.openxmlformats.org/officeDocument/2006/relationships/slide" Target="/ppt/slides/slide16.xml" Id="R87f2faf4478c4282" /><Relationship Type="http://schemas.openxmlformats.org/officeDocument/2006/relationships/slide" Target="/ppt/slides/slide17.xml" Id="R3d2dfc950cb54aba" /><Relationship Type="http://schemas.openxmlformats.org/officeDocument/2006/relationships/slide" Target="/ppt/slides/slide18.xml" Id="R3f0e532567c34b0d" /><Relationship Type="http://schemas.openxmlformats.org/officeDocument/2006/relationships/slide" Target="/ppt/slides/slide19.xml" Id="Rda63523e7d1f477a" /><Relationship Type="http://schemas.openxmlformats.org/officeDocument/2006/relationships/slide" Target="/ppt/slides/slide20.xml" Id="R10b549309a834b00" /><Relationship Type="http://schemas.openxmlformats.org/officeDocument/2006/relationships/slide" Target="/ppt/slides/slide21.xml" Id="R09334f2164214b2a" /><Relationship Type="http://schemas.openxmlformats.org/officeDocument/2006/relationships/slide" Target="/ppt/slides/slide22.xml" Id="R9bee0797b09b45ef" /><Relationship Type="http://schemas.openxmlformats.org/officeDocument/2006/relationships/slide" Target="/ppt/slides/slide23.xml" Id="R0d17318317fd4fe7" /><Relationship Type="http://schemas.openxmlformats.org/officeDocument/2006/relationships/slide" Target="/ppt/slides/slide24.xml" Id="Ra41dfd6f551b4e04" /><Relationship Type="http://schemas.openxmlformats.org/officeDocument/2006/relationships/slide" Target="/ppt/slides/slide25.xml" Id="R3a0564b040a24872" /><Relationship Type="http://schemas.openxmlformats.org/officeDocument/2006/relationships/slide" Target="/ppt/slides/slide26.xml" Id="Rb82b83ac54c741f0" /><Relationship Type="http://schemas.openxmlformats.org/officeDocument/2006/relationships/slide" Target="/ppt/slides/slide27.xml" Id="R4159e0f0dd9446fd" /><Relationship Type="http://schemas.openxmlformats.org/officeDocument/2006/relationships/slide" Target="/ppt/slides/slide28.xml" Id="R4c74d77eb11d472a" /><Relationship Type="http://schemas.openxmlformats.org/officeDocument/2006/relationships/slide" Target="/ppt/slides/slide29.xml" Id="R3beead6c3ecf43c0" /><Relationship Type="http://schemas.openxmlformats.org/officeDocument/2006/relationships/slide" Target="/ppt/slides/slide30.xml" Id="Rb5969016015a4f84" /><Relationship Type="http://schemas.openxmlformats.org/officeDocument/2006/relationships/slide" Target="/ppt/slides/slide31.xml" Id="R0e834266383e430c" /><Relationship Type="http://schemas.openxmlformats.org/officeDocument/2006/relationships/slide" Target="/ppt/slides/slide32.xml" Id="R9d23b2523b9141fe" /><Relationship Type="http://schemas.openxmlformats.org/officeDocument/2006/relationships/slide" Target="/ppt/slides/slide33.xml" Id="R656ec4edd08c492d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ca197f956e3d4bff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6805d6ef93434f64" /><Relationship Type="http://schemas.openxmlformats.org/officeDocument/2006/relationships/notesMaster" Target="/ppt/notesMasters/notesMaster1.xml" Id="Rb9604da943a54b89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7b79917c37e2447f" /><Relationship Type="http://schemas.openxmlformats.org/officeDocument/2006/relationships/notesMaster" Target="/ppt/notesMasters/notesMaster1.xml" Id="Rf014c58222cb4b9a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015c75916ab54638" /><Relationship Type="http://schemas.openxmlformats.org/officeDocument/2006/relationships/notesMaster" Target="/ppt/notesMasters/notesMaster1.xml" Id="R58921691409b45c0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b2c31c4be056485b" /><Relationship Type="http://schemas.openxmlformats.org/officeDocument/2006/relationships/notesMaster" Target="/ppt/notesMasters/notesMaster1.xml" Id="R52f8d2e72358447d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ffbf34bc3ac54df7" /><Relationship Type="http://schemas.openxmlformats.org/officeDocument/2006/relationships/notesMaster" Target="/ppt/notesMasters/notesMaster1.xml" Id="R8e614d669d5d40c8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3ee62290395d4ae2" /><Relationship Type="http://schemas.openxmlformats.org/officeDocument/2006/relationships/notesMaster" Target="/ppt/notesMasters/notesMaster1.xml" Id="R1b4d0a3020304428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1d162bf75ac34560" /><Relationship Type="http://schemas.openxmlformats.org/officeDocument/2006/relationships/notesMaster" Target="/ppt/notesMasters/notesMaster1.xml" Id="R7c68a9ca0788436a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eac0d0202c784774" /><Relationship Type="http://schemas.openxmlformats.org/officeDocument/2006/relationships/notesMaster" Target="/ppt/notesMasters/notesMaster1.xml" Id="Rca6ed71337374772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745cf87382cc40d0" /><Relationship Type="http://schemas.openxmlformats.org/officeDocument/2006/relationships/notesMaster" Target="/ppt/notesMasters/notesMaster1.xml" Id="R61f4a7b9251f4528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6c8c6d08aa0c4727" /><Relationship Type="http://schemas.openxmlformats.org/officeDocument/2006/relationships/notesMaster" Target="/ppt/notesMasters/notesMaster1.xml" Id="R9b76db4e251a4d6a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111877a55b53404e" /><Relationship Type="http://schemas.openxmlformats.org/officeDocument/2006/relationships/notesMaster" Target="/ppt/notesMasters/notesMaster1.xml" Id="R3bdf9f90b84a423f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3e01c71e0ee64200" /><Relationship Type="http://schemas.openxmlformats.org/officeDocument/2006/relationships/notesMaster" Target="/ppt/notesMasters/notesMaster1.xml" Id="Rb3d86dab2f554faa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0c8c906cced84052" /><Relationship Type="http://schemas.openxmlformats.org/officeDocument/2006/relationships/notesMaster" Target="/ppt/notesMasters/notesMaster1.xml" Id="R64dd7c63976f45fe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e5d4bba6dabc49c7" /><Relationship Type="http://schemas.openxmlformats.org/officeDocument/2006/relationships/notesMaster" Target="/ppt/notesMasters/notesMaster1.xml" Id="Rd2d0c175f0954fd0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6d4cdfa9cdc4452d" /><Relationship Type="http://schemas.openxmlformats.org/officeDocument/2006/relationships/notesMaster" Target="/ppt/notesMasters/notesMaster1.xml" Id="R72e496546e074221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93977b89eddc48f0" /><Relationship Type="http://schemas.openxmlformats.org/officeDocument/2006/relationships/notesMaster" Target="/ppt/notesMasters/notesMaster1.xml" Id="Ra8c6112c51d3475a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4760982db76a484f" /><Relationship Type="http://schemas.openxmlformats.org/officeDocument/2006/relationships/notesMaster" Target="/ppt/notesMasters/notesMaster1.xml" Id="R4fd2af2c6a734286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92ebf7dbff464896" /><Relationship Type="http://schemas.openxmlformats.org/officeDocument/2006/relationships/notesMaster" Target="/ppt/notesMasters/notesMaster1.xml" Id="R0496bce030df4144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2b853780a8104673" /><Relationship Type="http://schemas.openxmlformats.org/officeDocument/2006/relationships/notesMaster" Target="/ppt/notesMasters/notesMaster1.xml" Id="Rd564cf7ccf434c6c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9cbbfb9b59894647" /><Relationship Type="http://schemas.openxmlformats.org/officeDocument/2006/relationships/notesMaster" Target="/ppt/notesMasters/notesMaster1.xml" Id="Rcc5699a64adb4177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debd16bff9c74525" /><Relationship Type="http://schemas.openxmlformats.org/officeDocument/2006/relationships/notesMaster" Target="/ppt/notesMasters/notesMaster1.xml" Id="R613a8449f0fa4c65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b6a3b59cd5e94541" /><Relationship Type="http://schemas.openxmlformats.org/officeDocument/2006/relationships/notesMaster" Target="/ppt/notesMasters/notesMaster1.xml" Id="Rae5378cba2d049f6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4537994cea614bd3" /><Relationship Type="http://schemas.openxmlformats.org/officeDocument/2006/relationships/notesMaster" Target="/ppt/notesMasters/notesMaster1.xml" Id="Rffd3e6181d6140ea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39fac1cb2bf6403b" /><Relationship Type="http://schemas.openxmlformats.org/officeDocument/2006/relationships/notesMaster" Target="/ppt/notesMasters/notesMaster1.xml" Id="Rf32dbbd99c594208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36c52827dfc0471a" /><Relationship Type="http://schemas.openxmlformats.org/officeDocument/2006/relationships/notesMaster" Target="/ppt/notesMasters/notesMaster1.xml" Id="Ra4bda3d375604145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fddee7c9c5e94100" /><Relationship Type="http://schemas.openxmlformats.org/officeDocument/2006/relationships/notesMaster" Target="/ppt/notesMasters/notesMaster1.xml" Id="Re58be761dbfc4341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ebf45e103f3c4502" /><Relationship Type="http://schemas.openxmlformats.org/officeDocument/2006/relationships/notesMaster" Target="/ppt/notesMasters/notesMaster1.xml" Id="R0ee19c7cf8d04894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e7a50e50908a494e" /><Relationship Type="http://schemas.openxmlformats.org/officeDocument/2006/relationships/notesMaster" Target="/ppt/notesMasters/notesMaster1.xml" Id="R76d69a1740a84787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6a425dd42dde48db" /><Relationship Type="http://schemas.openxmlformats.org/officeDocument/2006/relationships/notesMaster" Target="/ppt/notesMasters/notesMaster1.xml" Id="Rf0c3a8b63f4e4159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163553d11c9344d3" /><Relationship Type="http://schemas.openxmlformats.org/officeDocument/2006/relationships/notesMaster" Target="/ppt/notesMasters/notesMaster1.xml" Id="R57793faf98d84763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013c79644fb94246" /><Relationship Type="http://schemas.openxmlformats.org/officeDocument/2006/relationships/notesMaster" Target="/ppt/notesMasters/notesMaster1.xml" Id="R231150f0b6fd4b1b" /></Relationships>
</file>

<file path=ppt/notesSlides/_rels/notesSlide32.xml.rels>&#65279;<?xml version="1.0" encoding="utf-8"?><Relationships xmlns="http://schemas.openxmlformats.org/package/2006/relationships"><Relationship Type="http://schemas.openxmlformats.org/officeDocument/2006/relationships/slide" Target="/ppt/slides/slide32.xml" Id="Rad097ea5c1744780" /><Relationship Type="http://schemas.openxmlformats.org/officeDocument/2006/relationships/notesMaster" Target="/ppt/notesMasters/notesMaster1.xml" Id="Rcf8becdb003d4283" /></Relationships>
</file>

<file path=ppt/notesSlides/_rels/notesSlide33.xml.rels>&#65279;<?xml version="1.0" encoding="utf-8"?><Relationships xmlns="http://schemas.openxmlformats.org/package/2006/relationships"><Relationship Type="http://schemas.openxmlformats.org/officeDocument/2006/relationships/slide" Target="/ppt/slides/slide33.xml" Id="Reaccf7389fda48d7" /><Relationship Type="http://schemas.openxmlformats.org/officeDocument/2006/relationships/notesMaster" Target="/ppt/notesMasters/notesMaster1.xml" Id="R29647766ccec44e5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本页核心</a:t>
            </a:r>
          </a:p>
          <a:p xmlns:a="http://schemas.openxmlformats.org/drawingml/2006/main">
            <a:r>
              <a:t>CARE 2.0 的重点不是发明一个永远获胜的优化器，而是建立一套可以验证、拒绝和复用历史实验经验的迁移框架。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详细讲解</a:t>
            </a:r>
          </a:p>
          <a:p xmlns:a="http://schemas.openxmlformats.org/drawingml/2006/main">
            <a:r>
              <a:t>开场先把项目定位讲清楚。CARE 2.0 研究的是：过去做过的实验，能不能在一个新实验刚开始、数据很少的时候帮助我们更快选到好条件。这里的 source 是已经完成、结果已知的历史实验，target 是准备开始的新实验。我们希望把 source 中真正有用的经验整理成可执行的 Skill，再用它改变 target 的开局；如果证据不足，就拒绝迁移，回到 target-only 方法。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右侧四个词可以按顺序解释：历史实验提供数据；系统把数据整理成可执行 Skill；Skill影响新实验的决策；新实验的成功和失败再回到知识库。最近最重要的进展，是 v1 在独立验证中失败后，我们没有隐藏失败，而是根据失败 trace 修改出 v2，并在一个冻结后才执行的外部 Suzuki target 上看到明显提升。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名词解释</a:t>
            </a:r>
          </a:p>
          <a:p xmlns:a="http://schemas.openxmlformats.org/drawingml/2006/main">
            <a:r>
              <a:t>source=历史任务；target=新任务；Skill=带执行逻辑、适用边界和证据记录的策略包。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转场</a:t>
            </a:r>
          </a:p>
          <a:p xmlns:a="http://schemas.openxmlformats.org/drawingml/2006/main">
            <a:r>
              <a:t>下一页先给出目前最重要的结果，再逐步解释这个结果是怎么得到的。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/Users/rentamac/Documents/Codex/2026-05-12/CARE2.0/experiments/care_replay/results/2026-08-12-status-and-ppt/CARE2_CURRENT_STATUS_CN.md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本页核心</a:t>
            </a:r>
          </a:p>
          <a:p xmlns:a="http://schemas.openxmlformats.org/drawingml/2006/main">
            <a:r>
              <a:t>固定 v2 已有一个冻结外部正例；随后完成的真实 LLM 组件实验在五个 target 上平均 AUC 提高 2.12，但仍是回顾性证据。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详细讲解</a:t>
            </a:r>
          </a:p>
          <a:p xmlns:a="http://schemas.openxmlformats.org/drawingml/2006/main">
            <a:r>
              <a:t>这一页把两条证据分开讲。第一条是严格的外部证据：Frozen v2 在 Suzuki MINLP2 上相对更强 target-only baseline 的 best-so-far AUC 提高 8.66。这里的 AUC 表示搜索过程中多早找到高质量实验。这个结果在 target outcome 揭示前已经冻结，但该切片没有使用 LLM。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第二条是随后完成的真实 LLM 组件实验。我们通过 CommonStack 实际调用 openai/gpt-5.4，让模型在看不到 target outcome 的情况下生成 initial-design hypothesis；按任务结构选择 raw 或 compiled 方案后，五个 target 的平均 AUC 相对 fixed v2 提高 2.12，4/5 不下降。不过 95% 置信区间是 [-0.226, 4.473]，而且这五个 target 以前都被项目使用过，所以这是回顾性组件证据，不是新的外部确认。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名词解释</a:t>
            </a:r>
          </a:p>
          <a:p xmlns:a="http://schemas.openxmlformats.org/drawingml/2006/main">
            <a:r>
              <a:t>AUC=搜索全过程的效率；Frozen=策略和参数在看 target 结果前已锁定；回顾性组件实验=在已有任务上检查模块行为，不能替代全新 target。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转场</a:t>
            </a:r>
          </a:p>
          <a:p xmlns:a="http://schemas.openxmlformats.org/drawingml/2006/main">
            <a:r>
              <a:t>有了结果后，下面回到问题定义：我们到底在优化什么。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/Users/rentamac/Documents/Codex/2026-05-12/CARE2.0/experiments/care_replay/results/2026-08-10-baumgartner-warmstart-v2-external-confirmation/README.md</a:t>
            </a:r>
          </a:p>
          <a:p xmlns:a="http://schemas.openxmlformats.org/drawingml/2006/main">
            <a:r>
              <a:t>- /Users/rentamac/Documents/Codex/2026-05-12/CARE2.0/experiments/care_replay/results/2026-08-12-llm-hypothesis-initial-design/README.md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本页核心</a:t>
            </a:r>
          </a:p>
          <a:p xmlns:a="http://schemas.openxmlformats.org/drawingml/2006/main">
            <a:r>
              <a:t>CARE 2.0 不是普通预测任务，而是每轮只能做一个实验、做完才看到结果的序贯决策问题。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详细讲解</a:t>
            </a:r>
          </a:p>
          <a:p xmlns:a="http://schemas.openxmlformats.org/drawingml/2006/main">
            <a:r>
              <a:t>左边是算法开始前允许知道的信息：已经完成的 source experiments、target 的变量和候选条件、固定预算，以及尚未揭示的 target outcome。中间是每一轮真实发生的事：算法选择一个候选条件，只看到这个被选条件的结果，然后更新 target model，再做下一轮选择。右边是目标：在相同预算下更早找到高质量候选，同时避免因为错误迁移浪费实验。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这里与普通训练集、测试集的区别是，算法不能一次看到完整 target 表格。它必须像真实实验一样逐轮揭示 outcome。我们真正比较的是 source history 是否改变了 target 的选点顺序，以及这种改变是否让有效实验更早发生。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名词解释</a:t>
            </a:r>
          </a:p>
          <a:p xmlns:a="http://schemas.openxmlformats.org/drawingml/2006/main">
            <a:r>
              <a:t>candidate=可选择的实验条件；outcome=实验结果，例如产率；budget=最多允许做多少次 target 实验。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转场</a:t>
            </a:r>
          </a:p>
          <a:p xmlns:a="http://schemas.openxmlformats.org/drawingml/2006/main">
            <a:r>
              <a:t>接下来需要区分不同强度的证据，避免把离线正结果和真正外部验证混为一谈。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/Users/rentamac/Documents/Codex/2026-05-12/CARE2.0/experiments/care_replay/CARE2_METHOD.md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本页核心</a:t>
            </a:r>
          </a:p>
          <a:p xmlns:a="http://schemas.openxmlformats.org/drawingml/2006/main">
            <a:r>
              <a:t>系统跑通、多任务离线比较和冻结外部验证是三个不同等级的证据。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详细讲解</a:t>
            </a:r>
          </a:p>
          <a:p xmlns:a="http://schemas.openxmlformats.org/drawingml/2006/main">
            <a:r>
              <a:t>这张图从下到上表示证据逐渐变强。第一层是多领域 replay：它证明统一接口、指标、gate 和 audit 可以跨反应、分子、材料数据运行，也能在不适合迁移时精确回退。但这层使用 archived target outcomes 做 calibration，所以属于离线 benchmark。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第二层加入 RGPE、multi-task ICM GP 等传统 transfer BO 方法。它告诉我们经典迁移算法也会出现负迁移，没有一种方法在所有路径都可靠。第三层是最新 frozen external confirmation：策略在看外部 target outcome 之前已经冻结，然后才执行，因此最接近真实部署。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LLM 的贡献还要单独放在第四个问题里做因果对照。即使完整平台包含 LLM，也不能因为某个包含 LLM 的系统取得好结果，就默认增益来自 LLM。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名词解释</a:t>
            </a:r>
          </a:p>
          <a:p xmlns:a="http://schemas.openxmlformats.org/drawingml/2006/main">
            <a:r>
              <a:t>offline calibration=利用历史 target 结果选择方法；external confirmation=在策略冻结后才使用新 target 结果检验。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转场</a:t>
            </a:r>
          </a:p>
          <a:p xmlns:a="http://schemas.openxmlformats.org/drawingml/2006/main">
            <a:r>
              <a:t>下面说明这些更严格的协议，是如何由团队此前的质疑直接推动出来的。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/Users/rentamac/Documents/Codex/2026-05-12/CARE2.0/experiments/care_replay/CARE2_METHOD.md</a:t>
            </a:r>
          </a:p>
          <a:p xmlns:a="http://schemas.openxmlformats.org/drawingml/2006/main">
            <a:r>
              <a:t>- /Users/rentamac/Documents/Codex/2026-05-12/CARE2.0/experiments/care_replay/results/2026-08-08-classical-transfer-confirmation/README.md</a:t>
            </a:r>
          </a:p>
          <a:p xmlns:a="http://schemas.openxmlformats.org/drawingml/2006/main">
            <a:r>
              <a:t>- /Users/rentamac/Documents/Codex/2026-05-12/CARE2.0/experiments/care_replay/results/2026-08-10-baumgartner-warmstart-v2-external-confirmation/README.md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本页核心</a:t>
            </a:r>
          </a:p>
          <a:p xmlns:a="http://schemas.openxmlformats.org/drawingml/2006/main">
            <a:r>
              <a:t>对数据泄漏、baseline、手工规则和可审计性的质疑，已经被转换成具体代码修改与实验约束。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详细讲解</a:t>
            </a:r>
          </a:p>
          <a:p xmlns:a="http://schemas.openxmlformats.org/drawingml/2006/main">
            <a:r>
              <a:t>这一页不是在列会议意见，而是在展示意见如何真正改变系统。关于开发测试边界，我们改成 campaign-level 划分，并冻结 selection record；关于 baseline 不够强，我们加入 100-seed random-initial GP-UCB、space filling、RGPE 和 ICM GP；关于规则是不是手工调得太强，我们把规则、配置、hash 和失败路径全部记录；关于结果是否可重放，我们增加 SkillBank、JSONL audit 和 SHA-256 校验。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最新 external target 最重要的作用，是回应“是不是先看了 target 结果，再决定该不该迁移”这个质疑。答案是：外部 target 的 outcome 在策略冻结前没有加载，执行记录也有对应 fingerprint。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名词解释</a:t>
            </a:r>
          </a:p>
          <a:p xmlns:a="http://schemas.openxmlformats.org/drawingml/2006/main">
            <a:r>
              <a:t>campaign-level split=按完整实验任务划分开发与验证；selection record=冻结的选点规则和参数记录。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转场</a:t>
            </a:r>
          </a:p>
          <a:p xmlns:a="http://schemas.openxmlformats.org/drawingml/2006/main">
            <a:r>
              <a:t>协议明确以后，下面看最新 v2 的实际执行链路。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/Users/rentamac/Documents/Codex/2026-05-12/CARE2.0/experiments/care_replay/results/2026-08-10-baumgartner-warmstart-confirmation/README.md</a:t>
            </a:r>
          </a:p>
          <a:p xmlns:a="http://schemas.openxmlformats.org/drawingml/2006/main">
            <a:r>
              <a:t>- /Users/rentamac/Documents/Codex/2026-05-12/CARE2.0/experiments/care_replay/results/2026-08-08-classical-transfer-confirmation/README.md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本页核心</a:t>
            </a:r>
          </a:p>
          <a:p xmlns:a="http://schemas.openxmlformats.org/drawingml/2006/main">
            <a:r>
              <a:t>source 只负责前三个初始实验，之后所有方法都使用完全相同的 target-only GP-UCB。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详细讲解</a:t>
            </a:r>
          </a:p>
          <a:p xmlns:a="http://schemas.openxmlformats.org/drawingml/2006/main">
            <a:r>
              <a:t>从左向右讲。首先，每个历史 campaign 单独训练一个 source expert。因为不同 campaign 的 outcome 尺度不同，我们不直接拼接原始数值，而是把每个 expert 的预测转成候选排序，再用中位数形成共识。TransferSkill 根据这个共识选择三个初始实验。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关键控制在黄色分界线之后：三个初始点做完后，source 信息完全退出。随后 10 轮所有方法都运行同一个 target-only GP-UCB，只用已经揭示的 target outcomes 建模。这样，Frozen v2、随机初始化和 space filling 之间唯一的区别就是前三个点怎么选，后续优化器、预算和观测规则完全一致。因此外部结果可以归因于 source-guided initial design，而不是后续偷偷使用了不同算法。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名词解释</a:t>
            </a:r>
          </a:p>
          <a:p xmlns:a="http://schemas.openxmlformats.org/drawingml/2006/main">
            <a:r>
              <a:t>source expert=在单个历史 campaign 上训练的模型；initial design=优化开始前先做的少量初始实验。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转场</a:t>
            </a:r>
          </a:p>
          <a:p xmlns:a="http://schemas.openxmlformats.org/drawingml/2006/main">
            <a:r>
              <a:t>为了避免误解，下一页把完整 CARE 平台和这次最小验证切片分开。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/Users/rentamac/Documents/Codex/2026-05-12/CARE2.0/experiments/care_replay/BAUMGARTNER_WARMSTART_V2_PROTOCOL.md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本页核心</a:t>
            </a:r>
          </a:p>
          <a:p xmlns:a="http://schemas.openxmlformats.org/drawingml/2006/main">
            <a:r>
              <a:t>CARE 2.0 已实现更多模块，但最新外部结果只验证其中最小、最容易归因的一条路径。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详细讲解</a:t>
            </a:r>
          </a:p>
          <a:p xmlns:a="http://schemas.openxmlformats.org/drawingml/2006/main">
            <a:r>
              <a:t>左侧是完整 CARE 2.0 平台：LLM 可以读取 source/target schema，生成 role mapping 和 hypothesis；系统也支持 source prior、kernel patch、online router、calibration gate 和 audit。右侧是最新 v2 外部验证：只使用真实 source outcomes 生成 quality-bounded initial design，三个点之后 source 完全退出，而且 LLM 不参与选点或打分。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这样设计不是削弱 CARE，而是为了把因果关系讲清楚。如果一开始把 LLM、kernel、router 和 source prior 全部叠上去，即使结果提高，也不知道是哪一个模块起作用。现在先钉牢 source-outcome initial design 的价值，下一步再在相同执行器上加入 LLM，直接测 LLM 的增量。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名词解释</a:t>
            </a:r>
          </a:p>
          <a:p xmlns:a="http://schemas.openxmlformats.org/drawingml/2006/main">
            <a:r>
              <a:t>验证切片=从完整系统中抽出一个可独立检验的最小模块组合；增量=加入某模块后相对固定对照多出来的收益。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转场</a:t>
            </a:r>
          </a:p>
          <a:p xmlns:a="http://schemas.openxmlformats.org/drawingml/2006/main">
            <a:r>
              <a:t>下面解释 replay harness 如何模拟真实实验节奏并防止偷看答案。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/Users/rentamac/Documents/Codex/2026-05-12/CARE2.0/experiments/care_replay/CARE2_METHOD.md</a:t>
            </a:r>
          </a:p>
          <a:p xmlns:a="http://schemas.openxmlformats.org/drawingml/2006/main">
            <a:r>
              <a:t>- /Users/rentamac/Documents/Codex/2026-05-12/CARE2.0/experiments/care_replay/BAUMGARTNER_WARMSTART_V2_PROTOCOL.md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本页核心</a:t>
            </a:r>
          </a:p>
          <a:p xmlns:a="http://schemas.openxmlformats.org/drawingml/2006/main">
            <a:r>
              <a:t>完整数据表只充当隐藏环境；算法每轮只能看到自己已经选择过的实验结果。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详细讲解</a:t>
            </a:r>
          </a:p>
          <a:p xmlns:a="http://schemas.openxmlformats.org/drawingml/2006/main">
            <a:r>
              <a:t>Replay 的做法是把已有真实数据集当作一个可以查询的实验环境，而不是把整张表交给算法。开始时 target outcomes 全部隐藏。每一轮算法选择一个 candidate，环境只揭示这个点的真实 outcome，算法据此更新模型，再选择下一点。每轮的 candidate、score、outcome 和当前 best-so-far 都进入 trace。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所有对照使用相同 candidate pool、相同初始点数量、相同 reveal budget 和相同 seeds。这里 seed 是随机数种子，用来复现实验随机性，不是提前挑选的好实验点。Replay 仍然不能替代新的 wet-lab 实验，但它能严格检查数据泄漏，并评价有限预算下哪种策略更早找到好条件。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名词解释</a:t>
            </a:r>
          </a:p>
          <a:p xmlns:a="http://schemas.openxmlformats.org/drawingml/2006/main">
            <a:r>
              <a:t>seed=控制随机过程的编号；reveal=执行一个候选后揭示结果；trace=逐轮决策记录。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转场</a:t>
            </a:r>
          </a:p>
          <a:p xmlns:a="http://schemas.openxmlformats.org/drawingml/2006/main">
            <a:r>
              <a:t>有了统一 replay 协议，下面看目前接入了哪些真实数据。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/Users/rentamac/Documents/Codex/2026-05-12/CARE2.0/experiments/care_replay/CARE2_METHOD.md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本页核心</a:t>
            </a:r>
          </a:p>
          <a:p xmlns:a="http://schemas.openxmlformats.org/drawingml/2006/main">
            <a:r>
              <a:t>平台已覆盖反应优化、分子性质和材料性质，但真正冻结的外部正例目前只在反应优化中。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详细讲解</a:t>
            </a:r>
          </a:p>
          <a:p xmlns:a="http://schemas.openxmlformats.org/drawingml/2006/main">
            <a:r>
              <a:t>反应优化包括 ChemLex Acid-Amine、Buchwald-Hartwig HTE、Baumgartner C-N 和 Suzuki MINLP；分子性质包括 ESOL、FreeSolv 和 Lipophilicity；材料性质包括 Matbench experimental gap、dielectric 和 phonons。它们让我们可以测试不同 schema、变量类型和 outcome 尺度下的统一接口。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需要特别说明，数据集多不等于每个领域都已证明迁移成功。分子和材料结果主要来自离线 calibration suite，用于验证平台兼容性、方法选择和 fallback；目前最强的冻结外部证据只来自 Suzuki MINLP2。因此汇报时应说“平台已跨领域运行”，而不是“跨领域迁移已经全面成立”。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名词解释</a:t>
            </a:r>
          </a:p>
          <a:p xmlns:a="http://schemas.openxmlformats.org/drawingml/2006/main">
            <a:r>
              <a:t>schema=变量字段、类型和约束的结构；Matbench/MoleculeNet=公开的材料与分子性质 benchmark 集合。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转场</a:t>
            </a:r>
          </a:p>
          <a:p xmlns:a="http://schemas.openxmlformats.org/drawingml/2006/main">
            <a:r>
              <a:t>不同数据能够统一接入后，下一步是把自然语言经验变成可执行 hypothesis。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/Users/rentamac/Documents/Codex/2026-05-12/CARE2.0/overview.md</a:t>
            </a:r>
          </a:p>
          <a:p xmlns:a="http://schemas.openxmlformats.org/drawingml/2006/main">
            <a:r>
              <a:t>- /Users/rentamac/Documents/Codex/2026-05-12/CARE2.0/experiments/care_replay/CARE2_METHOD.md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本页核心</a:t>
            </a:r>
          </a:p>
          <a:p xmlns:a="http://schemas.openxmlformats.org/drawingml/2006/main">
            <a:r>
              <a:t>Hypothesis 只有被编译成明确的选点和停止规则，才真正进入实验。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详细讲解</a:t>
            </a:r>
          </a:p>
          <a:p xmlns:a="http://schemas.openxmlformats.org/drawingml/2006/main">
            <a:r>
              <a:t>完整平台给 hypothesis generator 的输入包括 source history、target 的变量角色、候选空间、预算以及 SkillBank 中的成功和失败案例。输出不能只是“这个 source 看起来相似”，而必须结构化为：适用哪些 source、变量如何对齐、什么条件应该优先或惩罚、允许进入什么质量区域、置信度多高，以及在什么情况下应该失败或回退。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结构化输出再被编译成 TransferSkill，用来选择 candidate。target outcome 揭示后，系统更新 evidence status：支持、反驳、暂缓或者拒绝。最新 v2 的 hypothesis 不是 LLM 生成，而是固定规则，目的是先验证从 hypothesis 到执行再到反馈的链路。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名词解释</a:t>
            </a:r>
          </a:p>
          <a:p xmlns:a="http://schemas.openxmlformats.org/drawingml/2006/main">
            <a:r>
              <a:t>role map=source 和 target 变量的语义对应关系；operator=把 hypothesis 转成选点动作的执行算子。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转场</a:t>
            </a:r>
          </a:p>
          <a:p xmlns:a="http://schemas.openxmlformats.org/drawingml/2006/main">
            <a:r>
              <a:t>下一页具体说明一个 Skill 里到底保存什么。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/Users/rentamac/Documents/Codex/2026-05-12/CARE2.0/experiments/care_replay/CARE2_METHOD.md</a:t>
            </a:r>
          </a:p>
          <a:p xmlns:a="http://schemas.openxmlformats.org/drawingml/2006/main">
            <a:r>
              <a:t>- /Users/rentamac/Documents/Codex/2026-05-12/CARE2.0/experiments/care_replay/BAUMGARTNER_WARMSTART_V2_PROTOCOL.md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本页核心</a:t>
            </a:r>
          </a:p>
          <a:p xmlns:a="http://schemas.openxmlformats.org/drawingml/2006/main">
            <a:r>
              <a:t>Skill 是一个可重放、可审计、带失败条件的策略包，而不是一句 prompt。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详细讲解</a:t>
            </a:r>
          </a:p>
          <a:p xmlns:a="http://schemas.openxmlformats.org/drawingml/2006/main">
            <a:r>
              <a:t>一个合格的 Skill 至少包含五部分。第一是任务边界：source、target、变量角色以及不能对齐的字段。第二是执行逻辑：它影响 initial design、source prior、kernel 还是 router。第三是安全机制：哪些情况应该 abstain，何时 exact fallback。第四是证据记录：在哪些开发任务和独立任务上运行，使用哪些 seeds，CI、win、non-loss 和 negative cases 是什么。第五是可复现信息：模型记录、配置、commit 和 SHA-256 fingerprint。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因此 SkillBank 不是文档仓库，而是可执行对象与证据的集合。Baumgartner v2 当前应该标注为“在一个外部 target 上得到支持的 candidate skill”，不能标成通用规则。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名词解释</a:t>
            </a:r>
          </a:p>
          <a:p xmlns:a="http://schemas.openxmlformats.org/drawingml/2006/main">
            <a:r>
              <a:t>abstention=系统主动不迁移；fallback=精确回到预先定义的 target-only 方法；fingerprint=用于确认版本没有被事后修改的哈希。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转场</a:t>
            </a:r>
          </a:p>
          <a:p xmlns:a="http://schemas.openxmlformats.org/drawingml/2006/main">
            <a:r>
              <a:t>下面看 v2 如何把多个 source campaign 合成一个稳健共识。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/Users/rentamac/Documents/Codex/2026-05-12/CARE2.0/experiments/care_replay/CARE2_METHOD.md</a:t>
            </a:r>
          </a:p>
          <a:p xmlns:a="http://schemas.openxmlformats.org/drawingml/2006/main">
            <a:r>
              <a:t>- /Users/rentamac/Documents/Codex/2026-05-12/CARE2.0/skill_banks/care2-baumgartner-initial-design/SKILL.md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本页核心</a:t>
            </a:r>
          </a:p>
          <a:p xmlns:a="http://schemas.openxmlformats.org/drawingml/2006/main">
            <a:r>
              <a:t>每个 source 单独建模，先转成相对排序，再用中位数聚合，避免量纲和异常 campaign 主导结果。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详细讲解</a:t>
            </a:r>
          </a:p>
          <a:p xmlns:a="http://schemas.openxmlformats.org/drawingml/2006/main">
            <a:r>
              <a:t>第一步，每个 source campaign 单独训练 GP，保留各自内部的变量与 outcome 关系。第二步，把每个 expert 对 target candidates 的预测转成 0 到 1 的 rank score。这样我们只比较“这个 source 更偏好哪个候选”，不直接混合不同 campaign 的产率尺度。第三步，对多个 source 的 rank 取中位数，得到 consensus prior。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中位数的意义是稳健：如果某一个历史 campaign 对某些候选给出极端高分，它不会轻易压过其他 source。这里的 prior 不是 target 的真实结果，只是多个 source 对候选顺序的共同意见。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名词解释</a:t>
            </a:r>
          </a:p>
          <a:p xmlns:a="http://schemas.openxmlformats.org/drawingml/2006/main">
            <a:r>
              <a:t>GP=高斯过程，用少量数据给出预测均值和不确定性；rank score=候选在一个 source 预测中的相对名次。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转场</a:t>
            </a:r>
          </a:p>
          <a:p xmlns:a="http://schemas.openxmlformats.org/drawingml/2006/main">
            <a:r>
              <a:t>有了共识排序以后，v2 还增加了一个关键限制：多样性不能跨出 source 支持的质量区域。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/Users/rentamac/Documents/Codex/2026-05-12/CARE2.0/experiments/care_replay/BAUMGARTNER_WARMSTART_V2_PROTOCOL.md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本页核心</a:t>
            </a:r>
          </a:p>
          <a:p xmlns:a="http://schemas.openxmlformats.org/drawingml/2006/main">
            <a:r>
              <a:t>v2 先限定 source 共识的高质量区域，再在区域内部选择互补实验。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详细讲解</a:t>
            </a:r>
          </a:p>
          <a:p xmlns:a="http://schemas.openxmlformats.org/drawingml/2006/main">
            <a:r>
              <a:t>v1 的第一个点取 source 排名最高的候选，第二、第三个点主要追求距离远、覆盖广。问题是“离得远”不代表“质量仍然好”，所以多样性可能把点推入 source 自己也不看好的区域。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v2 保留第一个 source consensus 最优点，但先建立 top-50% admissible region，也就是只允许第二、第三个点从 source 排名前一半的候选中产生；然后在这个质量区域内用 maximin 选择与已选点距离最大的候选。它同时保留质量和覆盖。前三个点选完后 source prior 退出，后面仍是统一的 target-only GP-UCB。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这里的 top-50% 是当前冻结协议中的经验参数，不应称为学界通用常数，后续需要做 threshold sensitivity。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名词解释</a:t>
            </a:r>
          </a:p>
          <a:p xmlns:a="http://schemas.openxmlformats.org/drawingml/2006/main">
            <a:r>
              <a:t>admissible region=允许选点的候选区域；maximin=选择与现有点最小距离最大的候选，用于扩大覆盖。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转场</a:t>
            </a:r>
          </a:p>
          <a:p xmlns:a="http://schemas.openxmlformats.org/drawingml/2006/main">
            <a:r>
              <a:t>前三个点不同以后，后续怎么保证比较公平？下一页解释统一的 GP-UCB。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/Users/rentamac/Documents/Codex/2026-05-12/CARE2.0/experiments/care_replay/BAUMGARTNER_WARMSTART_V2_PROTOCOL.md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本页核心</a:t>
            </a:r>
          </a:p>
          <a:p xmlns:a="http://schemas.openxmlformats.org/drawingml/2006/main">
            <a:r>
              <a:t>三种方法在初始点之后使用同一个优化器，因此差异只来自 initial design。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详细讲解</a:t>
            </a:r>
          </a:p>
          <a:p xmlns:a="http://schemas.openxmlformats.org/drawingml/2006/main">
            <a:r>
              <a:t>GP-UCB 每轮给每个候选计算“预测均值加探索奖励”。预测均值代表当前看起来有多好，不确定性代表这个点还有多少未知信息，beta 控制探索与利用的平衡。算法选择 UCB 分数最高的候选执行。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公平性有四条：使用相同的 target observations；相同 GP-UCB 实现；相同 10 次 reveal budget；相同 candidate pool 和未选择结果不可见。Frozen v2、random initial 和 space filling 的前三个点不同，但从第四个观测开始完全运行同一套 target-only GP-UCB。因此如果 v2 曲线更高，是因为开局把优化器带到了更有价值的区域。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名词解释</a:t>
            </a:r>
          </a:p>
          <a:p xmlns:a="http://schemas.openxmlformats.org/drawingml/2006/main">
            <a:r>
              <a:t>UCB=预测均值加不确定性奖励；exploration=探索未知区域；exploitation=利用当前高预测区域。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转场</a:t>
            </a:r>
          </a:p>
          <a:p xmlns:a="http://schemas.openxmlformats.org/drawingml/2006/main">
            <a:r>
              <a:t>下面说明我们用哪些指标评价一个策略，不只看最后一轮。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/Users/rentamac/Documents/Codex/2026-05-12/CARE2.0/experiments/care_replay/BAUMGARTNER_WARMSTART_V2_PROTOCOL.md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本页核心</a:t>
            </a:r>
          </a:p>
          <a:p xmlns:a="http://schemas.openxmlformats.org/drawingml/2006/main">
            <a:r>
              <a:t>主指标看整个搜索过程，辅助指标看最终质量、胜负、负迁移和实验节省。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详细讲解</a:t>
            </a:r>
          </a:p>
          <a:p xmlns:a="http://schemas.openxmlformats.org/drawingml/2006/main">
            <a:r>
              <a:t>Primary metric 是 best-so-far AUC。每一轮记录到目前为止观察到的最好 outcome，再对整条曲线求平均或面积。它奖励“尽早找到好条件”，特别适合实验昂贵的场景。Secondary metrics 包括 final best、达到阈值所需轮数、win/non-loss、negative transfer rate 和 gate acceptance rate。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需要区分两种统计单位。对多个独立 campaign 的开发或验证结果，可以在 task level 计算置信区间；同一个 target 上的 100 个 random seeds 只描述随机初始化分布，不能当作 100 个独立科学任务。因此外部 target 的 +8.66 是很大的实际 effect，但暂时不能称为跨任务统计显著。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名词解释</a:t>
            </a:r>
          </a:p>
          <a:p xmlns:a="http://schemas.openxmlformats.org/drawingml/2006/main">
            <a:r>
              <a:t>best-so-far=截至当前轮找到的最好结果；CI=置信区间；effect size=提升幅度本身，而非只看 p 值。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转场</a:t>
            </a:r>
          </a:p>
          <a:p xmlns:a="http://schemas.openxmlformats.org/drawingml/2006/main">
            <a:r>
              <a:t>评价指标确定后，系统需要一个 gate 来决定哪些策略有资格被冻结。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/Users/rentamac/Documents/Codex/2026-05-12/CARE2.0/experiments/care_replay/BAUMGARTNER_WARMSTART_V2_PROTOCOL.md</a:t>
            </a:r>
          </a:p>
          <a:p xmlns:a="http://schemas.openxmlformats.org/drawingml/2006/main">
            <a:r>
              <a:t>- /Users/rentamac/Documents/Codex/2026-05-12/CARE2.0/experiments/care_replay/results/2026-08-10-baumgartner-warmstart-v2-external-confirmation/README.md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本页核心</a:t>
            </a:r>
          </a:p>
          <a:p xmlns:a="http://schemas.openxmlformats.org/drawingml/2006/main">
            <a:r>
              <a:t>Gate 先检查稳定性和负迁移风险，再从合格策略中选择平均收益最高者。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详细讲解</a:t>
            </a:r>
          </a:p>
          <a:p xmlns:a="http://schemas.openxmlformats.org/drawingml/2006/main">
            <a:r>
              <a:t>第一步是资格检查：开发任务上 AUC delta 的 95% CI lower bound 必须大于 0，同时 task non-loss rate 至少为 0.8。前者要求平均收益具有统计支持，后者要求不能靠少数大胜掩盖大量失败。第二步只在 eligible routes 中选择 mean AUC gain 最大的策略，CI lower bound 用作并列时的次级标准。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要诚实说明阈值来源：CI lower &gt; 0 有明确统计含义；non-loss 0.8 是本项目预先冻结的经验门槛，不是普遍公认常数。后续应对 0.7、0.8、0.9 以及 admissible region 阈值做 sensitivity analysis，确认结论不依赖单一超参数。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名词解释</a:t>
            </a:r>
          </a:p>
          <a:p xmlns:a="http://schemas.openxmlformats.org/drawingml/2006/main">
            <a:r>
              <a:t>gate=迁移准入与路由机制；non-loss=相对 baseline 没有变差的任务比例；eligible=通过资格检查。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转场</a:t>
            </a:r>
          </a:p>
          <a:p xmlns:a="http://schemas.openxmlformats.org/drawingml/2006/main">
            <a:r>
              <a:t>有了 gate 以后，还要说明我们到底与哪些强对照比较。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/Users/rentamac/Documents/Codex/2026-05-12/CARE2.0/experiments/care_replay/BAUMGARTNER_WARMSTART_V2_PROTOCOL.md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本页核心</a:t>
            </a:r>
          </a:p>
          <a:p xmlns:a="http://schemas.openxmlformats.org/drawingml/2006/main">
            <a:r>
              <a:t>Frozen v2 必须同时超过随机初始化和确定性的空间覆盖，对比口径完全一致。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详细讲解</a:t>
            </a:r>
          </a:p>
          <a:p xmlns:a="http://schemas.openxmlformats.org/drawingml/2006/main">
            <a:r>
              <a:t>第一列 Frozen v2 的前三个点由 source-guided skill 选择；第二列 random-initial GP-UCB 的前三个点随机选择，并用 100 个 seeds 描述随机性；第三列 space filling 用确定性规则最大化候选空间覆盖。三者之后都运行同一个 target-only GP-UCB、做 10 次 reveal，而且都不能预读 target outcome。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Random baseline 不是每轮都随机。只有前三个初始点随机，后续仍然是强的 GP-UCB。Space filling 也不是弱对照，它能给 GP 一个分散且覆盖面好的初始设计。主比较对象是每个 campaign 上表现更强的 target-only baseline，而不是挑一个最弱对照。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名词解释</a:t>
            </a:r>
          </a:p>
          <a:p xmlns:a="http://schemas.openxmlformats.org/drawingml/2006/main">
            <a:r>
              <a:t>space filling=优先覆盖参数空间的确定性初始设计；stronger baseline=在给定 target 上两种 target-only 对照中更强者。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转场</a:t>
            </a:r>
          </a:p>
          <a:p xmlns:a="http://schemas.openxmlformats.org/drawingml/2006/main">
            <a:r>
              <a:t>下面先回顾 v1 为什么在开发集看起来很好。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/Users/rentamac/Documents/Codex/2026-05-12/CARE2.0/experiments/care_replay/BAUMGARTNER_WARMSTART_V2_PROTOCOL.md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本页核心</a:t>
            </a:r>
          </a:p>
          <a:p xmlns:a="http://schemas.openxmlformats.org/drawingml/2006/main">
            <a:r>
              <a:t>v1 在 9 个开发 campaign 上平均正向并全部 non-loss，因此当时看起来具备冻结资格。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详细讲解</a:t>
            </a:r>
          </a:p>
          <a:p xmlns:a="http://schemas.openxmlformats.org/drawingml/2006/main">
            <a:r>
              <a:t>v1 的开发结果是 mean AUC delta +1.321，task-level 95% CI 为 [0.315, 2.326]，下界大于 0；9 个 campaign 中 7 个获胜，9 个都没有输。按照预先定义的 gate，它确实是一个合格候选，而不是随意挑出来的规则。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v1 的主要设置是优先 same-substrate source，其次 same-precatalyst，diversity weight 为 0.85，后续指标是 10 轮 target-only GP-UCB 的 best-so-far AUC。但开发任务几乎都能找到 same-substrate source，所以 fallback 场景没有得到充分检验。这是为什么开发集漂亮仍然不能代替独立验证。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名词解释</a:t>
            </a:r>
          </a:p>
          <a:p xmlns:a="http://schemas.openxmlformats.org/drawingml/2006/main">
            <a:r>
              <a:t>win=相对 stronger baseline 提升；non-loss=提升或持平；fallback=首选迁移条件不满足时使用的备用策略。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转场</a:t>
            </a:r>
          </a:p>
          <a:p xmlns:a="http://schemas.openxmlformats.org/drawingml/2006/main">
            <a:r>
              <a:t>真正的独立任务到来后，v1 的问题暴露出来。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/Users/rentamac/Documents/Codex/2026-05-12/CARE2.0/experiments/care_replay/results/2026-08-10-baumgartner-warmstart-confirmation/README.md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本页核心</a:t>
            </a:r>
          </a:p>
          <a:p xmlns:a="http://schemas.openxmlformats.org/drawingml/2006/main">
            <a:r>
              <a:t>冻结后的 v1 在 4 个独立 campaign 上平均变差，说明开发收益没有泛化。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详细讲解</a:t>
            </a:r>
          </a:p>
          <a:p xmlns:a="http://schemas.openxmlformats.org/drawingml/2006/main">
            <a:r>
              <a:t>冻结后，v1 在 4 个新的 campaign 上 mean AUC delta 为 -1.205，95% CI 为 [-2.927, 0.518]，只有 1 个获胜，虽然 4 个都没有造成极端崩溃，但 final-best delta 为 -1.61。最大失败是 Morpholine + BuBrettPhos。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原因不是后续 GP-UCB 不公平，而是新 substrate 没有 same-substrate source，只能走 same-precatalyst fallback。v1 的多样性机制又没有限制第二、第三个点必须处于 source 高质量区域，因此开局可能被带到覆盖广但质量低的位置。这里最重要的结论是：开发集平均正向不等于冻结策略能泛化。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名词解释</a:t>
            </a:r>
          </a:p>
          <a:p xmlns:a="http://schemas.openxmlformats.org/drawingml/2006/main">
            <a:r>
              <a:t>independent campaign=未用于规则或超参数选择的新实验任务；final-best delta=预算结束时最好结果之差。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转场</a:t>
            </a:r>
          </a:p>
          <a:p xmlns:a="http://schemas.openxmlformats.org/drawingml/2006/main">
            <a:r>
              <a:t>下一页展示我们如何把这个失败转化为 v2，而不是继续在测试任务上调 v1。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/Users/rentamac/Documents/Codex/2026-05-12/CARE2.0/experiments/care_replay/results/2026-08-10-baumgartner-warmstart-confirmation/README.md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本页核心</a:t>
            </a:r>
          </a:p>
          <a:p xmlns:a="http://schemas.openxmlformats.org/drawingml/2006/main">
            <a:r>
              <a:t>v2 修复的是明确的 failure mode：多样性可以扩大覆盖，但不能跨出 source 支持的质量边界。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详细讲解</a:t>
            </a:r>
          </a:p>
          <a:p xmlns:a="http://schemas.openxmlformats.org/drawingml/2006/main">
            <a:r>
              <a:t>左侧是 v1 failure trace：第一个点通常位于 source 高排名区域；第二、第三个点受 diversity 加权影响，会远离已选点，却可能进入 source 低质量区域；新 substrate 下 fallback 风险进一步放大。右侧是 v2 的对应修改：第一个点仍取 consensus 最优；建立 source top-50% admissible region；第二、第三个点只在该区域内做 maximin；旧四个验证任务仅用于 post-hoc stress，不重新计作新证据。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这一步体现 CARE 的知识沉淀方式：失败不只是一个负数，而是形成“什么条件下多样性会破坏迁移”的 negative case，并转化为新的 Skill failure condition。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名词解释</a:t>
            </a:r>
          </a:p>
          <a:p xmlns:a="http://schemas.openxmlformats.org/drawingml/2006/main">
            <a:r>
              <a:t>post-hoc stress=看到结果后用于理解失败和压力测试，不能作为新的独立验证；failure mode=可重复描述的失败机制。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转场</a:t>
            </a:r>
          </a:p>
          <a:p xmlns:a="http://schemas.openxmlformats.org/drawingml/2006/main">
            <a:r>
              <a:t>下面用整条证据链说明，哪些结果只是开发，哪个结果真正改变了结论。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/Users/rentamac/Documents/Codex/2026-05-12/CARE2.0/experiments/care_replay/results/2026-08-10-baumgartner-warmstart-confirmation/README.md</a:t>
            </a:r>
          </a:p>
          <a:p xmlns:a="http://schemas.openxmlformats.org/drawingml/2006/main">
            <a:r>
              <a:t>- /Users/rentamac/Documents/Codex/2026-05-12/CARE2.0/experiments/care_replay/BAUMGARTNER_WARMSTART_V2_PROTOCOL.md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本页核心</a:t>
            </a:r>
          </a:p>
          <a:p xmlns:a="http://schemas.openxmlformats.org/drawingml/2006/main">
            <a:r>
              <a:t>只有冻结后外部正向结果能支持泛化；开发结果和 post-hoc 结果不能替代它。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详细讲解</a:t>
            </a:r>
          </a:p>
          <a:p xmlns:a="http://schemas.openxmlformats.org/drawingml/2006/main">
            <a:r>
              <a:t>从左到右看五根柱。v1 在 9 个开发任务上 +1.32，但在 4 个独立任务上变成 -1.20；这说明 v1 没有泛化。v2 在 9 个开发任务上 +1.39，说明它可以成为新的冻结候选，但仍不算外部证据。真正改变项目状态的是 v2 在外部 Suzuki MINLP2 上 AUC +8.66。最右侧旧四任务 post-hoc 约 +0.38，只能支持修复方向，不能当成新的 held-out evidence。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汇报时要强调这条逻辑：开发用来选策略，独立验证用来检验策略；独立验证失败后可以分析和修复，但旧验证集从此变成开发信息，不能反复计算成新的泛化证据。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名词解释</a:t>
            </a:r>
          </a:p>
          <a:p xmlns:a="http://schemas.openxmlformats.org/drawingml/2006/main">
            <a:r>
              <a:t>held-out=冻结前未用于选择策略的数据；post-hoc=看过结果以后进行的分析。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转场</a:t>
            </a:r>
          </a:p>
          <a:p xmlns:a="http://schemas.openxmlformats.org/drawingml/2006/main">
            <a:r>
              <a:t>接下来详细介绍真正的外部验证任务。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/Users/rentamac/Documents/Codex/2026-05-12/CARE2.0/experiments/care_replay/results/2026-08-10-baumgartner-warmstart-confirmation/README.md</a:t>
            </a:r>
          </a:p>
          <a:p xmlns:a="http://schemas.openxmlformats.org/drawingml/2006/main">
            <a:r>
              <a:t>- /Users/rentamac/Documents/Codex/2026-05-12/CARE2.0/experiments/care_replay/results/2026-08-10-baumgartner-warmstart-v2-external-confirmation/README.md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本页核心</a:t>
            </a:r>
          </a:p>
          <a:p xmlns:a="http://schemas.openxmlformats.org/drawingml/2006/main">
            <a:r>
              <a:t>MINLP1 作为完整 source，MINLP2 在策略冻结前只暴露 schema，不暴露 outcome。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详细讲解</a:t>
            </a:r>
          </a:p>
          <a:p xmlns:a="http://schemas.openxmlformats.org/drawingml/2006/main">
            <a:r>
              <a:t>左侧 Baumgartner Suzuki MINLP1 是完成的 source campaign，完整 outcomes 可用于训练 source expert。右侧 MINLP2 是 frozen target，在冻结前只知道候选变量与实验预算，不加载产率结果。两者共享 precatalyst、temperature、residence time 和 loading，因此 source-target 之间有明确的变量对应与反应优化基础。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执行前冻结五类信息：代码 commit、data version、config、selection record 和 skill fingerprint。然后 target 只按 3 个初始点加 10 次 reveal 的预算运行。这个设计防止我们看过 MINLP2 的答案再修改 v2。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名词解释</a:t>
            </a:r>
          </a:p>
          <a:p xmlns:a="http://schemas.openxmlformats.org/drawingml/2006/main">
            <a:r>
              <a:t>MINLP=混合整数非线性规划形式的反应优化数据；schema-only=只读变量结构，不读结果值。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转场</a:t>
            </a:r>
          </a:p>
          <a:p xmlns:a="http://schemas.openxmlformats.org/drawingml/2006/main">
            <a:r>
              <a:t>设置说清楚以后，下一页直接看 Frozen v2 与两个 target-only baseline 的结果。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/Users/rentamac/Documents/Codex/2026-05-12/CARE2.0/experiments/care_replay/BAUMGARTNER_WARMSTART_V2_PROTOCOL.md</a:t>
            </a:r>
          </a:p>
          <a:p xmlns:a="http://schemas.openxmlformats.org/drawingml/2006/main">
            <a:r>
              <a:t>- /Users/rentamac/Documents/Codex/2026-05-12/CARE2.0/experiments/care_replay/results/2026-08-10-baumgartner-warmstart-v2-external-confirmation/README.md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本页核心</a:t>
            </a:r>
          </a:p>
          <a:p xmlns:a="http://schemas.openxmlformats.org/drawingml/2006/main">
            <a:r>
              <a:t>Frozen v2 的优势不只体现在最终最好值，也体现在更早进入高产率区域。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详细讲解</a:t>
            </a:r>
          </a:p>
          <a:p xmlns:a="http://schemas.openxmlformats.org/drawingml/2006/main">
            <a:r>
              <a:t>左图比较 best-so-far AUC：Frozen v2 为 98.06，space filling 为 89.40，100 次 random 的均值为 88.84。因为 space filling 是两个 target-only 对照中更强者，主结果写成相对 stronger baseline +8.66。右图比较预算结束时的 final best：v2 找到 100% 产率，space filling 为 91.82，random 平均为 94.77。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100 个 random runs 中，只有 15 个 AUC 达到或超过 v2，说明 v2 位于随机初始化分布的高端。这里要避免把 100 seeds 写成 100 个独立任务；它们只说明同一个 target 上随机初始化的波动。最稳妥的结论是“在一个外部 target 上观察到大的实际提升”。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名词解释</a:t>
            </a:r>
          </a:p>
          <a:p xmlns:a="http://schemas.openxmlformats.org/drawingml/2006/main">
            <a:r>
              <a:t>final best=预算结束时找到的最高 outcome；random mean=同一算法更换随机初始化后的平均结果。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转场</a:t>
            </a:r>
          </a:p>
          <a:p xmlns:a="http://schemas.openxmlformats.org/drawingml/2006/main">
            <a:r>
              <a:t>实际 wet-lab 最关心的是少做多少轮，下一页把曲线差异翻译成实验次数。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/Users/rentamac/Documents/Codex/2026-05-12/CARE2.0/experiments/care_replay/results/2026-08-10-baumgartner-warmstart-v2-external-confirmation/README.md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本页核心</a:t>
            </a:r>
          </a:p>
          <a:p xmlns:a="http://schemas.openxmlformats.org/drawingml/2006/main">
            <a:r>
              <a:t>在 MINLP2 上，v2 达到 100% 产率所需总观测数比成功随机运行的中位数少 2 次。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详细讲解</a:t>
            </a:r>
          </a:p>
          <a:p xmlns:a="http://schemas.openxmlformats.org/drawingml/2006/main">
            <a:r>
              <a:t>Frozen v2 的总观测数是 5：先执行 3 个 source-guided initial points，再做 2 次 target-only GP-UCB reveal，就已经找到 100% 产率。100 个 random-initial runs 中，只有 46 个在总预算内达到 100%；这些成功运行达到 100% 的中位数是 7 次总观测。由此得到“节省 2 次 target observations”。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右侧另一个数字是 15/100：只有 15 个随机运行的全过程 AUC 不低于 v2。Space filling 在预算内甚至没有达到 95%。因此 v2 的价值不是简单多算了模型，而是在相同实验预算下把最有价值的 target 实验提前了。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名词解释</a:t>
            </a:r>
          </a:p>
          <a:p xmlns:a="http://schemas.openxmlformats.org/drawingml/2006/main">
            <a:r>
              <a:t>总观测数包含 3 个初始点；节省 2 次是相对成功 random runs 的中位数，不是所有 random runs 的平均。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转场</a:t>
            </a:r>
          </a:p>
          <a:p xmlns:a="http://schemas.openxmlformats.org/drawingml/2006/main">
            <a:r>
              <a:t>单个外部结果之外，我们还有一个更广的离线多领域 suite，但它的证据等级较低。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/Users/rentamac/Documents/Codex/2026-05-12/CARE2.0/experiments/care_replay/results/2026-08-10-baumgartner-warmstart-v2-external-confirmation/README.md</a:t>
            </a:r>
          </a:p>
          <a:p xmlns:a="http://schemas.openxmlformats.org/drawingml/2006/main">
            <a:r>
              <a:t>- /Users/rentamac/Documents/Codex/2026-05-12/CARE2.0/experiments/care_replay/results/2026-08-10-baumgartner-warmstart-v2-external-confirmation/confirmation/efficiency_summary.json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本页核心</a:t>
            </a:r>
          </a:p>
          <a:p xmlns:a="http://schemas.openxmlformats.org/drawingml/2006/main">
            <a:r>
              <a:t>离线 suite 证明平台能跨数据类型选择迁移或回退，但不能代替全新任务上的零成本决策。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详细讲解</a:t>
            </a:r>
          </a:p>
          <a:p xmlns:a="http://schemas.openxmlformats.org/drawingml/2006/main">
            <a:r>
              <a:t>表中 7 条 source-target 路径覆盖反应、分子和材料。系统在 ChemLex 到 Buchwald-Hartwig、dielectric 与 experimental gap 的双向路径、FreeSolv 到 Lipophilicity 上选择 transfer；在 phonons 到 dielectric、ESOL 到 Lipophilicity、Lipophilicity 到 FreeSolv 上选择 fallback。正数表示相对 target-only baseline 的 final-best 和 AUC 改善，0 表示精确回退后与 baseline 完全相同。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限制写在红框里：这套选择使用了 50 个 archived target calibration seeds。也就是说系统利用历史 target outcomes 判断哪条路线更适合，解决的是离线方法选择问题。它不能证明面对一个从未做过的新 wet-lab target，系统可以零成本知道该不该迁移。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名词解释</a:t>
            </a:r>
          </a:p>
          <a:p xmlns:a="http://schemas.openxmlformats.org/drawingml/2006/main">
            <a:r>
              <a:t>exact fallback=拒绝迁移后与预先定义的 target-only baseline 完全一致；calibration seed=用于离线选方法的随机重复。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转场</a:t>
            </a:r>
          </a:p>
          <a:p xmlns:a="http://schemas.openxmlformats.org/drawingml/2006/main">
            <a:r>
              <a:t>为了判断我们的 baseline 是否足够强，下一页加入传统 transfer BO。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/Users/rentamac/Documents/Codex/2026-05-12/CARE2.0/experiments/care_replay/results/2026-07-24-source-outcome-transfer/README.md</a:t>
            </a:r>
          </a:p>
          <a:p xmlns:a="http://schemas.openxmlformats.org/drawingml/2006/main">
            <a:r>
              <a:t>- /Users/rentamac/Documents/Codex/2026-05-12/CARE2.0/overview.md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本页核心</a:t>
            </a:r>
          </a:p>
          <a:p xmlns:a="http://schemas.openxmlformats.org/drawingml/2006/main">
            <a:r>
              <a:t>RGPE、ICM 和混合路由各有优势，但没有一个固定迁移方法在所有任务都可靠。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详细讲解</a:t>
            </a:r>
          </a:p>
          <a:p xmlns:a="http://schemas.openxmlformats.org/drawingml/2006/main">
            <a:r>
              <a:t>RGPE 会根据 source 模型在 target 观测上的排序损失给不同模型加权。它在 dielectric 到 experimental gap 上非常强，但在另外多条 final-score 比较中显著变差，说明经典方法也会负迁移。Two-task ICM GP 通过多任务协方差联合建模，整体更保守，但仍不是普遍最优。Hybrid router 在 calibration 信息帮助下选择方法，AUC 在五条路径上为正，支持路由机制的价值。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必须解释深蓝框中的限制：在这五条路径里，CARE 自己的 source-transfer candidates 全部被 gate 拒绝，所以 CARE 的正向结果主要来自 target-only fallback。不能把“系统避免了负迁移”写成“CARE source transfer 全面击败传统方法”。当前平台价值是比较、路由、拒绝和审计。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名词解释</a:t>
            </a:r>
          </a:p>
          <a:p xmlns:a="http://schemas.openxmlformats.org/drawingml/2006/main">
            <a:r>
              <a:t>RGPE=按目标任务上的排序表现给多个 GP 专家加权；ICM=用任务间协方差联合建模的多任务 GP。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转场</a:t>
            </a:r>
          </a:p>
          <a:p xmlns:a="http://schemas.openxmlformats.org/drawingml/2006/main">
            <a:r>
              <a:t>下面回到 LLM：它在完整平台里做什么，以及目前为什么还不能宣称它有独立优势。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/Users/rentamac/Documents/Codex/2026-05-12/CARE2.0/experiments/care_replay/results/2026-08-08-classical-transfer-confirmation/README.md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本页核心</a:t>
            </a:r>
          </a:p>
          <a:p xmlns:a="http://schemas.openxmlformats.org/drawingml/2006/main">
            <a:r>
              <a:t>LLM 负责提出和编译可检验的迁移假设，SkillBank 保存执行证据；最新外部增益并不来自 LLM。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详细讲解</a:t>
            </a:r>
          </a:p>
          <a:p xmlns:a="http://schemas.openxmlformats.org/drawingml/2006/main">
            <a:r>
              <a:t>完整平台中，LLM 的输入是 source/target schema、统计摘要、已有 skill 与失败案例；输出是结构化 role map、hypothesis、kernel/prior/routing patch、rationale、confidence 和 failure condition。它更像策略专家或 hypothesis compiler，而不是直接预测每个实验 outcome。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SkillBank 保存 task cards、role maps、frozen TransferSkill、正负案例、被 gate 拒绝的案例、逐轮 candidate-score-outcome trace、commit、config 和模型记录。这样一个新任务可以检索相似经验，同时也能看到经验在哪里失败。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当前结论要克制：此前确实看到过 LLM 的正向信号，但 random-rule warm start 也能提高，部分 CARE 结果与 target-only LLM 相同。最新 v2 external 完全没有使用 LLM，所以它只能证明 source-outcome initial design。下一步必须在同一 v2 executor 上做 fixed v2、LLM hypothesis-only 和 matched random hypothesis 三组对照。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名词解释</a:t>
            </a:r>
          </a:p>
          <a:p xmlns:a="http://schemas.openxmlformats.org/drawingml/2006/main">
            <a:r>
              <a:t>hypothesis-only=LLM 只生成迁移假设，不接触 target outcome，也不改变后续优化预算；matched random=输出格式和复杂度匹配的随机假设对照。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转场</a:t>
            </a:r>
          </a:p>
          <a:p xmlns:a="http://schemas.openxmlformats.org/drawingml/2006/main">
            <a:r>
              <a:t>下面进入本轮新增的真实 LLM 实验：它具体读什么、输出什么，以及是否超过 fixed v2。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/Users/rentamac/Documents/Codex/2026-05-12/CARE2.0/experiments/care_replay/CARE2_METHOD.md</a:t>
            </a:r>
          </a:p>
          <a:p xmlns:a="http://schemas.openxmlformats.org/drawingml/2006/main">
            <a:r>
              <a:t>- /Users/rentamac/Documents/Codex/2026-05-12/CARE2.0/skill_banks</a:t>
            </a:r>
          </a:p>
          <a:p xmlns:a="http://schemas.openxmlformats.org/drawingml/2006/main">
            <a:r>
              <a:t>- /Users/rentamac/Documents/Codex/2026-05-12/CARE2.0/experiments/care_replay/results/2026-08-12-llm-hypothesis-initial-design/README.md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本页核心</a:t>
            </a:r>
          </a:p>
          <a:p xmlns:a="http://schemas.openxmlformats.org/drawingml/2006/main">
            <a:r>
              <a:t>LLM 不再只是写解释，而是在看不到 target outcome 的情况下冻结一个可执行 initial-design hypothesis。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详细讲解</a:t>
            </a:r>
          </a:p>
          <a:p xmlns:a="http://schemas.openxmlformats.org/drawingml/2006/main">
            <a:r>
              <a:t>这一页讲清楚本轮新增的真实 LLM 调用。输入包括完成的 source outcomes、source 层统计、target schema、公开候选条件和 source-prior 排名短名单；明确不包含任何 target outcome。使用 CommonStack 上的 openai/gpt-5.4，模型输出一个 JSON hypothesis：三条 candidate IDs、各自角色、机制解释、置信度、失败条件和是否 abstain。原始 prompt、原始 response、token usage、API timing 和 SHA-256 都保存。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输出有两种执行方式。Raw LLM 直接执行模型选出的三个点；Compiled LLM 把模型提供的语义锚点，与 source 共识最优点和 top-50% 质量区内的 maximin 几何探针组合。三点以后，两种方法都退出 source 和 LLM，统一运行 target-only GP-UCB。这样 LLM 真正改变了实验开局，但后续预算和优化器仍可公平比较。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名词解释</a:t>
            </a:r>
          </a:p>
          <a:p xmlns:a="http://schemas.openxmlformats.org/drawingml/2006/main">
            <a:r>
              <a:t>semantic anchor=LLM 根据科学机制挑出的重点条件；compiler=把语义建议转换成满足质量和几何约束的执行方案；abstain=LLM 主动拒绝迁移。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转场</a:t>
            </a:r>
          </a:p>
          <a:p xmlns:a="http://schemas.openxmlformats.org/drawingml/2006/main">
            <a:r>
              <a:t>下一页用 Suzuki MINLP2 展示 raw LLM 为什么失败，以及安全 compiler 如何把它变成正增益。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/Users/rentamac/Documents/Codex/2026-05-12/CARE2.0/experiments/care_replay/results/2026-08-12-llm-hypothesis-initial-design/README.md</a:t>
            </a:r>
          </a:p>
          <a:p xmlns:a="http://schemas.openxmlformats.org/drawingml/2006/main">
            <a:r>
              <a:t>- /Users/rentamac/Documents/Codex/2026-05-12/CARE2.0/experiments/care_replay/scripts/run_llm_initial_design_hypothesis.py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本页核心</a:t>
            </a:r>
          </a:p>
          <a:p xmlns:a="http://schemas.openxmlformats.org/drawingml/2006/main">
            <a:r>
              <a:t>LLM 给出了正确的反应区域，但直接选三点覆盖不足；安全编译后 AUC 反超 fixed v2。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详细讲解</a:t>
            </a:r>
          </a:p>
          <a:p xmlns:a="http://schemas.openxmlformats.org/drawingml/2006/main">
            <a:r>
              <a:t>真实模型在不知道 MINLP2 产率的情况下提出：同底物 source 支持高温、高 loading 的 P2L1 XPhos Cl 区域，温度是主要迁移因子，置信度 0.73。Raw LLM 选了三个都集中在该催化剂家族的点，虽然初始质量不错，但给后续 GP 的几何信息不足，AUC 只有 91.819，低于 fixed v2 的 98.061。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安全 compiler 没有丢掉 LLM。它保留 LLM 的 candidate 024 作为 semantic anchor，加入 source 共识最优 candidate 039，再从 source top-50% 区域中选择 maximin geometry probe 013。这个三点组合 AUC 达到 100，比 fixed v2 高 1.939，二者 final best 都是 100%。这说明合理角色不是让 LLM 替代数值优化，而是让 LLM提出可解释的科学方向，由 compiler 保证可优化性。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名词解释</a:t>
            </a:r>
          </a:p>
          <a:p xmlns:a="http://schemas.openxmlformats.org/drawingml/2006/main">
            <a:r>
              <a:t>Raw LLM=直接执行三点；Compiled LLM=保留一条 LLM 语义决策并加确定性安全约束；AUC=越早找到好结果越高。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转场</a:t>
            </a:r>
          </a:p>
          <a:p xmlns:a="http://schemas.openxmlformats.org/drawingml/2006/main">
            <a:r>
              <a:t>单个 case 还不够，下一页汇总五个 target，看 LLM 增益是否只出现在 Suzuki。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/Users/rentamac/Documents/Codex/2026-05-12/CARE2.0/experiments/care_replay/results/2026-08-12-llm-hypothesis-initial-design/suzuki_minlp2/evaluation_compiled/summary.json</a:t>
            </a:r>
          </a:p>
          <a:p xmlns:a="http://schemas.openxmlformats.org/drawingml/2006/main">
            <a:r>
              <a:t>- /Users/rentamac/Documents/Codex/2026-05-12/CARE2.0/experiments/care_replay/results/2026-08-12-llm-hypothesis-initial-design/suzuki_minlp2/llm_hypothesis_record.json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本页核心</a:t>
            </a:r>
          </a:p>
          <a:p xmlns:a="http://schemas.openxmlformats.org/drawingml/2006/main">
            <a:r>
              <a:t>任务结构路由在五个 target 上平均 AUC 比 fixed v2 高 2.12，4/5 不下降，但置信区间仍跨零。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详细讲解</a:t>
            </a:r>
          </a:p>
          <a:p xmlns:a="http://schemas.openxmlformats.org/drawingml/2006/main">
            <a:r>
              <a:t>五个 target 都是真实 API 调用，共五条主 hypothesis、66,293 tokens。候选路由完全由任务结构决定：只有一个 completed source 时采用 compiled LLM；有多个 source 时采用 raw semantic design。每个 target 的后续 GP、预算和 candidate pool 与 fixed v2 完全一致。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逐任务 AUC delta 是：Suzuki +1.939，Morpholine-AlPhos +5.203，Phenethylamine-AlPhos -0.947，Morpholine-tBuBrettPhos +4.422，preliminary 0。平均 +2.123，win 3/5，non-loss 4/5，final best 5/5 不下降。95% CI 为 [-0.226, 4.473]，仍然跨 0，所以不能写成统计上已经证明 LLM 普遍优于 fixed rule。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还要说明，这条路由是在观察组件行为后形成，五个 target 也都曾被项目使用，因此属于 retrospective ablation。正确下一步是冻结 prompt、compiler 和 route，在全新的 target 上执行。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名词解释</a:t>
            </a:r>
          </a:p>
          <a:p xmlns:a="http://schemas.openxmlformats.org/drawingml/2006/main">
            <a:r>
              <a:t>任务结构路由=按 source 数量选择 raw 或 compiled，不读取 target outcome；retrospective ablation=回顾性组件实验，不是新的外部确认。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转场</a:t>
            </a:r>
          </a:p>
          <a:p xmlns:a="http://schemas.openxmlformats.org/drawingml/2006/main">
            <a:r>
              <a:t>有了这组结果后，再重新划分哪些结论已经成立、哪些仍然需要外部确认。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/Users/rentamac/Documents/Codex/2026-05-12/CARE2.0/experiments/care_replay/results/2026-08-12-llm-hypothesis-initial-design/aggregate/suite_summary.json</a:t>
            </a:r>
          </a:p>
          <a:p xmlns:a="http://schemas.openxmlformats.org/drawingml/2006/main">
            <a:r>
              <a:t>- /Users/rentamac/Documents/Codex/2026-05-12/CARE2.0/experiments/care_replay/results/2026-08-12-llm-hypothesis-initial-design/README.md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本页核心</a:t>
            </a:r>
          </a:p>
          <a:p xmlns:a="http://schemas.openxmlformats.org/drawingml/2006/main">
            <a:r>
              <a:t>已经成立的是可信迁移流程、一个外部固定规则正例和真实 LLM 的正向组件信号；尚未成立的是 LLM 外部普遍优势。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详细讲解</a:t>
            </a:r>
          </a:p>
          <a:p xmlns:a="http://schemas.openxmlformats.org/drawingml/2006/main">
            <a:r>
              <a:t>左栏是可以明确说的：我们建立了统一、可审计的 replay harness；固定 v2 在一个真实外部 Suzuki target 上相对强 baseline 的 AUC 提高 8.66；真实 LLM 已经生成并执行结构化 hypothesis；五任务回顾性组件实验平均 AUC 提高 2.12。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中栏是不能说的：任意跨领域稳定迁移、LLM 已在全新 target 普遍优于 fixed rule、task-level CI 已排除零增益，以及 source 在优化全程持续贡献。右栏是项目真正的定位：可信赖的科学知识迁移框架，强调强 baseline、冻结协议、负迁移审计、exact fallback，以及成功和失败共同沉淀。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一句话收束：历史实验可以形成可执行、可拒绝、可验证的 Skill，但每个泛化结论都要由冻结后的新任务来支持。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名词解释</a:t>
            </a:r>
          </a:p>
          <a:p xmlns:a="http://schemas.openxmlformats.org/drawingml/2006/main">
            <a:r>
              <a:t>可信迁移不等于每次都迁移；能够识别不该迁移并安全回退，也是系统能力。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转场</a:t>
            </a:r>
          </a:p>
          <a:p xmlns:a="http://schemas.openxmlformats.org/drawingml/2006/main">
            <a:r>
              <a:t>最后说明怎样把一个外部正例扩展成论文级泛化证据。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/Users/rentamac/Documents/Codex/2026-05-12/CARE2.0/experiments/care_replay/results/2026-08-12-status-and-ppt/CARE2_CURRENT_STATUS_CN.md</a:t>
            </a:r>
          </a:p>
          <a:p xmlns:a="http://schemas.openxmlformats.org/drawingml/2006/main">
            <a:r>
              <a:t>- /Users/rentamac/Documents/Codex/2026-05-12/CARE2.0/experiments/care_replay/results/2026-08-12-llm-hypothesis-initial-design/README.md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本页核心</a:t>
            </a:r>
          </a:p>
          <a:p xmlns:a="http://schemas.openxmlformats.org/drawingml/2006/main">
            <a:r>
              <a:t>优先冻结 prompt、compiler 和 route，再用真正外部 target 检验 LLM 的独立增量。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详细讲解</a:t>
            </a:r>
          </a:p>
          <a:p xmlns:a="http://schemas.openxmlformats.org/drawingml/2006/main">
            <a:r>
              <a:t>P0 第一项是扩大 external targets：冻结同一个 v2 skill family，在更多未参与开发的 C-N、Suzuki 或相邻 reaction campaigns 上执行。只有多个独立 target 才能计算 task-level CI。P0 第二项是冻结统一 Confirmation Protocol，包括任务根列表、预算、primary metric、selection hash 和 skill fingerprint，防止每个结果出来后改变口径。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针对 LLM，还要额外冻结 prompt、模型版本、raw/compiled route、compiler 参数和 trace schema。面对新 target 时不能再根据结果选择哪条路线。确认实验仍然比较 fixed v2、LLM hypothesis-only 和 matched random hypothesis，所有组使用相同 source、candidate pool、initial-design size 和 target budget。之后再研究 skill accumulation 和远距离领域扩展。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名词解释</a:t>
            </a:r>
          </a:p>
          <a:p xmlns:a="http://schemas.openxmlformats.org/drawingml/2006/main">
            <a:r>
              <a:t>Confirmation Protocol=事先冻结任务、预算、指标和版本的确认性实验协议；skill accumulation=随着完成任务增加，SkillBank 是否带来可重复收益。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转场</a:t>
            </a:r>
          </a:p>
          <a:p xmlns:a="http://schemas.openxmlformats.org/drawingml/2006/main">
            <a:r>
              <a:t>最后一页准备回答最容易被问到的四个问题。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/Users/rentamac/Documents/Codex/2026-05-12/CARE2.0/experiments/care_replay/results/2026-08-12-status-and-ppt/CARE2_CURRENT_STATUS_CN.md</a:t>
            </a:r>
          </a:p>
          <a:p xmlns:a="http://schemas.openxmlformats.org/drawingml/2006/main">
            <a:r>
              <a:t>- /Users/rentamac/Documents/Codex/2026-05-12/CARE2.0/experiments/care_replay/results/2026-08-12-llm-hypothesis-initial-design/README.md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本页核心</a:t>
            </a:r>
          </a:p>
          <a:p xmlns:a="http://schemas.openxmlformats.org/drawingml/2006/main">
            <a:r>
              <a:t>这四个问题决定目前能把结论说到哪一步。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详细讲解</a:t>
            </a:r>
          </a:p>
          <a:p xmlns:a="http://schemas.openxmlformats.org/drawingml/2006/main">
            <a:r>
              <a:t>问题一：是不是挑了三个好 seed？不是。前三个点是冻结的算法输出，不是随机 seed；external target 在冻结前没有读取 outcome。问题二：为什么不持续使用 source prior？因为当前实验先隔离 initial-design contribution，持续 prior 需要单独与 warm-start-only 比较，否则归因不清楚。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问题三：LLM 是否已经优于 fixed v2？目前五个既有 target 平均 +2.12，4/5 不下降，但 CI 跨零，所以只能说有正向信号。问题四：这算跨领域吗？目前主要是不同 reaction-optimization datasets 之间的迁移，属于同领域或相邻任务迁移，还不足以证明化学到材料等远距离跨领域泛化。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讨论应收束到三个具体决定：下一批 external targets 是什么；LLM hypothesis-only 对照如何冻结；Confirmation Protocol 和 SkillBank 的版本规则如何确定。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名词解释</a:t>
            </a:r>
          </a:p>
          <a:p xmlns:a="http://schemas.openxmlformats.org/drawingml/2006/main">
            <a:r>
              <a:t>最稳妥的对外表述是：CARE 2.0 已获得一个严格外部 source-outcome transfer 正例，并形成了可扩展的验证框架。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转场</a:t>
            </a:r>
          </a:p>
          <a:p xmlns:a="http://schemas.openxmlformats.org/drawingml/2006/main">
            <a:r>
              <a:t>结束汇报并进入任务、协议和专家 review 的具体讨论。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/Users/rentamac/Documents/Codex/2026-05-12/CARE2.0/experiments/care_replay/results/2026-08-12-status-and-ppt/CARE2_CURRENT_STATUS_CN.md</a:t>
            </a:r>
          </a:p>
          <a:p xmlns:a="http://schemas.openxmlformats.org/drawingml/2006/main">
            <a:r>
              <a:t>- /Users/rentamac/Documents/Codex/2026-05-12/CARE2.0/experiments/care_replay/results/2026-08-12-llm-hypothesis-initial-design/README.md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13b2f8094474171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2e69c3928a864ca8" /><Relationship Type="http://schemas.openxmlformats.org/officeDocument/2006/relationships/slideLayout" Target="/ppt/slideLayouts/slideLayout1.xml" Id="R33e43854c6714464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33e43854c6714464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833fe6cf29e4dbd" /><Relationship Type="http://schemas.openxmlformats.org/officeDocument/2006/relationships/notesSlide" Target="/ppt/notesSlides/notesSlide1.xml" Id="R4787035276e14940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d94e7e8cf4c4781" /><Relationship Type="http://schemas.openxmlformats.org/officeDocument/2006/relationships/notesSlide" Target="/ppt/notesSlides/notesSlide2.xml" Id="Rbbf71e22a76a45fc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5683358dce74881" /><Relationship Type="http://schemas.openxmlformats.org/officeDocument/2006/relationships/notesSlide" Target="/ppt/notesSlides/notesSlide3.xml" Id="R120b478e2a86457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73d24308b0246ee" /><Relationship Type="http://schemas.openxmlformats.org/officeDocument/2006/relationships/image" Target="/ppt/media/image.png" Id="Rbce8a97e6dbf43e4" /><Relationship Type="http://schemas.openxmlformats.org/officeDocument/2006/relationships/notesSlide" Target="/ppt/notesSlides/notesSlide4.xml" Id="R14e33ed4013f471f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390aa82de174f59" /><Relationship Type="http://schemas.openxmlformats.org/officeDocument/2006/relationships/image" Target="/ppt/media/image2.png" Id="R8a8ad7a12e8e4025" /><Relationship Type="http://schemas.openxmlformats.org/officeDocument/2006/relationships/notesSlide" Target="/ppt/notesSlides/notesSlide5.xml" Id="R0ea233828e1243b4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c36d6fd470a46b8" /><Relationship Type="http://schemas.openxmlformats.org/officeDocument/2006/relationships/image" Target="/ppt/media/image3.png" Id="Rf753221562d44460" /><Relationship Type="http://schemas.openxmlformats.org/officeDocument/2006/relationships/notesSlide" Target="/ppt/notesSlides/notesSlide6.xml" Id="Rade68454077046bf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07e3d7e258a43ea" /><Relationship Type="http://schemas.openxmlformats.org/officeDocument/2006/relationships/notesSlide" Target="/ppt/notesSlides/notesSlide7.xml" Id="Rade20c64dd3e4e07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c38dd80f3a64eb4" /><Relationship Type="http://schemas.openxmlformats.org/officeDocument/2006/relationships/notesSlide" Target="/ppt/notesSlides/notesSlide8.xml" Id="Re621b11fb74d4f0c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01548d90a844231" /><Relationship Type="http://schemas.openxmlformats.org/officeDocument/2006/relationships/notesSlide" Target="/ppt/notesSlides/notesSlide9.xml" Id="R0bd49a114c2d4bc2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7db3def3ac2423f" /><Relationship Type="http://schemas.openxmlformats.org/officeDocument/2006/relationships/notesSlide" Target="/ppt/notesSlides/notesSlide10.xml" Id="R715318e421c44e91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90feb0a32d94d7e" /><Relationship Type="http://schemas.openxmlformats.org/officeDocument/2006/relationships/notesSlide" Target="/ppt/notesSlides/notesSlide11.xml" Id="Rff9f7cb4e6694c4c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f030a18e8554fdf" /><Relationship Type="http://schemas.openxmlformats.org/officeDocument/2006/relationships/notesSlide" Target="/ppt/notesSlides/notesSlide12.xml" Id="Ra7b49d325bc94828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e73719cc25f4a60" /><Relationship Type="http://schemas.openxmlformats.org/officeDocument/2006/relationships/image" Target="/ppt/media/image4.png" Id="R5490f6842b794124" /><Relationship Type="http://schemas.openxmlformats.org/officeDocument/2006/relationships/notesSlide" Target="/ppt/notesSlides/notesSlide13.xml" Id="R173af39a47e044ad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e4378471cc941dc" /><Relationship Type="http://schemas.openxmlformats.org/officeDocument/2006/relationships/notesSlide" Target="/ppt/notesSlides/notesSlide14.xml" Id="R50027f1f078c4fdc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564609742c241a8" /><Relationship Type="http://schemas.openxmlformats.org/officeDocument/2006/relationships/notesSlide" Target="/ppt/notesSlides/notesSlide15.xml" Id="R5bfb2c251ef04bff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642ab981b89466d" /><Relationship Type="http://schemas.openxmlformats.org/officeDocument/2006/relationships/notesSlide" Target="/ppt/notesSlides/notesSlide16.xml" Id="R7eaea898f6e94c2a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57732f7d19740ca" /><Relationship Type="http://schemas.openxmlformats.org/officeDocument/2006/relationships/notesSlide" Target="/ppt/notesSlides/notesSlide17.xml" Id="R5b6256fe8a0e4dc9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252b7a831664686" /><Relationship Type="http://schemas.openxmlformats.org/officeDocument/2006/relationships/notesSlide" Target="/ppt/notesSlides/notesSlide18.xml" Id="Rf41fb45d4e164457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191366d61ce470d" /><Relationship Type="http://schemas.openxmlformats.org/officeDocument/2006/relationships/notesSlide" Target="/ppt/notesSlides/notesSlide19.xml" Id="Rc735e7271883436d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a46f0e37c2d44f4" /><Relationship Type="http://schemas.openxmlformats.org/officeDocument/2006/relationships/notesSlide" Target="/ppt/notesSlides/notesSlide20.xml" Id="Rbd62ec6b602549b9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ab40d31e58d4da7" /><Relationship Type="http://schemas.openxmlformats.org/officeDocument/2006/relationships/image" Target="/ppt/media/image5.png" Id="Reeb38cfd81064ab5" /><Relationship Type="http://schemas.openxmlformats.org/officeDocument/2006/relationships/notesSlide" Target="/ppt/notesSlides/notesSlide21.xml" Id="R9103215d6bd7472f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96efd1c502648e7" /><Relationship Type="http://schemas.openxmlformats.org/officeDocument/2006/relationships/notesSlide" Target="/ppt/notesSlides/notesSlide22.xml" Id="R5651c43a59604ed3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9749cb967f3417d" /><Relationship Type="http://schemas.openxmlformats.org/officeDocument/2006/relationships/image" Target="/ppt/media/image6.png" Id="Rd27c3c4126f34b53" /><Relationship Type="http://schemas.openxmlformats.org/officeDocument/2006/relationships/notesSlide" Target="/ppt/notesSlides/notesSlide23.xml" Id="Rd67f7a95b149404e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d53ac6999624650" /><Relationship Type="http://schemas.openxmlformats.org/officeDocument/2006/relationships/notesSlide" Target="/ppt/notesSlides/notesSlide24.xml" Id="Rc99973617cae4561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0bf5d86b05949eb" /><Relationship Type="http://schemas.openxmlformats.org/officeDocument/2006/relationships/notesSlide" Target="/ppt/notesSlides/notesSlide25.xml" Id="R16f55911fb1041d8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9280d7e9d7c46c2" /><Relationship Type="http://schemas.openxmlformats.org/officeDocument/2006/relationships/notesSlide" Target="/ppt/notesSlides/notesSlide26.xml" Id="R165ae92e9a054eae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5a785be477c4374" /><Relationship Type="http://schemas.openxmlformats.org/officeDocument/2006/relationships/notesSlide" Target="/ppt/notesSlides/notesSlide27.xml" Id="R5060a8c2ecb34e78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2ca1c5e927a4afa" /><Relationship Type="http://schemas.openxmlformats.org/officeDocument/2006/relationships/notesSlide" Target="/ppt/notesSlides/notesSlide28.xml" Id="Rf57390462a5a4926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24160d57024488d" /><Relationship Type="http://schemas.openxmlformats.org/officeDocument/2006/relationships/notesSlide" Target="/ppt/notesSlides/notesSlide29.xml" Id="R0ffeb2693e8c4c16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74812629ad74da1" /><Relationship Type="http://schemas.openxmlformats.org/officeDocument/2006/relationships/notesSlide" Target="/ppt/notesSlides/notesSlide30.xml" Id="R10da2b78daf746df" /></Relationships>
</file>

<file path=ppt/slides/_rels/slide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208cc369fdb456c" /><Relationship Type="http://schemas.openxmlformats.org/officeDocument/2006/relationships/notesSlide" Target="/ppt/notesSlides/notesSlide31.xml" Id="R4d4f964ec60c4ac7" /></Relationships>
</file>

<file path=ppt/slides/_rels/slide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71836b2ce2848fe" /><Relationship Type="http://schemas.openxmlformats.org/officeDocument/2006/relationships/notesSlide" Target="/ppt/notesSlides/notesSlide32.xml" Id="Rf6e3ce3583d3456b" /></Relationships>
</file>

<file path=ppt/slides/_rels/slide3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1b36f09c107487b" /><Relationship Type="http://schemas.openxmlformats.org/officeDocument/2006/relationships/notesSlide" Target="/ppt/notesSlides/notesSlide33.xml" Id="Rf7e47bc4b2334874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4585263-A270-4712-BD02-E3F0E1319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85800"/>
            <a:ext cx="238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35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CARE 2.0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2C3829F-EEA0-4E31-BF27-982F3971F0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447800"/>
            <a:ext cx="67627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2000"/>
              </a:lnSpc>
              <a:buNone/>
              <a:defRPr sz="420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420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面向科学实验的</a:t>
            </a:r>
          </a:p>
          <a:p xmlns:a="http://schemas.openxmlformats.org/drawingml/2006/main">
            <a:pPr algn="l">
              <a:lnSpc>
                <a:spcPct val="92000"/>
              </a:lnSpc>
              <a:buNone/>
              <a:defRPr sz="420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420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可信知识迁移框架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795A912-6168-4E2E-B540-665FB02DC7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295650"/>
            <a:ext cx="6858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8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从 source-outcome skill 到冻结外部验证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AFDA169-DF30-447B-8F2C-BB8FD4F465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038600"/>
            <a:ext cx="5715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FB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262D874-55F4-4479-A58F-19C0774F4C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400550"/>
            <a:ext cx="533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75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项目现状与方法更新 · 2026-08-12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D025D5F-1768-458A-8F7B-955B3D369A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0"/>
            <a:ext cx="36195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3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0A253F1-4842-4C94-A52E-DA49180F2D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1200150"/>
            <a:ext cx="2095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800" b="1">
                <a:solidFill>
                  <a:srgbClr val="17324D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1">
                <a:solidFill>
                  <a:srgbClr val="17324D"/>
                </a:solidFill>
                <a:latin typeface="Arial Unicode MS"/>
                <a:ea typeface="Arial Unicode MS"/>
                <a:cs typeface="Arial Unicode MS"/>
              </a:rPr>
              <a:t>历史实验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901C3D2-FF31-401A-B892-0339085B5D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86925" y="1743075"/>
            <a:ext cx="857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55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55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↓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618A7AE-78A5-4F11-A0E6-0DE77C0CA4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2333625"/>
            <a:ext cx="2095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800" b="1">
                <a:solidFill>
                  <a:srgbClr val="2C8A6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1">
                <a:solidFill>
                  <a:srgbClr val="2C8A62"/>
                </a:solidFill>
                <a:latin typeface="Arial Unicode MS"/>
                <a:ea typeface="Arial Unicode MS"/>
                <a:cs typeface="Arial Unicode MS"/>
              </a:rPr>
              <a:t>可执行 Skill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18D131F-0ED3-4ECA-908A-530854D7D3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86925" y="2876550"/>
            <a:ext cx="857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55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55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↓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9528709-FA9D-426F-BB13-69BD3D4601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3467100"/>
            <a:ext cx="2095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800" b="1">
                <a:solidFill>
                  <a:srgbClr val="D99A3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1">
                <a:solidFill>
                  <a:srgbClr val="D99A33"/>
                </a:solidFill>
                <a:latin typeface="Arial Unicode MS"/>
                <a:ea typeface="Arial Unicode MS"/>
                <a:cs typeface="Arial Unicode MS"/>
              </a:rPr>
              <a:t>新实验决策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96E1F32-FD75-4149-BF6D-CC56DFBE14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86925" y="4010025"/>
            <a:ext cx="857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55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55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↓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4F48479-6F2F-424F-B353-FFCD1EB124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4591050"/>
            <a:ext cx="2095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800" b="1">
                <a:solidFill>
                  <a:srgbClr val="17324D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1">
                <a:solidFill>
                  <a:srgbClr val="17324D"/>
                </a:solidFill>
                <a:latin typeface="Arial Unicode MS"/>
                <a:ea typeface="Arial Unicode MS"/>
                <a:cs typeface="Arial Unicode MS"/>
              </a:rPr>
              <a:t>证据沉淀</a:t>
            </a:r>
          </a:p>
        </p:txBody>
      </p:sp>
    </p:spTree>
    <p:extLst>
      <p:ext uri="{BB962C8B-B14F-4D97-AF65-F5344CB8AC3E}">
        <p14:creationId xmlns:p14="http://schemas.microsoft.com/office/powerpoint/2010/main" val="1856148193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B0B3BD5-465C-4A75-9484-1E1E38C808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6700"/>
            <a:ext cx="419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9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CURRENT STATUS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41365F2-EF22-4954-83C9-A483E1035E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266700"/>
            <a:ext cx="28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9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02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D28EFFC-2272-4088-A462-7D86DD99F0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52450"/>
            <a:ext cx="108966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255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55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外部固定规则证据与真实 LLM 证据已经分开验证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777FF36-B988-48D8-83BD-C8E8960B1C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00150"/>
            <a:ext cx="4000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3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ABBA685-19C2-4B63-966C-73517D19C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790700"/>
            <a:ext cx="23622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3450" b="1">
                <a:solidFill>
                  <a:srgbClr val="2C8A6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3450" b="1">
                <a:solidFill>
                  <a:srgbClr val="2C8A62"/>
                </a:solidFill>
                <a:latin typeface="Arial Unicode MS"/>
                <a:ea typeface="Arial Unicode MS"/>
                <a:cs typeface="Arial Unicode MS"/>
              </a:rPr>
              <a:t>+8.66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6692DF3-3DF7-4588-A0C3-AF2E028D48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419350"/>
            <a:ext cx="23622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35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外部 AUC 增益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54A7D40-C092-452D-960E-57E708E6A9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819400"/>
            <a:ext cx="23622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05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05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Frozen v2；不含 LLM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1E4E83F-E907-450C-9FAC-56F888F4B7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1790700"/>
            <a:ext cx="2190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345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345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+2.12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73830EA-ACD0-4D51-A0D4-7A74DEDA04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2419350"/>
            <a:ext cx="2190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35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LLM 平均 AUC 增益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E4A477D-D445-4B25-9D58-AAC5F929DC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2819400"/>
            <a:ext cx="2190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05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05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5 个 target；回顾性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906EB42-E9EE-448C-AF31-CFC88ECE7C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1790700"/>
            <a:ext cx="2190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345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345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4 / 5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2964BE5-9E1D-477D-ADF0-DBF61C016C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2419350"/>
            <a:ext cx="2190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35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LLM 路由不下降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023D9E9-89B7-47FA-A410-41B486DC6A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2819400"/>
            <a:ext cx="2190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05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05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win 3 / 5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FA16792-A617-4342-9CB5-981CB766C3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96325" y="1790700"/>
            <a:ext cx="2190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3450" b="1">
                <a:solidFill>
                  <a:srgbClr val="D99A3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3450" b="1">
                <a:solidFill>
                  <a:srgbClr val="D99A33"/>
                </a:solidFill>
                <a:latin typeface="Arial Unicode MS"/>
                <a:ea typeface="Arial Unicode MS"/>
                <a:cs typeface="Arial Unicode MS"/>
              </a:rPr>
              <a:t>1 个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D03D793-286A-4270-9572-1E90259CA6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96325" y="2419350"/>
            <a:ext cx="2190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35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冻结外部 target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E5AA468-1CB6-48FD-9C2A-52EDA967EF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96325" y="2819400"/>
            <a:ext cx="2190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05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05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LLM 尚待外部确认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5C9B63A-7D7F-46D6-A64A-6F56DAC784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095750"/>
            <a:ext cx="10896600" cy="1466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EBF7128-E0BF-4454-9063-7F448A500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305300"/>
            <a:ext cx="2667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650" b="1">
                <a:solidFill>
                  <a:srgbClr val="17324D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650" b="1">
                <a:solidFill>
                  <a:srgbClr val="17324D"/>
                </a:solidFill>
                <a:latin typeface="Arial Unicode MS"/>
                <a:ea typeface="Arial Unicode MS"/>
                <a:cs typeface="Arial Unicode MS"/>
              </a:rPr>
              <a:t>目前最准确的结论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5BAA6C5-1C65-4EC8-9182-668DA14B59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4267200"/>
            <a:ext cx="75628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342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72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72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固定 v2 已有一个严格外部正例；真实 LLM 已进入 hypothesis 与 initial-design 决策链，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72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72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五任务平均为正，但置信区间跨零，下一步必须在全新 target 上冻结确认。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5E41EC5-DB70-4A2B-881B-01C95A70E5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600825"/>
            <a:ext cx="108966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750" b="0">
                <a:solidFill>
                  <a:srgbClr val="8B959D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750" b="0">
                <a:solidFill>
                  <a:srgbClr val="8B959D"/>
                </a:solidFill>
                <a:latin typeface="Arial Unicode MS"/>
                <a:ea typeface="Arial Unicode MS"/>
                <a:cs typeface="Arial Unicode MS"/>
              </a:rPr>
              <a:t>CARE 2.0 · frozen evidence update · 2026-08-12</a:t>
            </a:r>
          </a:p>
        </p:txBody>
      </p:sp>
    </p:spTree>
    <p:extLst>
      <p:ext uri="{BB962C8B-B14F-4D97-AF65-F5344CB8AC3E}">
        <p14:creationId xmlns:p14="http://schemas.microsoft.com/office/powerpoint/2010/main" val="16127572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11BCC8F-69D1-49F8-9AB7-9FD0344ABE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6700"/>
            <a:ext cx="419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9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RESEARCH PROBLEM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2CDD898-B5A7-4EE6-83B0-D76CDAAD58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266700"/>
            <a:ext cx="28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9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03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6C13E5D-E2CA-4739-9681-B63F390476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52450"/>
            <a:ext cx="108966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270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70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昂贵实验中，历史经验能否真正减少试错？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D625EE6-E489-434A-BFCF-BF1AA41126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00150"/>
            <a:ext cx="4000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3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16C6D25-B40B-42BC-90A5-52DA2C312C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695450"/>
            <a:ext cx="2762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80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57EF293-E276-4B54-B309-DA6A765D49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095500"/>
            <a:ext cx="3429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FB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8B2DED0-8888-499D-8E83-4DE040E143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228850"/>
            <a:ext cx="2762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80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已知信息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E139AEC-D7B5-4DC7-A8E9-A685A763A7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705100"/>
            <a:ext cx="28575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• 已经完成的 source experiments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• target 的公开候选条件与变量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• 固定、有限的实验预算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• 尚未揭示的 target outcome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C1EAFA9-12D1-42F0-928D-6AFF6CD391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1695450"/>
            <a:ext cx="2762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800" b="1">
                <a:solidFill>
                  <a:srgbClr val="D99A3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1">
                <a:solidFill>
                  <a:srgbClr val="D99A33"/>
                </a:solidFill>
                <a:latin typeface="Arial Unicode MS"/>
                <a:ea typeface="Arial Unicode MS"/>
                <a:cs typeface="Arial Unicode MS"/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4A28825-797F-45A8-8FC4-AEFD9EBC0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2095500"/>
            <a:ext cx="3429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9A3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DD44E7A-64B6-4645-B756-4CD1B25E9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2228850"/>
            <a:ext cx="2762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80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每轮决策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FD19026-4B40-4466-B649-C738076627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2705100"/>
            <a:ext cx="28575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• 选择一个候选实验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• 只观察被选点的真实结果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• 更新 target model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• 决定迁移、持有或回退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160EFAB-EFAA-4346-A81C-322E6F3F02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1695450"/>
            <a:ext cx="2762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800" b="1">
                <a:solidFill>
                  <a:srgbClr val="2C8A6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1">
                <a:solidFill>
                  <a:srgbClr val="2C8A62"/>
                </a:solidFill>
                <a:latin typeface="Arial Unicode MS"/>
                <a:ea typeface="Arial Unicode MS"/>
                <a:cs typeface="Arial Unicode MS"/>
              </a:rPr>
              <a:t>03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CB9CDBE-02E8-4219-8249-FCE928373C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2095500"/>
            <a:ext cx="3429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8A6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840F362-5EA9-4F6B-BEA0-330292CEFD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2228850"/>
            <a:ext cx="2762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80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目标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C03F778-075C-410C-B94D-9E18713FE0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2705100"/>
            <a:ext cx="28575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• 更早找到高质量候选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• 相同预算下提高 final best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• 不偷看 target outcome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• 避免负迁移并留下 trace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067FB88-8D4D-41B3-AFF4-18A953BF80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200650"/>
            <a:ext cx="108966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24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18F8088-3244-4903-B46F-31E955DC96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391150"/>
            <a:ext cx="10439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8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核心问题：source history 是否改变 target 的选择顺序，并让有效实验更早发生？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7182393-707C-4987-A8D4-F365258D0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600825"/>
            <a:ext cx="108966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750" b="0">
                <a:solidFill>
                  <a:srgbClr val="8B959D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750" b="0">
                <a:solidFill>
                  <a:srgbClr val="8B959D"/>
                </a:solidFill>
                <a:latin typeface="Arial Unicode MS"/>
                <a:ea typeface="Arial Unicode MS"/>
                <a:cs typeface="Arial Unicode MS"/>
              </a:rPr>
              <a:t>CARE 2.0 · frozen evidence update · 2026-08-12</a:t>
            </a:r>
          </a:p>
        </p:txBody>
      </p:sp>
    </p:spTree>
    <p:extLst>
      <p:ext uri="{BB962C8B-B14F-4D97-AF65-F5344CB8AC3E}">
        <p14:creationId xmlns:p14="http://schemas.microsoft.com/office/powerpoint/2010/main" val="1532680297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A2CA7A1-B5C0-4BD7-A73B-1D8BCFE9AF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6700"/>
            <a:ext cx="419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9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EVIDENCE LADDER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F80E657-4007-4000-91C4-BA3D88DD68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266700"/>
            <a:ext cx="28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9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04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6CE13A2-2355-4BB5-931C-90DB98FC54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52450"/>
            <a:ext cx="108966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255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55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当前证据分三层，不能把所有正结果混成一个结论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27D217B-C67E-458A-A154-6777C01301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00150"/>
            <a:ext cx="4000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32E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ce8a97e6dbf43e4"/>
          <a:stretch xmlns:a="http://schemas.openxmlformats.org/drawingml/2006/main"/>
        </p:blipFill>
        <p:spPr>
          <a:xfrm xmlns:a="http://schemas.openxmlformats.org/drawingml/2006/main">
            <a:off x="1566960" y="1238250"/>
            <a:ext cx="9058080" cy="5105400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C51D541-94CF-49B7-BDB9-FBD9AC1500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600825"/>
            <a:ext cx="108966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750" b="0">
                <a:solidFill>
                  <a:srgbClr val="8B959D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750" b="0">
                <a:solidFill>
                  <a:srgbClr val="8B959D"/>
                </a:solidFill>
                <a:latin typeface="Arial Unicode MS"/>
                <a:ea typeface="Arial Unicode MS"/>
                <a:cs typeface="Arial Unicode MS"/>
              </a:rPr>
              <a:t>CARE 2.0 · frozen evidence update · 2026-08-12</a:t>
            </a:r>
          </a:p>
        </p:txBody>
      </p:sp>
    </p:spTree>
    <p:extLst>
      <p:ext uri="{BB962C8B-B14F-4D97-AF65-F5344CB8AC3E}">
        <p14:creationId xmlns:p14="http://schemas.microsoft.com/office/powerpoint/2010/main" val="1323919145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64FD876-1BF0-4435-B78B-63F3CCBDAC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6700"/>
            <a:ext cx="419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9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REVIEW-DRIVEN REVISION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05C71D7-A3C8-44F4-BECB-A15AF18DE8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266700"/>
            <a:ext cx="28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9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05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CCA97F3-C6A9-458C-910D-5635D4A2B0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52450"/>
            <a:ext cx="108966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270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70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我们把关键质疑直接变成了实验协议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DCAF0AA-6257-4072-A704-04A22D74B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00150"/>
            <a:ext cx="4000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32E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a8ad7a12e8e4025"/>
          <a:stretch xmlns:a="http://schemas.openxmlformats.org/drawingml/2006/main"/>
        </p:blipFill>
        <p:spPr>
          <a:xfrm xmlns:a="http://schemas.openxmlformats.org/drawingml/2006/main">
            <a:off x="1575410" y="1257300"/>
            <a:ext cx="9041181" cy="5095875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EC9415C-59AD-4789-B7B8-630E8E66BB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600825"/>
            <a:ext cx="108966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750" b="0">
                <a:solidFill>
                  <a:srgbClr val="8B959D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750" b="0">
                <a:solidFill>
                  <a:srgbClr val="8B959D"/>
                </a:solidFill>
                <a:latin typeface="Arial Unicode MS"/>
                <a:ea typeface="Arial Unicode MS"/>
                <a:cs typeface="Arial Unicode MS"/>
              </a:rPr>
              <a:t>CARE 2.0 · frozen evidence update · 2026-08-12</a:t>
            </a:r>
          </a:p>
        </p:txBody>
      </p:sp>
    </p:spTree>
    <p:extLst>
      <p:ext uri="{BB962C8B-B14F-4D97-AF65-F5344CB8AC3E}">
        <p14:creationId xmlns:p14="http://schemas.microsoft.com/office/powerpoint/2010/main" val="1845089519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C39944E-0E8D-4A36-AC5A-A642C7AF7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6700"/>
            <a:ext cx="419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9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EXECUTION ARCHITECTURE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C4F76BD-7A86-4E2C-A49B-71FC059CC9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266700"/>
            <a:ext cx="28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9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06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AF814D4-6D7C-4268-9F18-5ECE2377C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52450"/>
            <a:ext cx="108966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24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4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历史实验只影响开局，目标观测开始后统一使用 target-only GP-UCB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556CE8C-6F4E-4F8F-AD0F-4A6CF373C1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00150"/>
            <a:ext cx="4000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32E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753221562d44460"/>
          <a:stretch xmlns:a="http://schemas.openxmlformats.org/drawingml/2006/main"/>
        </p:blipFill>
        <p:spPr>
          <a:xfrm xmlns:a="http://schemas.openxmlformats.org/drawingml/2006/main">
            <a:off x="1575410" y="1257300"/>
            <a:ext cx="9041181" cy="5095875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A68A682-B9F3-40F1-ABF1-A4298AF757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600825"/>
            <a:ext cx="108966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750" b="0">
                <a:solidFill>
                  <a:srgbClr val="8B959D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750" b="0">
                <a:solidFill>
                  <a:srgbClr val="8B959D"/>
                </a:solidFill>
                <a:latin typeface="Arial Unicode MS"/>
                <a:ea typeface="Arial Unicode MS"/>
                <a:cs typeface="Arial Unicode MS"/>
              </a:rPr>
              <a:t>CARE 2.0 · frozen evidence update · 2026-08-12</a:t>
            </a:r>
          </a:p>
        </p:txBody>
      </p:sp>
    </p:spTree>
    <p:extLst>
      <p:ext uri="{BB962C8B-B14F-4D97-AF65-F5344CB8AC3E}">
        <p14:creationId xmlns:p14="http://schemas.microsoft.com/office/powerpoint/2010/main" val="968666932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CDFD595-2C05-4A31-BDFB-6EDC67DC04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6700"/>
            <a:ext cx="419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9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SCOPE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F53305E-21CA-42D6-8620-4DC20B947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266700"/>
            <a:ext cx="28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9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07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A1E7871-8E4D-40F7-A443-AABE2C4D54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52450"/>
            <a:ext cx="108966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255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55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CARE 2.0 是完整平台；v2 是当前最干净的验证切片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5791095-DB07-4C93-AC77-2F33E777E8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00150"/>
            <a:ext cx="4000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3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429B153-543B-48EB-98C1-9D7DB455F1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638300"/>
            <a:ext cx="4953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80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完整平台路线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B737FD7-BF53-4C11-909A-292E7DBF47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095500"/>
            <a:ext cx="4953000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3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34FE447-6A08-419E-BA6E-3E9514A67E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381250"/>
            <a:ext cx="4419600" cy="2381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7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7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• LLM hypothesis 与 source-target role mapping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7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7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• neighbor / additive / interaction source priors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7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7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• kernel geometry patch 与 online routing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7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7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• calibration gate、exact fallback 和 audit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7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7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• 用于研究不同模块如何组合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176A8CE-39A6-4CCB-8F81-FDC818C48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1638300"/>
            <a:ext cx="4953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800" b="1">
                <a:solidFill>
                  <a:srgbClr val="2C8A6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1">
                <a:solidFill>
                  <a:srgbClr val="2C8A62"/>
                </a:solidFill>
                <a:latin typeface="Arial Unicode MS"/>
                <a:ea typeface="Arial Unicode MS"/>
                <a:cs typeface="Arial Unicode MS"/>
              </a:rPr>
              <a:t>最新 v2 外部验证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3C8627C-E71A-4235-A809-01AFE0CC32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095500"/>
            <a:ext cx="4953000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6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0F78BD6-D75E-4205-8B8A-1E7EE478E5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2381250"/>
            <a:ext cx="4419600" cy="2381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7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7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• 只使用真实 source outcomes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7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7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• quality-bounded initial design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7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7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• 3 个初始点后 source 完全退出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7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7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• 后续统一使用 target-only GP-UCB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7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7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• 本轮 LLM 不参与选点或调分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48EBADB-3B3B-4E0E-ADCA-85729E7D8B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5524500"/>
            <a:ext cx="51816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24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133CB19-CF45-495B-B4CE-011B47D0D5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5657850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6222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先把 source-outcome 的因果贡献钉牢，再重新加入 LLM。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9EA3193-E3CB-4A5F-959F-6B4EAF64EE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600825"/>
            <a:ext cx="108966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750" b="0">
                <a:solidFill>
                  <a:srgbClr val="8B959D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750" b="0">
                <a:solidFill>
                  <a:srgbClr val="8B959D"/>
                </a:solidFill>
                <a:latin typeface="Arial Unicode MS"/>
                <a:ea typeface="Arial Unicode MS"/>
                <a:cs typeface="Arial Unicode MS"/>
              </a:rPr>
              <a:t>CARE 2.0 · frozen evidence update · 2026-08-12</a:t>
            </a:r>
          </a:p>
        </p:txBody>
      </p:sp>
    </p:spTree>
    <p:extLst>
      <p:ext uri="{BB962C8B-B14F-4D97-AF65-F5344CB8AC3E}">
        <p14:creationId xmlns:p14="http://schemas.microsoft.com/office/powerpoint/2010/main" val="1911566922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0663E4A-383D-43E8-88FA-42D0B3AA27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6700"/>
            <a:ext cx="419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9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REPLAY HARNESS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BD5A0E2-274A-4658-BE23-2894AEFA09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266700"/>
            <a:ext cx="28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9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08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C0DE475-7919-41F7-A1D0-10781519F7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52450"/>
            <a:ext cx="108966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24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4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历史数据按真实实验节奏逐轮揭示，而不是一次性看完整答案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0129B70-15A2-4676-BF5F-B6B856F3E8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00150"/>
            <a:ext cx="4000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3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A1AB127-F38E-4A31-BDDF-CA7DD3E9CA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2552700"/>
            <a:ext cx="3619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25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25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→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DD2E053-A1A7-4247-B7F8-22A38CD90C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152650"/>
            <a:ext cx="1809750" cy="1181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6"/>
          </a:solidFill>
          <a:ln xmlns:a="http://schemas.openxmlformats.org/drawingml/2006/main" w="9525">
            <a:solidFill>
              <a:srgbClr val="C9D0D6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702C2DF-6714-4CF4-A2C7-0FC7CFEFBC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428875"/>
            <a:ext cx="15430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隐藏 target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5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outcomes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A12E8C6-9D16-4A10-BBBB-3350C56D7F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2552700"/>
            <a:ext cx="3619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25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25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→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484051C-D8D3-4280-B5FA-013F1B3F9B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2152650"/>
            <a:ext cx="1809750" cy="1181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3FB"/>
          </a:solidFill>
          <a:ln xmlns:a="http://schemas.openxmlformats.org/drawingml/2006/main" w="9525">
            <a:solidFill>
              <a:srgbClr val="C9D0D6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4084D9A-4441-4501-A3C2-1CD7E0223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2428875"/>
            <a:ext cx="15430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选择一个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5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candidate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3C3A3FB-9CB8-49E8-A7D1-D51ABDC3FF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2552700"/>
            <a:ext cx="3619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25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25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→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B9C7985-881C-4C99-95A4-A70BEF8A3D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2152650"/>
            <a:ext cx="1809750" cy="1181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3E5"/>
          </a:solidFill>
          <a:ln xmlns:a="http://schemas.openxmlformats.org/drawingml/2006/main" w="9525">
            <a:solidFill>
              <a:srgbClr val="C9D0D6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6CAA564-04EB-44F2-9605-D61522F308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2428875"/>
            <a:ext cx="15430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只揭示该点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5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真实 outcome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CF1FB42-91C6-4BE3-8EBB-BB4A6E7121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2552700"/>
            <a:ext cx="3619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25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25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→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8FFEFCE-3D8B-44FC-B332-1F72FF0811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2152650"/>
            <a:ext cx="1809750" cy="1181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6F0"/>
          </a:solidFill>
          <a:ln xmlns:a="http://schemas.openxmlformats.org/drawingml/2006/main" w="9525">
            <a:solidFill>
              <a:srgbClr val="C9D0D6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2E5AD41-4F59-4A30-B338-F99ADA757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2428875"/>
            <a:ext cx="15430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更新 target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5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model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4F396E2-8285-40F2-92F0-CD3A4F4C51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4100" y="2152650"/>
            <a:ext cx="1809750" cy="1181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6"/>
          </a:solidFill>
          <a:ln xmlns:a="http://schemas.openxmlformats.org/drawingml/2006/main" w="9525">
            <a:solidFill>
              <a:srgbClr val="C9D0D6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98F0058-A82B-401B-BA4C-CAFE5FEB47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77450" y="2428875"/>
            <a:ext cx="15430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记录 metric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5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与 trace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F0C2807-ED7A-47BE-83A3-5F718740AC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000500"/>
            <a:ext cx="1089660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24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B13CB36-7623-4A62-89EC-D42F53F16C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229100"/>
            <a:ext cx="1714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650" b="1">
                <a:solidFill>
                  <a:srgbClr val="6DCBF4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650" b="1">
                <a:solidFill>
                  <a:srgbClr val="6DCBF4"/>
                </a:solidFill>
                <a:latin typeface="Arial Unicode MS"/>
                <a:ea typeface="Arial Unicode MS"/>
                <a:cs typeface="Arial Unicode MS"/>
              </a:rPr>
              <a:t>公平性约束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2DC6167-BB13-4D32-B2B2-C177588F07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4171950"/>
            <a:ext cx="84963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65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65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相同 candidate pool · 相同初始点数量 · 相同 reveal budget · 相同 seeds · 未选点 outcome 始终不可见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ED57E3A-2E03-4F31-AF1B-6158E20E11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562600"/>
            <a:ext cx="108966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425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425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Replay 不能替代新 wet-lab 实验，但能严格测试有限预算下的逐轮决策与数据泄漏。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ED87475-B49C-4E72-A1C0-1B0771EEF4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600825"/>
            <a:ext cx="108966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750" b="0">
                <a:solidFill>
                  <a:srgbClr val="8B959D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750" b="0">
                <a:solidFill>
                  <a:srgbClr val="8B959D"/>
                </a:solidFill>
                <a:latin typeface="Arial Unicode MS"/>
                <a:ea typeface="Arial Unicode MS"/>
                <a:cs typeface="Arial Unicode MS"/>
              </a:rPr>
              <a:t>CARE 2.0 · frozen evidence update · 2026-08-12</a:t>
            </a:r>
          </a:p>
        </p:txBody>
      </p:sp>
    </p:spTree>
    <p:extLst>
      <p:ext uri="{BB962C8B-B14F-4D97-AF65-F5344CB8AC3E}">
        <p14:creationId xmlns:p14="http://schemas.microsoft.com/office/powerpoint/2010/main" val="599384279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A4DDEC1-2E6E-4260-81C2-152D5B9E4B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6700"/>
            <a:ext cx="419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9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DATASET COVERAGE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321200E-F29F-4639-9909-F3CE801B5C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266700"/>
            <a:ext cx="28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9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09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62EE9B8-B169-4E4E-B5FE-001EF4E6E8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52450"/>
            <a:ext cx="108966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270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70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接口已经跨三个领域运行，但证据等级并不相同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5ED38A4-A64D-4A27-A186-09EF59CADB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00150"/>
            <a:ext cx="4000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3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F51CB74-588B-4475-8463-1ED3726645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695450"/>
            <a:ext cx="30099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80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反应优化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8991BE2-6FC6-4A0D-B2CF-519B0FFD2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133600"/>
            <a:ext cx="30099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FB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5C214AC-8397-48FE-A8AF-0192649A56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400300"/>
            <a:ext cx="30099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• ChemLex Acid-Amine Wetlab</a:t>
            </a:r>
          </a:p>
          <a:p xmlns:a="http://schemas.openxmlformats.org/drawingml/2006/main">
            <a:pPr algn="l">
              <a:lnSpc>
                <a:spcPct val="122000"/>
              </a:lnSpc>
              <a:buNone/>
              <a:def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• Buchwald-Hartwig HTE</a:t>
            </a:r>
          </a:p>
          <a:p xmlns:a="http://schemas.openxmlformats.org/drawingml/2006/main">
            <a:pPr algn="l">
              <a:lnSpc>
                <a:spcPct val="122000"/>
              </a:lnSpc>
              <a:buNone/>
              <a:def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• Baumgartner C-N campaigns</a:t>
            </a:r>
          </a:p>
          <a:p xmlns:a="http://schemas.openxmlformats.org/drawingml/2006/main">
            <a:pPr algn="l">
              <a:lnSpc>
                <a:spcPct val="122000"/>
              </a:lnSpc>
              <a:buNone/>
              <a:def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• Suzuki MINLP1 / MINLP2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8EB3CBC-130F-42F0-AA5A-7FC1F00B15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1695450"/>
            <a:ext cx="30099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800" b="1">
                <a:solidFill>
                  <a:srgbClr val="2C8A6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1">
                <a:solidFill>
                  <a:srgbClr val="2C8A62"/>
                </a:solidFill>
                <a:latin typeface="Arial Unicode MS"/>
                <a:ea typeface="Arial Unicode MS"/>
                <a:cs typeface="Arial Unicode MS"/>
              </a:rPr>
              <a:t>分子性质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180422E-9ADA-42C2-9D41-8F209CCB12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2133600"/>
            <a:ext cx="30099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8A6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424248C-A684-4F41-AF45-8D7230CA5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2400300"/>
            <a:ext cx="30099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• MoleculeNet ESOL</a:t>
            </a:r>
          </a:p>
          <a:p xmlns:a="http://schemas.openxmlformats.org/drawingml/2006/main">
            <a:pPr algn="l">
              <a:lnSpc>
                <a:spcPct val="122000"/>
              </a:lnSpc>
              <a:buNone/>
              <a:def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• MoleculeNet FreeSolv</a:t>
            </a:r>
          </a:p>
          <a:p xmlns:a="http://schemas.openxmlformats.org/drawingml/2006/main">
            <a:pPr algn="l">
              <a:lnSpc>
                <a:spcPct val="122000"/>
              </a:lnSpc>
              <a:buNone/>
              <a:def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• MoleculeNet Lipophilicity</a:t>
            </a:r>
          </a:p>
          <a:p xmlns:a="http://schemas.openxmlformats.org/drawingml/2006/main">
            <a:pPr algn="l">
              <a:lnSpc>
                <a:spcPct val="122000"/>
              </a:lnSpc>
              <a:buNone/>
              <a:def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• 用于 schema / outcome transfer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06C785A-D2C7-4A32-8B53-51B01B2E1C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1695450"/>
            <a:ext cx="39624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800" b="1">
                <a:solidFill>
                  <a:srgbClr val="D99A3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1">
                <a:solidFill>
                  <a:srgbClr val="D99A33"/>
                </a:solidFill>
                <a:latin typeface="Arial Unicode MS"/>
                <a:ea typeface="Arial Unicode MS"/>
                <a:cs typeface="Arial Unicode MS"/>
              </a:rPr>
              <a:t>材料性质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DE82936-0C8A-46CA-A174-EE9A258A46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2133600"/>
            <a:ext cx="39624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9A3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DFBCFE0-26CD-4659-BA13-11C59D7C2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2400300"/>
            <a:ext cx="39624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• Matbench experimental gap</a:t>
            </a:r>
          </a:p>
          <a:p xmlns:a="http://schemas.openxmlformats.org/drawingml/2006/main">
            <a:pPr algn="l">
              <a:lnSpc>
                <a:spcPct val="122000"/>
              </a:lnSpc>
              <a:buNone/>
              <a:def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• Matbench dielectric</a:t>
            </a:r>
          </a:p>
          <a:p xmlns:a="http://schemas.openxmlformats.org/drawingml/2006/main">
            <a:pPr algn="l">
              <a:lnSpc>
                <a:spcPct val="122000"/>
              </a:lnSpc>
              <a:buNone/>
              <a:def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• Matbench phonons</a:t>
            </a:r>
          </a:p>
          <a:p xmlns:a="http://schemas.openxmlformats.org/drawingml/2006/main">
            <a:pPr algn="l">
              <a:lnSpc>
                <a:spcPct val="122000"/>
              </a:lnSpc>
              <a:buNone/>
              <a:def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• 用于 materials transfer BO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22DC06E-021D-4949-A21C-5B124FBED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857750"/>
            <a:ext cx="1089660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ECBE3B2-D249-4931-92B2-75AF5F7CAC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067300"/>
            <a:ext cx="152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575" b="1">
                <a:solidFill>
                  <a:srgbClr val="C94D4D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75" b="1">
                <a:solidFill>
                  <a:srgbClr val="C94D4D"/>
                </a:solidFill>
                <a:latin typeface="Arial Unicode MS"/>
                <a:ea typeface="Arial Unicode MS"/>
                <a:cs typeface="Arial Unicode MS"/>
              </a:rPr>
              <a:t>证据边界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507239C-FFA1-489B-8D69-FA726059F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57450" y="5029200"/>
            <a:ext cx="8801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72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72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多领域数据证明平台能统一运行；冻结后外部正例目前只来自 Suzuki MINLP2。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0561047-E63E-456D-9906-342A9D8BA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600825"/>
            <a:ext cx="108966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750" b="0">
                <a:solidFill>
                  <a:srgbClr val="8B959D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750" b="0">
                <a:solidFill>
                  <a:srgbClr val="8B959D"/>
                </a:solidFill>
                <a:latin typeface="Arial Unicode MS"/>
                <a:ea typeface="Arial Unicode MS"/>
                <a:cs typeface="Arial Unicode MS"/>
              </a:rPr>
              <a:t>CARE 2.0 · frozen evidence update · 2026-08-12</a:t>
            </a:r>
          </a:p>
        </p:txBody>
      </p:sp>
    </p:spTree>
    <p:extLst>
      <p:ext uri="{BB962C8B-B14F-4D97-AF65-F5344CB8AC3E}">
        <p14:creationId xmlns:p14="http://schemas.microsoft.com/office/powerpoint/2010/main" val="231256510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40C93D8-4A47-4567-BC1C-50A8017C8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6700"/>
            <a:ext cx="419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9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HYPOTHESIS GENERATION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5A52642-ED0D-4C84-95C7-83E1A236CF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266700"/>
            <a:ext cx="28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9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10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35716E4-34B8-4F88-BD50-F0C232F34D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52450"/>
            <a:ext cx="108966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240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40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Hypothesis 必须落到可执行决策，而不是停留在自然语言描述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9FC9E19-5A20-48C8-B72B-6B5A46B8BE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00150"/>
            <a:ext cx="4000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3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E714770-0DD9-4579-B62F-364BE43D8F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619250"/>
            <a:ext cx="2190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80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输入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10B0998-FCC6-4450-8571-FAB42AC37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076450"/>
            <a:ext cx="314325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24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BFC9235-1740-4361-93B7-5DE7E5090D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400300"/>
            <a:ext cx="264795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500" b="0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• source history 与 outcome</a:t>
            </a:r>
          </a:p>
          <a:p xmlns:a="http://schemas.openxmlformats.org/drawingml/2006/main">
            <a:pPr algn="l">
              <a:lnSpc>
                <a:spcPct val="122000"/>
              </a:lnSpc>
              <a:buNone/>
              <a:defRPr sz="1500" b="0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• target schema / variable roles</a:t>
            </a:r>
          </a:p>
          <a:p xmlns:a="http://schemas.openxmlformats.org/drawingml/2006/main">
            <a:pPr algn="l">
              <a:lnSpc>
                <a:spcPct val="122000"/>
              </a:lnSpc>
              <a:buNone/>
              <a:defRPr sz="1500" b="0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• 候选空间与实验预算</a:t>
            </a:r>
          </a:p>
          <a:p xmlns:a="http://schemas.openxmlformats.org/drawingml/2006/main">
            <a:pPr algn="l">
              <a:lnSpc>
                <a:spcPct val="122000"/>
              </a:lnSpc>
              <a:buNone/>
              <a:defRPr sz="1500" b="0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• 已有 SkillBank 与失败案例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C85DF14-DC28-42E9-9D41-E79D239AC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3143250"/>
            <a:ext cx="5143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9305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85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85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→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2C19098-5842-446C-9F24-5338794E37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1619250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800" b="1">
                <a:solidFill>
                  <a:srgbClr val="D99A3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1">
                <a:solidFill>
                  <a:srgbClr val="D99A33"/>
                </a:solidFill>
                <a:latin typeface="Arial Unicode MS"/>
                <a:ea typeface="Arial Unicode MS"/>
                <a:cs typeface="Arial Unicode MS"/>
              </a:rPr>
              <a:t>结构化输出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C1485CD-4D07-44FF-97F6-7143F62EA8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2076450"/>
            <a:ext cx="314325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3E5"/>
          </a:solidFill>
          <a:ln xmlns:a="http://schemas.openxmlformats.org/drawingml/2006/main" w="9525">
            <a:solidFill>
              <a:srgbClr val="D99A33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290AE9F-1CE1-4516-A105-698F1EFF6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2400300"/>
            <a:ext cx="264795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• source scope 与 role map</a:t>
            </a:r>
          </a:p>
          <a:p xmlns:a="http://schemas.openxmlformats.org/drawingml/2006/main">
            <a:pPr algn="l">
              <a:lnSpc>
                <a:spcPct val="122000"/>
              </a:lnSpc>
              <a:buNone/>
              <a:def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• prefer / penalize 条件</a:t>
            </a:r>
          </a:p>
          <a:p xmlns:a="http://schemas.openxmlformats.org/drawingml/2006/main">
            <a:pPr algn="l">
              <a:lnSpc>
                <a:spcPct val="122000"/>
              </a:lnSpc>
              <a:buNone/>
              <a:def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• quality region 与 operator</a:t>
            </a:r>
          </a:p>
          <a:p xmlns:a="http://schemas.openxmlformats.org/drawingml/2006/main">
            <a:pPr algn="l">
              <a:lnSpc>
                <a:spcPct val="122000"/>
              </a:lnSpc>
              <a:buNone/>
              <a:def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• confidence / failure condition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D4BC322-9D29-43D7-A64E-3E065661EF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3143250"/>
            <a:ext cx="5143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9305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85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85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→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EA0C93F-BE39-4E3F-B8AC-0038077772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1619250"/>
            <a:ext cx="2190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800" b="1">
                <a:solidFill>
                  <a:srgbClr val="2C8A6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1">
                <a:solidFill>
                  <a:srgbClr val="2C8A62"/>
                </a:solidFill>
                <a:latin typeface="Arial Unicode MS"/>
                <a:ea typeface="Arial Unicode MS"/>
                <a:cs typeface="Arial Unicode MS"/>
              </a:rPr>
              <a:t>执行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A9C821F-80F4-48A7-8C78-F5AAEA485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2076450"/>
            <a:ext cx="241935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6F0"/>
          </a:solidFill>
          <a:ln xmlns:a="http://schemas.openxmlformats.org/drawingml/2006/main" w="9525">
            <a:solidFill>
              <a:srgbClr val="2C8A62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0AC3851-28B8-4B53-B798-BDB851BC7A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2400300"/>
            <a:ext cx="196215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1. 编译为 TransferSkill</a:t>
            </a:r>
          </a:p>
          <a:p xmlns:a="http://schemas.openxmlformats.org/drawingml/2006/main">
            <a:pPr algn="l">
              <a:lnSpc>
                <a:spcPct val="122000"/>
              </a:lnSpc>
              <a:buNone/>
              <a:def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2. 选择 candidate</a:t>
            </a:r>
          </a:p>
          <a:p xmlns:a="http://schemas.openxmlformats.org/drawingml/2006/main">
            <a:pPr algn="l">
              <a:lnSpc>
                <a:spcPct val="122000"/>
              </a:lnSpc>
              <a:buNone/>
              <a:def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3. 揭示 target outcome</a:t>
            </a:r>
          </a:p>
          <a:p xmlns:a="http://schemas.openxmlformats.org/drawingml/2006/main">
            <a:pPr algn="l">
              <a:lnSpc>
                <a:spcPct val="122000"/>
              </a:lnSpc>
              <a:buNone/>
              <a:def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4. 更新 evidence status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02C37E9-9E99-43B1-B9BB-51D379703D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314950"/>
            <a:ext cx="108966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7A6A7F9-4E7F-46D8-805D-B874D5340E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476875"/>
            <a:ext cx="10553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0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最新 v2 的 hypothesis 为固定规则，非 LLM 生成；目的是先验证执行链本身。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3B9BE1C-6B37-498E-9C17-60FEB56AE1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600825"/>
            <a:ext cx="108966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750" b="0">
                <a:solidFill>
                  <a:srgbClr val="8B959D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750" b="0">
                <a:solidFill>
                  <a:srgbClr val="8B959D"/>
                </a:solidFill>
                <a:latin typeface="Arial Unicode MS"/>
                <a:ea typeface="Arial Unicode MS"/>
                <a:cs typeface="Arial Unicode MS"/>
              </a:rPr>
              <a:t>CARE 2.0 · frozen evidence update · 2026-08-12</a:t>
            </a:r>
          </a:p>
        </p:txBody>
      </p:sp>
    </p:spTree>
    <p:extLst>
      <p:ext uri="{BB962C8B-B14F-4D97-AF65-F5344CB8AC3E}">
        <p14:creationId xmlns:p14="http://schemas.microsoft.com/office/powerpoint/2010/main" val="890074934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2533846-2F66-4DA6-8B60-D711E97E53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6700"/>
            <a:ext cx="419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9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TRANSFERSKILL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FA78C52-1E77-4E61-9329-375A08CC34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266700"/>
            <a:ext cx="28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9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11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CE6C446-C38D-4508-A3DA-F43252524C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52450"/>
            <a:ext cx="108966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270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70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Skill 是带证据边界的可执行对象，不是一段 prompt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AAB99E7-4271-4F9F-8378-E3983ED67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00150"/>
            <a:ext cx="4000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3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974B7CF-7BFD-4505-A213-B919C3BCD4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657350"/>
            <a:ext cx="419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5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7EDCC0E-A99E-4468-AA56-89C4640F0E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1638300"/>
            <a:ext cx="17335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65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65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任务边界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A59D1F5-6155-443B-95EC-3DC2E4319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1638300"/>
            <a:ext cx="5810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425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425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source、target、变量角色与不可对齐字段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398A7D9-33BC-4154-AD3C-98460C2EB9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133600"/>
            <a:ext cx="7620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0D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4996939-2E6D-4069-9EE2-3CE04ECF2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466975"/>
            <a:ext cx="419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5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502DD18-69B4-4FD8-8353-A00387DDEC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447925"/>
            <a:ext cx="17335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65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65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执行逻辑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350A43C-7A23-4394-8A01-3F53829D52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2447925"/>
            <a:ext cx="5810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425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425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initial design、prior、kernel patch 或 router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370D175-0A7F-4F1C-B3F1-42492C8F20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943225"/>
            <a:ext cx="7620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0D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67E6A65-3A1A-4502-9921-C4AB43E6E6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276600"/>
            <a:ext cx="419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5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03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CD16143-F5A2-4C5F-9531-95BA51F37B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257550"/>
            <a:ext cx="17335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65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65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安全机制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211976E-1A47-4A9E-8444-5084A0A41A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3257550"/>
            <a:ext cx="5810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425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425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failure condition、abstention 与 exact fallback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ACD9C9F-428D-4B70-871E-C9502D8166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752850"/>
            <a:ext cx="7620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0D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49765A2-8175-4D54-9A3E-86D827C287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086225"/>
            <a:ext cx="419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5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04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56E55E4-6559-4D04-A383-BC3C2DE64A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067175"/>
            <a:ext cx="17335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65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65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证据记录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B56D59B-0729-4CA4-83A9-32D564FFAD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4067175"/>
            <a:ext cx="5810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425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425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开发任务、seeds、CI、non-loss 与 negative cases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DBCE795-BE9C-40DB-A753-2D12BFB26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562475"/>
            <a:ext cx="7620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0D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EC7567A-8ADF-4360-BDB2-A5474CDA5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895850"/>
            <a:ext cx="419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5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05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D7F7C2F-710E-4437-9C3D-12EC29DCBC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76800"/>
            <a:ext cx="17335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65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65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可复现性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A8C6EA4-7E97-4B38-B007-2E82C0B354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4876800"/>
            <a:ext cx="5810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425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425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model record、config、commit 与 SHA-256 fingerprint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5952ADE-4026-4DCC-81D5-0B85F9AB74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372100"/>
            <a:ext cx="7620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0D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E3D95DF-6BB0-4788-9A49-A2BCB9191D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1676400"/>
            <a:ext cx="2381250" cy="386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24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5CC5CB5-7F97-4A77-8F5A-8DD415604A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1981200"/>
            <a:ext cx="18859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950" b="1">
                <a:solidFill>
                  <a:srgbClr val="6DCBF4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950" b="1">
                <a:solidFill>
                  <a:srgbClr val="6DCBF4"/>
                </a:solidFill>
                <a:latin typeface="Arial Unicode MS"/>
                <a:ea typeface="Arial Unicode MS"/>
                <a:cs typeface="Arial Unicode MS"/>
              </a:rPr>
              <a:t>SkillBank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7470CB7-2090-44B0-9128-7D60AAB863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2609850"/>
            <a:ext cx="1885950" cy="2381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15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SKILL.md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ctr">
              <a:lnSpc>
                <a:spcPct val="114000"/>
              </a:lnSpc>
              <a:buNone/>
              <a:defRPr sz="15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manifest.json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ctr">
              <a:lnSpc>
                <a:spcPct val="114000"/>
              </a:lnSpc>
              <a:buNone/>
              <a:defRPr sz="15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selection_record.json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ctr">
              <a:lnSpc>
                <a:spcPct val="114000"/>
              </a:lnSpc>
              <a:buNone/>
              <a:defRPr sz="15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audit.jsonl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ctr">
              <a:lnSpc>
                <a:spcPct val="114000"/>
              </a:lnSpc>
              <a:buNone/>
              <a:defRPr sz="15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SHA256SUMS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56ACB96-A7DD-4580-90B2-34046A8E4D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5753100"/>
            <a:ext cx="2686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3082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050" b="0">
                <a:solidFill>
                  <a:srgbClr val="C94D4D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050" b="0">
                <a:solidFill>
                  <a:srgbClr val="C94D4D"/>
                </a:solidFill>
                <a:latin typeface="Arial Unicode MS"/>
                <a:ea typeface="Arial Unicode MS"/>
                <a:cs typeface="Arial Unicode MS"/>
              </a:rPr>
              <a:t>当前 v2：candidate / one-target external support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3123678-E817-4451-8EBC-EC7F365CE2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600825"/>
            <a:ext cx="108966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750" b="0">
                <a:solidFill>
                  <a:srgbClr val="8B959D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750" b="0">
                <a:solidFill>
                  <a:srgbClr val="8B959D"/>
                </a:solidFill>
                <a:latin typeface="Arial Unicode MS"/>
                <a:ea typeface="Arial Unicode MS"/>
                <a:cs typeface="Arial Unicode MS"/>
              </a:rPr>
              <a:t>CARE 2.0 · frozen evidence update · 2026-08-12</a:t>
            </a:r>
          </a:p>
        </p:txBody>
      </p:sp>
    </p:spTree>
    <p:extLst>
      <p:ext uri="{BB962C8B-B14F-4D97-AF65-F5344CB8AC3E}">
        <p14:creationId xmlns:p14="http://schemas.microsoft.com/office/powerpoint/2010/main" val="1194538751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AEB8194-83D4-4C88-898B-A54572AF7B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6700"/>
            <a:ext cx="419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9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SOURCE EXPERTS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96F10D3-7D52-4DB8-B3AA-BA30A278A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266700"/>
            <a:ext cx="28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9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12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68ED939-63F2-4BAA-941A-03E39F2A11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52450"/>
            <a:ext cx="108966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270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70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多个 source 不直接拼接，而是先形成稳健的排序共识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C8E6883-5458-4C49-9006-4DF78A0C6D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00150"/>
            <a:ext cx="4000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3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AED752B-4B07-4F8C-B3D6-777287749D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695450"/>
            <a:ext cx="304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72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72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每个 source 单独建模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15EDA15-6AD2-4D38-9DC5-12F238520F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209800"/>
            <a:ext cx="31432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• 每个 campaign 单独训练 GP</a:t>
            </a:r>
          </a:p>
          <a:p xmlns:a="http://schemas.openxmlformats.org/drawingml/2006/main">
            <a:pPr algn="l">
              <a:lnSpc>
                <a:spcPct val="120000"/>
              </a:lnSpc>
              <a:buNone/>
              <a:defRPr sz="15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• 保留 campaign 内部的变量关系</a:t>
            </a:r>
          </a:p>
          <a:p xmlns:a="http://schemas.openxmlformats.org/drawingml/2006/main">
            <a:pPr algn="l">
              <a:lnSpc>
                <a:spcPct val="120000"/>
              </a:lnSpc>
              <a:buNone/>
              <a:defRPr sz="15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• 避免直接混合不同 outcome 尺度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A0E5215-48BA-48CB-BAFC-53DA01E21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48125" y="2781300"/>
            <a:ext cx="5334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55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55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→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293E160-AD41-4567-94A0-30932E8874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1695450"/>
            <a:ext cx="304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725" b="1">
                <a:solidFill>
                  <a:srgbClr val="D99A3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725" b="1">
                <a:solidFill>
                  <a:srgbClr val="D99A33"/>
                </a:solidFill>
                <a:latin typeface="Arial Unicode MS"/>
                <a:ea typeface="Arial Unicode MS"/>
                <a:cs typeface="Arial Unicode MS"/>
              </a:rPr>
              <a:t>转换成归一化 rank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EE46A0B-DE87-4906-BF61-6802B106C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2209800"/>
            <a:ext cx="31432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• 预测值映射到 [0,1] 排序</a:t>
            </a:r>
          </a:p>
          <a:p xmlns:a="http://schemas.openxmlformats.org/drawingml/2006/main">
            <a:pPr algn="l">
              <a:lnSpc>
                <a:spcPct val="120000"/>
              </a:lnSpc>
              <a:buNone/>
              <a:defRPr sz="15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• 只保留候选的相对优先级</a:t>
            </a:r>
          </a:p>
          <a:p xmlns:a="http://schemas.openxmlformats.org/drawingml/2006/main">
            <a:pPr algn="l">
              <a:lnSpc>
                <a:spcPct val="120000"/>
              </a:lnSpc>
              <a:buNone/>
              <a:defRPr sz="15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• 降低 source 量纲与噪声差异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7DDE9CE-431A-4B81-87C6-1B7E11E95A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781300"/>
            <a:ext cx="5334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55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55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→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5633DB2-878A-4183-8E1F-7AD6B16DD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1695450"/>
            <a:ext cx="238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725" b="1">
                <a:solidFill>
                  <a:srgbClr val="2C8A6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725" b="1">
                <a:solidFill>
                  <a:srgbClr val="2C8A62"/>
                </a:solidFill>
                <a:latin typeface="Arial Unicode MS"/>
                <a:ea typeface="Arial Unicode MS"/>
                <a:cs typeface="Arial Unicode MS"/>
              </a:rPr>
              <a:t>中位数聚合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0378439-B3FC-4214-97D5-C71BFFB6C9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2209800"/>
            <a:ext cx="23812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• 抵抗单个 source 极端偏差</a:t>
            </a:r>
          </a:p>
          <a:p xmlns:a="http://schemas.openxmlformats.org/drawingml/2006/main">
            <a:pPr algn="l">
              <a:lnSpc>
                <a:spcPct val="120000"/>
              </a:lnSpc>
              <a:buNone/>
              <a:defRPr sz="15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• 得到 consensus prior</a:t>
            </a:r>
          </a:p>
          <a:p xmlns:a="http://schemas.openxmlformats.org/drawingml/2006/main">
            <a:pPr algn="l">
              <a:lnSpc>
                <a:spcPct val="120000"/>
              </a:lnSpc>
              <a:buNone/>
              <a:defRPr sz="15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• 表示共同认可的候选排序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FE2035E-D6E4-4EA5-A5E6-06ACC660A4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4286250"/>
            <a:ext cx="784860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55F0986-7CA1-4DAC-97B0-344176540E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4476750"/>
            <a:ext cx="78486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550" b="1">
                <a:solidFill>
                  <a:srgbClr val="17324D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550" b="1">
                <a:solidFill>
                  <a:srgbClr val="17324D"/>
                </a:solidFill>
                <a:latin typeface="Arial Unicode MS"/>
                <a:ea typeface="Arial Unicode MS"/>
                <a:cs typeface="Arial Unicode MS"/>
              </a:rPr>
              <a:t>πsrc(x) = median  rs(x)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40269C0-F6DE-4A99-AC80-C7D15EAABC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4953000"/>
            <a:ext cx="7848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2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这是相对优先级，不是 target 的绝对产率预测。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BB939C1-B4EB-4591-AEB5-3DC566CA68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600825"/>
            <a:ext cx="108966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750" b="0">
                <a:solidFill>
                  <a:srgbClr val="8B959D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750" b="0">
                <a:solidFill>
                  <a:srgbClr val="8B959D"/>
                </a:solidFill>
                <a:latin typeface="Arial Unicode MS"/>
                <a:ea typeface="Arial Unicode MS"/>
                <a:cs typeface="Arial Unicode MS"/>
              </a:rPr>
              <a:t>CARE 2.0 · frozen evidence update · 2026-08-12</a:t>
            </a:r>
          </a:p>
        </p:txBody>
      </p:sp>
    </p:spTree>
    <p:extLst>
      <p:ext uri="{BB962C8B-B14F-4D97-AF65-F5344CB8AC3E}">
        <p14:creationId xmlns:p14="http://schemas.microsoft.com/office/powerpoint/2010/main" val="1017942684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5CAF8B3-7E8D-4892-BAC3-B2BF8A8614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6700"/>
            <a:ext cx="419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9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QUALITY-BOUNDED WARM START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4D2F5D1-24A9-4179-B7B3-CD5E157B37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266700"/>
            <a:ext cx="28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9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13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1A7171F-3728-4F4C-AE3D-F5232AEFDF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52450"/>
            <a:ext cx="108966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270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70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v1 的失败如何变成 v2 的质量约束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7B4B298-030C-4BFA-8713-45A3CD5709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00150"/>
            <a:ext cx="4000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32E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490f6842b794124"/>
          <a:stretch xmlns:a="http://schemas.openxmlformats.org/drawingml/2006/main"/>
        </p:blipFill>
        <p:spPr>
          <a:xfrm xmlns:a="http://schemas.openxmlformats.org/drawingml/2006/main">
            <a:off x="1600759" y="1276350"/>
            <a:ext cx="8990482" cy="5067300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20828C4-EFBD-4F4E-9757-174114CBE5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600825"/>
            <a:ext cx="108966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750" b="0">
                <a:solidFill>
                  <a:srgbClr val="8B959D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750" b="0">
                <a:solidFill>
                  <a:srgbClr val="8B959D"/>
                </a:solidFill>
                <a:latin typeface="Arial Unicode MS"/>
                <a:ea typeface="Arial Unicode MS"/>
                <a:cs typeface="Arial Unicode MS"/>
              </a:rPr>
              <a:t>CARE 2.0 · frozen evidence update · 2026-08-12</a:t>
            </a:r>
          </a:p>
        </p:txBody>
      </p:sp>
    </p:spTree>
    <p:extLst>
      <p:ext uri="{BB962C8B-B14F-4D97-AF65-F5344CB8AC3E}">
        <p14:creationId xmlns:p14="http://schemas.microsoft.com/office/powerpoint/2010/main" val="1729750328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74C0C14-CCC7-4890-A1D4-EC477E65C5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6700"/>
            <a:ext cx="419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9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TARGET OPTIMIZATION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31D7E76-6408-4EC9-878F-E5E0EA4AFF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266700"/>
            <a:ext cx="28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9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14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6011B64-BB34-4ADC-AFD9-206095A737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52450"/>
            <a:ext cx="108966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255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55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三个初始点之后，所有方法进入完全相同的 GP-UCB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EA8A863-04CB-4F2E-B6B0-0AD4F7FC7B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00150"/>
            <a:ext cx="4000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3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D33B881-5A7C-4260-9412-A9E615083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676400"/>
            <a:ext cx="514350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24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AD6D768-2A93-4DDF-9791-81ECF1EA1C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981200"/>
            <a:ext cx="46101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875" b="1">
                <a:solidFill>
                  <a:srgbClr val="6DCBF4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75" b="1">
                <a:solidFill>
                  <a:srgbClr val="6DCBF4"/>
                </a:solidFill>
                <a:latin typeface="Arial Unicode MS"/>
                <a:ea typeface="Arial Unicode MS"/>
                <a:cs typeface="Arial Unicode MS"/>
              </a:rPr>
              <a:t>Target-only GP-UCB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39613AC-1D9A-455D-9999-FA99FEF520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724150"/>
            <a:ext cx="4610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1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xₜ₊₁ = arg max [ μₜ(x) + √β · σₜ(x) ]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E4D909E-32A5-4C44-B0DB-7F9A06806B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3524250"/>
            <a:ext cx="3905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500" b="0">
                <a:solidFill>
                  <a:srgbClr val="D9E5ED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D9E5ED"/>
                </a:solidFill>
                <a:latin typeface="Arial Unicode MS"/>
                <a:ea typeface="Arial Unicode MS"/>
                <a:cs typeface="Arial Unicode MS"/>
              </a:rPr>
              <a:t>μ：预测均值</a:t>
            </a:r>
          </a:p>
          <a:p xmlns:a="http://schemas.openxmlformats.org/drawingml/2006/main">
            <a:pPr algn="ctr">
              <a:lnSpc>
                <a:spcPct val="112000"/>
              </a:lnSpc>
              <a:buNone/>
              <a:defRPr sz="1500" b="0">
                <a:solidFill>
                  <a:srgbClr val="D9E5ED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D9E5ED"/>
                </a:solidFill>
                <a:latin typeface="Arial Unicode MS"/>
                <a:ea typeface="Arial Unicode MS"/>
                <a:cs typeface="Arial Unicode MS"/>
              </a:rPr>
              <a:t>σ：模型不确定性</a:t>
            </a:r>
          </a:p>
          <a:p xmlns:a="http://schemas.openxmlformats.org/drawingml/2006/main">
            <a:pPr algn="ctr">
              <a:lnSpc>
                <a:spcPct val="112000"/>
              </a:lnSpc>
              <a:buNone/>
              <a:defRPr sz="1500" b="0">
                <a:solidFill>
                  <a:srgbClr val="D9E5ED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D9E5ED"/>
                </a:solidFill>
                <a:latin typeface="Arial Unicode MS"/>
                <a:ea typeface="Arial Unicode MS"/>
                <a:cs typeface="Arial Unicode MS"/>
              </a:rPr>
              <a:t>β：exploration 强度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D434141-0151-4FE1-BF41-46B3A33DF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676400"/>
            <a:ext cx="4381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875" b="1">
                <a:solidFill>
                  <a:srgbClr val="2C8A6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75" b="1">
                <a:solidFill>
                  <a:srgbClr val="2C8A62"/>
                </a:solidFill>
                <a:latin typeface="Arial Unicode MS"/>
                <a:ea typeface="Arial Unicode MS"/>
                <a:cs typeface="Arial Unicode MS"/>
              </a:rPr>
              <a:t>公平比较的四个相同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4DB8DB6-CF59-4040-BF3A-59CE84F83D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266950"/>
            <a:ext cx="4572000" cy="2038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65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65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1. 相同的 target observations</a:t>
            </a:r>
          </a:p>
          <a:p xmlns:a="http://schemas.openxmlformats.org/drawingml/2006/main">
            <a:pPr algn="l">
              <a:lnSpc>
                <a:spcPct val="124000"/>
              </a:lnSpc>
              <a:buNone/>
              <a:defRPr sz="165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65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2. 相同的 GP-UCB implementation</a:t>
            </a:r>
          </a:p>
          <a:p xmlns:a="http://schemas.openxmlformats.org/drawingml/2006/main">
            <a:pPr algn="l">
              <a:lnSpc>
                <a:spcPct val="124000"/>
              </a:lnSpc>
              <a:buNone/>
              <a:defRPr sz="165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65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3. 相同的 10 次 reveal budget</a:t>
            </a:r>
          </a:p>
          <a:p xmlns:a="http://schemas.openxmlformats.org/drawingml/2006/main">
            <a:pPr algn="l">
              <a:lnSpc>
                <a:spcPct val="124000"/>
              </a:lnSpc>
              <a:buNone/>
              <a:defRPr sz="165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65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4. 相同的候选池与 outcome 揭示顺序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44A23C7-AD7F-40D5-9CC4-30B5E4710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533900"/>
            <a:ext cx="45720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6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763AB52-EBEB-4FA4-8A36-13C8A07783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4705350"/>
            <a:ext cx="4114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434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00" b="1">
                <a:solidFill>
                  <a:srgbClr val="2C8A6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1">
                <a:solidFill>
                  <a:srgbClr val="2C8A62"/>
                </a:solidFill>
                <a:latin typeface="Arial Unicode MS"/>
                <a:ea typeface="Arial Unicode MS"/>
                <a:cs typeface="Arial Unicode MS"/>
              </a:rPr>
              <a:t>因此 external result 可归因于 initial design，而不是后续优化器不同。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2D0DA99-00B7-4D77-AC98-E11A405D17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600825"/>
            <a:ext cx="108966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750" b="0">
                <a:solidFill>
                  <a:srgbClr val="8B959D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750" b="0">
                <a:solidFill>
                  <a:srgbClr val="8B959D"/>
                </a:solidFill>
                <a:latin typeface="Arial Unicode MS"/>
                <a:ea typeface="Arial Unicode MS"/>
                <a:cs typeface="Arial Unicode MS"/>
              </a:rPr>
              <a:t>CARE 2.0 · frozen evidence update · 2026-08-12</a:t>
            </a:r>
          </a:p>
        </p:txBody>
      </p:sp>
    </p:spTree>
    <p:extLst>
      <p:ext uri="{BB962C8B-B14F-4D97-AF65-F5344CB8AC3E}">
        <p14:creationId xmlns:p14="http://schemas.microsoft.com/office/powerpoint/2010/main" val="859417040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52DCB3E-FC83-4606-8B4E-A8BC7A6E0E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6700"/>
            <a:ext cx="419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9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EVALUATION METRICS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CA08117-82F1-47B8-810D-A1BB125921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266700"/>
            <a:ext cx="28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9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15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63BE4D4-CF74-4ED2-9CE3-AD265FEAF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52450"/>
            <a:ext cx="108966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270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70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不只看最终最好值，更看多久找到好结果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7C5AFCE-5E10-4BC1-8922-E89C5FF05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00150"/>
            <a:ext cx="4000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3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B879D3D-015C-4F52-9E1B-1868C6FB4F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676400"/>
            <a:ext cx="5095875" cy="3333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3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98ED196-2272-4566-9C8F-83ADC470F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943100"/>
            <a:ext cx="4572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8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Primary：best-so-far AUC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967EC15-C2A0-4686-B404-E351A69879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628900"/>
            <a:ext cx="4572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325" b="1">
                <a:solidFill>
                  <a:srgbClr val="17324D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325" b="1">
                <a:solidFill>
                  <a:srgbClr val="17324D"/>
                </a:solidFill>
                <a:latin typeface="Arial Unicode MS"/>
                <a:ea typeface="Arial Unicode MS"/>
                <a:cs typeface="Arial Unicode MS"/>
              </a:rPr>
              <a:t>Bₜ = maxᵢ≤ₜ yᵢ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A9B3F3B-CFC4-4F4D-A123-58CFD54DA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257550"/>
            <a:ext cx="4572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325" b="1">
                <a:solidFill>
                  <a:srgbClr val="17324D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325" b="1">
                <a:solidFill>
                  <a:srgbClr val="17324D"/>
                </a:solidFill>
                <a:latin typeface="Arial Unicode MS"/>
                <a:ea typeface="Arial Unicode MS"/>
                <a:cs typeface="Arial Unicode MS"/>
              </a:rPr>
              <a:t>AUC = (1/T) Σₜ Bₜ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1232E2B-CBAF-4EBF-AF82-AC1A239FB3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057650"/>
            <a:ext cx="4572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425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425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越早进入高质量区域，AUC 越高。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7F0AD03-90CF-4A84-BAA8-E5370B155C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1676400"/>
            <a:ext cx="4572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875" b="1">
                <a:solidFill>
                  <a:srgbClr val="2C8A6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75" b="1">
                <a:solidFill>
                  <a:srgbClr val="2C8A62"/>
                </a:solidFill>
                <a:latin typeface="Arial Unicode MS"/>
                <a:ea typeface="Arial Unicode MS"/>
                <a:cs typeface="Arial Unicode MS"/>
              </a:rPr>
              <a:t>Secondary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03CD388-2F50-41A0-B545-C9B665647A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2228850"/>
            <a:ext cx="4953000" cy="2476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7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7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• Final best：预算结束时的最佳 outcome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7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7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• Rounds to threshold：达到 95% / 100% 的轮数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7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7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• Win / non-loss rate：跨 campaign 稳定性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7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7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• Paired delta 与 95% confidence interval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7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7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• Negative transfer rate 与 acceptance rate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1E0B415-E3EB-4A31-A06C-4AE82A4E18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295900"/>
            <a:ext cx="108966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F6FADC3-6897-4300-98C0-4ED16B53C5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429250"/>
            <a:ext cx="10515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350" b="1">
                <a:solidFill>
                  <a:srgbClr val="C94D4D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1">
                <a:solidFill>
                  <a:srgbClr val="C94D4D"/>
                </a:solidFill>
                <a:latin typeface="Arial Unicode MS"/>
                <a:ea typeface="Arial Unicode MS"/>
                <a:cs typeface="Arial Unicode MS"/>
              </a:rPr>
              <a:t>一个 external target 上的 100 个 random seeds 反映算法随机性，不等于 100 个独立科学任务。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C313968-BB3C-4A5B-AA9F-83B47B2D6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600825"/>
            <a:ext cx="108966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750" b="0">
                <a:solidFill>
                  <a:srgbClr val="8B959D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750" b="0">
                <a:solidFill>
                  <a:srgbClr val="8B959D"/>
                </a:solidFill>
                <a:latin typeface="Arial Unicode MS"/>
                <a:ea typeface="Arial Unicode MS"/>
                <a:cs typeface="Arial Unicode MS"/>
              </a:rPr>
              <a:t>CARE 2.0 · frozen evidence update · 2026-08-12</a:t>
            </a:r>
          </a:p>
        </p:txBody>
      </p:sp>
    </p:spTree>
    <p:extLst>
      <p:ext uri="{BB962C8B-B14F-4D97-AF65-F5344CB8AC3E}">
        <p14:creationId xmlns:p14="http://schemas.microsoft.com/office/powerpoint/2010/main" val="955802073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15B6D5D-517F-41F6-AEA3-195C18DC56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6700"/>
            <a:ext cx="419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9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CALIBRATION GATE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A42C209-3901-4596-9F4A-CE6C8C5ED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266700"/>
            <a:ext cx="28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9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16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237D789-F152-4058-B863-18536BC960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52450"/>
            <a:ext cx="108966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270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70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先过稳定性门槛，再在合格策略中比较收益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DE33F9D-1191-45FF-AFCA-9DE1A7676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00150"/>
            <a:ext cx="4000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3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F69FBC7-6564-4599-A535-04F229110F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695450"/>
            <a:ext cx="476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875" b="1">
                <a:solidFill>
                  <a:srgbClr val="C94D4D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75" b="1">
                <a:solidFill>
                  <a:srgbClr val="C94D4D"/>
                </a:solidFill>
                <a:latin typeface="Arial Unicode MS"/>
                <a:ea typeface="Arial Unicode MS"/>
                <a:cs typeface="Arial Unicode MS"/>
              </a:rPr>
              <a:t>Step 1 · 资格检查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B41EEA2-531B-42C5-90AF-C09680EB81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152650"/>
            <a:ext cx="4762500" cy="2305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EC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99CA7ED-9C72-49C6-A105-02A153B2E6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438400"/>
            <a:ext cx="42291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950" b="1">
                <a:solidFill>
                  <a:srgbClr val="C94D4D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950" b="1">
                <a:solidFill>
                  <a:srgbClr val="C94D4D"/>
                </a:solidFill>
                <a:latin typeface="Arial Unicode MS"/>
                <a:ea typeface="Arial Unicode MS"/>
                <a:cs typeface="Arial Unicode MS"/>
              </a:rPr>
              <a:t>95% CI lower bound &gt; 0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398FAF0-739A-41BA-801C-982F08107E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048000"/>
            <a:ext cx="4229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275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75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并且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2BED2F2-0BC7-40F7-BB93-875B3AF541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524250"/>
            <a:ext cx="42291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950" b="1">
                <a:solidFill>
                  <a:srgbClr val="C94D4D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950" b="1">
                <a:solidFill>
                  <a:srgbClr val="C94D4D"/>
                </a:solidFill>
                <a:latin typeface="Arial Unicode MS"/>
                <a:ea typeface="Arial Unicode MS"/>
                <a:cs typeface="Arial Unicode MS"/>
              </a:rPr>
              <a:t>task non-loss rate ≥ 0.8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1C3236B-2243-41C2-9094-244DC644D1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62625" y="3028950"/>
            <a:ext cx="6286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315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315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→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0B62DE3-27CE-4A21-9561-C7AF1CDCFC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1695450"/>
            <a:ext cx="476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875" b="1">
                <a:solidFill>
                  <a:srgbClr val="2C8A6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75" b="1">
                <a:solidFill>
                  <a:srgbClr val="2C8A62"/>
                </a:solidFill>
                <a:latin typeface="Arial Unicode MS"/>
                <a:ea typeface="Arial Unicode MS"/>
                <a:cs typeface="Arial Unicode MS"/>
              </a:rPr>
              <a:t>Step 2 · 冻结选择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986AEAB-0865-4841-95B3-43E51BE7B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152650"/>
            <a:ext cx="4762500" cy="2305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6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19542A7-0352-4450-808E-C819EC3B1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2590800"/>
            <a:ext cx="42291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100" b="1">
                <a:solidFill>
                  <a:srgbClr val="2C8A6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00" b="1">
                <a:solidFill>
                  <a:srgbClr val="2C8A62"/>
                </a:solidFill>
                <a:latin typeface="Arial Unicode MS"/>
                <a:ea typeface="Arial Unicode MS"/>
                <a:cs typeface="Arial Unicode MS"/>
              </a:rPr>
              <a:t>eligible routes 中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2100" b="1">
                <a:solidFill>
                  <a:srgbClr val="2C8A6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00" b="1">
                <a:solidFill>
                  <a:srgbClr val="2C8A62"/>
                </a:solidFill>
                <a:latin typeface="Arial Unicode MS"/>
                <a:ea typeface="Arial Unicode MS"/>
                <a:cs typeface="Arial Unicode MS"/>
              </a:rPr>
              <a:t>mean AUC gain 最大者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0A3A70E-3B66-452E-AC20-84C18F1751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3714750"/>
            <a:ext cx="42291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35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CI lower bound 作为 tie-breaker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4E912C3-1854-4874-88A7-8C6C086A02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876800"/>
            <a:ext cx="1089660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04BB688-7AFC-4C07-ADDC-1CB30477AC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067300"/>
            <a:ext cx="152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575" b="1">
                <a:solidFill>
                  <a:srgbClr val="D99A3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75" b="1">
                <a:solidFill>
                  <a:srgbClr val="D99A33"/>
                </a:solidFill>
                <a:latin typeface="Arial Unicode MS"/>
                <a:ea typeface="Arial Unicode MS"/>
                <a:cs typeface="Arial Unicode MS"/>
              </a:rPr>
              <a:t>阈值来源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A49E3D3-741D-46A3-BADC-8F952FE46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5010150"/>
            <a:ext cx="8953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42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42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CI lower &gt; 0 有统计含义；non-loss 0.8 是预先冻结的经验门槛，需要 sensitivity analysis，不能写成学界通用常数。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DFC605A-E862-497A-9104-EF110D1584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600825"/>
            <a:ext cx="108966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750" b="0">
                <a:solidFill>
                  <a:srgbClr val="8B959D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750" b="0">
                <a:solidFill>
                  <a:srgbClr val="8B959D"/>
                </a:solidFill>
                <a:latin typeface="Arial Unicode MS"/>
                <a:ea typeface="Arial Unicode MS"/>
                <a:cs typeface="Arial Unicode MS"/>
              </a:rPr>
              <a:t>CARE 2.0 · frozen evidence update · 2026-08-12</a:t>
            </a:r>
          </a:p>
        </p:txBody>
      </p:sp>
    </p:spTree>
    <p:extLst>
      <p:ext uri="{BB962C8B-B14F-4D97-AF65-F5344CB8AC3E}">
        <p14:creationId xmlns:p14="http://schemas.microsoft.com/office/powerpoint/2010/main" val="1437568064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F59DF9FB-56D3-4C4C-A99B-59014BDEC5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6700"/>
            <a:ext cx="419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9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BASELINE PROTOCOL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91B1441-B3CD-4F4F-9FC2-664AA3D11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266700"/>
            <a:ext cx="28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9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17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6449681-E979-4AC1-AD84-0A616DBE58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52450"/>
            <a:ext cx="108966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270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70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CARE 必须超过逐任务更强的 target-only 对照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152516D-7854-4487-B28B-F73AB8682F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00150"/>
            <a:ext cx="4000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3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2F4E128-1B35-43FE-8EB4-84AFB4A10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676400"/>
            <a:ext cx="2031569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24D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66E6E2A-61DF-446D-B4C2-0FCAA19CD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743075"/>
            <a:ext cx="1879169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项目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E6D92F0-814B-42BA-B9C5-37C9C419C7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79269" y="1676400"/>
            <a:ext cx="2585634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24D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D9B25A0-2C57-4BFE-B9EF-425B8D8D5B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55469" y="1743075"/>
            <a:ext cx="2433234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Frozen v2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BD3E7EF-8212-4CE9-9C4F-39F331B520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64903" y="1676400"/>
            <a:ext cx="3139698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24D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706FF79-4666-488B-92F6-7DD43DE73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1103" y="1743075"/>
            <a:ext cx="2987298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Random-initial GP-UCB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53DCB03-9D3E-4266-AB3C-4B71A15A05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4602" y="1676400"/>
            <a:ext cx="3139698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24D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4E5F59A-3794-48CA-880A-8D21F2F7A0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80802" y="1743075"/>
            <a:ext cx="2987298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Space filling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315AD75-48EC-4319-9F41-B786C9B27E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286000"/>
            <a:ext cx="2031569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94E7F02-FFFA-4C90-8E79-F06375675A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352675"/>
            <a:ext cx="1879169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0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前三个点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BD0F558-993B-4ABD-8DEA-18D91530B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79269" y="2286000"/>
            <a:ext cx="2585634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AD6B0D4-5308-4704-B788-38DCB09329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55469" y="2352675"/>
            <a:ext cx="2433234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source-guided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BE9C018-9776-4149-A885-24DBF9BE2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64903" y="2286000"/>
            <a:ext cx="3139698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D6E819B-43EB-49F7-BC28-5F7DEE912B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1103" y="2352675"/>
            <a:ext cx="2987298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random，100 seeds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3572F72-6688-4A69-ACC9-55BC8E4019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4602" y="2286000"/>
            <a:ext cx="3139698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94AA496-E4BC-4CA5-9540-814C186B2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80802" y="2352675"/>
            <a:ext cx="2987298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deterministic coverage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24F6C2D-1A04-4780-B9F1-CBC891A01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895600"/>
            <a:ext cx="2031569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6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0220A16-0019-49CF-8F07-948BC2A8D4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962275"/>
            <a:ext cx="1879169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0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后续方法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8539545-13B5-48F1-A692-F3407489A6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79269" y="2895600"/>
            <a:ext cx="2585634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6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BBB349A-A8F9-459B-81C4-CBA5552B96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55469" y="2962275"/>
            <a:ext cx="2433234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target-only GP-UCB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893ADC2-BD7F-4F51-ADF7-FA7D4F604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64903" y="2895600"/>
            <a:ext cx="3139698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6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FABC03E-D9DE-4F45-88F0-F68E7613D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1103" y="2962275"/>
            <a:ext cx="2987298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target-only GP-UCB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7FE7FAB-4FF2-45A2-8AB8-B4FF4EE0DE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4602" y="2895600"/>
            <a:ext cx="3139698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6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F78052A-FBF6-4C46-8F33-FB07B8FE1C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80802" y="2962275"/>
            <a:ext cx="2987298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target-only GP-UCB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5498EF8-EC45-482E-BA0D-52234818E0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505200"/>
            <a:ext cx="2031569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E2DDDE5-A8FA-4C42-B017-D215018C64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571875"/>
            <a:ext cx="1879169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0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后续 reveal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84E7811-9D3A-4F58-9686-BF335E18FE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79269" y="3505200"/>
            <a:ext cx="2585634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CAE60268-93D7-4AF2-B3C7-144C942D8A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55469" y="3571875"/>
            <a:ext cx="2433234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10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ABF1B43A-F07E-4412-958C-37FA6671F8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64903" y="3505200"/>
            <a:ext cx="3139698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DCC28B5E-C22E-420E-BD11-3DEE99A5FF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1103" y="3571875"/>
            <a:ext cx="2987298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10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73ACD589-057F-4591-BA51-CB5F5018C1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4602" y="3505200"/>
            <a:ext cx="3139698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9C5D8AD2-57C4-45CD-8A7A-C3CF8A66D6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80802" y="3571875"/>
            <a:ext cx="2987298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10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36402D56-0665-4802-B3C7-22A23D303D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114800"/>
            <a:ext cx="2031569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6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02B7B19C-72FF-4327-AFB7-5A121564AF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181475"/>
            <a:ext cx="1879169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0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预读 target outcome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11BD5378-320F-4699-9B19-0626A844DD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79269" y="4114800"/>
            <a:ext cx="2585634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6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9DED62C1-A5E2-4109-A236-5B391B4E80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55469" y="4181475"/>
            <a:ext cx="2433234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否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636CFCC7-8894-40B8-BC0C-9A12A4D44E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64903" y="4114800"/>
            <a:ext cx="3139698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6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9A9F5B14-01D6-42C5-A4E6-101B088B5C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1103" y="4181475"/>
            <a:ext cx="2987298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否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F39C2B63-32F2-4FBB-A16D-E321176DB4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4602" y="4114800"/>
            <a:ext cx="3139698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6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AB8499D6-D991-46BD-B8B2-19CEC9F589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80802" y="4181475"/>
            <a:ext cx="2987298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否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22042E52-8C07-432D-8782-63A90F79AF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724400"/>
            <a:ext cx="2031569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E799E078-A6BF-48BD-9E0D-715685DE74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791075"/>
            <a:ext cx="1879169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0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比较口径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4D78CB0F-3004-480C-AA35-62992F47D4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79269" y="4724400"/>
            <a:ext cx="2585634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8A2D37E1-AC6C-491E-8896-DBEAB6C9B3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55469" y="4791075"/>
            <a:ext cx="2433234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相对逐 campaign stronger baseline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DF2EF6E5-7D87-41A6-B4BC-02FDDF4027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64903" y="4724400"/>
            <a:ext cx="3139698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8953A2B3-DED2-4D57-B69F-24FC8A6286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1103" y="4791075"/>
            <a:ext cx="2987298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候选 baseline 1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66B68F5B-70B5-431F-AC0E-EA705C63A1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4602" y="4724400"/>
            <a:ext cx="3139698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AEA89564-8157-45CA-8829-F1CD884120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80802" y="4791075"/>
            <a:ext cx="2987298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候选 baseline 2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2066AA03-FB68-4598-AC19-C82820AF01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581650"/>
            <a:ext cx="108966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6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3F12DC1D-43E0-483C-B1A0-557EECD47F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705475"/>
            <a:ext cx="105537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350" b="1">
                <a:solidFill>
                  <a:srgbClr val="2C8A6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1">
                <a:solidFill>
                  <a:srgbClr val="2C8A62"/>
                </a:solidFill>
                <a:latin typeface="Arial Unicode MS"/>
                <a:ea typeface="Arial Unicode MS"/>
                <a:cs typeface="Arial Unicode MS"/>
              </a:rPr>
              <a:t>Random baseline 不是纯随机搜索：只有前三个点随机，之后仍运行完全相同的 GP-UCB。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EFC09576-D564-48FC-BE5D-5ED0E4C511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600825"/>
            <a:ext cx="108966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750" b="0">
                <a:solidFill>
                  <a:srgbClr val="8B959D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750" b="0">
                <a:solidFill>
                  <a:srgbClr val="8B959D"/>
                </a:solidFill>
                <a:latin typeface="Arial Unicode MS"/>
                <a:ea typeface="Arial Unicode MS"/>
                <a:cs typeface="Arial Unicode MS"/>
              </a:rPr>
              <a:t>CARE 2.0 · frozen evidence update · 2026-08-12</a:t>
            </a:r>
          </a:p>
        </p:txBody>
      </p:sp>
    </p:spTree>
    <p:extLst>
      <p:ext uri="{BB962C8B-B14F-4D97-AF65-F5344CB8AC3E}">
        <p14:creationId xmlns:p14="http://schemas.microsoft.com/office/powerpoint/2010/main" val="1461285278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D85B0AA-CAD7-4986-9195-69FC8A3ED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6700"/>
            <a:ext cx="419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9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V1 DEVELOPMENT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67DD05D-1634-4891-AE85-46465BFC99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266700"/>
            <a:ext cx="28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9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18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504005E-9865-421B-84D9-A02BA1C4EC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52450"/>
            <a:ext cx="108966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270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70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在 9 个开发 campaign 上，v1 看起来已经成立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116C448-D5CA-479F-BB83-33005932F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00150"/>
            <a:ext cx="4000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3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292632A-126A-4781-AC80-29F07A4344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828800"/>
            <a:ext cx="2381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3450" b="1">
                <a:solidFill>
                  <a:srgbClr val="2C8A6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3450" b="1">
                <a:solidFill>
                  <a:srgbClr val="2C8A62"/>
                </a:solidFill>
                <a:latin typeface="Arial Unicode MS"/>
                <a:ea typeface="Arial Unicode MS"/>
                <a:cs typeface="Arial Unicode MS"/>
              </a:rPr>
              <a:t>+1.321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EF13D70-8505-4D1C-8D9F-956FC53542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457450"/>
            <a:ext cx="238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35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mean AUC delta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83DAD16-383E-4DB5-8374-B651BF2844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857500"/>
            <a:ext cx="238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05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05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vs stronger baseline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F2EF087-6DE3-4009-B842-4BF52408F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1828800"/>
            <a:ext cx="2857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3450" b="1">
                <a:solidFill>
                  <a:srgbClr val="2C8A6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3450" b="1">
                <a:solidFill>
                  <a:srgbClr val="2C8A62"/>
                </a:solidFill>
                <a:latin typeface="Arial Unicode MS"/>
                <a:ea typeface="Arial Unicode MS"/>
                <a:cs typeface="Arial Unicode MS"/>
              </a:rPr>
              <a:t>[0.315, 2.326]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BB4A882-C5AF-4355-9120-0025B39181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2457450"/>
            <a:ext cx="285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35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task-level 95% CI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630C1E2-DBB9-4309-8F32-E5AEABF12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2857500"/>
            <a:ext cx="285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05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05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lower bound &gt; 0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E5A2D95-329E-4926-91B6-BFDC0BE904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1828800"/>
            <a:ext cx="2095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345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345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7 / 9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35957DB-2D8A-4ADB-9A2C-DD93D89CDA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2457450"/>
            <a:ext cx="209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35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task wins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6AF0926-9556-430F-96BC-9AE73E686B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2857500"/>
            <a:ext cx="209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05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05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多数 campaign 获胜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6FE2128-38C7-450E-88DE-E61EA63468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1828800"/>
            <a:ext cx="1905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345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345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9 / 9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78F5D56-09E3-41E2-9F91-BC92A04E8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2457450"/>
            <a:ext cx="1905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35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task non-loss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7C2793F-A636-4634-8038-E1BBD9D860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2857500"/>
            <a:ext cx="1905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05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05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开发集全部不输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220A6D2-A659-4EFF-8490-4DC68ECB7A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943350"/>
            <a:ext cx="10896600" cy="140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F3EC1D8-6521-4111-BD50-1311CDF5BA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17195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725" b="1">
                <a:solidFill>
                  <a:srgbClr val="17324D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725" b="1">
                <a:solidFill>
                  <a:srgbClr val="17324D"/>
                </a:solidFill>
                <a:latin typeface="Arial Unicode MS"/>
                <a:ea typeface="Arial Unicode MS"/>
                <a:cs typeface="Arial Unicode MS"/>
              </a:rPr>
              <a:t>被冻结的 v1 route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D0471F9-4C6B-462B-9ADA-DC91B769F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4095750"/>
            <a:ext cx="76581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57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7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source scope：same substrate → same precatalyst</a:t>
            </a:r>
          </a:p>
          <a:p xmlns:a="http://schemas.openxmlformats.org/drawingml/2006/main">
            <a:pPr algn="l">
              <a:lnSpc>
                <a:spcPct val="114000"/>
              </a:lnSpc>
              <a:buNone/>
              <a:defRPr sz="157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7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diversity weight：0.85</a:t>
            </a:r>
          </a:p>
          <a:p xmlns:a="http://schemas.openxmlformats.org/drawingml/2006/main">
            <a:pPr algn="l">
              <a:lnSpc>
                <a:spcPct val="114000"/>
              </a:lnSpc>
              <a:buNone/>
              <a:defRPr sz="157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7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primary metric：10 轮 target-only GP-UCB 的 best-so-far AUC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CE77BCD-A6A8-4CBF-8731-DF05C926AB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619750"/>
            <a:ext cx="10896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425" b="1">
                <a:solidFill>
                  <a:srgbClr val="C94D4D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425" b="1">
                <a:solidFill>
                  <a:srgbClr val="C94D4D"/>
                </a:solidFill>
                <a:latin typeface="Arial Unicode MS"/>
                <a:ea typeface="Arial Unicode MS"/>
                <a:cs typeface="Arial Unicode MS"/>
              </a:rPr>
              <a:t>问题：开发任务几乎总能找到 same-substrate source，fallback 没有被充分检验。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7EFFDB4-DD3A-437F-B505-3496D2B641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600825"/>
            <a:ext cx="108966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750" b="0">
                <a:solidFill>
                  <a:srgbClr val="8B959D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750" b="0">
                <a:solidFill>
                  <a:srgbClr val="8B959D"/>
                </a:solidFill>
                <a:latin typeface="Arial Unicode MS"/>
                <a:ea typeface="Arial Unicode MS"/>
                <a:cs typeface="Arial Unicode MS"/>
              </a:rPr>
              <a:t>CARE 2.0 · frozen evidence update · 2026-08-12</a:t>
            </a:r>
          </a:p>
        </p:txBody>
      </p:sp>
    </p:spTree>
    <p:extLst>
      <p:ext uri="{BB962C8B-B14F-4D97-AF65-F5344CB8AC3E}">
        <p14:creationId xmlns:p14="http://schemas.microsoft.com/office/powerpoint/2010/main" val="330121250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69D9D4C-C264-42DF-9303-89BAAE4C6D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6700"/>
            <a:ext cx="419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9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INDEPENDENT CONFIRMATION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74B91D6-5093-4766-AD06-202A4D462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266700"/>
            <a:ext cx="28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9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19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DC41B91-FFA4-416D-BA79-1BF78E5618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52450"/>
            <a:ext cx="108966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255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55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冻结后，v1 在 4 个独立 campaign 上没有泛化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494FD8B-9550-4DA6-A441-B0CD5BC2F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00150"/>
            <a:ext cx="4000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3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41B29EA-1596-4351-ABAD-8D38A213F6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676400"/>
            <a:ext cx="4114800" cy="3486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EC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45C7D7C-13AB-4332-B8D2-F5D6DEFB63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19300"/>
            <a:ext cx="35814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4050" b="1">
                <a:solidFill>
                  <a:srgbClr val="C94D4D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4050" b="1">
                <a:solidFill>
                  <a:srgbClr val="C94D4D"/>
                </a:solidFill>
                <a:latin typeface="Arial Unicode MS"/>
                <a:ea typeface="Arial Unicode MS"/>
                <a:cs typeface="Arial Unicode MS"/>
              </a:rPr>
              <a:t>-1.205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4B8740C-3F3B-464D-BF8E-1418607AC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762250"/>
            <a:ext cx="35814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mean AUC delta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DE540B0-CE9C-4891-AAA9-9E73FC3E3D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3314700"/>
            <a:ext cx="285750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353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95% CI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[-2.927, +0.518]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win / non-loss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1/4 · 1/4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final-best delta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-1.61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E8AB7E4-3C79-4C0F-A310-38FEEE22D9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0700" y="1676400"/>
            <a:ext cx="5638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875" b="1">
                <a:solidFill>
                  <a:srgbClr val="C94D4D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75" b="1">
                <a:solidFill>
                  <a:srgbClr val="C94D4D"/>
                </a:solidFill>
                <a:latin typeface="Arial Unicode MS"/>
                <a:ea typeface="Arial Unicode MS"/>
                <a:cs typeface="Arial Unicode MS"/>
              </a:rPr>
              <a:t>最大失败：Morpholine-tBuBrettPhos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DF1DC3F-59AC-4AE6-B38E-917B09D08C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0700" y="2324100"/>
            <a:ext cx="56388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65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65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• 新 substrate 没有 same-substrate source</a:t>
            </a:r>
          </a:p>
          <a:p xmlns:a="http://schemas.openxmlformats.org/drawingml/2006/main">
            <a:pPr algn="l">
              <a:lnSpc>
                <a:spcPct val="120000"/>
              </a:lnSpc>
              <a:buNone/>
              <a:defRPr sz="165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65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• 只能退回 same-precatalyst fallback</a:t>
            </a:r>
          </a:p>
          <a:p xmlns:a="http://schemas.openxmlformats.org/drawingml/2006/main">
            <a:pPr algn="l">
              <a:lnSpc>
                <a:spcPct val="120000"/>
              </a:lnSpc>
              <a:buNone/>
              <a:defRPr sz="165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65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• v1 没有限制多样性点必须处于 source 高质量区域</a:t>
            </a:r>
          </a:p>
          <a:p xmlns:a="http://schemas.openxmlformats.org/drawingml/2006/main">
            <a:pPr algn="l">
              <a:lnSpc>
                <a:spcPct val="120000"/>
              </a:lnSpc>
              <a:buNone/>
              <a:defRPr sz="165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65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• 开发阶段没有单独隔离 fallback 风险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C640683-55F8-4C31-BD01-E791CA531F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0700" y="4686300"/>
            <a:ext cx="56388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24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499E2FA-0990-49FC-A75C-FAC0CF70A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9300" y="4886325"/>
            <a:ext cx="51816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725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725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开发集平均正向，不等于冻结策略能泛化。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82A837F-67FC-427D-A5FB-439A1BA8E4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600825"/>
            <a:ext cx="108966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750" b="0">
                <a:solidFill>
                  <a:srgbClr val="8B959D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750" b="0">
                <a:solidFill>
                  <a:srgbClr val="8B959D"/>
                </a:solidFill>
                <a:latin typeface="Arial Unicode MS"/>
                <a:ea typeface="Arial Unicode MS"/>
                <a:cs typeface="Arial Unicode MS"/>
              </a:rPr>
              <a:t>CARE 2.0 · frozen evidence update · 2026-08-12</a:t>
            </a:r>
          </a:p>
        </p:txBody>
      </p:sp>
    </p:spTree>
    <p:extLst>
      <p:ext uri="{BB962C8B-B14F-4D97-AF65-F5344CB8AC3E}">
        <p14:creationId xmlns:p14="http://schemas.microsoft.com/office/powerpoint/2010/main" val="752497104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F017E99-BD37-4BFD-B175-C39C2D7DCF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6700"/>
            <a:ext cx="419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9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FAILURE-DRIVEN REVISION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5ABA17B-10C4-41A3-9968-C52B819A06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266700"/>
            <a:ext cx="28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9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20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C5F82FA-3A57-4F3D-B428-61CB507F35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52450"/>
            <a:ext cx="108966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270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70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v2 没有隐藏失败，而是把失败编译成新的约束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1BD20B1-0D7F-4552-A0E0-F9E1A1719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00150"/>
            <a:ext cx="4000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3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1C046A7-5495-491A-8E26-30917A8C14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676400"/>
            <a:ext cx="476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875" b="1">
                <a:solidFill>
                  <a:srgbClr val="C94D4D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75" b="1">
                <a:solidFill>
                  <a:srgbClr val="C94D4D"/>
                </a:solidFill>
                <a:latin typeface="Arial Unicode MS"/>
                <a:ea typeface="Arial Unicode MS"/>
                <a:cs typeface="Arial Unicode MS"/>
              </a:rPr>
              <a:t>v1 failure trace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FA899EC-BB64-46A1-A778-BD00631F31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152650"/>
            <a:ext cx="4762500" cy="266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EC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B849A8E-C3AF-4609-819D-E4BA7F80A2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457450"/>
            <a:ext cx="42291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7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7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1. 第 1 点通常位于 source 高排名区域</a:t>
            </a:r>
          </a:p>
          <a:p xmlns:a="http://schemas.openxmlformats.org/drawingml/2006/main">
            <a:pPr algn="l">
              <a:lnSpc>
                <a:spcPct val="120000"/>
              </a:lnSpc>
              <a:buNone/>
              <a:defRPr sz="157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7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2. 第 2–3 点受到 diversity 加权影响</a:t>
            </a:r>
          </a:p>
          <a:p xmlns:a="http://schemas.openxmlformats.org/drawingml/2006/main">
            <a:pPr algn="l">
              <a:lnSpc>
                <a:spcPct val="120000"/>
              </a:lnSpc>
              <a:buNone/>
              <a:defRPr sz="157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7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3. 远离已选点，但可能进入 source 低质量区</a:t>
            </a:r>
          </a:p>
          <a:p xmlns:a="http://schemas.openxmlformats.org/drawingml/2006/main">
            <a:pPr algn="l">
              <a:lnSpc>
                <a:spcPct val="120000"/>
              </a:lnSpc>
              <a:buNone/>
              <a:defRPr sz="157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7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4. 新 substrate 下 fallback 风险被放大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B55DA11-E082-4D31-B2DB-1228B46073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3181350"/>
            <a:ext cx="6477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933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330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330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→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BD9FCB1-415B-41B2-AD04-843E591036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1676400"/>
            <a:ext cx="476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875" b="1">
                <a:solidFill>
                  <a:srgbClr val="2C8A6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75" b="1">
                <a:solidFill>
                  <a:srgbClr val="2C8A62"/>
                </a:solidFill>
                <a:latin typeface="Arial Unicode MS"/>
                <a:ea typeface="Arial Unicode MS"/>
                <a:cs typeface="Arial Unicode MS"/>
              </a:rPr>
              <a:t>v2 revision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46127E8-10B7-4D91-9526-39182C5531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152650"/>
            <a:ext cx="4762500" cy="266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6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FCA4196-965A-4B10-B3FD-B11D3FF7CB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2457450"/>
            <a:ext cx="42291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7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7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1. 第 1 点仍取 source consensus 最优</a:t>
            </a:r>
          </a:p>
          <a:p xmlns:a="http://schemas.openxmlformats.org/drawingml/2006/main">
            <a:pPr algn="l">
              <a:lnSpc>
                <a:spcPct val="120000"/>
              </a:lnSpc>
              <a:buNone/>
              <a:defRPr sz="157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7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2. 建立 source top-50% admissible region</a:t>
            </a:r>
          </a:p>
          <a:p xmlns:a="http://schemas.openxmlformats.org/drawingml/2006/main">
            <a:pPr algn="l">
              <a:lnSpc>
                <a:spcPct val="120000"/>
              </a:lnSpc>
              <a:buNone/>
              <a:defRPr sz="157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7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3. 第 2–3 点只在高质量区域内做 maximin</a:t>
            </a:r>
          </a:p>
          <a:p xmlns:a="http://schemas.openxmlformats.org/drawingml/2006/main">
            <a:pPr algn="l">
              <a:lnSpc>
                <a:spcPct val="120000"/>
              </a:lnSpc>
              <a:buNone/>
              <a:defRPr sz="157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7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4. post-hoc stress 与 external evidence 分开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0CA3494-F79F-4A5B-A632-60D069A505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219700"/>
            <a:ext cx="108966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9CC441B-8ADC-4823-A6DD-E6809099F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381625"/>
            <a:ext cx="10553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75" b="1">
                <a:solidFill>
                  <a:srgbClr val="17324D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75" b="1">
                <a:solidFill>
                  <a:srgbClr val="17324D"/>
                </a:solidFill>
                <a:latin typeface="Arial Unicode MS"/>
                <a:ea typeface="Arial Unicode MS"/>
                <a:cs typeface="Arial Unicode MS"/>
              </a:rPr>
              <a:t>修复目标：让 diversity 扩大覆盖，但不跨出 source evidence 支持的质量边界。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75C9AB4-2D89-4982-97BD-4AA34A532D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600825"/>
            <a:ext cx="108966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750" b="0">
                <a:solidFill>
                  <a:srgbClr val="8B959D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750" b="0">
                <a:solidFill>
                  <a:srgbClr val="8B959D"/>
                </a:solidFill>
                <a:latin typeface="Arial Unicode MS"/>
                <a:ea typeface="Arial Unicode MS"/>
                <a:cs typeface="Arial Unicode MS"/>
              </a:rPr>
              <a:t>CARE 2.0 · frozen evidence update · 2026-08-12</a:t>
            </a:r>
          </a:p>
        </p:txBody>
      </p:sp>
    </p:spTree>
    <p:extLst>
      <p:ext uri="{BB962C8B-B14F-4D97-AF65-F5344CB8AC3E}">
        <p14:creationId xmlns:p14="http://schemas.microsoft.com/office/powerpoint/2010/main" val="251528802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DC52F07-3230-4791-8CAB-9C82E56ED6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6700"/>
            <a:ext cx="419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9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EVIDENCE CHAIN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2ECA33C-FF5D-4EE8-88D0-733AF0E240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266700"/>
            <a:ext cx="28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9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21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7B36F79-7C27-4E28-90DA-76F15816B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52450"/>
            <a:ext cx="108966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270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70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开发正向不等于泛化；外部验证才真正改变结论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7623CC0-BFD2-4C7A-B032-B96ED4470A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00150"/>
            <a:ext cx="4000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32E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eb38cfd81064ab5"/>
          <a:stretch xmlns:a="http://schemas.openxmlformats.org/drawingml/2006/main"/>
        </p:blipFill>
        <p:spPr>
          <a:xfrm xmlns:a="http://schemas.openxmlformats.org/drawingml/2006/main">
            <a:off x="1651959" y="1238250"/>
            <a:ext cx="8888081" cy="5143500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BE6BE89-B757-4C7B-AA33-813102CBF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600825"/>
            <a:ext cx="108966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750" b="0">
                <a:solidFill>
                  <a:srgbClr val="8B959D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750" b="0">
                <a:solidFill>
                  <a:srgbClr val="8B959D"/>
                </a:solidFill>
                <a:latin typeface="Arial Unicode MS"/>
                <a:ea typeface="Arial Unicode MS"/>
                <a:cs typeface="Arial Unicode MS"/>
              </a:rPr>
              <a:t>CARE 2.0 · frozen evidence update · 2026-08-12</a:t>
            </a:r>
          </a:p>
        </p:txBody>
      </p:sp>
    </p:spTree>
    <p:extLst>
      <p:ext uri="{BB962C8B-B14F-4D97-AF65-F5344CB8AC3E}">
        <p14:creationId xmlns:p14="http://schemas.microsoft.com/office/powerpoint/2010/main" val="1353630948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83EB97D-972C-4216-99A8-C09B2AEEE5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6700"/>
            <a:ext cx="419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9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EXTERNAL CONFIRMATION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8C1B5D7-DE0E-4C21-93E1-6034598194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266700"/>
            <a:ext cx="28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9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22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381EE62-8375-4C8D-9A54-2785788D1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52450"/>
            <a:ext cx="108966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270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70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Suzuki MINLP2 的 outcome 在策略冻结前从未被加载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7195F56-6157-48AA-AB8C-ED1A79C500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00150"/>
            <a:ext cx="4000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3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B748EA1-CBDA-41C2-9439-FCD13F05E8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695450"/>
            <a:ext cx="4095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80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Completed source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A0E88D4-57B7-4B93-8FE0-A6E61DEF41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152650"/>
            <a:ext cx="4095750" cy="2266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3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2F7AD29-2EAA-45C2-BDCB-AB037EFEA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457450"/>
            <a:ext cx="36385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100" b="1">
                <a:solidFill>
                  <a:srgbClr val="17324D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00" b="1">
                <a:solidFill>
                  <a:srgbClr val="17324D"/>
                </a:solidFill>
                <a:latin typeface="Arial Unicode MS"/>
                <a:ea typeface="Arial Unicode MS"/>
                <a:cs typeface="Arial Unicode MS"/>
              </a:rPr>
              <a:t>Baumgartner Suzuki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2100" b="1">
                <a:solidFill>
                  <a:srgbClr val="17324D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00" b="1">
                <a:solidFill>
                  <a:srgbClr val="17324D"/>
                </a:solidFill>
                <a:latin typeface="Arial Unicode MS"/>
                <a:ea typeface="Arial Unicode MS"/>
                <a:cs typeface="Arial Unicode MS"/>
              </a:rPr>
              <a:t>MINLP1 optimization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AFA3EAE-5A8C-4BD9-85FD-5F05E7C2BA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486150"/>
            <a:ext cx="36385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425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425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完整 outcomes 可见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425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425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训练 source expert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ED750B5-DA08-4979-851A-B3DA114AA1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3009900"/>
            <a:ext cx="762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2289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345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345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→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273249C-2711-493A-87CA-F7A748897F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1695450"/>
            <a:ext cx="4095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800" b="1">
                <a:solidFill>
                  <a:srgbClr val="2C8A6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1">
                <a:solidFill>
                  <a:srgbClr val="2C8A62"/>
                </a:solidFill>
                <a:latin typeface="Arial Unicode MS"/>
                <a:ea typeface="Arial Unicode MS"/>
                <a:cs typeface="Arial Unicode MS"/>
              </a:rPr>
              <a:t>Frozen target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F97F682-B4C3-4847-A160-0B44D95927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2152650"/>
            <a:ext cx="4095750" cy="2266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6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888C4F1-180D-4D93-B93F-CA4024EE28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2457450"/>
            <a:ext cx="36385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100" b="1">
                <a:solidFill>
                  <a:srgbClr val="2C8A6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00" b="1">
                <a:solidFill>
                  <a:srgbClr val="2C8A62"/>
                </a:solidFill>
                <a:latin typeface="Arial Unicode MS"/>
                <a:ea typeface="Arial Unicode MS"/>
                <a:cs typeface="Arial Unicode MS"/>
              </a:rPr>
              <a:t>Baumgartner Suzuki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2100" b="1">
                <a:solidFill>
                  <a:srgbClr val="2C8A6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00" b="1">
                <a:solidFill>
                  <a:srgbClr val="2C8A62"/>
                </a:solidFill>
                <a:latin typeface="Arial Unicode MS"/>
                <a:ea typeface="Arial Unicode MS"/>
                <a:cs typeface="Arial Unicode MS"/>
              </a:rPr>
              <a:t>MINLP2 optimization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2EB64A0-5934-4329-A8F8-70E2F9F7C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3486150"/>
            <a:ext cx="36385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425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425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outcome 隐藏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425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425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3 + 10 target budget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6667810-BB07-4809-BA01-8C9AC094B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762500"/>
            <a:ext cx="152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650" b="1">
                <a:solidFill>
                  <a:srgbClr val="D99A3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650" b="1">
                <a:solidFill>
                  <a:srgbClr val="D99A33"/>
                </a:solidFill>
                <a:latin typeface="Arial Unicode MS"/>
                <a:ea typeface="Arial Unicode MS"/>
                <a:cs typeface="Arial Unicode MS"/>
              </a:rPr>
              <a:t>共享变量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C8B5765-F5F6-4851-B98D-DEE3DEA305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4743450"/>
            <a:ext cx="666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57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7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precatalyst · temperature · residence time · loading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EC0A1B8-AD6D-4DFE-B21B-78D8EEFF8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314950"/>
            <a:ext cx="108966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24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D24ECD4-F9D2-48BE-9DCB-773E1E6D0B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467350"/>
            <a:ext cx="10515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425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425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执行前冻结：code · data version · config · selection record · skill fingerprint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4BF1652-4B23-4C16-9DC6-6237393810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600825"/>
            <a:ext cx="108966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750" b="0">
                <a:solidFill>
                  <a:srgbClr val="8B959D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750" b="0">
                <a:solidFill>
                  <a:srgbClr val="8B959D"/>
                </a:solidFill>
                <a:latin typeface="Arial Unicode MS"/>
                <a:ea typeface="Arial Unicode MS"/>
                <a:cs typeface="Arial Unicode MS"/>
              </a:rPr>
              <a:t>CARE 2.0 · frozen evidence update · 2026-08-12</a:t>
            </a:r>
          </a:p>
        </p:txBody>
      </p:sp>
    </p:spTree>
    <p:extLst>
      <p:ext uri="{BB962C8B-B14F-4D97-AF65-F5344CB8AC3E}">
        <p14:creationId xmlns:p14="http://schemas.microsoft.com/office/powerpoint/2010/main" val="895775189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F2B2107-798E-4FF3-8DF5-9F3F9F100D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6700"/>
            <a:ext cx="419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9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RESULT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B30AC08-2C41-4665-B9C6-165DCFB4EB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266700"/>
            <a:ext cx="28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9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23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89AE116-352B-4B0E-BEA4-B468C46136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52450"/>
            <a:ext cx="108966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270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70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Frozen v2 同时提高搜索过程和最终结果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B9F5D72-91AD-423F-A5B2-946C75126F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00150"/>
            <a:ext cx="4000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32E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27c3c4126f34b53"/>
          <a:stretch xmlns:a="http://schemas.openxmlformats.org/drawingml/2006/main"/>
        </p:blipFill>
        <p:spPr>
          <a:xfrm xmlns:a="http://schemas.openxmlformats.org/drawingml/2006/main">
            <a:off x="1462686" y="1257300"/>
            <a:ext cx="9266627" cy="5105400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986E59C-9C4D-409E-A000-1AF577A0FF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600825"/>
            <a:ext cx="108966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750" b="0">
                <a:solidFill>
                  <a:srgbClr val="8B959D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750" b="0">
                <a:solidFill>
                  <a:srgbClr val="8B959D"/>
                </a:solidFill>
                <a:latin typeface="Arial Unicode MS"/>
                <a:ea typeface="Arial Unicode MS"/>
                <a:cs typeface="Arial Unicode MS"/>
              </a:rPr>
              <a:t>CARE 2.0 · frozen evidence update · 2026-08-12</a:t>
            </a:r>
          </a:p>
        </p:txBody>
      </p:sp>
    </p:spTree>
    <p:extLst>
      <p:ext uri="{BB962C8B-B14F-4D97-AF65-F5344CB8AC3E}">
        <p14:creationId xmlns:p14="http://schemas.microsoft.com/office/powerpoint/2010/main" val="1820115218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4CCA5DC-1582-431E-ACDA-F0DB1E401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6700"/>
            <a:ext cx="419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9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EXPERIMENTAL EFFICIENCY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82478A7-8740-428B-BC97-8255DFCD99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266700"/>
            <a:ext cx="28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9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24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AA50FE5-D294-40B4-BA9A-CA5A1C2A1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52450"/>
            <a:ext cx="108966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270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70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在这个 target 上，迁移相当于少做两次实验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30A2959-2006-4C3A-9B28-1483E9844E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00150"/>
            <a:ext cx="4000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3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B0666D3-8BED-408C-9436-3A96C06DB8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676400"/>
            <a:ext cx="5905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875" b="1">
                <a:solidFill>
                  <a:srgbClr val="17324D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75" b="1">
                <a:solidFill>
                  <a:srgbClr val="17324D"/>
                </a:solidFill>
                <a:latin typeface="Arial Unicode MS"/>
                <a:ea typeface="Arial Unicode MS"/>
                <a:cs typeface="Arial Unicode MS"/>
              </a:rPr>
              <a:t>达到 100% 产率所需总观测数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4120445-4694-4EF7-AC43-8F34C11520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86050"/>
            <a:ext cx="152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500" b="1">
                <a:solidFill>
                  <a:srgbClr val="2C8A6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1">
                <a:solidFill>
                  <a:srgbClr val="2C8A62"/>
                </a:solidFill>
                <a:latin typeface="Arial Unicode MS"/>
                <a:ea typeface="Arial Unicode MS"/>
                <a:cs typeface="Arial Unicode MS"/>
              </a:rPr>
              <a:t>Frozen v2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FDBB144-AFD5-4E7C-B88C-EDBD49D5C7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2200" y="2800350"/>
            <a:ext cx="26098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8A6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1BC1A0A-386E-4B5D-8720-A74AB63F4C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2647950"/>
            <a:ext cx="476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9581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250" b="1">
                <a:solidFill>
                  <a:srgbClr val="2C8A6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250" b="1">
                <a:solidFill>
                  <a:srgbClr val="2C8A62"/>
                </a:solidFill>
                <a:latin typeface="Arial Unicode MS"/>
                <a:ea typeface="Arial Unicode MS"/>
                <a:cs typeface="Arial Unicode MS"/>
              </a:rPr>
              <a:t>5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59637B4-5055-45A0-8258-095003072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61950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500" b="1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1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Random 成功运行中位数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987A3F7-17E4-4FEB-AA15-08FBF7402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3733800"/>
            <a:ext cx="36576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8768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808383D-8C54-42EA-8478-73EECA568B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3581400"/>
            <a:ext cx="476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9581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250" b="1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250" b="1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7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D81D276-CF6C-4BC1-A065-B7332C953D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552950"/>
            <a:ext cx="152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500" b="1">
                <a:solidFill>
                  <a:srgbClr val="D99A3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1">
                <a:solidFill>
                  <a:srgbClr val="D99A33"/>
                </a:solidFill>
                <a:latin typeface="Arial Unicode MS"/>
                <a:ea typeface="Arial Unicode MS"/>
                <a:cs typeface="Arial Unicode MS"/>
              </a:rPr>
              <a:t>Space filling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D0C67E2-BF63-42AD-9D47-77A9530806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2200" y="4667250"/>
            <a:ext cx="65722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9A3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4BD6BF0-A460-4042-A1D8-0B929926D0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4514850"/>
            <a:ext cx="1619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800" b="1">
                <a:solidFill>
                  <a:srgbClr val="D99A3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1">
                <a:solidFill>
                  <a:srgbClr val="D99A33"/>
                </a:solidFill>
                <a:latin typeface="Arial Unicode MS"/>
                <a:ea typeface="Arial Unicode MS"/>
                <a:cs typeface="Arial Unicode MS"/>
              </a:rPr>
              <a:t>未达到 95%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1487DDA-4EBD-4ABB-A6D2-F796E46472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1676400"/>
            <a:ext cx="310515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556FE63-4677-4A06-8E7F-73E7581064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2076450"/>
            <a:ext cx="2571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345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345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46 / 100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6E26C2D-7BDD-4DF6-A92D-D47EB6483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2705100"/>
            <a:ext cx="2571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35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random 在预算内达到 100%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F299A69-1659-4652-AEB0-E72BBBE1C0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3105150"/>
            <a:ext cx="2571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05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05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其余 54 次未达到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FB8EEB9-6C6B-404C-9DAA-7D6E0F35D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3390900"/>
            <a:ext cx="2571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3450" b="1">
                <a:solidFill>
                  <a:srgbClr val="C94D4D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3450" b="1">
                <a:solidFill>
                  <a:srgbClr val="C94D4D"/>
                </a:solidFill>
                <a:latin typeface="Arial Unicode MS"/>
                <a:ea typeface="Arial Unicode MS"/>
                <a:cs typeface="Arial Unicode MS"/>
              </a:rPr>
              <a:t>15 / 100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6F5B705-6FD2-4ED7-BB7C-0550FF3249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4019550"/>
            <a:ext cx="2571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35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random AUC ≥ frozen v2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0DA771D-2BBC-4969-B1B4-3FBE68F6C5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4419600"/>
            <a:ext cx="2571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05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05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v2 位于分布高端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5D8E72B-A646-4696-871C-24453A404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486400"/>
            <a:ext cx="108966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6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94B43E3-A64A-47CC-9A0D-C201263CD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619750"/>
            <a:ext cx="10553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75" b="1">
                <a:solidFill>
                  <a:srgbClr val="2C8A6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75" b="1">
                <a:solidFill>
                  <a:srgbClr val="2C8A62"/>
                </a:solidFill>
                <a:latin typeface="Arial Unicode MS"/>
                <a:ea typeface="Arial Unicode MS"/>
                <a:cs typeface="Arial Unicode MS"/>
              </a:rPr>
              <a:t>Frozen v2：3 个初始点 + 2 次 GP-UCB reveal 即找到 100% 产率。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F6DCFA3-0932-439E-A86C-FDEF68A7D7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600825"/>
            <a:ext cx="108966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750" b="0">
                <a:solidFill>
                  <a:srgbClr val="8B959D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750" b="0">
                <a:solidFill>
                  <a:srgbClr val="8B959D"/>
                </a:solidFill>
                <a:latin typeface="Arial Unicode MS"/>
                <a:ea typeface="Arial Unicode MS"/>
                <a:cs typeface="Arial Unicode MS"/>
              </a:rPr>
              <a:t>CARE 2.0 · frozen evidence update · 2026-08-12</a:t>
            </a:r>
          </a:p>
        </p:txBody>
      </p:sp>
    </p:spTree>
    <p:extLst>
      <p:ext uri="{BB962C8B-B14F-4D97-AF65-F5344CB8AC3E}">
        <p14:creationId xmlns:p14="http://schemas.microsoft.com/office/powerpoint/2010/main" val="2039310912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5DE1A087-E1F3-4918-A994-827F9BCD69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6700"/>
            <a:ext cx="419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9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BROADER OFFLINE EVIDENCE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D6F92BF-E18E-4CF4-87E8-12CCFA4F2B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266700"/>
            <a:ext cx="28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9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25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3BBAC9B-DE64-4C47-B295-15A458010D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52450"/>
            <a:ext cx="108966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240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40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多领域离线 suite 支持平台价值，但不等于零成本部署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4839220-514F-485B-BFEF-26E8CF413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00150"/>
            <a:ext cx="4000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3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947E194-AB60-4785-857F-0E0D7F5E2A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581150"/>
            <a:ext cx="4696810" cy="466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24D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68CE4D9-AFCE-4010-8958-92D8C282C6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647825"/>
            <a:ext cx="454441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125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125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Source → target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20D9B35-2EDD-47A7-ACD2-DB4DF4EDD1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4510" y="1581150"/>
            <a:ext cx="2066597" cy="466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24D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8A6836D-CB75-4027-B32D-3C0D8E91C0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0710" y="1647825"/>
            <a:ext cx="1914197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125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125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部署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19D8C1B-D268-4038-840F-2B9AC367EA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1107" y="1581150"/>
            <a:ext cx="2066597" cy="466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24D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F28AED9-9116-4B88-B04A-6219838DA5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7307" y="1647825"/>
            <a:ext cx="1914197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125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125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Final best Δ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544EB7A-B16E-4173-8E79-3F0DBF069F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77703" y="1581150"/>
            <a:ext cx="2066597" cy="466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24D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4C035D3-8630-48D8-A28E-6738357F4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53903" y="1647825"/>
            <a:ext cx="1914197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125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125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AUC Δ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C642FA9-9AAA-4F19-80E2-99165D6929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047875"/>
            <a:ext cx="4696810" cy="466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D73803E-6775-4CCB-BF57-88E28F2D32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14550"/>
            <a:ext cx="454441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05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05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ChemLex → Buchwald-Hartwig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8193403-8D70-4266-9E20-98ECD8E5FB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4510" y="2047875"/>
            <a:ext cx="2066597" cy="466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04B15C5-6391-4A4F-A2F6-BD9356CFD6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0710" y="2114550"/>
            <a:ext cx="1914197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050" b="1">
                <a:solidFill>
                  <a:srgbClr val="2C8A6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050" b="1">
                <a:solidFill>
                  <a:srgbClr val="2C8A62"/>
                </a:solidFill>
                <a:latin typeface="Arial Unicode MS"/>
                <a:ea typeface="Arial Unicode MS"/>
                <a:cs typeface="Arial Unicode MS"/>
              </a:rPr>
              <a:t>transfer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217AD11-02F9-476C-9DB3-5AEC1BEC22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1107" y="2047875"/>
            <a:ext cx="2066597" cy="466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16DB107-24EE-4161-B76E-C1EBCC9DC8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7307" y="2114550"/>
            <a:ext cx="1914197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050" b="1">
                <a:solidFill>
                  <a:srgbClr val="2C8A6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050" b="1">
                <a:solidFill>
                  <a:srgbClr val="2C8A62"/>
                </a:solidFill>
                <a:latin typeface="Arial Unicode MS"/>
                <a:ea typeface="Arial Unicode MS"/>
                <a:cs typeface="Arial Unicode MS"/>
              </a:rPr>
              <a:t>+9.197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057AA4F-3440-4B44-AF2E-47564F487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77703" y="2047875"/>
            <a:ext cx="2066597" cy="466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ABE38C1-5DF7-4F58-B7C4-4602717104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53903" y="2114550"/>
            <a:ext cx="1914197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050" b="1">
                <a:solidFill>
                  <a:srgbClr val="2C8A6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050" b="1">
                <a:solidFill>
                  <a:srgbClr val="2C8A62"/>
                </a:solidFill>
                <a:latin typeface="Arial Unicode MS"/>
                <a:ea typeface="Arial Unicode MS"/>
                <a:cs typeface="Arial Unicode MS"/>
              </a:rPr>
              <a:t>+11.057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3D66D2C-3A45-46BD-9AD5-57F37CF283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514600"/>
            <a:ext cx="4696810" cy="466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6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ADE0D09-2778-40EA-98AD-C4EA23187C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581275"/>
            <a:ext cx="454441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05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05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Dielectric → expt. gap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235D5A6-F443-4EB9-A288-38A3A6E381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4510" y="2514600"/>
            <a:ext cx="2066597" cy="466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6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1488708-5512-44F0-9433-15B225C8F5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0710" y="2581275"/>
            <a:ext cx="1914197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050" b="1">
                <a:solidFill>
                  <a:srgbClr val="2C8A6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050" b="1">
                <a:solidFill>
                  <a:srgbClr val="2C8A62"/>
                </a:solidFill>
                <a:latin typeface="Arial Unicode MS"/>
                <a:ea typeface="Arial Unicode MS"/>
                <a:cs typeface="Arial Unicode MS"/>
              </a:rPr>
              <a:t>transfer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7A0331D-77B8-4DA6-B90D-90E6256B4C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1107" y="2514600"/>
            <a:ext cx="2066597" cy="466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6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CB51484-8971-45FD-BE1B-2A7C21EBB6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7307" y="2581275"/>
            <a:ext cx="1914197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050" b="1">
                <a:solidFill>
                  <a:srgbClr val="2C8A6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050" b="1">
                <a:solidFill>
                  <a:srgbClr val="2C8A62"/>
                </a:solidFill>
                <a:latin typeface="Arial Unicode MS"/>
                <a:ea typeface="Arial Unicode MS"/>
                <a:cs typeface="Arial Unicode MS"/>
              </a:rPr>
              <a:t>+32.699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49F829D-0C6E-47FC-988C-734C81321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77703" y="2514600"/>
            <a:ext cx="2066597" cy="466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6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7F23AA0-34B4-4D65-B1C8-F9B450B4A3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53903" y="2581275"/>
            <a:ext cx="1914197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050" b="1">
                <a:solidFill>
                  <a:srgbClr val="2C8A6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050" b="1">
                <a:solidFill>
                  <a:srgbClr val="2C8A62"/>
                </a:solidFill>
                <a:latin typeface="Arial Unicode MS"/>
                <a:ea typeface="Arial Unicode MS"/>
                <a:cs typeface="Arial Unicode MS"/>
              </a:rPr>
              <a:t>+48.028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690B771-1FD5-445E-881C-59E3C16FB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981325"/>
            <a:ext cx="4696810" cy="466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7493207-EC36-4ABE-A146-472A1EF05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48000"/>
            <a:ext cx="454441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05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05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Expt. gap → dielectric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9BF18E0-6336-4EC8-8464-9D842012A5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4510" y="2981325"/>
            <a:ext cx="2066597" cy="466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61EBC18A-532F-45A8-A3B3-3E56BD10C4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0710" y="3048000"/>
            <a:ext cx="1914197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050" b="1">
                <a:solidFill>
                  <a:srgbClr val="2C8A6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050" b="1">
                <a:solidFill>
                  <a:srgbClr val="2C8A62"/>
                </a:solidFill>
                <a:latin typeface="Arial Unicode MS"/>
                <a:ea typeface="Arial Unicode MS"/>
                <a:cs typeface="Arial Unicode MS"/>
              </a:rPr>
              <a:t>transfer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04CCF786-B984-4909-B418-991F9BF7C2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1107" y="2981325"/>
            <a:ext cx="2066597" cy="466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D0B63343-A665-499F-9E0A-C9FC0C022B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7307" y="3048000"/>
            <a:ext cx="1914197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050" b="1">
                <a:solidFill>
                  <a:srgbClr val="2C8A6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050" b="1">
                <a:solidFill>
                  <a:srgbClr val="2C8A62"/>
                </a:solidFill>
                <a:latin typeface="Arial Unicode MS"/>
                <a:ea typeface="Arial Unicode MS"/>
                <a:cs typeface="Arial Unicode MS"/>
              </a:rPr>
              <a:t>+18.065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9CDE16BD-F278-4BAB-ACD5-FC3AA6D41F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77703" y="2981325"/>
            <a:ext cx="2066597" cy="466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D14FF95D-E697-4E93-87D4-039620A729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53903" y="3048000"/>
            <a:ext cx="1914197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050" b="1">
                <a:solidFill>
                  <a:srgbClr val="2C8A6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050" b="1">
                <a:solidFill>
                  <a:srgbClr val="2C8A62"/>
                </a:solidFill>
                <a:latin typeface="Arial Unicode MS"/>
                <a:ea typeface="Arial Unicode MS"/>
                <a:cs typeface="Arial Unicode MS"/>
              </a:rPr>
              <a:t>+23.723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7D199F3E-146B-420B-955B-C87DBCB882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448050"/>
            <a:ext cx="4696810" cy="466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6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0530D557-D955-4742-89A0-9A4660D0E0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514725"/>
            <a:ext cx="454441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05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05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Phonons → dielectric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292D696C-5538-4DFB-9720-814BD81257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4510" y="3448050"/>
            <a:ext cx="2066597" cy="466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6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CA36CBCA-3D74-4310-8EC6-8F61639CD8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0710" y="3514725"/>
            <a:ext cx="1914197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050" b="1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050" b="1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fallback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3E24195A-DDDA-4594-B426-8EE4A81B0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1107" y="3448050"/>
            <a:ext cx="2066597" cy="466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6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6877C46B-E698-4EBE-8CF6-2AB30D98AE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7307" y="3514725"/>
            <a:ext cx="1914197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05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05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0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DC14187F-8907-4BAB-BE3D-70DEEFB67E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77703" y="3448050"/>
            <a:ext cx="2066597" cy="466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6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99299931-8279-42E3-8CBA-EEC077E09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53903" y="3514725"/>
            <a:ext cx="1914197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05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05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0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52FD236E-0553-4E0C-8A5F-4CB5C5A66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914775"/>
            <a:ext cx="4696810" cy="466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875F7383-81A3-4078-B68D-98DD808A4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981450"/>
            <a:ext cx="454441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05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05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ESOL → Lipophilicity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90AEA987-DF55-4835-8F2C-D3C9E8E7ED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4510" y="3914775"/>
            <a:ext cx="2066597" cy="466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7BEEAEE9-C190-48A7-9A82-DDBB4A68CA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0710" y="3981450"/>
            <a:ext cx="1914197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050" b="1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050" b="1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fallback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7E70F81C-429F-42F7-BC79-D1B76B15C7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1107" y="3914775"/>
            <a:ext cx="2066597" cy="466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EB12A7E7-5424-4ACB-B5C7-F58B380498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7307" y="3981450"/>
            <a:ext cx="1914197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05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05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0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5BF05B53-6338-49A4-BEBF-C2E2B53F72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77703" y="3914775"/>
            <a:ext cx="2066597" cy="466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7CDA04DD-C8F3-44B0-A41B-AF4E49416A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53903" y="3981450"/>
            <a:ext cx="1914197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05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05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0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1C15C662-6B34-4593-91BF-B348DEB718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381500"/>
            <a:ext cx="4696810" cy="466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6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58DEC6D3-CCBD-447F-8CEF-A72C14E409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448175"/>
            <a:ext cx="454441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05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05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FreeSolv → Lipophilicity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7653AFC5-FCE5-4657-A813-C649B74A0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4510" y="4381500"/>
            <a:ext cx="2066597" cy="466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6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82321018-E5BC-4E26-96DA-B5E5417D3C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0710" y="4448175"/>
            <a:ext cx="1914197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050" b="1">
                <a:solidFill>
                  <a:srgbClr val="2C8A6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050" b="1">
                <a:solidFill>
                  <a:srgbClr val="2C8A62"/>
                </a:solidFill>
                <a:latin typeface="Arial Unicode MS"/>
                <a:ea typeface="Arial Unicode MS"/>
                <a:cs typeface="Arial Unicode MS"/>
              </a:rPr>
              <a:t>transfer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50392241-6A3D-4292-9046-BBDA70AE46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1107" y="4381500"/>
            <a:ext cx="2066597" cy="466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6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861282E1-8303-4182-8AB7-BD221507D9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7307" y="4448175"/>
            <a:ext cx="1914197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050" b="1">
                <a:solidFill>
                  <a:srgbClr val="2C8A6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050" b="1">
                <a:solidFill>
                  <a:srgbClr val="2C8A62"/>
                </a:solidFill>
                <a:latin typeface="Arial Unicode MS"/>
                <a:ea typeface="Arial Unicode MS"/>
                <a:cs typeface="Arial Unicode MS"/>
              </a:rPr>
              <a:t>+2.976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856B54AD-2EAD-4FF0-80B0-BACCD7CF37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77703" y="4381500"/>
            <a:ext cx="2066597" cy="466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6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E873A677-0743-4C0D-A9E1-2AD697C3C3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53903" y="4448175"/>
            <a:ext cx="1914197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050" b="1">
                <a:solidFill>
                  <a:srgbClr val="2C8A6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050" b="1">
                <a:solidFill>
                  <a:srgbClr val="2C8A62"/>
                </a:solidFill>
                <a:latin typeface="Arial Unicode MS"/>
                <a:ea typeface="Arial Unicode MS"/>
                <a:cs typeface="Arial Unicode MS"/>
              </a:rPr>
              <a:t>+3.727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7AECB781-6283-4474-885B-30F48B3681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848225"/>
            <a:ext cx="4696810" cy="466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5D3BE45B-4F44-401A-8097-6EDBFD256B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914900"/>
            <a:ext cx="454441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05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05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Lipophilicity → FreeSolv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B8F37DD1-2A46-47B4-A7FC-7302285F05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4510" y="4848225"/>
            <a:ext cx="2066597" cy="466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09920C6B-F04B-469E-9653-49B84EA459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0710" y="4914900"/>
            <a:ext cx="1914197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050" b="1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050" b="1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fallback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146AE100-7958-4F70-AA31-663795B29C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1107" y="4848225"/>
            <a:ext cx="2066597" cy="466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1EBA456F-BB20-46DA-B3E7-4B7261E81C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7307" y="4914900"/>
            <a:ext cx="1914197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05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05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0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9987893E-6501-4756-A2EB-E7D4BA20A3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77703" y="4848225"/>
            <a:ext cx="2066597" cy="466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33A56FD3-EEE3-4825-BBEE-D5CFFC039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53903" y="4914900"/>
            <a:ext cx="1914197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05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05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0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1B48526A-E352-46ED-8464-E1A00B2E86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505450"/>
            <a:ext cx="108966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EC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4C2FCAC9-4A16-4247-8460-00E8C0C13F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619750"/>
            <a:ext cx="105537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275" b="1">
                <a:solidFill>
                  <a:srgbClr val="C94D4D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75" b="1">
                <a:solidFill>
                  <a:srgbClr val="C94D4D"/>
                </a:solidFill>
                <a:latin typeface="Arial Unicode MS"/>
                <a:ea typeface="Arial Unicode MS"/>
                <a:cs typeface="Arial Unicode MS"/>
              </a:rPr>
              <a:t>限制：50 calibration seeds 使用了 archived target outcomes；这是严格的离线选择，不是新 wet-lab task 的零成本 gate。</a:t>
            </a:r>
          </a:p>
        </p:txBody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D3D92314-924B-44F5-BC62-260607B840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600825"/>
            <a:ext cx="108966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750" b="0">
                <a:solidFill>
                  <a:srgbClr val="8B959D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750" b="0">
                <a:solidFill>
                  <a:srgbClr val="8B959D"/>
                </a:solidFill>
                <a:latin typeface="Arial Unicode MS"/>
                <a:ea typeface="Arial Unicode MS"/>
                <a:cs typeface="Arial Unicode MS"/>
              </a:rPr>
              <a:t>CARE 2.0 · frozen evidence update · 2026-08-12</a:t>
            </a:r>
          </a:p>
        </p:txBody>
      </p:sp>
    </p:spTree>
    <p:extLst>
      <p:ext uri="{BB962C8B-B14F-4D97-AF65-F5344CB8AC3E}">
        <p14:creationId xmlns:p14="http://schemas.microsoft.com/office/powerpoint/2010/main" val="415215898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BF06B59-7ECB-4D99-947E-D1914924D1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6700"/>
            <a:ext cx="419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9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CLASSICAL TRANSFER BO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D8CE497-C499-4B11-B459-9E8E181A3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266700"/>
            <a:ext cx="28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9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66266AE-92EC-40EC-A54A-46DC916A66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52450"/>
            <a:ext cx="108966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270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70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没有一种 transfer family 在所有任务上都可靠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70CE633-DAAE-4224-830D-7218FC685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00150"/>
            <a:ext cx="4000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3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B4BB097-59C4-42ED-9FB6-0C59A527A9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676400"/>
            <a:ext cx="3048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10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0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RGPE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7A58F5C-AAE2-447E-B639-5AE5C33042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247900"/>
            <a:ext cx="32385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• Dielectric → expt. gap：显著强正向</a:t>
            </a:r>
          </a:p>
          <a:p xmlns:a="http://schemas.openxmlformats.org/drawingml/2006/main">
            <a:pPr algn="l">
              <a:lnSpc>
                <a:spcPct val="120000"/>
              </a:lnSpc>
              <a:buNone/>
              <a:def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• 其余 4 条 final-score 比较显著变差</a:t>
            </a:r>
          </a:p>
          <a:p xmlns:a="http://schemas.openxmlformats.org/drawingml/2006/main">
            <a:pPr algn="l">
              <a:lnSpc>
                <a:spcPct val="120000"/>
              </a:lnSpc>
              <a:buNone/>
              <a:def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• 说明经典 transfer 同样会负迁移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F76BD37-7865-4DDF-A636-8B098CEBE2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1676400"/>
            <a:ext cx="3238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100" b="1">
                <a:solidFill>
                  <a:srgbClr val="D99A3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00" b="1">
                <a:solidFill>
                  <a:srgbClr val="D99A33"/>
                </a:solidFill>
                <a:latin typeface="Arial Unicode MS"/>
                <a:ea typeface="Arial Unicode MS"/>
                <a:cs typeface="Arial Unicode MS"/>
              </a:rPr>
              <a:t>Two-task ICM GP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4320D60-ED66-4972-A359-14BE0AE33A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247900"/>
            <a:ext cx="32385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• 整体比 RGPE 更保守</a:t>
            </a:r>
          </a:p>
          <a:p xmlns:a="http://schemas.openxmlformats.org/drawingml/2006/main">
            <a:pPr algn="l">
              <a:lnSpc>
                <a:spcPct val="120000"/>
              </a:lnSpc>
              <a:buNone/>
              <a:def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• 部分路径点估计为正</a:t>
            </a:r>
          </a:p>
          <a:p xmlns:a="http://schemas.openxmlformats.org/drawingml/2006/main">
            <a:pPr algn="l">
              <a:lnSpc>
                <a:spcPct val="120000"/>
              </a:lnSpc>
              <a:buNone/>
              <a:def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• 仍然不是普遍最优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354EFA9-412D-433C-B873-BD666815CE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676400"/>
            <a:ext cx="3143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100" b="1">
                <a:solidFill>
                  <a:srgbClr val="2C8A6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00" b="1">
                <a:solidFill>
                  <a:srgbClr val="2C8A62"/>
                </a:solidFill>
                <a:latin typeface="Arial Unicode MS"/>
                <a:ea typeface="Arial Unicode MS"/>
                <a:cs typeface="Arial Unicode MS"/>
              </a:rPr>
              <a:t>Hybrid router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AA7A864-8A2D-4FA8-AF3D-4AF81BAC5F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247900"/>
            <a:ext cx="31432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• AUC 在 5 / 5 路径为正</a:t>
            </a:r>
          </a:p>
          <a:p xmlns:a="http://schemas.openxmlformats.org/drawingml/2006/main">
            <a:pPr algn="l">
              <a:lnSpc>
                <a:spcPct val="120000"/>
              </a:lnSpc>
              <a:buNone/>
              <a:def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• Final score 在 4 / 5 显著为正</a:t>
            </a:r>
          </a:p>
          <a:p xmlns:a="http://schemas.openxmlformats.org/drawingml/2006/main">
            <a:pPr algn="l">
              <a:lnSpc>
                <a:spcPct val="120000"/>
              </a:lnSpc>
              <a:buNone/>
              <a:def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• 但仍依赖 target calibration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5BFF929-57FF-41B4-B718-F09408581E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095750"/>
            <a:ext cx="1089660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24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CA2D1C9-9F50-41CD-AD26-74AB48A88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305300"/>
            <a:ext cx="152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650" b="1">
                <a:solidFill>
                  <a:srgbClr val="6DCBF4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650" b="1">
                <a:solidFill>
                  <a:srgbClr val="6DCBF4"/>
                </a:solidFill>
                <a:latin typeface="Arial Unicode MS"/>
                <a:ea typeface="Arial Unicode MS"/>
                <a:cs typeface="Arial Unicode MS"/>
              </a:rPr>
              <a:t>关键解释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3238796-E25E-4A41-8777-F80A6DAE09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57450" y="4248150"/>
            <a:ext cx="88582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575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75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这 5 条路径中的 CARE source-transfer candidates 全部被 gate 拒绝；CARE 的正向值主要来自 target-only fallback，不能写成 source transfer 的胜利。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9E3C0FE-E7D3-405B-91C9-3F1CAE9568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619750"/>
            <a:ext cx="10896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425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425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系统价值：比较、路由与拒绝负迁移，而不是宣称某个固定 transfer 方法全面胜出。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B9575D6-8BFF-4880-81D8-B43F6A5F6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600825"/>
            <a:ext cx="108966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750" b="0">
                <a:solidFill>
                  <a:srgbClr val="8B959D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750" b="0">
                <a:solidFill>
                  <a:srgbClr val="8B959D"/>
                </a:solidFill>
                <a:latin typeface="Arial Unicode MS"/>
                <a:ea typeface="Arial Unicode MS"/>
                <a:cs typeface="Arial Unicode MS"/>
              </a:rPr>
              <a:t>CARE 2.0 · frozen evidence update · 2026-08-12</a:t>
            </a:r>
          </a:p>
        </p:txBody>
      </p:sp>
    </p:spTree>
    <p:extLst>
      <p:ext uri="{BB962C8B-B14F-4D97-AF65-F5344CB8AC3E}">
        <p14:creationId xmlns:p14="http://schemas.microsoft.com/office/powerpoint/2010/main" val="1373530721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E443495-A138-47BD-AE62-4837B1FCDD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6700"/>
            <a:ext cx="419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9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LLM AND MEMORY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B6235DD-F9D2-4767-B3B1-CCAD096BD9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266700"/>
            <a:ext cx="28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9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27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C946631-61F6-450B-89FE-CBD271FC45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52450"/>
            <a:ext cx="108966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270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70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LLM 是 hypothesis compiler；知识库保存可复用证据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C88D965-2B81-4537-BEC5-2CEBF5D82B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00150"/>
            <a:ext cx="4000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3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DBC0DCA-D07F-41C2-84C3-8458841CDB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676400"/>
            <a:ext cx="4953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8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LLM 在完整平台中的角色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5C24266-3B4E-482E-ADF6-A21A455028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133600"/>
            <a:ext cx="4953000" cy="2952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3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B27041C-BE1A-43E7-8FE1-4EA185AC50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419350"/>
            <a:ext cx="441960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• 读取 source/target schema 与统计摘要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• 生成 role map 与结构化 hypothesis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• 提议 kernel / prior / routing patch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• 输出 rationale、confidence、failure condition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• 必须超过 fixed data-only control 才能归因给 LLM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06978A4-BA1C-4F23-BCE3-EC2B896E60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1676400"/>
            <a:ext cx="4953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875" b="1">
                <a:solidFill>
                  <a:srgbClr val="2C8A6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75" b="1">
                <a:solidFill>
                  <a:srgbClr val="2C8A62"/>
                </a:solidFill>
                <a:latin typeface="Arial Unicode MS"/>
                <a:ea typeface="Arial Unicode MS"/>
                <a:cs typeface="Arial Unicode MS"/>
              </a:rPr>
              <a:t>SkillBank 已沉淀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AFEDD01-12B0-4FF3-A939-1129DD4DB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133600"/>
            <a:ext cx="4953000" cy="2952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6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CEA759F-65CC-41DE-A60F-887867280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2419350"/>
            <a:ext cx="441960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• dataset / task cards 与 role maps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• frozen TransferSkill 与执行参数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• positive、negative、rejected cases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• per-round candidate / score / outcome trace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• commit、config、model record 与 SHA-256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A9AE9A9-546F-420E-9A12-C2FD6FA4F0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295900"/>
            <a:ext cx="108966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EC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9FADC08-8972-45C8-B034-05661E7E38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400675"/>
            <a:ext cx="105537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425" b="1">
                <a:solidFill>
                  <a:srgbClr val="C94D4D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425" b="1">
                <a:solidFill>
                  <a:srgbClr val="C94D4D"/>
                </a:solidFill>
                <a:latin typeface="Arial Unicode MS"/>
                <a:ea typeface="Arial Unicode MS"/>
                <a:cs typeface="Arial Unicode MS"/>
              </a:rPr>
              <a:t>外部 v2 结果不含 LLM；随后已完成真实 LLM hypothesis 实验。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425" b="1">
                <a:solidFill>
                  <a:srgbClr val="C94D4D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425" b="1">
                <a:solidFill>
                  <a:srgbClr val="C94D4D"/>
                </a:solidFill>
                <a:latin typeface="Arial Unicode MS"/>
                <a:ea typeface="Arial Unicode MS"/>
                <a:cs typeface="Arial Unicode MS"/>
              </a:rPr>
              <a:t>两条证据必须分开报告。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37DCDEC-0E67-44BD-8D26-85F7CB1F8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600825"/>
            <a:ext cx="108966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750" b="0">
                <a:solidFill>
                  <a:srgbClr val="8B959D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750" b="0">
                <a:solidFill>
                  <a:srgbClr val="8B959D"/>
                </a:solidFill>
                <a:latin typeface="Arial Unicode MS"/>
                <a:ea typeface="Arial Unicode MS"/>
                <a:cs typeface="Arial Unicode MS"/>
              </a:rPr>
              <a:t>CARE 2.0 · frozen evidence update · 2026-08-12</a:t>
            </a:r>
          </a:p>
        </p:txBody>
      </p:sp>
    </p:spTree>
    <p:extLst>
      <p:ext uri="{BB962C8B-B14F-4D97-AF65-F5344CB8AC3E}">
        <p14:creationId xmlns:p14="http://schemas.microsoft.com/office/powerpoint/2010/main" val="2090742891"/>
      </p:ext>
    </p:extLst>
  </p:cSld>
</p:sld>
</file>

<file path=ppt/slides/slide2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CB21B75-5D68-4A20-AB0B-5C38F2F643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6700"/>
            <a:ext cx="419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9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REAL LLM EXECUTION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D47301E-1579-4C32-AD8A-A98C94D913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266700"/>
            <a:ext cx="28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9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28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5DF09FF-3A35-4F91-9A61-55973C8EEA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52450"/>
            <a:ext cx="108966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255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55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LLM 真正进入决策链，而不是只负责写解释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4F5FD6D-396E-4D66-85BE-6914748B6B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00150"/>
            <a:ext cx="4000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3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F56FE47-CB47-463C-B0E8-EF9EFB6988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581150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80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允许输入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1F00A14-A423-4312-968E-344F36266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019300"/>
            <a:ext cx="285750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3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E80C1EA-42D6-46E1-A5C8-61ADD9CD6F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24100"/>
            <a:ext cx="24003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42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42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• 完成的 source outcomes 与统计</a:t>
            </a:r>
          </a:p>
          <a:p xmlns:a="http://schemas.openxmlformats.org/drawingml/2006/main">
            <a:pPr algn="l">
              <a:lnSpc>
                <a:spcPct val="120000"/>
              </a:lnSpc>
              <a:buNone/>
              <a:defRPr sz="142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42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• target schema 与公开候选条件</a:t>
            </a:r>
          </a:p>
          <a:p xmlns:a="http://schemas.openxmlformats.org/drawingml/2006/main">
            <a:pPr algn="l">
              <a:lnSpc>
                <a:spcPct val="120000"/>
              </a:lnSpc>
              <a:buNone/>
              <a:defRPr sz="142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42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• source-prior 排名短名单</a:t>
            </a:r>
          </a:p>
          <a:p xmlns:a="http://schemas.openxmlformats.org/drawingml/2006/main">
            <a:pPr algn="l">
              <a:lnSpc>
                <a:spcPct val="120000"/>
              </a:lnSpc>
              <a:buNone/>
              <a:defRPr sz="142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42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• 禁止读取任何 target outcome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7963936-19C7-48A5-BFF3-43407EFF85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7125" y="3124200"/>
            <a:ext cx="5143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550" b="1">
                <a:solidFill>
                  <a:srgbClr val="D99A3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550" b="1">
                <a:solidFill>
                  <a:srgbClr val="D99A33"/>
                </a:solidFill>
                <a:latin typeface="Arial Unicode MS"/>
                <a:ea typeface="Arial Unicode MS"/>
                <a:cs typeface="Arial Unicode MS"/>
              </a:rPr>
              <a:t>→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E015D17-0C01-43FE-AB96-23AFBAF08E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1581150"/>
            <a:ext cx="3162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800" b="1">
                <a:solidFill>
                  <a:srgbClr val="D99A3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1">
                <a:solidFill>
                  <a:srgbClr val="D99A33"/>
                </a:solidFill>
                <a:latin typeface="Arial Unicode MS"/>
                <a:ea typeface="Arial Unicode MS"/>
                <a:cs typeface="Arial Unicode MS"/>
              </a:rPr>
              <a:t>真实模型调用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3590AD3-7798-4C87-983E-80DC080EDA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2019300"/>
            <a:ext cx="316230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3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FB3FEBE-18F8-4930-8FF6-FA002139F8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2286000"/>
            <a:ext cx="27051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65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65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openai/gpt-5.4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61025B1-F07F-42C7-BB63-89F23E0CBD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2733675"/>
            <a:ext cx="2400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9A3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A504EB7-B71F-4954-AD84-A6AAC15B05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2990850"/>
            <a:ext cx="2705100" cy="1504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• 3 个 candidate IDs + 角色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• 机制 hypothesis 与 confidence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• failure conditions / abstain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• 冻结为可重放 JSON 记录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07DC464-EDEC-40EF-8C7D-A25DD6A196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3124200"/>
            <a:ext cx="5143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550" b="1">
                <a:solidFill>
                  <a:srgbClr val="2C8A6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550" b="1">
                <a:solidFill>
                  <a:srgbClr val="2C8A62"/>
                </a:solidFill>
                <a:latin typeface="Arial Unicode MS"/>
                <a:ea typeface="Arial Unicode MS"/>
                <a:cs typeface="Arial Unicode MS"/>
              </a:rPr>
              <a:t>→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806925A-4F8C-4CA7-B592-DD004E70D8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1581150"/>
            <a:ext cx="2971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800" b="1">
                <a:solidFill>
                  <a:srgbClr val="2C8A6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1">
                <a:solidFill>
                  <a:srgbClr val="2C8A62"/>
                </a:solidFill>
                <a:latin typeface="Arial Unicode MS"/>
                <a:ea typeface="Arial Unicode MS"/>
                <a:cs typeface="Arial Unicode MS"/>
              </a:rPr>
              <a:t>执行与公平对照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63B7D13-13F3-4550-B3B4-528114D7D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019300"/>
            <a:ext cx="297180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6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B569C5B-C51A-4AE0-AC98-A97BDF0E3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2305050"/>
            <a:ext cx="114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575" b="1">
                <a:solidFill>
                  <a:srgbClr val="2C8A6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75" b="1">
                <a:solidFill>
                  <a:srgbClr val="2C8A62"/>
                </a:solidFill>
                <a:latin typeface="Arial Unicode MS"/>
                <a:ea typeface="Arial Unicode MS"/>
                <a:cs typeface="Arial Unicode MS"/>
              </a:rPr>
              <a:t>Raw LLM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9C7E2F2-E61F-4E55-8989-F8309DC359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2647950"/>
            <a:ext cx="24003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7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直接执行模型选出的 3 点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7537548-5668-4F80-BA1D-1C64CED354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3143250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575" b="1">
                <a:solidFill>
                  <a:srgbClr val="2C8A6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75" b="1">
                <a:solidFill>
                  <a:srgbClr val="2C8A62"/>
                </a:solidFill>
                <a:latin typeface="Arial Unicode MS"/>
                <a:ea typeface="Arial Unicode MS"/>
                <a:cs typeface="Arial Unicode MS"/>
              </a:rPr>
              <a:t>Compiled LLM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E9BB84F-6798-4679-8DF6-9D18BABE5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3486150"/>
            <a:ext cx="24003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7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语义锚点 + source 锚点 + 几何探针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458CCAF-BCBE-4489-B7B7-D6CF91DE2C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4229100"/>
            <a:ext cx="2400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350" b="1">
                <a:solidFill>
                  <a:srgbClr val="17324D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1">
                <a:solidFill>
                  <a:srgbClr val="17324D"/>
                </a:solidFill>
                <a:latin typeface="Arial Unicode MS"/>
                <a:ea typeface="Arial Unicode MS"/>
                <a:cs typeface="Arial Unicode MS"/>
              </a:rPr>
              <a:t>之后统一 target-only GP-UCB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AC306D5-B06D-4A28-B1D8-CBB3B77036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200650"/>
            <a:ext cx="108966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24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4F7BB85-C278-4DF5-B4C4-C5D3C37FA0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334000"/>
            <a:ext cx="104013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API trace 保存：prompt + raw response + model + token usage + latency + SHA-256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5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API key 不进入代码、PPT 或结果文件。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A021B11-F83A-4727-B0FB-5A7D957106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600825"/>
            <a:ext cx="108966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750" b="0">
                <a:solidFill>
                  <a:srgbClr val="8B959D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750" b="0">
                <a:solidFill>
                  <a:srgbClr val="8B959D"/>
                </a:solidFill>
                <a:latin typeface="Arial Unicode MS"/>
                <a:ea typeface="Arial Unicode MS"/>
                <a:cs typeface="Arial Unicode MS"/>
              </a:rPr>
              <a:t>CARE 2.0 · frozen evidence update · 2026-08-12</a:t>
            </a:r>
          </a:p>
        </p:txBody>
      </p:sp>
    </p:spTree>
    <p:extLst>
      <p:ext uri="{BB962C8B-B14F-4D97-AF65-F5344CB8AC3E}">
        <p14:creationId xmlns:p14="http://schemas.microsoft.com/office/powerpoint/2010/main" val="491153759"/>
      </p:ext>
    </p:extLst>
  </p:cSld>
</p:sld>
</file>

<file path=ppt/slides/slide2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DB837520-DE98-4ABC-8FC7-2F25C25697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6700"/>
            <a:ext cx="419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9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CASE STUDY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8688868-D84F-4D61-AC66-33BF768197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266700"/>
            <a:ext cx="28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9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29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7BFE6CF-A1EF-4472-9D17-D7F7532CCB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52450"/>
            <a:ext cx="108966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24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4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Suzuki：保留 LLM 的科学判断，同时补上可优化性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1E200C9-5CDE-4090-8002-C9FB8E498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00150"/>
            <a:ext cx="4000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3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E67CD93-2973-4991-91ED-50BB2A946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466850"/>
            <a:ext cx="108966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3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678AB1B-A23D-4E9C-888C-8690DCBDC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638300"/>
            <a:ext cx="342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5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LLM hypothesis · confidence 0.73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F1F71A7-94E2-4EC8-9955-4BB6631F07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1600200"/>
            <a:ext cx="69723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827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同底物 source 支持高温、高 loading 的 P2L1 XPhos Cl 区域；温度是主要迁移因子。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F59B01A-E2ED-4080-9D80-A92CBECD1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47950"/>
            <a:ext cx="2372647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24D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486D6BA-05A9-450C-BFB8-FE4AC8B921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14625"/>
            <a:ext cx="2220247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125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125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方法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D862447-A9A6-4915-A2E6-B1219CFF99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0347" y="2647950"/>
            <a:ext cx="2899902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24D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71B65D6-5FE6-48C4-A45E-5A9A4B0BF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96547" y="2714625"/>
            <a:ext cx="2747502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125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125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三个初始实验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5495AB0-6A60-4DF0-BDE6-4851ED88D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0248" y="2647950"/>
            <a:ext cx="1757516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24D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4B71ABC-3C0F-4724-9FF8-33BE9ED600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96448" y="2714625"/>
            <a:ext cx="1605116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125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125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AUC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09B787C-8B6C-4F24-AB50-F1367C366A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765" y="2647950"/>
            <a:ext cx="1757516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24D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CFC8870-8523-49CE-A611-F46090F64D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965" y="2714625"/>
            <a:ext cx="1605116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125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125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Final best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EA83D06-948D-44BB-B6AF-89E52D97C6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35281" y="2647950"/>
            <a:ext cx="2109019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24D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7F0F92C-7C74-47AB-80D6-B68A7C97B4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11481" y="2714625"/>
            <a:ext cx="1956619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125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125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相对 fixed v2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D3AA63F-445D-437F-9B23-0CFD8143F2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200400"/>
            <a:ext cx="2372647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3D05683-1E47-4B29-9040-115096435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267075"/>
            <a:ext cx="2220247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Raw LLM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66A4B35-3366-4C98-810F-5E438342C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0347" y="3200400"/>
            <a:ext cx="2899902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0783357-4428-4F08-9D37-F1660ED63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96547" y="3267075"/>
            <a:ext cx="2747502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7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024 / 059 / 057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C74B2B2-8EC6-4707-BB48-1B8050DEF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0248" y="3200400"/>
            <a:ext cx="1757516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E0D5D79-7779-4C66-A18A-15863DCD68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96448" y="3267075"/>
            <a:ext cx="1605116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7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91.819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3427367-E24A-444F-B9DE-112C2C74D6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765" y="3200400"/>
            <a:ext cx="1757516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0C9E68A-34F1-494E-863C-B63BB0C55C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965" y="3267075"/>
            <a:ext cx="1605116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7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91.819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46956F6-5C77-4497-A800-489B9A4370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35281" y="3200400"/>
            <a:ext cx="2109019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18E2F58-63E4-4FF7-B5F2-9DB15BF471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11481" y="3267075"/>
            <a:ext cx="1956619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0">
                <a:solidFill>
                  <a:srgbClr val="C94D4D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75" b="0">
                <a:solidFill>
                  <a:srgbClr val="C94D4D"/>
                </a:solidFill>
                <a:latin typeface="Arial Unicode MS"/>
                <a:ea typeface="Arial Unicode MS"/>
                <a:cs typeface="Arial Unicode MS"/>
              </a:rPr>
              <a:t>-6.242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0C9E20E-A4B1-4919-BBE9-3FFB5F777C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752850"/>
            <a:ext cx="2372647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6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BDFECEE-FA4E-4BDD-B6E3-41823C5947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819525"/>
            <a:ext cx="2220247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Compiled LLM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DAA5D74-B161-467C-B3CD-4599CE98CB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0347" y="3752850"/>
            <a:ext cx="2899902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6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83649B2-F9D3-4A8C-BE5D-DC2931718C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96547" y="3819525"/>
            <a:ext cx="2747502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7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039 / 024 / 013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BA0FB12-E2CA-43AA-8C3E-C0612D20A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0248" y="3752850"/>
            <a:ext cx="1757516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6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FAC9E4E2-6389-4828-812F-D3823E8256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96448" y="3819525"/>
            <a:ext cx="1605116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7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100.000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22EC4C7-F7FC-4F6D-A425-E5A01A9383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765" y="3752850"/>
            <a:ext cx="1757516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6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012BCEE8-3E2E-4D76-B704-6E49B9D4C7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965" y="3819525"/>
            <a:ext cx="1605116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7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100.000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BAE4A01F-0C06-4B5D-8C78-466539160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35281" y="3752850"/>
            <a:ext cx="2109019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6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88C992EA-6170-4D39-ABF5-71A660C3B4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11481" y="3819525"/>
            <a:ext cx="1956619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0">
                <a:solidFill>
                  <a:srgbClr val="2C8A6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75" b="0">
                <a:solidFill>
                  <a:srgbClr val="2C8A62"/>
                </a:solidFill>
                <a:latin typeface="Arial Unicode MS"/>
                <a:ea typeface="Arial Unicode MS"/>
                <a:cs typeface="Arial Unicode MS"/>
              </a:rPr>
              <a:t>+1.939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F376385F-3CC2-45C4-AF1E-5B47D57C9E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305300"/>
            <a:ext cx="2372647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CB8357D2-3853-470E-919A-50B9E1C46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371975"/>
            <a:ext cx="2220247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Fixed v2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8B89042E-26F4-422A-82A2-55409C7C65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0347" y="4305300"/>
            <a:ext cx="2899902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07306183-E547-4FDA-B993-BAE72B886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96547" y="4371975"/>
            <a:ext cx="2747502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7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039 / 038 / 028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22AA4A1C-1A2E-406A-B570-879D7BDCF1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0248" y="4305300"/>
            <a:ext cx="1757516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39002D43-57E7-44E4-93BA-A7079F5CE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96448" y="4371975"/>
            <a:ext cx="1605116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7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98.061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637D2A5F-EA45-40FF-B3B5-CC8D41AD23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765" y="4305300"/>
            <a:ext cx="1757516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82833AEB-C4B3-4F69-9E37-32AE50A5E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965" y="4371975"/>
            <a:ext cx="1605116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7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100.000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0FA7997A-A11C-4A5A-A09C-8EAB01AB8C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35281" y="4305300"/>
            <a:ext cx="2109019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27204AC0-0E71-4014-9C60-676EAADA0E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11481" y="4371975"/>
            <a:ext cx="1956619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7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0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9EA4EB43-037C-4AFE-92C0-8BC0BFB026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991100"/>
            <a:ext cx="6705600" cy="97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6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9313EFC1-478D-40AD-9CCF-151AA843E9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162550"/>
            <a:ext cx="2190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575" b="1">
                <a:solidFill>
                  <a:srgbClr val="2C8A6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75" b="1">
                <a:solidFill>
                  <a:srgbClr val="2C8A62"/>
                </a:solidFill>
                <a:latin typeface="Arial Unicode MS"/>
                <a:ea typeface="Arial Unicode MS"/>
                <a:cs typeface="Arial Unicode MS"/>
              </a:rPr>
              <a:t>Compiler 的三个角色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5B15C279-4E18-433D-8147-67AF9D695F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505450"/>
            <a:ext cx="628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35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039 source 共识锚点  +  024 LLM 语义锚点  +  013 maximin 几何探针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C89505BE-D1F0-4877-92C2-2EDD2E8B1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4991100"/>
            <a:ext cx="3962400" cy="97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EC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7C66BD74-8CD9-4C69-9AC4-E3C347D95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5162550"/>
            <a:ext cx="133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575" b="1">
                <a:solidFill>
                  <a:srgbClr val="C94D4D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75" b="1">
                <a:solidFill>
                  <a:srgbClr val="C94D4D"/>
                </a:solidFill>
                <a:latin typeface="Arial Unicode MS"/>
                <a:ea typeface="Arial Unicode MS"/>
                <a:cs typeface="Arial Unicode MS"/>
              </a:rPr>
              <a:t>证据边界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B58A56B3-ED78-4255-AD6E-A8914B01AA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5486400"/>
            <a:ext cx="34671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4809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7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该 compiler 来自组件行为分析，属于回顾性结果；需在新 target 上冻结确认。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45B25D5B-5F04-48B2-BA77-4A89E837E9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600825"/>
            <a:ext cx="108966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750" b="0">
                <a:solidFill>
                  <a:srgbClr val="8B959D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750" b="0">
                <a:solidFill>
                  <a:srgbClr val="8B959D"/>
                </a:solidFill>
                <a:latin typeface="Arial Unicode MS"/>
                <a:ea typeface="Arial Unicode MS"/>
                <a:cs typeface="Arial Unicode MS"/>
              </a:rPr>
              <a:t>CARE 2.0 · frozen evidence update · 2026-08-12</a:t>
            </a:r>
          </a:p>
        </p:txBody>
      </p:sp>
    </p:spTree>
    <p:extLst>
      <p:ext uri="{BB962C8B-B14F-4D97-AF65-F5344CB8AC3E}">
        <p14:creationId xmlns:p14="http://schemas.microsoft.com/office/powerpoint/2010/main" val="629723784"/>
      </p:ext>
    </p:extLst>
  </p:cSld>
</p:sld>
</file>

<file path=ppt/slides/slide3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5FDC66DB-A9FA-4F60-A8B2-F6D2BD5A9B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6700"/>
            <a:ext cx="419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9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LLM COMPONENT STUDY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AD9C121-B6E0-471C-AF20-FABE735AD7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266700"/>
            <a:ext cx="28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9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30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4414A75-4CB1-4DAA-8AB5-F7BECFBE65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52450"/>
            <a:ext cx="108966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24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4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五个 target 平均为正，但还不能说 LLM 普遍优越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B8E79FC-7D64-4F12-914C-88C3629EF0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00150"/>
            <a:ext cx="4000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3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21FE397-51B2-477A-BF31-454998A087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466850"/>
            <a:ext cx="3424903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24D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AF6DFB8-206D-4693-AAC8-C1F365E71D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533525"/>
            <a:ext cx="3272503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125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125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Target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F7FE6B7-4D51-4A7B-AD5D-61F8FB77E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2603" y="1466850"/>
            <a:ext cx="1868129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24D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F9D4C3A-3180-4268-9E29-1C7AD9E4E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48803" y="1533525"/>
            <a:ext cx="1715729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125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125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执行方式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4404791-6625-49EC-B990-942BAD9E54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0732" y="1466850"/>
            <a:ext cx="1945968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24D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3378A71-461C-4900-ADDF-454E10F5C2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6932" y="1533525"/>
            <a:ext cx="1793568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125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125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AUC Δ vs fixed v2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20E4268-5A90-4B0E-AC8A-381187322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981200"/>
            <a:ext cx="3424903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E955327-7D96-44FB-89CB-72A847C68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047875"/>
            <a:ext cx="3272503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0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Suzuki MINLP2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E973C77-A2A8-4B9B-A20B-B2FCCF1FDC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2603" y="1981200"/>
            <a:ext cx="1868129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1C17132-2789-42AB-B190-6A8E0F27A5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48803" y="2047875"/>
            <a:ext cx="1715729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Compiled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1DECD08-0FA2-4410-9625-C3B3A700E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0732" y="1981200"/>
            <a:ext cx="1945968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9296E6B-C455-416B-ABB2-54A9273B7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6932" y="2047875"/>
            <a:ext cx="1793568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00" b="0">
                <a:solidFill>
                  <a:srgbClr val="2C8A6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0">
                <a:solidFill>
                  <a:srgbClr val="2C8A62"/>
                </a:solidFill>
                <a:latin typeface="Arial Unicode MS"/>
                <a:ea typeface="Arial Unicode MS"/>
                <a:cs typeface="Arial Unicode MS"/>
              </a:rPr>
              <a:t>+1.939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C3AF45A-DED2-486D-B1A2-1134A01E07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495550"/>
            <a:ext cx="3424903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6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DA42490-EC40-4F0F-9796-6E85E21CD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562225"/>
            <a:ext cx="3272503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0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Morpholine · AlPhos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5EA9E3A-AA62-4D42-9BA8-1FBD4C679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2603" y="2495550"/>
            <a:ext cx="1868129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6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7A7A74D-3662-4601-B4E7-59D72A69A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48803" y="2562225"/>
            <a:ext cx="1715729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Raw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222419B-00B3-438B-9690-E7000D8F0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0732" y="2495550"/>
            <a:ext cx="1945968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6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FE32CD9-8FA0-4E09-B5FE-A94F23FBE4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6932" y="2562225"/>
            <a:ext cx="1793568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00" b="0">
                <a:solidFill>
                  <a:srgbClr val="2C8A6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0">
                <a:solidFill>
                  <a:srgbClr val="2C8A62"/>
                </a:solidFill>
                <a:latin typeface="Arial Unicode MS"/>
                <a:ea typeface="Arial Unicode MS"/>
                <a:cs typeface="Arial Unicode MS"/>
              </a:rPr>
              <a:t>+5.203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5509434-A2CD-4C6E-B7EA-D5FB868369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009900"/>
            <a:ext cx="3424903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3F6EA35-11E5-4C62-B912-1D685B176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76575"/>
            <a:ext cx="3272503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0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Phenethylamine · AlPhos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9E1FD14-073D-4606-BDBB-744366CCC6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2603" y="3009900"/>
            <a:ext cx="1868129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FE0E79F-B9E7-4CAB-A3EE-AB68CC3A16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48803" y="3076575"/>
            <a:ext cx="1715729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Raw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1E56C30-5649-4CB4-9029-D6BAAC2762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0732" y="3009900"/>
            <a:ext cx="1945968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3004ECD-E106-45C3-BA0D-1E2040066E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6932" y="3076575"/>
            <a:ext cx="1793568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00" b="0">
                <a:solidFill>
                  <a:srgbClr val="C94D4D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0">
                <a:solidFill>
                  <a:srgbClr val="C94D4D"/>
                </a:solidFill>
                <a:latin typeface="Arial Unicode MS"/>
                <a:ea typeface="Arial Unicode MS"/>
                <a:cs typeface="Arial Unicode MS"/>
              </a:rPr>
              <a:t>-0.947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BADFFF0-6B38-47AF-B5A1-4BB7C91785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524250"/>
            <a:ext cx="3424903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6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8D6EB6D-A455-40C3-9F87-C6E3AFADC4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590925"/>
            <a:ext cx="3272503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0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Morpholine · tBuBrettPhos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BDD96DA-AD27-45E2-AAE7-0CD3E0F242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2603" y="3524250"/>
            <a:ext cx="1868129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6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3F37720-A0E9-489A-84E6-C7923D7B74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48803" y="3590925"/>
            <a:ext cx="1715729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Raw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89A80375-8065-4024-9398-5B52948D80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0732" y="3524250"/>
            <a:ext cx="1945968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6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EC836357-ED17-4C3B-9431-FDF5193B6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6932" y="3590925"/>
            <a:ext cx="1793568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00" b="0">
                <a:solidFill>
                  <a:srgbClr val="2C8A6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0">
                <a:solidFill>
                  <a:srgbClr val="2C8A62"/>
                </a:solidFill>
                <a:latin typeface="Arial Unicode MS"/>
                <a:ea typeface="Arial Unicode MS"/>
                <a:cs typeface="Arial Unicode MS"/>
              </a:rPr>
              <a:t>+4.422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28D5549F-4591-40DB-9829-5838CE7AC3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038600"/>
            <a:ext cx="3424903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ED26CA2D-3DC8-4498-A236-5E4354D7C6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105275"/>
            <a:ext cx="3272503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0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tBuBrettPhos preliminary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33337F21-EB6E-4F4A-BDB6-68CCCD0A41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2603" y="4038600"/>
            <a:ext cx="1868129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C65100D0-EF84-432B-B0BE-B00E7DDE43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48803" y="4105275"/>
            <a:ext cx="1715729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Raw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050A8E27-7871-46C4-9F7F-08FFF515B9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0732" y="4038600"/>
            <a:ext cx="1945968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6403F9F3-E671-4248-82F3-E0FDAD2744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6932" y="4105275"/>
            <a:ext cx="1793568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0.000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72549860-F88A-45E4-B67F-16030CB74E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1581150"/>
            <a:ext cx="27813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3450" b="1">
                <a:solidFill>
                  <a:srgbClr val="2C8A6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3450" b="1">
                <a:solidFill>
                  <a:srgbClr val="2C8A62"/>
                </a:solidFill>
                <a:latin typeface="Arial Unicode MS"/>
                <a:ea typeface="Arial Unicode MS"/>
                <a:cs typeface="Arial Unicode MS"/>
              </a:rPr>
              <a:t>+2.123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CA5D4D4D-1F3C-4FEA-8C7E-46F5B952F0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2209800"/>
            <a:ext cx="2781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35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平均 AUC 增益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97D3CF63-E46D-4EB7-B64C-7CAAB4107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2609850"/>
            <a:ext cx="2781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05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05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相对 fixed v2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C4DC8FA1-1218-41D2-B139-C16D893CF8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3028950"/>
            <a:ext cx="27813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345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345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4 / 5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D6C5A553-92B4-4318-8886-134D22EC10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3657600"/>
            <a:ext cx="2781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35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任务不下降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938CF014-FE95-4538-BF35-68B31BAEA7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4057650"/>
            <a:ext cx="2781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05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05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win 3 / 5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4F5B3234-FED5-459B-9CA6-383F5617B6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4476750"/>
            <a:ext cx="27813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345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345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5 / 5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48264E34-8CA4-4F64-B0F8-7039530276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5105400"/>
            <a:ext cx="2781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35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Final best 不下降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D5EA2298-D072-4CF6-8D31-7A689EA53E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5505450"/>
            <a:ext cx="2781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05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05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终点结果持平或更好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9459E8C6-E3D8-4F6B-844E-E5B28AFDA0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105400"/>
            <a:ext cx="723900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EC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B72D718D-052E-49AF-971E-EE9A10D4A0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257800"/>
            <a:ext cx="6819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75" b="1">
                <a:solidFill>
                  <a:srgbClr val="C94D4D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75" b="1">
                <a:solidFill>
                  <a:srgbClr val="C94D4D"/>
                </a:solidFill>
                <a:latin typeface="Arial Unicode MS"/>
                <a:ea typeface="Arial Unicode MS"/>
                <a:cs typeface="Arial Unicode MS"/>
              </a:rPr>
              <a:t>95% task-level CI  [-0.226, 4.473]  ·  区间跨 0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E049A626-CDC2-47B1-9F27-B71AFF3E67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581650"/>
            <a:ext cx="6819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6984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2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五个 target 均为项目既有任务；路由在观察组件行为后形成，因此当前结论是“有正向信号”，不是“已证明普遍优越”。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6B6A5C57-2BEE-422B-9F84-75DBC5FFCC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600825"/>
            <a:ext cx="108966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750" b="0">
                <a:solidFill>
                  <a:srgbClr val="8B959D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750" b="0">
                <a:solidFill>
                  <a:srgbClr val="8B959D"/>
                </a:solidFill>
                <a:latin typeface="Arial Unicode MS"/>
                <a:ea typeface="Arial Unicode MS"/>
                <a:cs typeface="Arial Unicode MS"/>
              </a:rPr>
              <a:t>CARE 2.0 · frozen evidence update · 2026-08-12</a:t>
            </a:r>
          </a:p>
        </p:txBody>
      </p:sp>
    </p:spTree>
    <p:extLst>
      <p:ext uri="{BB962C8B-B14F-4D97-AF65-F5344CB8AC3E}">
        <p14:creationId xmlns:p14="http://schemas.microsoft.com/office/powerpoint/2010/main" val="1579016908"/>
      </p:ext>
    </p:extLst>
  </p:cSld>
</p:sld>
</file>

<file path=ppt/slides/slide3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D491889-278D-454D-9B55-91202B6505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6700"/>
            <a:ext cx="419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9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CONCLUSIONS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5FE84A6-F999-4099-BF25-072AB583F7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266700"/>
            <a:ext cx="28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9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31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09E96E4-2436-466B-B488-76BDC2C8EC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52450"/>
            <a:ext cx="108966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255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55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LLM 已真正参与迁移决策，但外部泛化仍需确认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A0325B2-11FD-4218-B4A6-55F2EDD98A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00150"/>
            <a:ext cx="4000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3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DFCA8CB-04BF-4738-BAA7-B148627450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714500"/>
            <a:ext cx="3143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875" b="1">
                <a:solidFill>
                  <a:srgbClr val="2C8A6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75" b="1">
                <a:solidFill>
                  <a:srgbClr val="2C8A62"/>
                </a:solidFill>
                <a:latin typeface="Arial Unicode MS"/>
                <a:ea typeface="Arial Unicode MS"/>
                <a:cs typeface="Arial Unicode MS"/>
              </a:rPr>
              <a:t>已经成立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50EA215-C096-4EFE-8F94-DACA1AFB0C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171700"/>
            <a:ext cx="31432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8A6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1A1E9FC-4C4E-490B-8963-A48432FDE6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457450"/>
            <a:ext cx="3143250" cy="2266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• 统一、可审计的 replay harness</a:t>
            </a:r>
          </a:p>
          <a:p xmlns:a="http://schemas.openxmlformats.org/drawingml/2006/main">
            <a:pPr algn="l">
              <a:lnSpc>
                <a:spcPct val="120000"/>
              </a:lnSpc>
              <a:buNone/>
              <a:def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• 外部 fixed-v2 AUC +8.66</a:t>
            </a:r>
          </a:p>
          <a:p xmlns:a="http://schemas.openxmlformats.org/drawingml/2006/main">
            <a:pPr algn="l">
              <a:lnSpc>
                <a:spcPct val="120000"/>
              </a:lnSpc>
              <a:buNone/>
              <a:def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• 真实 LLM 生成可执行 hypothesis</a:t>
            </a:r>
          </a:p>
          <a:p xmlns:a="http://schemas.openxmlformats.org/drawingml/2006/main">
            <a:pPr algn="l">
              <a:lnSpc>
                <a:spcPct val="120000"/>
              </a:lnSpc>
              <a:buNone/>
              <a:def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• 五任务平均 AUC +2.12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B5B42DC-EF5A-4956-B889-173979FA7F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1714500"/>
            <a:ext cx="3143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875" b="1">
                <a:solidFill>
                  <a:srgbClr val="C94D4D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75" b="1">
                <a:solidFill>
                  <a:srgbClr val="C94D4D"/>
                </a:solidFill>
                <a:latin typeface="Arial Unicode MS"/>
                <a:ea typeface="Arial Unicode MS"/>
                <a:cs typeface="Arial Unicode MS"/>
              </a:rPr>
              <a:t>仍未成立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29F26E7-6A19-4950-85B1-7191451FC0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2171700"/>
            <a:ext cx="31432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4D4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61093BE-6142-4337-9745-BE75A867B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2457450"/>
            <a:ext cx="3143250" cy="2266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• 任意跨领域稳定迁移</a:t>
            </a:r>
          </a:p>
          <a:p xmlns:a="http://schemas.openxmlformats.org/drawingml/2006/main">
            <a:pPr algn="l">
              <a:lnSpc>
                <a:spcPct val="120000"/>
              </a:lnSpc>
              <a:buNone/>
              <a:def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• LLM 已在新 target 普遍优于 fixed</a:t>
            </a:r>
          </a:p>
          <a:p xmlns:a="http://schemas.openxmlformats.org/drawingml/2006/main">
            <a:pPr algn="l">
              <a:lnSpc>
                <a:spcPct val="120000"/>
              </a:lnSpc>
              <a:buNone/>
              <a:def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• task-level CI 已排除零增益</a:t>
            </a:r>
          </a:p>
          <a:p xmlns:a="http://schemas.openxmlformats.org/drawingml/2006/main">
            <a:pPr algn="l">
              <a:lnSpc>
                <a:spcPct val="120000"/>
              </a:lnSpc>
              <a:buNone/>
              <a:def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• source 在优化全程持续贡献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59BF8AF-A8E6-41F3-8897-50970CA80B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1714500"/>
            <a:ext cx="3143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8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项目定位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9368188-440A-483C-BAF5-2BCCE42A61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171700"/>
            <a:ext cx="31432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FB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379109E-8CCF-48FD-8172-9B275A64D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457450"/>
            <a:ext cx="3143250" cy="2266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• 可信赖的科学知识迁移框架</a:t>
            </a:r>
          </a:p>
          <a:p xmlns:a="http://schemas.openxmlformats.org/drawingml/2006/main">
            <a:pPr algn="l">
              <a:lnSpc>
                <a:spcPct val="120000"/>
              </a:lnSpc>
              <a:buNone/>
              <a:def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• 强 baseline 与冻结协议</a:t>
            </a:r>
          </a:p>
          <a:p xmlns:a="http://schemas.openxmlformats.org/drawingml/2006/main">
            <a:pPr algn="l">
              <a:lnSpc>
                <a:spcPct val="120000"/>
              </a:lnSpc>
              <a:buNone/>
              <a:def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• 负迁移审计与 exact fallback</a:t>
            </a:r>
          </a:p>
          <a:p xmlns:a="http://schemas.openxmlformats.org/drawingml/2006/main">
            <a:pPr algn="l">
              <a:lnSpc>
                <a:spcPct val="120000"/>
              </a:lnSpc>
              <a:buNone/>
              <a:def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• 成功和失败共同进入 SkillBank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4B99F46-9E4F-47D6-9B78-F9B328029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219700"/>
            <a:ext cx="108966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24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81FEE78-8F21-4292-B2D6-17E585A7EB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353050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9125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725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725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历史实验可以形成可执行、可拒绝、可验证的迁移 skill；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725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725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但每一个泛化结论都必须由冻结后的新任务来支持。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0787C34-61DA-46DC-8C93-4C8F59BDBE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600825"/>
            <a:ext cx="108966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750" b="0">
                <a:solidFill>
                  <a:srgbClr val="8B959D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750" b="0">
                <a:solidFill>
                  <a:srgbClr val="8B959D"/>
                </a:solidFill>
                <a:latin typeface="Arial Unicode MS"/>
                <a:ea typeface="Arial Unicode MS"/>
                <a:cs typeface="Arial Unicode MS"/>
              </a:rPr>
              <a:t>CARE 2.0 · frozen evidence update · 2026-08-12</a:t>
            </a:r>
          </a:p>
        </p:txBody>
      </p:sp>
    </p:spTree>
    <p:extLst>
      <p:ext uri="{BB962C8B-B14F-4D97-AF65-F5344CB8AC3E}">
        <p14:creationId xmlns:p14="http://schemas.microsoft.com/office/powerpoint/2010/main" val="168005091"/>
      </p:ext>
    </p:extLst>
  </p:cSld>
</p:sld>
</file>

<file path=ppt/slides/slide3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BFC3071-2D8F-48E6-9EC2-94D574A5B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6700"/>
            <a:ext cx="419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9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NEXT EXPERIMENTS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14D6397-DEA6-4750-8AE4-2985F8FAA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266700"/>
            <a:ext cx="28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9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32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7E73D49-7DFE-42F1-87BE-9BA953805E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52450"/>
            <a:ext cx="108966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255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55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冻结 LLM prompt 与 compiler，在全新 target 上做确认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BF395FC-A578-485E-A67E-3CC688A5AD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00150"/>
            <a:ext cx="4000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3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6BE0399-EC19-491E-A400-E04D25025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562100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350" b="1">
                <a:solidFill>
                  <a:srgbClr val="C94D4D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1">
                <a:solidFill>
                  <a:srgbClr val="C94D4D"/>
                </a:solidFill>
                <a:latin typeface="Arial Unicode MS"/>
                <a:ea typeface="Arial Unicode MS"/>
                <a:cs typeface="Arial Unicode MS"/>
              </a:rPr>
              <a:t>P0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0E1F367-F4BB-4740-90DD-5DA3AD2731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1543050"/>
            <a:ext cx="3238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72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72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扩大 external targets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ED65BBD-2224-4BA4-A3DA-0455B11866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1543050"/>
            <a:ext cx="6762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35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冻结同一 v2 skill family，在更多未参与开发的 C-N、Suzuki 或其他 reaction campaigns 上执行。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324605C-ED86-4567-995F-0E61EF86FE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2114550"/>
            <a:ext cx="10172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0D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6C6A24C-3B04-4C19-9A1D-8A2F9F5C72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419350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350" b="1">
                <a:solidFill>
                  <a:srgbClr val="C94D4D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1">
                <a:solidFill>
                  <a:srgbClr val="C94D4D"/>
                </a:solidFill>
                <a:latin typeface="Arial Unicode MS"/>
                <a:ea typeface="Arial Unicode MS"/>
                <a:cs typeface="Arial Unicode MS"/>
              </a:rPr>
              <a:t>P0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995BD43-8095-485F-9A4F-E4702F6DD1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2400300"/>
            <a:ext cx="3238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72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72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冻结统一 Confirmation Protocol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BDB7A06-8872-4C66-9CF2-C0342E23C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2400300"/>
            <a:ext cx="6762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35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固定任务根列表、预算、primary metric、selection hash 和 skill fingerprint。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1916E79-918C-4415-BC21-7A03887B2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2971800"/>
            <a:ext cx="10172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0D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7362656-427B-4609-9928-88F3B3E76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276600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350" b="1">
                <a:solidFill>
                  <a:srgbClr val="D99A3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1">
                <a:solidFill>
                  <a:srgbClr val="D99A33"/>
                </a:solidFill>
                <a:latin typeface="Arial Unicode MS"/>
                <a:ea typeface="Arial Unicode MS"/>
                <a:cs typeface="Arial Unicode MS"/>
              </a:rPr>
              <a:t>P0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96A5631-394B-4BD4-BB32-0529ABD7C6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3257550"/>
            <a:ext cx="3238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72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72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冻结 LLM Confirmation Protocol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1D834E8-F226-4784-94F8-2FB06476A9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3257550"/>
            <a:ext cx="6762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35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固定 prompt、compiler、route、模型版本和 trace schema，再接触新的 target outcome。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AAA8461-4DBD-42CD-A5C5-54C743BA52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3829050"/>
            <a:ext cx="10172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0D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26677E1-B280-4495-A9D2-DCD62D6C96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133850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350" b="1">
                <a:solidFill>
                  <a:srgbClr val="D99A3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1">
                <a:solidFill>
                  <a:srgbClr val="D99A33"/>
                </a:solidFill>
                <a:latin typeface="Arial Unicode MS"/>
                <a:ea typeface="Arial Unicode MS"/>
                <a:cs typeface="Arial Unicode MS"/>
              </a:rPr>
              <a:t>P1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8502261-95E4-43C7-B9F1-66E89848D8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4114800"/>
            <a:ext cx="3238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72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72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验证 skill accumulation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F9677AE-8CCB-4146-AE88-0FD03B48FB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4114800"/>
            <a:ext cx="6762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35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completed target 进入 SkillBank，研究连续任务中的更新、复用和 abstention。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24ACE02-50DA-4123-8012-DB2ECCE26C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4686300"/>
            <a:ext cx="10172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0D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4B43027-6522-4405-856B-AF8D93EEDA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991100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35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P2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C5DAAA6-3591-4411-9E77-34D560F8E2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4972050"/>
            <a:ext cx="3238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72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72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扩展相邻领域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1E86532-BCA1-48CB-845B-93C195B75B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4972050"/>
            <a:ext cx="6762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35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优先 reaction→reaction、molecule→molecule、materials→materials，再进入远距离迁移。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8069E73-2D3B-4B8B-A2AA-8EF103AED9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5543550"/>
            <a:ext cx="10172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0D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60BC098-75A7-4190-8D38-6DFE41842B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600825"/>
            <a:ext cx="108966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750" b="0">
                <a:solidFill>
                  <a:srgbClr val="8B959D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750" b="0">
                <a:solidFill>
                  <a:srgbClr val="8B959D"/>
                </a:solidFill>
                <a:latin typeface="Arial Unicode MS"/>
                <a:ea typeface="Arial Unicode MS"/>
                <a:cs typeface="Arial Unicode MS"/>
              </a:rPr>
              <a:t>CARE 2.0 · frozen evidence update · 2026-08-12</a:t>
            </a:r>
          </a:p>
        </p:txBody>
      </p:sp>
    </p:spTree>
    <p:extLst>
      <p:ext uri="{BB962C8B-B14F-4D97-AF65-F5344CB8AC3E}">
        <p14:creationId xmlns:p14="http://schemas.microsoft.com/office/powerpoint/2010/main" val="1720711524"/>
      </p:ext>
    </p:extLst>
  </p:cSld>
</p:sld>
</file>

<file path=ppt/slides/slide3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074424A-8500-4914-A483-51C0333E89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6700"/>
            <a:ext cx="419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9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APPENDIX · INTERPRETATION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13A24A1-3B8A-4C81-BF2C-5C157583AC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266700"/>
            <a:ext cx="28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9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33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6159834-4C88-49E7-A6DB-027BBB2155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52450"/>
            <a:ext cx="108966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270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70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四个问题决定我们能把结论说到哪一步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C3DC86A-2DE2-4C78-8D2E-6CFB3F923A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00150"/>
            <a:ext cx="4000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3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B99E87C-ADE2-43FE-9486-B81F68832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600200"/>
            <a:ext cx="495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50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Q1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9400558-F027-4071-AE7F-472B68E7AF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1581150"/>
            <a:ext cx="4000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65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65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这是不是挑了三个好 seed？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E3AF997-64B4-4DA1-8A2C-E52C98727F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0700" y="1581150"/>
            <a:ext cx="6096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35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不是。前三个点是冻结算法输出的初始实验；external target 在冻结前没有读取 outcome。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64F9B59-E654-4465-80BF-B3BEF989B8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2324100"/>
            <a:ext cx="10248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0D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0A40BFB-D54C-41EC-9ADD-17C4D9BCFD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67000"/>
            <a:ext cx="495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50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Q2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987F6D5-FBCB-4C40-9EA8-A33DC49B78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2647950"/>
            <a:ext cx="4000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65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65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为什么不持续使用 source prior？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1300C1F-1B40-4E9E-A1CB-920C1862A9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0700" y="2647950"/>
            <a:ext cx="6096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35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当前先隔离 initial-design contribution；持续 prior 需要与 warm-start-only 单独比较。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DE4B281-9594-46FA-874C-69DEFD4B48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3390900"/>
            <a:ext cx="10248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0D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576CB35-1306-44CD-B95C-012E99FF46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733800"/>
            <a:ext cx="495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50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Q3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2727275-6660-470F-BD4C-3778CAF60F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3714750"/>
            <a:ext cx="4000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65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65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LLM 是否已经优于 fixed v2？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552B4D4-F62D-43DD-B94F-62F449986F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0700" y="3714750"/>
            <a:ext cx="6096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35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五个既有 target 平均 +2.12、4/5 不下降，但 CI 跨零；必须用全新 target 确认。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0C2A5E6-C5CF-4656-8555-C7897A71D6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457700"/>
            <a:ext cx="10248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0D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D1783AD-53E0-428C-9B07-A95F24659E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800600"/>
            <a:ext cx="495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50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Q4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ADE64DA-8D80-487D-B12D-4F003BD60E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781550"/>
            <a:ext cx="4000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65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65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这算跨领域吗？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D83AE3E-0DD6-4DFE-8A6F-95952FCFE6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0700" y="4781550"/>
            <a:ext cx="6096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35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当前支持不同 reaction-optimization datasets 间迁移，不足以证明远距离跨领域。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E722EA7-4113-48EE-A5AE-36C05FB6BF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5524500"/>
            <a:ext cx="10248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0D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982B23E-6ED8-451D-8685-2999BADC97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924550"/>
            <a:ext cx="108966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24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CD2829C-E164-4C68-84C9-EBAEEDC61C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6029325"/>
            <a:ext cx="10591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35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讨论重点：下一轮 external target、LLM hypothesis-only 对照和 Confirmation Protocol 如何冻结。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CE83583-5944-4292-BAC3-294E171036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600825"/>
            <a:ext cx="108966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750" b="0">
                <a:solidFill>
                  <a:srgbClr val="8B959D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750" b="0">
                <a:solidFill>
                  <a:srgbClr val="8B959D"/>
                </a:solidFill>
                <a:latin typeface="Arial Unicode MS"/>
                <a:ea typeface="Arial Unicode MS"/>
                <a:cs typeface="Arial Unicode MS"/>
              </a:rPr>
              <a:t>CARE 2.0 · detailed status deck</a:t>
            </a:r>
          </a:p>
        </p:txBody>
      </p:sp>
    </p:spTree>
    <p:extLst>
      <p:ext uri="{BB962C8B-B14F-4D97-AF65-F5344CB8AC3E}">
        <p14:creationId xmlns:p14="http://schemas.microsoft.com/office/powerpoint/2010/main" val="957724586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2026-08-13T05:32:26.0830000Z</dcterms:created>
  <dcterms:modified xsi:type="dcterms:W3CDTF">2026-08-13T05:32:26.0830000Z</dcterms:modified>
</coreProperties>
</file>