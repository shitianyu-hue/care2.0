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29186d977a4447" /><Relationship Type="http://schemas.openxmlformats.org/officeDocument/2006/relationships/extended-properties" Target="/docProps/app.xml" Id="R425ad2273aff4f32" /><Relationship Type="http://schemas.openxmlformats.org/officeDocument/2006/relationships/officeDocument" Target="/ppt/presentation.xml" Id="Rb8773c098281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d8fc498a142b1"/>
  </p:sldMasterIdLst>
  <p:notesMasterIdLst>
    <p:notesMasterId xmlns:r="http://schemas.openxmlformats.org/officeDocument/2006/relationships" r:id="R629dd25e8c44482e"/>
  </p:notesMasterIdLst>
  <p:sldIdLst>
    <p:sldId xmlns:r="http://schemas.openxmlformats.org/officeDocument/2006/relationships" id="256" r:id="Rf8271383f14a4691"/>
    <p:sldId xmlns:r="http://schemas.openxmlformats.org/officeDocument/2006/relationships" id="257" r:id="Rd91212fdc6554e05"/>
    <p:sldId xmlns:r="http://schemas.openxmlformats.org/officeDocument/2006/relationships" id="258" r:id="Ra2b944ed95234e59"/>
    <p:sldId xmlns:r="http://schemas.openxmlformats.org/officeDocument/2006/relationships" id="259" r:id="Rf167d80c55d442c7"/>
    <p:sldId xmlns:r="http://schemas.openxmlformats.org/officeDocument/2006/relationships" id="260" r:id="R1854d2cd271646af"/>
    <p:sldId xmlns:r="http://schemas.openxmlformats.org/officeDocument/2006/relationships" id="261" r:id="Re34f417ea2524804"/>
    <p:sldId xmlns:r="http://schemas.openxmlformats.org/officeDocument/2006/relationships" id="262" r:id="R01e5833dba8742a3"/>
    <p:sldId xmlns:r="http://schemas.openxmlformats.org/officeDocument/2006/relationships" id="263" r:id="R170bd7cba5084c7d"/>
    <p:sldId xmlns:r="http://schemas.openxmlformats.org/officeDocument/2006/relationships" id="264" r:id="Re0f37547db8b4c05"/>
    <p:sldId xmlns:r="http://schemas.openxmlformats.org/officeDocument/2006/relationships" id="265" r:id="R6c142099ea0f4168"/>
    <p:sldId xmlns:r="http://schemas.openxmlformats.org/officeDocument/2006/relationships" id="266" r:id="R33beac4355b0476f"/>
    <p:sldId xmlns:r="http://schemas.openxmlformats.org/officeDocument/2006/relationships" id="267" r:id="R736a6f0e4fff485c"/>
    <p:sldId xmlns:r="http://schemas.openxmlformats.org/officeDocument/2006/relationships" id="268" r:id="R7467a83285884162"/>
    <p:sldId xmlns:r="http://schemas.openxmlformats.org/officeDocument/2006/relationships" id="269" r:id="Raa4ae4758b8e4f90"/>
    <p:sldId xmlns:r="http://schemas.openxmlformats.org/officeDocument/2006/relationships" id="270" r:id="R8e6e0d4c5a084dae"/>
    <p:sldId xmlns:r="http://schemas.openxmlformats.org/officeDocument/2006/relationships" id="271" r:id="R45b6c955b09544d8"/>
    <p:sldId xmlns:r="http://schemas.openxmlformats.org/officeDocument/2006/relationships" id="272" r:id="R4d898e153e614184"/>
    <p:sldId xmlns:r="http://schemas.openxmlformats.org/officeDocument/2006/relationships" id="273" r:id="R24494d390a5d41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48ba6dba64b30" /><Relationship Type="http://schemas.openxmlformats.org/officeDocument/2006/relationships/slideMaster" Target="/ppt/slideMasters/slideMaster1.xml" Id="Re15d8fc498a142b1" /><Relationship Type="http://schemas.openxmlformats.org/officeDocument/2006/relationships/notesMaster" Target="/ppt/notesMasters/notesMaster1.xml" Id="R629dd25e8c44482e" /><Relationship Type="http://schemas.openxmlformats.org/officeDocument/2006/relationships/presProps" Target="/ppt/presProps.xml" Id="R358f3f11d44c4f5e" /><Relationship Type="http://schemas.openxmlformats.org/officeDocument/2006/relationships/tableStyles" Target="/ppt/tableStyles.xml" Id="R6937d5d35ff44c08" /><Relationship Type="http://schemas.openxmlformats.org/officeDocument/2006/relationships/slide" Target="/ppt/slides/slide1.xml" Id="Rf8271383f14a4691" /><Relationship Type="http://schemas.openxmlformats.org/officeDocument/2006/relationships/slide" Target="/ppt/slides/slide2.xml" Id="Rd91212fdc6554e05" /><Relationship Type="http://schemas.openxmlformats.org/officeDocument/2006/relationships/slide" Target="/ppt/slides/slide3.xml" Id="Ra2b944ed95234e59" /><Relationship Type="http://schemas.openxmlformats.org/officeDocument/2006/relationships/slide" Target="/ppt/slides/slide4.xml" Id="Rf167d80c55d442c7" /><Relationship Type="http://schemas.openxmlformats.org/officeDocument/2006/relationships/slide" Target="/ppt/slides/slide5.xml" Id="R1854d2cd271646af" /><Relationship Type="http://schemas.openxmlformats.org/officeDocument/2006/relationships/slide" Target="/ppt/slides/slide6.xml" Id="Re34f417ea2524804" /><Relationship Type="http://schemas.openxmlformats.org/officeDocument/2006/relationships/slide" Target="/ppt/slides/slide7.xml" Id="R01e5833dba8742a3" /><Relationship Type="http://schemas.openxmlformats.org/officeDocument/2006/relationships/slide" Target="/ppt/slides/slide8.xml" Id="R170bd7cba5084c7d" /><Relationship Type="http://schemas.openxmlformats.org/officeDocument/2006/relationships/slide" Target="/ppt/slides/slide9.xml" Id="Re0f37547db8b4c05" /><Relationship Type="http://schemas.openxmlformats.org/officeDocument/2006/relationships/slide" Target="/ppt/slides/slide10.xml" Id="R6c142099ea0f4168" /><Relationship Type="http://schemas.openxmlformats.org/officeDocument/2006/relationships/slide" Target="/ppt/slides/slide11.xml" Id="R33beac4355b0476f" /><Relationship Type="http://schemas.openxmlformats.org/officeDocument/2006/relationships/slide" Target="/ppt/slides/slide12.xml" Id="R736a6f0e4fff485c" /><Relationship Type="http://schemas.openxmlformats.org/officeDocument/2006/relationships/slide" Target="/ppt/slides/slide13.xml" Id="R7467a83285884162" /><Relationship Type="http://schemas.openxmlformats.org/officeDocument/2006/relationships/slide" Target="/ppt/slides/slide14.xml" Id="Raa4ae4758b8e4f90" /><Relationship Type="http://schemas.openxmlformats.org/officeDocument/2006/relationships/slide" Target="/ppt/slides/slide15.xml" Id="R8e6e0d4c5a084dae" /><Relationship Type="http://schemas.openxmlformats.org/officeDocument/2006/relationships/slide" Target="/ppt/slides/slide16.xml" Id="R45b6c955b09544d8" /><Relationship Type="http://schemas.openxmlformats.org/officeDocument/2006/relationships/slide" Target="/ppt/slides/slide17.xml" Id="R4d898e153e614184" /><Relationship Type="http://schemas.openxmlformats.org/officeDocument/2006/relationships/slide" Target="/ppt/slides/slide18.xml" Id="R24494d390a5d41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5cc767f6444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be486dc854aae" /><Relationship Type="http://schemas.openxmlformats.org/officeDocument/2006/relationships/notesMaster" Target="/ppt/notesMasters/notesMaster1.xml" Id="R31719a5e91e2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272f93eb374988" /><Relationship Type="http://schemas.openxmlformats.org/officeDocument/2006/relationships/notesMaster" Target="/ppt/notesMasters/notesMaster1.xml" Id="R64328df03e5d4e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b3389d5824e79" /><Relationship Type="http://schemas.openxmlformats.org/officeDocument/2006/relationships/notesMaster" Target="/ppt/notesMasters/notesMaster1.xml" Id="Rb1f096bf39a14e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3f02d82c8e4599" /><Relationship Type="http://schemas.openxmlformats.org/officeDocument/2006/relationships/notesMaster" Target="/ppt/notesMasters/notesMaster1.xml" Id="Rb2c25f16ef5249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071f1035245d6" /><Relationship Type="http://schemas.openxmlformats.org/officeDocument/2006/relationships/notesMaster" Target="/ppt/notesMasters/notesMaster1.xml" Id="R14c694deea854e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efbcb310a74e29" /><Relationship Type="http://schemas.openxmlformats.org/officeDocument/2006/relationships/notesMaster" Target="/ppt/notesMasters/notesMaster1.xml" Id="R836101e5667742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56d3a4f96a44ba" /><Relationship Type="http://schemas.openxmlformats.org/officeDocument/2006/relationships/notesMaster" Target="/ppt/notesMasters/notesMaster1.xml" Id="R1445f865fe2549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68222c41f04a33" /><Relationship Type="http://schemas.openxmlformats.org/officeDocument/2006/relationships/notesMaster" Target="/ppt/notesMasters/notesMaster1.xml" Id="R598978fd047243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fb85f34848459c" /><Relationship Type="http://schemas.openxmlformats.org/officeDocument/2006/relationships/notesMaster" Target="/ppt/notesMasters/notesMaster1.xml" Id="R4fa5c6fe04a948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6f38d39bd2466e" /><Relationship Type="http://schemas.openxmlformats.org/officeDocument/2006/relationships/notesMaster" Target="/ppt/notesMasters/notesMaster1.xml" Id="R7e9725d3a36844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2b774e6c684f81" /><Relationship Type="http://schemas.openxmlformats.org/officeDocument/2006/relationships/notesMaster" Target="/ppt/notesMasters/notesMaster1.xml" Id="Rc00d82ae4c2146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143ae30651489a" /><Relationship Type="http://schemas.openxmlformats.org/officeDocument/2006/relationships/notesMaster" Target="/ppt/notesMasters/notesMaster1.xml" Id="Rc09aef56ff9e4a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7500f64b5f4a2d" /><Relationship Type="http://schemas.openxmlformats.org/officeDocument/2006/relationships/notesMaster" Target="/ppt/notesMasters/notesMaster1.xml" Id="R7f130a66770349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e4533222594e5f" /><Relationship Type="http://schemas.openxmlformats.org/officeDocument/2006/relationships/notesMaster" Target="/ppt/notesMasters/notesMaster1.xml" Id="R7ca416e2f2e741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afdd43659834877" /><Relationship Type="http://schemas.openxmlformats.org/officeDocument/2006/relationships/notesMaster" Target="/ppt/notesMasters/notesMaster1.xml" Id="R9a05191a533a4b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a3b6eb0e704505" /><Relationship Type="http://schemas.openxmlformats.org/officeDocument/2006/relationships/notesMaster" Target="/ppt/notesMasters/notesMaster1.xml" Id="Rec27fb63083f495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ac634327db403a" /><Relationship Type="http://schemas.openxmlformats.org/officeDocument/2006/relationships/notesMaster" Target="/ppt/notesMasters/notesMaster1.xml" Id="R798888932d2f4a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5264c0c56c477e" /><Relationship Type="http://schemas.openxmlformats.org/officeDocument/2006/relationships/notesMaster" Target="/ppt/notesMasters/notesMaster1.xml" Id="R9565e1fc0fe4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的重点不是发明一个永远获胜的优化器，而是建立一套可以验证、拒绝和复用历史实验经验的迁移框架。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开场先把项目定位讲清楚。CARE 2.0 研究的是：过去做过的实验，能不能在一个新实验刚开始、数据很少的时候帮助我们更快选到好条件。这里的 source 是已经完成、结果已知的历史实验，target 是准备开始的新实验。我们希望把 source 中真正有用的经验整理成可执行的 Skill，再用它改变 target 的开局；如果证据不足，就拒绝迁移，回到 target-only 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右侧四个词可以按顺序解释：历史实验提供数据；系统把数据整理成可执行 Skill；Skill影响新实验的决策；新实验的成功和失败再回到知识库。最近最重要的进展，是 v1 在独立验证中失败后，我们没有隐藏失败，而是根据失败 trace 修改出 v2，并在一个冻结后才执行的外部 Suzuki target 上看到明显提升。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source=历史任务；target=新任务；Skill=带执行逻辑、适用边界和证据记录的策略包。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下一页进入：最新状态：先给结论。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/Users/rentamac/Documents/Codex/2026-05-12/CARE2.0/experiments/care_replay/results/2026-08-12-status-and-ppt/CARE2_CURRENT_STATUS_CN.md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固定 v2 已有一个冻结外部正例；随后完成的真实 LLM 组件实验在五个 target 上平均 AUC 提高 2.12，但仍是回顾性证据。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这一页把两条证据分开讲。第一条是严格的外部证据：Frozen v2 在 Suzuki MINLP2 上相对更强 target-only baseline 的 best-so-far AUC 提高 8.66。这里的 AUC 表示搜索过程中多早找到高质量实验。这个结果在 target outcome 揭示前已经冻结，但该切片没有使用 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第二条是随后完成的真实 LLM 组件实验。我们通过 CommonStack 实际调用 openai/gpt-5.4，让模型在看不到 target outcome 的情况下生成 initial-design hypothesis；按任务结构选择 raw 或 compiled 方案后，五个 target 的平均 AUC 相对 fixed v2 提高 2.12，4/5 不下降。不过 95% 置信区间是 [-0.226, 4.473]，而且这五个 target 以前都被项目使用过，所以这是回顾性组件证据，不是新的外部确认。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AUC=搜索全过程的效率；Frozen=策略和参数在看 target 结果前已锁定；回顾性组件实验=在已有任务上检查模块行为，不能替代全新 target。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下一页进入：问题定义：有限预算的逐轮实验。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/Users/rentamac/Documents/Codex/2026-05-12/CARE2.0/experiments/care_replay/results/2026-08-10-baumgartner-warmstart-v2-external-confirmation/README.md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CARE 2.0 不是普通预测任务，而是每轮只能做一个实验、做完才看到结果的序贯决策问题。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左边是算法开始前允许知道的信息：已经完成的 source experiments、target 的变量和候选条件、固定预算，以及尚未揭示的 target outcome。中间是每一轮真实发生的事：算法选择一个候选条件，只看到这个被选条件的结果，然后更新 target model，再做下一轮选择。右边是目标：在相同预算下更早找到高质量候选，同时避免因为错误迁移浪费实验。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这里与普通训练集、测试集的区别是，算法不能一次看到完整 target 表格。它必须像真实实验一样逐轮揭示 outcome。我们真正比较的是 source history 是否改变了 target 的选点顺序，以及这种改变是否让有效实验更早发生。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candidate=可选择的实验条件；outcome=实验结果，例如产率；budget=最多允许做多少次 target 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下一页进入：v2 执行架构。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/Users/rentamac/Documents/Codex/2026-05-12/CARE2.0/experiments/care_replay/CARE2_METHOD.md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source 只负责前三个初始实验，之后所有方法都使用完全相同的 target-only GP-UCB。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从左向右讲。首先，每个历史 campaign 单独训练一个 source expert。因为不同 campaign 的 outcome 尺度不同，我们不直接拼接原始数值，而是把每个 expert 的预测转成候选排序，再用中位数形成共识。TransferSkill 根据这个共识选择三个初始实验。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关键控制在黄色分界线之后：三个初始点做完后，source 信息完全退出。随后 10 轮所有方法都运行同一个 target-only GP-UCB，只用已经揭示的 target outcomes 建模。这样，Frozen v2、随机初始化和 space filling 之间唯一的区别就是前三个点怎么选，后续优化器、预算和观测规则完全一致。因此外部结果可以归因于 source-guided initial design，而不是后续偷偷使用了不同算法。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source expert=在单个历史 campaign 上训练的模型；initial design=优化开始前先做的少量初始实验。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下一页进入：Replay Harness 如何运行。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完整数据表只充当隐藏环境；算法每轮只能看到自己已经选择过的实验结果。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Replay 的做法是把已有真实数据集当作一个可以查询的实验环境，而不是把整张表交给算法。开始时 target outcomes 全部隐藏。每一轮算法选择一个 candidate，环境只揭示这个点的真实 outcome，算法据此更新模型，再选择下一点。每轮的 candidate、score、outcome 和当前 best-so-far 都进入 trace。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所有对照使用相同 candidate pool、相同初始点数量、相同 reveal budget 和相同 seeds。这里 seed 是随机数种子，用来复现实验随机性，不是提前挑选的好实验点。Replay 仍然不能替代新的 wet-lab 实验，但它能严格检查数据泄漏，并评价有限预算下哪种策略更早找到好条件。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seed=控制随机过程的编号；reveal=执行一个候选后揭示结果；trace=逐轮决策记录。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下一页进入：Hypothesis 的生成与执行。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/Users/rentamac/Documents/Codex/2026-05-12/CARE2.0/experiments/care_replay/CARE2_METHOD.md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Hypothesis 只有被编译成明确的选点和停止规则，才真正进入实验。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完整平台给 hypothesis generator 的输入包括 source history、target 的变量角色、候选空间、预算以及 SkillBank 中的成功和失败案例。输出不能只是“这个 source 看起来相似”，而必须结构化为：适用哪些 source、变量如何对齐、什么条件应该优先或惩罚、允许进入什么质量区域、置信度多高，以及在什么情况下应该失败或回退。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结构化输出再被编译成 TransferSkill，用来选择 candidate。target outcome 揭示后，系统更新 evidence status：支持、反驳、暂缓或者拒绝。最新 v2 的 hypothesis 不是 LLM 生成，而是固定规则，目的是先验证从 hypothesis 到执行再到反馈的链路。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role map=source 和 target 变量的语义对应关系；operator=把 hypothesis 转成选点动作的执行算子。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下一页进入：v1 失败如何变成 v2 质量约束。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/Users/rentamac/Documents/Codex/2026-05-12/CARE2.0/experiments/care_replay/CARE2_METHOD.md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v2 先限定 source 共识的高质量区域，再在区域内部选择互补实验。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v1 的第一个点取 source 排名最高的候选，第二、第三个点主要追求距离远、覆盖广。问题是“离得远”不代表“质量仍然好”，所以多样性可能把点推入 source 自己也不看好的区域。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 保留第一个 source consensus 最优点，但先建立 top-50% admissible region，也就是只允许第二、第三个点从 source 排名前一半的候选中产生；然后在这个质量区域内用 maximin 选择与已选点距离最大的候选。它同时保留质量和覆盖。前三个点选完后 source prior 退出，后面仍是统一的 target-only GP-UCB。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top-50% 是当前冻结协议中的经验参数，不应称为学界通用常数，后续需要做 threshold sensitivity。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admissible region=允许选点的候选区域；maximin=选择与现有点最小距离最大的候选，用于扩大覆盖。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下一页进入：评价指标。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主指标看整个搜索过程，辅助指标看最终质量、胜负、负迁移和实验节省。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Primary metric 是 best-so-far AUC。每一轮记录到目前为止观察到的最好 outcome，再对整条曲线求平均或面积。它奖励“尽早找到好条件”，特别适合实验昂贵的场景。Secondary metrics 包括 final best、达到阈值所需轮数、win/non-loss、negative transfer rate 和 gate acceptance rate。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需要区分两种统计单位。对多个独立 campaign 的开发或验证结果，可以在 task level 计算置信区间；同一个 target 上的 100 个 random seeds 只描述随机初始化分布，不能当作 100 个独立科学任务。因此外部 target 的 +8.66 是很大的实际 effect，但暂时不能称为跨任务统计显著。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best-so-far=截至当前轮找到的最好结果；CI=置信区间；effect size=提升幅度本身，而非只看 p 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下一页进入：Calibration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  <a:p xmlns:a="http://schemas.openxmlformats.org/drawingml/2006/main">
            <a:r>
              <a:t>- /Users/rentamac/Documents/Codex/2026-05-12/CARE2.0/experiments/care_replay/results/2026-08-10-baumgartner-warmstart-v2-external-confirmation/README.md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Gate 先检查稳定性和负迁移风险，再从合格策略中选择平均收益最高者。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第一步是资格检查：开发任务上 AUC delta 的 95% CI lower bound 必须大于 0，同时 task non-loss rate 至少为 0.8。前者要求平均收益具有统计支持，后者要求不能靠少数大胜掩盖大量失败。第二步只在 eligible routes 中选择 mean AUC gain 最大的策略，CI lower bound 用作并列时的次级标准。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要诚实说明阈值来源：CI lower &gt; 0 有明确统计含义；non-loss 0.8 是本项目预先冻结的经验门槛，不是普遍公认常数。后续应对 0.7、0.8、0.9 以及 admissible region 阈值做 sensitivity analysis，确认结论不依赖单一超参数。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gate=迁移准入与路由机制；non-loss=相对 baseline 没有变差的任务比例；eligible=通过资格检查。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下一页进入：Baseline Protocol。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Frozen v2 必须同时超过随机初始化和确定性的空间覆盖，对比口径完全一致。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第一列 Frozen v2 的前三个点由 source-guided skill 选择；第二列 random-initial GP-UCB 的前三个点随机选择，并用 100 个 seeds 描述随机性；第三列 space filling 用确定性规则最大化候选空间覆盖。三者之后都运行同一个 target-only GP-UCB、做 10 次 reveal，而且都不能预读 target outcome。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Random baseline 不是每轮都随机。只有前三个初始点随机，后续仍然是强的 GP-UCB。Space filling 也不是弱对照，它能给 GP 一个分散且覆盖面好的初始设计。主比较对象是每个 campaign 上表现更强的 target-only baseline，而不是挑一个最弱对照。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space filling=优先覆盖参数空间的确定性初始设计；stronger baseline=在给定 target 上两种 target-only 对照中更强者。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下一页进入：从 v1 到 v2 的证据链。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/Users/rentamac/Documents/Codex/2026-05-12/CARE2.0/experiments/care_replay/BAUMGARTNER_WARMSTART_V2_PROTOCOL.md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只有冻结后外部正向结果能支持泛化；开发结果和 post-hoc 结果不能替代它。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从左到右看五根柱。v1 在 9 个开发任务上 +1.32，但在 4 个独立任务上变成 -1.20；这说明 v1 没有泛化。v2 在 9 个开发任务上 +1.39，说明它可以成为新的冻结候选，但仍不算外部证据。真正改变项目状态的是 v2 在外部 Suzuki MINLP2 上 AUC +8.66。最右侧旧四任务 post-hoc 约 +0.38，只能支持修复方向，不能当成新的 held-out evidence。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汇报时要强调这条逻辑：开发用来选策略，独立验证用来检验策略；独立验证失败后可以分析和修复，但旧验证集从此变成开发信息，不能反复计算成新的泛化证据。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held-out=冻结前未用于选择策略的数据；post-hoc=看过结果以后进行的分析。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下一页进入：外部结果：过程与终点同时改善。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/Users/rentamac/Documents/Codex/2026-05-12/CARE2.0/experiments/care_replay/results/2026-08-10-baumgartner-warmstart-confirmation/README.md</a:t>
            </a:r>
          </a:p>
          <a:p xmlns:a="http://schemas.openxmlformats.org/drawingml/2006/main">
            <a:r>
              <a:t>- /Users/rentamac/Documents/Codex/2026-05-12/CARE2.0/experiments/care_replay/results/2026-08-10-baumgartner-warmstart-v2-external-confirmation/README.md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Frozen v2 的优势不只体现在最终最好值，也体现在更早进入高产率区域。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左图比较 best-so-far AUC：Frozen v2 为 98.06，space filling 为 89.40，100 次 random 的均值为 88.84。因为 space filling 是两个 target-only 对照中更强者，主结果写成相对 stronger baseline +8.66。右图比较预算结束时的 final best：v2 找到 100% 产率，space filling 为 91.82，random 平均为 94.77。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100 个 random runs 中，只有 15 个 AUC 达到或超过 v2，说明 v2 位于随机初始化分布的高端。这里要避免把 100 seeds 写成 100 个独立任务；它们只说明同一个 target 上随机初始化的波动。最稳妥的结论是“在一个外部 target 上观察到大的实际提升”。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final best=预算结束时找到的最高 outcome；random mean=同一算法更换随机初始化后的平均结果。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下一页进入：传统 Transfer BO 对比。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/Users/rentamac/Documents/Codex/2026-05-12/CARE2.0/experiments/care_replay/results/2026-08-10-baumgartner-warmstart-v2-external-confirmation/README.md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RGPE、ICM 和混合路由各有优势，但没有一个固定迁移方法在所有任务都可靠。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RGPE 会根据 source 模型在 target 观测上的排序损失给不同模型加权。它在 dielectric 到 experimental gap 上非常强，但在另外多条 final-score 比较中显著变差，说明经典方法也会负迁移。Two-task ICM GP 通过多任务协方差联合建模，整体更保守，但仍不是普遍最优。Hybrid router 在 calibration 信息帮助下选择方法，AUC 在五条路径上为正，支持路由机制的价值。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必须解释深蓝框中的限制：在这五条路径里，CARE 自己的 source-transfer candidates 全部被 gate 拒绝，所以 CARE 的正向结果主要来自 target-only fallback。不能把“系统避免了负迁移”写成“CARE source transfer 全面击败传统方法”。当前平台价值是比较、路由、拒绝和审计。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RGPE=按目标任务上的排序表现给多个 GP 专家加权；ICM=用任务间协方差联合建模的多任务 GP。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下一页进入：真实 LLM 如何进入执行链。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/Users/rentamac/Documents/Codex/2026-05-12/CARE2.0/experiments/care_replay/results/2026-08-08-classical-transfer-confirmation/README.md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不再只是写解释，而是在看不到 target outcome 的情况下冻结一个可执行 initial-design hypothesis。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这一页讲清楚本轮新增的真实 LLM 调用。输入包括完成的 source outcomes、source 层统计、target schema、公开候选条件和 source-prior 排名短名单；明确不包含任何 target outcome。使用 CommonStack 上的 openai/gpt-5.4，模型输出一个 JSON hypothesis：三条 candidate IDs、各自角色、机制解释、置信度、失败条件和是否 abstain。原始 prompt、原始 response、token usage、API timing 和 SHA-256 都保存。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输出有两种执行方式。Raw LLM 直接执行模型选出的三个点；Compiled LLM 把模型提供的语义锚点，与 source 共识最优点和 top-50% 质量区内的 maximin 几何探针组合。三点以后，两种方法都退出 source 和 LLM，统一运行 target-only GP-UCB。这样 LLM 真正改变了实验开局，但后续预算和优化器仍可公平比较。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semantic anchor=LLM 根据科学机制挑出的重点条件；compiler=把语义建议转换成满足质量和几何约束的执行方案；abstain=LLM 主动拒绝迁移。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下一页进入：Suzuki LLM Case Study。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  <a:p xmlns:a="http://schemas.openxmlformats.org/drawingml/2006/main">
            <a:r>
              <a:t>- /Users/rentamac/Documents/Codex/2026-05-12/CARE2.0/experiments/care_replay/scripts/run_llm_initial_design_hypothesis.py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LLM 给出了正确的反应区域，但直接选三点覆盖不足；安全编译后 AUC 反超 fixed 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真实模型在不知道 MINLP2 产率的情况下提出：同底物 source 支持高温、高 loading 的 P2L1 XPhos Cl 区域，温度是主要迁移因子，置信度 0.73。Raw LLM 选了三个都集中在该催化剂家族的点，虽然初始质量不错，但给后续 GP 的几何信息不足，AUC 只有 91.819，低于 fixed v2 的 98.061。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安全 compiler 没有丢掉 LLM。它保留 LLM 的 candidate 024 作为 semantic anchor，加入 source 共识最优 candidate 039，再从 source top-50% 区域中选择 maximin geometry probe 013。这个三点组合 AUC 达到 100，比 fixed v2 高 1.939，二者 final best 都是 100%。这说明合理角色不是让 LLM 替代数值优化，而是让 LLM提出可解释的科学方向，由 compiler 保证可优化性。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Raw LLM=直接执行三点；Compiled LLM=保留一条 LLM 语义决策并加确定性安全约束；AUC=越早找到好结果越高。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下一页进入：五任务 LLM 组件结果。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/Users/rentamac/Documents/Codex/2026-05-12/CARE2.0/experiments/care_replay/results/2026-08-12-llm-hypothesis-initial-design/suzuki_minlp2/evaluation_compiled/summary.json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/Users/rentamac/Documents/Codex/2026-05-12/CARE2.0/experiments/care_replay/results/2026-08-12-llm-hypothesis-initial-design/suzuki_minlp2/llm_hypothesis_record.json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任务结构路由在五个 target 上平均 AUC 比 fixed v2 高 2.12，4/5 不下降，但置信区间仍跨零。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五个 target 都是真实 API 调用，共五条主 hypothesis、66,293 tokens。候选路由完全由任务结构决定：只有一个 completed source 时采用 compiled LLM；有多个 source 时采用 raw semantic design。每个 target 的后续 GP、预算和 candidate pool 与 fixed v2 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逐任务 AUC delta 是：Suzuki +1.939，Morpholine-AlPhos +5.203，Phenethylamine-AlPhos -0.947，Morpholine-tBuBrettPhos +4.422，preliminary 0。平均 +2.123，win 3/5，non-loss 4/5，final best 5/5 不下降。95% CI 为 [-0.226, 4.473]，仍然跨 0，所以不能写成统计上已经证明 LLM 普遍优于 fixed rule。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还要说明，这条路由是在观察组件行为后形成，五个 target 也都曾被项目使用，因此属于 retrospective ablation。正确下一步是冻结 prompt、compiler 和 route，在全新的 target 上执行。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任务结构路由=按 source 数量选择 raw 或 compiled，不读取 target outcome；retrospective ablation=回顾性组件实验，不是新的外部确认。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下一页进入：结论边界。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/Users/rentamac/Documents/Codex/2026-05-12/CARE2.0/experiments/care_replay/results/2026-08-12-llm-hypothesis-initial-design/aggregate/suite_summary.json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已经成立的是可信迁移流程、一个外部固定规则正例和真实 LLM 的正向组件信号；尚未成立的是 LLM 外部普遍优势。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左栏是可以明确说的：我们建立了统一、可审计的 replay harness；固定 v2 在一个真实外部 Suzuki target 上相对强 baseline 的 AUC 提高 8.66；真实 LLM 已经生成并执行结构化 hypothesis；五任务回顾性组件实验平均 AUC 提高 2.12。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中栏是不能说的：任意跨领域稳定迁移、LLM 已在全新 target 普遍优于 fixed rule、task-level CI 已排除零增益，以及 source 在优化全程持续贡献。右栏是项目真正的定位：可信赖的科学知识迁移框架，强调强 baseline、冻结协议、负迁移审计、exact fallback，以及成功和失败共同沉淀。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一句话收束：历史实验可以形成可执行、可拒绝、可验证的 Skill，但每个泛化结论都要由冻结后的新任务来支持。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可信迁移不等于每次都迁移；能够识别不该迁移并安全回退，也是系统能力。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下一页进入：下一步实验。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/Users/rentamac/Documents/Codex/2026-05-12/CARE2.0/experiments/care_replay/results/2026-08-12-status-and-ppt/CARE2_CURRENT_STATUS_CN.md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本页核心</a:t>
            </a:r>
          </a:p>
          <a:p xmlns:a="http://schemas.openxmlformats.org/drawingml/2006/main">
            <a:r>
              <a:t>优先冻结 prompt、compiler 和 route，再用真正外部 target 检验 LLM 的独立增量。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详细讲解</a:t>
            </a:r>
          </a:p>
          <a:p xmlns:a="http://schemas.openxmlformats.org/drawingml/2006/main">
            <a:r>
              <a:t>P0 第一项是扩大 external targets：冻结同一个 v2 skill family，在更多未参与开发的 C-N、Suzuki 或相邻 reaction campaigns 上执行。只有多个独立 target 才能计算 task-level CI。P0 第二项是冻结统一 Confirmation Protocol，包括任务根列表、预算、primary metric、selection hash 和 skill fingerprint，防止每个结果出来后改变口径。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 LLM，还要额外冻结 prompt、模型版本、raw/compiled route、compiler 参数和 trace schema。面对新 target 时不能再根据结果选择哪条路线。确认实验仍然比较 fixed v2、LLM hypothesis-only 和 matched random hypothesis，所有组使用相同 source、candidate pool、initial-design size 和 target budget。之后再研究 skill accumulation 和远距离领域扩展。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名词解释</a:t>
            </a:r>
          </a:p>
          <a:p xmlns:a="http://schemas.openxmlformats.org/drawingml/2006/main">
            <a:r>
              <a:t>Confirmation Protocol=事先冻结任务、预算、指标和版本的确认性实验协议；skill accumulation=随着完成任务增加，SkillBank 是否带来可重复收益。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</a:t>
            </a:r>
          </a:p>
          <a:p xmlns:a="http://schemas.openxmlformats.org/drawingml/2006/main">
            <a:r>
              <a:t>汇报结束，进入讨论。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/Users/rentamac/Documents/Codex/2026-05-12/CARE2.0/experiments/care_replay/results/2026-08-12-status-and-ppt/CARE2_CURRENT_STATUS_CN.md</a:t>
            </a:r>
          </a:p>
          <a:p xmlns:a="http://schemas.openxmlformats.org/drawingml/2006/main">
            <a:r>
              <a:t>- /Users/rentamac/Documents/Codex/2026-05-12/CARE2.0/experiments/care_replay/results/2026-08-12-llm-hypothesis-initial-design/README.md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8a8fcac444e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88216aee424287" /><Relationship Type="http://schemas.openxmlformats.org/officeDocument/2006/relationships/slideLayout" Target="/ppt/slideLayouts/slideLayout1.xml" Id="R05fbc2fb89c947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fbc2fb89c947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8b8b290e84a53" /><Relationship Type="http://schemas.openxmlformats.org/officeDocument/2006/relationships/notesSlide" Target="/ppt/notesSlides/notesSlide1.xml" Id="Rc94090e9126648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36000f6ae4fd8" /><Relationship Type="http://schemas.openxmlformats.org/officeDocument/2006/relationships/notesSlide" Target="/ppt/notesSlides/notesSlide2.xml" Id="R7d856ccaeec2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7aa4593294545" /><Relationship Type="http://schemas.openxmlformats.org/officeDocument/2006/relationships/notesSlide" Target="/ppt/notesSlides/notesSlide3.xml" Id="R88b55a60a4ca45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320864fe147f4" /><Relationship Type="http://schemas.openxmlformats.org/officeDocument/2006/relationships/image" Target="/ppt/media/image.png" Id="R8690223ade804cf1" /><Relationship Type="http://schemas.openxmlformats.org/officeDocument/2006/relationships/notesSlide" Target="/ppt/notesSlides/notesSlide4.xml" Id="R74159348345f4f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ad26ddaa945aa" /><Relationship Type="http://schemas.openxmlformats.org/officeDocument/2006/relationships/notesSlide" Target="/ppt/notesSlides/notesSlide5.xml" Id="Re3a302751b1740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a921832c64a1b" /><Relationship Type="http://schemas.openxmlformats.org/officeDocument/2006/relationships/notesSlide" Target="/ppt/notesSlides/notesSlide6.xml" Id="R01bdf18c728c49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f7711be424ea0" /><Relationship Type="http://schemas.openxmlformats.org/officeDocument/2006/relationships/image" Target="/ppt/media/image2.png" Id="Ra6c0d775568f49cc" /><Relationship Type="http://schemas.openxmlformats.org/officeDocument/2006/relationships/notesSlide" Target="/ppt/notesSlides/notesSlide7.xml" Id="R9c586270f7994a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0fa8a0db64a9f" /><Relationship Type="http://schemas.openxmlformats.org/officeDocument/2006/relationships/notesSlide" Target="/ppt/notesSlides/notesSlide8.xml" Id="R8261d563a9c04e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b94d63dbf4b94" /><Relationship Type="http://schemas.openxmlformats.org/officeDocument/2006/relationships/notesSlide" Target="/ppt/notesSlides/notesSlide9.xml" Id="Re858dbb252c445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6e238ce894073" /><Relationship Type="http://schemas.openxmlformats.org/officeDocument/2006/relationships/notesSlide" Target="/ppt/notesSlides/notesSlide10.xml" Id="R127e7abd646b42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4e85489914e08" /><Relationship Type="http://schemas.openxmlformats.org/officeDocument/2006/relationships/image" Target="/ppt/media/image3.png" Id="R5d9fc01b145d43b6" /><Relationship Type="http://schemas.openxmlformats.org/officeDocument/2006/relationships/notesSlide" Target="/ppt/notesSlides/notesSlide11.xml" Id="R54e6954048e143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3bcf61ff242a6" /><Relationship Type="http://schemas.openxmlformats.org/officeDocument/2006/relationships/image" Target="/ppt/media/image4.png" Id="Rb1aa93b52b0f41f9" /><Relationship Type="http://schemas.openxmlformats.org/officeDocument/2006/relationships/notesSlide" Target="/ppt/notesSlides/notesSlide12.xml" Id="R57a319081bd64f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3b7f325724a09" /><Relationship Type="http://schemas.openxmlformats.org/officeDocument/2006/relationships/notesSlide" Target="/ppt/notesSlides/notesSlide13.xml" Id="R3a00f259507244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5404eeb9341a6" /><Relationship Type="http://schemas.openxmlformats.org/officeDocument/2006/relationships/notesSlide" Target="/ppt/notesSlides/notesSlide14.xml" Id="Rebc2d683a8474c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2d0e60aa34373" /><Relationship Type="http://schemas.openxmlformats.org/officeDocument/2006/relationships/notesSlide" Target="/ppt/notesSlides/notesSlide15.xml" Id="R3e1f0d4c1e0d464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a57d623aa4981" /><Relationship Type="http://schemas.openxmlformats.org/officeDocument/2006/relationships/notesSlide" Target="/ppt/notesSlides/notesSlide16.xml" Id="R2e384f1b7b3542c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0006ac5aa4c08" /><Relationship Type="http://schemas.openxmlformats.org/officeDocument/2006/relationships/notesSlide" Target="/ppt/notesSlides/notesSlide17.xml" Id="R2d14c2cc44ad4e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77845a4794531" /><Relationship Type="http://schemas.openxmlformats.org/officeDocument/2006/relationships/notesSlide" Target="/ppt/notesSlides/notesSlide18.xml" Id="Rb9e15d84017445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B667C6-1A18-40FF-ADEF-0FC11D6C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CARE 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A4444-375A-42FD-8D38-CC7ACD5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676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参与的科学实验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知识迁移框架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835AD-9B28-4442-90D6-B7E57DD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真实 LLM 生成 hypothesis，并参与 initial-design 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BF833-841A-4935-99FC-45875EE9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25030-AEAE-429F-B5DE-861311C7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 参与版 · 精简汇报 · 2026-08-12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240AC-8845-4A9D-A993-C92D3843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F444B-790E-42D9-BF93-61F40FBC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历史实验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158B6-4DC9-4BC6-9DB1-D7F463E2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4307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88881-113D-4437-BBAD-D64340F8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可执行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604AD-FC26-45F3-8C9F-A20C85B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76550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60829-6B64-4A6E-8FE5-B8C51B49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新实验决策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F34DF-9780-41C6-BBD0-F3029851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010025"/>
            <a:ext cx="85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A02DB-3331-47A9-B641-BA3ADB73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91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证据沉淀</a:t>
            </a:r>
          </a:p>
        </p:txBody>
      </p:sp>
    </p:spTree>
    <p:extLst>
      <p:ext uri="{BB962C8B-B14F-4D97-AF65-F5344CB8AC3E}">
        <p14:creationId xmlns:p14="http://schemas.microsoft.com/office/powerpoint/2010/main" val="349122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C1AC58-45C1-49AC-B804-514AAD2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00B13-1931-4585-9078-90A92A16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CE9C9-33D1-4279-AFDE-269889E3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外部固定规则证据与真实 LLM 证据已经分开验证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4A1FA-B217-41C6-8F5E-E1AE8007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9B1AF-464D-4AD6-8F6D-841A2B1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236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+8.66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DDA7C-1973-44CB-8365-F5E9171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外部 AUC 增益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85E1A-F257-496A-A0F3-E009AE6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Frozen v2；不含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B690B-DA96-40DF-946E-DC844BB6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+2.12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A416A-3CC4-4147-B8A6-996A9FE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平均 AUC 增益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63771-AE8C-4333-ABA5-DA161B2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5 个 target；回顾性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F6622-C9C2-42A9-BA1E-F2D9B8A9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4 /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71638-C837-42A2-8A98-F1431E9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路由不下降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84BDD-6566-4393-9970-3EEB2443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win 3 /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535B3-635D-4B92-81D8-CA7044C1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90700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1 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4E2FB-9683-4AFF-B6AF-4A149CA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19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冻结外部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2FCB0-7C12-45F8-968A-4BD52D11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819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LLM 尚待外部确认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532A5-3CC2-471F-AED1-20DBDD36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37D52-FC1D-448B-8ABC-80DCEEC8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目前最准确的结论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EBFF5-0E76-4E44-98A6-25D875E4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7562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4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固定 v2 已有一个严格外部正例；真实 LLM 已进入 hypothesis 与 initial-design 决策链，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五任务平均为正，但置信区间跨零，下一步必须在全新 target 上冻结确认。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3B670-479C-4A0A-8D98-4F997757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5177264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8C1E2-056A-4C37-BA49-9E1230A4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C952B-4567-45E0-B7D2-F05058F1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F281A-742D-4D5B-9F6F-875E6EC9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昂贵实验中，历史经验能否真正减少试错？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74C4A-A8FA-4D35-B746-FA41D219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D6F70-78EA-43AB-B62A-155A8314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2F106-BE6F-412B-A953-C0040EA9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8899C-5EE4-43E3-A466-AB0BEFD1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已知信息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6300E-5140-4918-B264-81221E8D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已经完成的 source experiments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target 的公开候选条件与变量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固定、有限的实验预算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尚未揭示的 target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C9565-7AD7-4AEB-AA75-C387A5FE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DE5A6-AC05-4F8F-9587-C9290E17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0B2C0-4CF1-454E-ACDA-E6F815C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每轮决策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76F8F-2DA9-4413-8418-61F563B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选择一个候选实验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只观察被选点的真实结果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更新 target model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决定迁移、持有或回退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2ACCE-674F-41FF-8E4B-A88CAC15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6ABEC-14D4-4200-AA95-4688F1A8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718F7-6ACB-42B0-A9B8-1E90690F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D1FCA-EFFD-4340-96CB-FAE1E117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更早找到高质量候选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相同预算下提高 final best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不偷看 target outcome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• 避免负迁移并留下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0B161-17D2-4C26-9D81-84E0034E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346F7-C549-4C8A-B2BD-01343110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核心问题：source history 是否改变 target 的选择顺序，并让有效实验更早发生？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59B0F-010B-4746-8A4D-9FE647BF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967068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699AE-C3DD-487B-98BD-E1E61E2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EXECUTION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C31B1-2FC6-409F-86DA-24517468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B7E78-20AC-43A9-BC97-4E86A12A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历史实验只影响开局，目标观测开始后统一使用 target-only GP-UCB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47DEA-041E-4D8B-BDC3-F28858D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0223ade804cf1"/>
          <a:stretch xmlns:a="http://schemas.openxmlformats.org/drawingml/2006/main"/>
        </p:blipFill>
        <p:spPr>
          <a:xfrm xmlns:a="http://schemas.openxmlformats.org/drawingml/2006/main">
            <a:off x="1575410" y="1257300"/>
            <a:ext cx="9041181" cy="5095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FD6B7-C0C4-472E-B8BB-2B20BB88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266598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5BADEC-08CC-4CAA-A170-90324707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REPLAY HARNESS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8E8A5-178A-4642-99BE-B58F7854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E7F68-3DBA-4FBC-9432-0BD7AEBE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历史数据按真实实验节奏逐轮揭示，而不是一次性看完整答案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4E6BC-2F04-449F-B4F5-9DA4A854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6B386-5C80-4B5B-A8B1-E1A49B3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A0962-29FB-468C-B9F0-D06FF108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2D95D-8BB6-491C-A67F-4890D775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隐藏 target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8238F-6034-4566-BA83-66C91DA2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CF885-6CFE-4BA2-9B00-4A72D5C3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E85A4-AC20-464F-8ABE-0563C80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选择一个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E3BE7-9F13-4BA3-AAA4-C41A4D17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C70BB-7FDC-485B-BEE3-892E0CDB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9B8D8-CEF8-4CFD-AB92-224BBB96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只揭示该点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真实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9F9729-D0D3-4D8C-A4A6-27865541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5270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4017C-7BF7-444B-84DE-A8FD9A52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86A66-8077-4C14-B6E7-93F830DB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更新 target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90D03-CFC2-4B3A-9DE2-6C9D6A89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52650"/>
            <a:ext cx="1809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C9D0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66A12-7477-4DB7-A012-B116E73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28875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记录 metric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与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9BDE7-4D34-4C2D-BE7E-97C8B504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38597-B0A5-455A-8E90-AC962C79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公平性约束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872EF-4664-4F58-AB9B-D29B2F9E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849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相同 candidate pool · 相同初始点数量 · 相同 reveal budget · 相同 seeds · 未选点 outcome 始终不可见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18234-E74C-40CF-B333-71A13AE7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89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Replay 不能替代新 wet-lab 实验，但能严格测试有限预算下的逐轮决策与数据泄漏。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E73B6-4B4D-4BD9-9273-2CBEC5A3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817367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2F869-D44A-495E-B8F5-89468D1B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HYPOTHESIS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3C280-0335-41DD-85E5-4AA35C66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C03A6-91F0-4FA6-A210-87413D75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Hypothesis 必须落到可执行决策，而不是停留在自然语言描述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EBEFB-EE8D-4C1C-90AD-C23D864E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73FD8-FA0F-4889-A616-34356D5D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CC194-B875-4861-8A31-3E0595AC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348C7-2F2E-4EF4-BB20-58F3BE6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source history 与 outcome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target schema / variable roles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候选空间与实验预算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• 已有 SkillBank 与失败案例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7A6B7-079E-43B1-AD65-F630D2F6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1AE32-E9BB-4955-A8BE-6A000CA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结构化输出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CF549-6FC8-433C-A4B8-47BCAA62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7645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9525">
            <a:solidFill>
              <a:srgbClr val="D99A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EA039-C0F7-4FB7-AAA9-C61A9460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2647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scope 与 role map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prefer / penalize 条件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quality region 与 operator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confidence / failure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47DF7-B32D-45D0-BA37-43CF7455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F9610-62F5-49AC-8D47-8349E358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E7DF8E-971E-4462-A7AA-8013C3FF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419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9525">
            <a:solidFill>
              <a:srgbClr val="2C8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D2B92-3A40-444A-84FF-135AAC83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962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1. 编译为 TransferSkill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2. 选择 candidate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3. 揭示 target outcome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4. 更新 evidence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11885-767B-44BA-BC07-F621F406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10896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54C9A-9C1C-459F-81BE-5424C4FB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最新 v2 的 hypothesis 为固定规则，非 LLM 生成；目的是先验证执行链本身。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04DC4-4545-4E5A-BBEF-79CA3CBC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2135249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2323A-CDE8-42AE-B741-C50094CB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QUALITY-BOUNDED WARM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5F18-1CB0-4578-883F-662C44B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EDED3-E558-48A4-B61D-5FC6CC41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v1 的失败如何变成 v2 的质量约束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58DF1-8A12-4FD7-8EFC-9BCDCDE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0d775568f49cc"/>
          <a:stretch xmlns:a="http://schemas.openxmlformats.org/drawingml/2006/main"/>
        </p:blipFill>
        <p:spPr>
          <a:xfrm xmlns:a="http://schemas.openxmlformats.org/drawingml/2006/main">
            <a:off x="1600759" y="1276350"/>
            <a:ext cx="8990482" cy="5067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1642E-8642-4705-B95A-128E9F7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196304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CC40B-C996-42BE-8964-4A0EFA98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EVALUATION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F5430-F725-412C-B7FA-2A30D55C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3C656-74F1-48A8-BB3E-3B23968D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不只看最终最好值，更看多久找到好结果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2177E-EC88-4326-8244-7A5D602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EF6C6-D223-44FB-9688-81DBB69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7161-872A-43C9-A374-011CEAD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Primary：best-so-far 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06DD5-F0B4-4F6E-9677-3A85D786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Bₜ = maxᵢ≤ₜ yᵢ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1DA74-9C51-4B3F-B9E6-03205609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57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AUC = (1/T) Σₜ Bₜ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05F31-B3A9-4E39-8E09-3D5DB0E0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越早进入高质量区域，AUC 越高。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DEE14-1488-4633-97CA-F2C07031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764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Secondary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172D7-B105-4AA4-B506-508CFA5C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2885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Final best：预算结束时的最佳 outcome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Rounds to threshold：达到 95% / 100% 的轮数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Win / non-loss rate：跨 campaign 稳定性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Paired delta 与 95% confidence interval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Negative transfer rate 与 acceptance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9F2C8-56B2-42B7-AD04-4923E2E0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1089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9644E-D933-4FEA-8966-2EE945C5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一个 external target 上的 100 个 random seeds 反映算法随机性，不等于 100 个独立科学任务。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95338-048B-45F7-B52F-9791C325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149841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C1D09-026C-4504-A8FB-01E3E2F1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CALIBRATION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80C14-EDC4-45B9-8DD9-D2097E5B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32B32-7E2C-492A-8F19-10F427C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先过稳定性门槛，再在合格策略中比较收益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5F47B-2742-4166-BDA7-8C4C9AB6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68C34-7692-4C68-8D5E-FDCC14CC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Step 1 · 资格检查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143C5-C50D-4185-8A35-B324ADE8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762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51D422-3502-4DD6-A480-0438C28C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95% CI lower bound &gt;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3616D-D2C7-4E01-8B3C-144E88B8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并且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ACE51C-28FA-4E9F-8E5B-D674FDD3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22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task non-loss rate ≥ 0.8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95FD9-0BFF-4136-BCA2-7F1E1BE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28950"/>
            <a:ext cx="628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31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3C37C-4551-469E-B2E3-6738F000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95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Step 2 · 冻结选择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DFF01-977B-45EB-96C7-696698D6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7625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2F966-C52C-4C9D-93AB-57BB57DA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90800"/>
            <a:ext cx="4229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eligible routes 中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mean AUC gain 最大者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349F2-7D7A-465A-A33B-3483BC7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147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CI lower bound 作为 tie-breaker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1A156-4F52-4A52-A18C-48855658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896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D31C-787E-428D-9448-1FA6759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阈值来源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1110F-3742-4516-94C1-3774F2DE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CI lower &gt; 0 有统计含义；non-loss 0.8 是预先冻结的经验门槛，需要 sensitivity analysis，不能写成学界通用常数。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58C54-776D-44E7-8829-1964D55B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079368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D6B8A4E-09AC-4796-9AA8-E1E5D22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BASELINE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70053-13EA-442E-BFB9-19DA9D00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796C4-ACA4-4993-98EA-76222A4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CARE 必须超过逐任务更强的 target-only 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6C6F-E8B3-41C9-A6DF-5642E27F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EFA2F-909B-460B-8282-381CFACC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A926F-C747-4A23-9E9A-4CC93C94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F7802-0837-43B5-8518-B89F2231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1676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1CA8B-A8D7-4CC0-9E1C-24E5D3C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1743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Frozen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26A02-4754-4894-93FA-3C4C5BA3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407B2-9495-4F13-9C55-B59B6C1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Random-initial GP-UCB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DCA1A-EE05-43FE-9552-D9A2A75F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1676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2C654-2EE0-42CD-B8AB-B8FB48C7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1743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Space filling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56C04-2842-4D51-A3F1-D09171FB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C769C-28FE-4544-9A1C-B70B3403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前三个点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860B2-DAEB-4F98-9DB0-5DE087EB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2860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239E5-A7E0-498C-84FD-3FBDB1BD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3526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source-guided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69693-801A-44BB-96BB-493F0E47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C3FA6-0726-4967-A5E1-58449CC5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random，100 seeds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BCCF0-1CF1-477F-B70A-0F64EA5B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2860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649FB6-3A7B-4323-AE82-31E1D23B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3526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deterministic coverage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01BF6-6916-4345-80EB-7EBF938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F0998-7A9E-4C04-8007-7D40746A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后续方法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2D835-90BF-42FA-BB25-48EDB69C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28956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63753-689F-4EC0-9EAA-EE560CA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29622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08A7C-336F-4E01-9447-F94C65BD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31BD9-C67D-43FF-A285-243DB0D6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A9557A-A56C-4BD5-8CA9-1B447D9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28956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0807D9-5B4E-4645-BAF4-FEEBD7F0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29622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target-only GP-UCB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516AC8-558E-45B8-80B1-86E1B854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2538E5-254A-4CD6-A702-F572EC98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后续 reveal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45562D-EE89-4748-B0E5-8F036B5A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35052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1BB691-70A4-407C-AEED-97086575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35718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04A9D1-9DA2-421F-A4D0-739D40C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B88BE8-A1F3-414C-901B-8527CC1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140A24-7FC8-489C-ACE6-0315515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35052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E556E8-FE8F-4C12-814D-27CFD07B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35718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3C8BE4-4B08-4798-9821-A6226318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5C4CCE-07B9-43DF-9036-38CC2DD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预读 target outcome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096E2-5305-4A92-B130-DB094833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1148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C40890-4937-4C3E-8B7F-485B510B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1814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D9BD8-30B7-4F0B-8C72-C0CB7F69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DAB6F7-2E68-44F7-AB57-7DC10D7D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7A21FC-11D6-4422-9480-55675AF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1148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E1A723-A500-4830-814C-13022DC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1814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9025F7-A7C7-4A98-A06E-F26F37B8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24400"/>
            <a:ext cx="2031569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AD0E33-400E-4B7C-A129-CF68BED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879169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比较口径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0AE315-9A86-4996-B812-65D4CCD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269" y="4724400"/>
            <a:ext cx="2585634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86F7CE-1A6F-45B0-943C-45A91A9C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469" y="4791075"/>
            <a:ext cx="2433234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相对逐 campaign stronger baseline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1D1B20-2462-48BF-97D9-216FBE8F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4903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71906D-84F2-4924-AF69-6849E523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103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 baseline 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684F92-C2DF-409A-B19D-104B56F1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602" y="4724400"/>
            <a:ext cx="313969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8E9C33-05E3-4A6E-872F-69A81CED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0802" y="4791075"/>
            <a:ext cx="2987298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候选 baseline 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724E5B-0B1B-498C-AD09-4F67286D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60F3E3-AF53-43BD-8800-F84F7B60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05475"/>
            <a:ext cx="1055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Random baseline 不是纯随机搜索：只有前三个点随机，之后仍运行完全相同的 GP-UCB。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90302E-F091-4FB7-B49A-5B13300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59426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EFB5F-CE2D-4F90-9CB3-45C4DA68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472CF-7278-43ED-B58B-FEE44F51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E4DAE-5D25-49D2-8B3E-D0D8CF4C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开发正向不等于泛化；外部验证才真正改变结论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ED0AA-B960-4706-996D-78E72E19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fc01b145d43b6"/>
          <a:stretch xmlns:a="http://schemas.openxmlformats.org/drawingml/2006/main"/>
        </p:blipFill>
        <p:spPr>
          <a:xfrm xmlns:a="http://schemas.openxmlformats.org/drawingml/2006/main">
            <a:off x="1651959" y="1238250"/>
            <a:ext cx="8888081" cy="514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8F454-EE9A-4D06-84AA-C64E93ED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6695687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E0F-7BED-4A0F-A021-A990C81C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496BE-7C0B-427A-BF5F-CB512472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AAFA8-AFC2-45EF-8AFE-FCFB80C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Frozen v2 同时提高搜索过程和最终结果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246A5-60C0-4003-9440-BC70C7D2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a93b52b0f41f9"/>
          <a:stretch xmlns:a="http://schemas.openxmlformats.org/drawingml/2006/main"/>
        </p:blipFill>
        <p:spPr>
          <a:xfrm xmlns:a="http://schemas.openxmlformats.org/drawingml/2006/main">
            <a:off x="1462686" y="1257300"/>
            <a:ext cx="9266627" cy="5105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FC6A5-1721-461E-80A8-87009930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962645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86624-FFED-4488-BEF0-CF375B88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CLASSICAL TRANSFER BO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568AA-168D-4EBB-B129-B2581EA0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B86BF-09CE-4736-AF88-3E2B84E0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没有一种 transfer family 在所有任务上都可靠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ECD78-DD44-4037-98CE-CEEA6B35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7E673-4325-42CB-994F-D1581FE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RGPE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D579E-9A95-45AF-A636-75593114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Dielectric → expt. gap：显著强正向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其余 4 条 final-score 比较显著变差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说明经典 transfer 同样会负迁移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640C7-439F-49D2-A6EC-F12411B8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Two-task ICM GP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8C56E-3857-4950-BCE6-DCFA3B3D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整体比 RGPE 更保守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部分路径点估计为正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仍然不是普遍最优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C3B80-9FB0-46CB-942D-72DAD61F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Hybrid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68CB9-D92E-4F9D-9885-EF5B59F8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479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AUC 在 5 / 5 路径为正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Final score 在 4 / 5 显著为正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但仍依赖 target 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FAE11-4FD3-49C2-B5D8-5615B88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4BE6B-A7FB-4AC2-AB46-421441E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6DCBF4"/>
                </a:solidFill>
                <a:latin typeface="Arial Unicode MS"/>
                <a:ea typeface="Arial Unicode MS"/>
                <a:cs typeface="Arial Unicode MS"/>
              </a:rPr>
              <a:t>关键解释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CD390-9F81-432E-A155-434A1227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481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这 5 条路径中的 CARE source-transfer candidates 全部被 gate 拒绝；CARE 的正向值主要来自 target-only fallback，不能写成 source transfer 的胜利。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D07FD-D1A0-4B12-A3D8-D41028B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系统价值：比较、路由与拒绝负迁移，而不是宣称某个固定 transfer 方法全面胜出。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C6EB7-A78E-4157-96D9-9E60F79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5637812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29588-DD5F-45BE-A57B-4FA8E661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REAL LLM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873F5-C0D0-4D61-9FB2-8130A0E9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C8203-82AA-4F85-9B20-AA6E2D95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真正进入决策链，而不是只负责写解释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14474-6439-4B76-94DC-9DBD3F69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BD54E-7631-4816-BEE5-DA2F5DB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允许输入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F709B-72A3-4D8F-A20E-9EBFE6B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2857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AB1F6-904B-411F-AD0E-6D2AA92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4003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完成的 source outcomes 与统计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target schema 与公开候选条件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source-prior 排名短名单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禁止读取任何 target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D0636-3CFB-4222-9B21-9BBDCC80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765E3-D740-4475-B9F7-936DC1CD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真实模型调用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18375-EA91-4D36-A76E-E2489D7B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3162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406FA-0DF6-4DE6-BA35-772383AC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openai/gpt-5.4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9F5F3-582B-4964-9BAD-7DCD478C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33675"/>
            <a:ext cx="2400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EF517-7DCF-444F-B467-147D634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90850"/>
            <a:ext cx="2705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3 个 candidate IDs + 角色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机制 hypothesis 与 confidence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failure conditions / abstain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冻结为可重放 JSON 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3D9BA-BC76-4302-96CC-98406311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A781A-F284-4D12-AD23-67978234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执行与公平对照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D3150-A55E-4044-948F-8E1C93D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9718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83E032-4DB5-4EE9-B6F1-7EF9536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050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Raw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597362-2D7C-4DFF-A0F8-086F62CD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直接执行模型选出的 3 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A8140-F4F3-45EF-91D6-DE6C22F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Compiled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19C80-C624-4121-871C-6A042CC2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240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语义锚点 + source 锚点 + 几何探针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2AF2A-ED7D-4092-8877-6F545B07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324D"/>
                </a:solidFill>
                <a:latin typeface="Arial Unicode MS"/>
                <a:ea typeface="Arial Unicode MS"/>
                <a:cs typeface="Arial Unicode MS"/>
              </a:rPr>
              <a:t>之后统一 target-only GP-UCB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C8D1FB-E153-41C5-A3B2-2EFE0504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8CBF3-33A7-4DC3-A3F7-B733B4A1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1040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trace 保存：prompt + raw response + model + token usage + latency + SHA-256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API key 不进入代码、PPT 或结果文件。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43A79-06B1-4F15-8233-44B5D2C8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12673453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B99912-736D-447B-B401-15B85ABB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0F69D-C254-43CC-B576-91426565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8B676-DA4F-4254-8571-E701E6E2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Suzuki：保留 LLM 的科学判断，同时补上可优化性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03C64-0A83-4D5A-8F7D-35B4A47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B780F-1C5E-4D8E-BC8C-0A075285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89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FAB1A-6010-4C54-B1FA-6D43F60D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hypothesis · confidence 0.73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D6A3A-71C5-48A7-926E-0D92206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6972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同底物 source 支持高温、高 loading 的 P2L1 XPhos Cl 区域；温度是主要迁移因子。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6BF67-7E29-4869-B929-4C4F014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F8E8B-18D2-4AEF-BA03-FF50692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48C55-45FD-4772-BD27-3BC59E4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26479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A2601-6FEC-4FBC-A840-8BB7E84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27146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三个初始实验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5F54B-00C7-46F0-A876-B269966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891B4-BDF2-44D2-856A-19565989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AUC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339D2-0E7F-4524-9ABA-1DEF593D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26479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ABED3-D987-483C-8EFE-2530B793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27146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Final best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D757E-55D2-4A2D-B658-D2155DAF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26479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3A2D6-0BE3-44CA-AA07-7024629F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27146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相对 fixed v2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E0060-27A6-40F3-89A6-B811516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BD0029-1239-4022-9637-1258436D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Raw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41A0D-C956-417F-AEAC-431D2E93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2004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C3B89-96C4-4F80-A1E5-0161965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2670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024 / 059 / 057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4D262-F62B-4509-84FD-C630E4D9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21525-1DD6-4D09-A90B-8DD4AE85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91.819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B9735-9887-4F5F-8038-746F9D5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2004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5CFF1-E2B0-46B5-9356-42B39E86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2670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91.819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9B3B50-662C-4F54-9821-DFD99F16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2004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FC202-E296-4D19-837F-9C17A820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2670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-6.242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985EB-7D74-486A-96FF-A0D52CE2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50B6F2-8DE9-46D8-B17B-0FE03D15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Compiled LLM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4F5B21-5295-4E40-B171-1EA105E5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375285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4006D6-270A-41C7-BC00-4D2B84CD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381952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039 / 024 / 013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7A650A-1784-414A-A5C5-3DF0EC70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F43C94-E2F2-4096-99F6-B2563800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B51CB3-A62F-4FFE-98FF-23709942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375285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AE5A1-25C0-4BD0-A150-202B6621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381952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7E7E16-6D67-4DD7-B4B0-78A3834E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375285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5EA824-6553-49AE-B958-A80D7CC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381952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+1.939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1C8DEC-1A53-4D3F-B3D0-AEA8A874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72647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336C7F-28B0-490D-9724-34F4408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2220247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Fixed v2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D3016D-412A-4D60-B82C-5B3B2B55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47" y="4305300"/>
            <a:ext cx="2899902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48BC69-BAB1-4B15-91E2-F2A55172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6547" y="4371975"/>
            <a:ext cx="274750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039 / 038 / 028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D4DD9C-9F7A-4D8D-BA27-348691DA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0248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6CE6B0-4C77-41B7-A22E-1E06FAD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448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98.061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24B6F3-233C-4D71-B2CF-4ADD4B80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765" y="4305300"/>
            <a:ext cx="1757516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C14939-2468-4888-9C90-6C3DF0B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965" y="4371975"/>
            <a:ext cx="160511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100.000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C1AF51-D1D8-4CAC-8F66-0BB09195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281" y="4305300"/>
            <a:ext cx="2109019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0363AB-B5A1-4734-8903-73D9CBF0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1481" y="4371975"/>
            <a:ext cx="1956619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22AEFE-A6FC-4113-A809-0777BDD7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67056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25027D-7731-4F79-AB95-1982C764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Compiler 的三个角色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21E1AB-B4C5-4C6C-BC45-0BA6B57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039 source 共识锚点  +  024 LLM 语义锚点  +  013 maximin 几何探针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C0913A-0811-4F66-9F60-9A7A7FAF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3962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EE36F8-C876-43EE-842C-6BE030E1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3297C4-242A-4381-A38A-2B8D2E97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864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该 compiler 来自组件行为分析，属于回顾性结果；需在新 target 上冻结确认。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D6953C-FFAB-47FC-845D-80D00409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3835297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72C134-18B7-4051-8E62-C4243303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LLM COMPONENT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47AF8-9976-4780-984A-41ED2556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0C060-B562-4A77-9243-30E7C9AC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五个 target 平均为正，但还不能说 LLM 普遍优越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90925-6CFA-446A-90C9-9BD8E432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63515-64F4-45EF-B687-9EFBE4F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05018-0E45-4FAA-AEDF-D777F474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3A042-52C7-431A-A928-BEC870EB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146685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4F546-01D7-4C60-80AE-A2E7BF3E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153352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执行方式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525AF-04E4-4CFA-82EE-DE7C0C5F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146685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12CBD-F87D-45B7-A266-58BCDF8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153352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AUC Δ vs fixed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73CCB-02FC-4A39-901D-72138C93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D2731-9D68-43A6-BA42-8AE8639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Suzuki MINLP2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874EE-35FA-4A85-A98D-806AC843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198120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8352D-32F1-4600-B9E3-C574A4EE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204787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Compiled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B3CAB-3B32-4A9C-8014-E9193F10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198120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1128-A0A3-494E-9DD2-8BEBD3F5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204787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+1.939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54A89-77A5-4BF3-A4CC-17589B8C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9555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41EA7-0CAC-4829-8A9F-BA26DE3D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Morpholine · AlPhos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FB054-1D19-4C07-98B0-4EE69341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249555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D9400-3130-4DC9-8897-1B457F9D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256222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Raw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78A9F-D246-453C-A87B-41C4D6A3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249555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67423-1350-4ABA-971C-CF6366F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256222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+5.203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0CD15-D1BB-4C5A-BFFF-19105256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407B0-AEA2-4B72-A4FB-DB315713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Phenethylamine · AlPhos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4F146C-C820-40A2-9101-5891E2AC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300990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01F09-9146-4357-9253-516260DB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307657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Raw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4ECB4-5B1E-49F0-A582-1AFCB613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300990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65A75-DBAF-400D-BF31-93BBA38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307657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-0.947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95FA7E-37DE-48F3-BB96-49C10B47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A135F-5E9C-4540-A721-51C357C2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Morpholine · tBuBrettPhos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1B0E9-6CEA-4E21-94CE-A15D2445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352425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B3C82-C44B-4391-B37D-212AF60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359092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Raw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7960F5-BEA7-4FDB-8B4F-F22D23E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352425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617D5-61ED-4579-B3CC-4502092A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359092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+4.422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AB6CA0-EDA8-4CCD-88CE-0F673AF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3424903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A3F3AA-7F4F-4B43-AB27-5A547C27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327250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tBuBrettPhos preliminary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A1F41C-1099-4C40-9887-3BA12FC4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603" y="4038600"/>
            <a:ext cx="186812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03F8DA-56F1-4050-A00D-3D5B387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8803" y="4105275"/>
            <a:ext cx="171572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Raw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6545A6-9D6D-4D0C-A7C7-206AF17E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32" y="4038600"/>
            <a:ext cx="1945968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F3AC34-9C71-4544-8D79-1BF3BF74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932" y="4105275"/>
            <a:ext cx="1793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C5932A-F640-4BEB-858B-38D19045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811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+2.123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E0104-CDEF-4BF1-B0AA-1CCECDA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平均 AUC 增益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66C775-7F3B-4DE0-BB65-4B2285AE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相对 fixed v2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DB161C-DEB7-49A3-8DC3-210A644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4 / 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DC0757-DB3F-439A-A2A5-7DCF577E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任务不下降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4A0A11-E4DC-4E33-8878-A0C2848D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win 3 / 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85C144-89D8-4DF1-8BFF-1F73C23A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781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5 / 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E41E37-EEA3-40CB-A0DB-C1E068C6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Final best 不下降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AA9001-6632-4B13-8FA9-65BC7B1B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0545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终点结果持平或更好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359ECB-61BE-448C-AE18-2D382CD5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0AA28D-351F-4E7D-BECA-C427DE3A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681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95% task-level CI  [-0.226, 4.473]  ·  区间跨 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6FA915-E96E-44C8-B7C8-5358A13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681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98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五个 target 均为项目既有任务；路由在观察组件行为后形成，因此当前结论是“有正向信号”，不是“已证明普遍优越”。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D082F7-BBA0-4A14-BBDB-151C36B7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20853430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88848-65FD-413B-B3CD-012E8917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CONCLUSIONS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15980-AAA2-4A21-AA60-27185575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F3BDB-47D9-4CFF-AC69-6CADC14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LLM 已真正参与迁移决策，但外部泛化仍需确认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48DB0-301A-477F-A969-867FB700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B1B92-85F8-42A0-8BFD-3A6D6D70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C8A62"/>
                </a:solidFill>
                <a:latin typeface="Arial Unicode MS"/>
                <a:ea typeface="Arial Unicode MS"/>
                <a:cs typeface="Arial Unicode MS"/>
              </a:rPr>
              <a:t>已经成立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F65E5-3429-4BF9-BC47-3C0AFD08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AE84E-5F3D-4D5A-97C6-BD9EFD1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统一、可审计的 replay harness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外部 fixed-v2 AUC +8.66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真实 LLM 生成可执行 hypothesis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五任务平均 AUC +2.12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FDB29-72CD-4382-852B-54E15AE9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仍未成立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C2CA6-585D-4F02-BD54-C60E1570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6B5D8-9ACB-464F-9195-32DC48C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任意跨领域稳定迁移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LLM 已在新 target 普遍优于 fixed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task-level CI 已排除零增益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source 在优化全程持续贡献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13695-F446-46F9-975E-B465F52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项目定位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01BBF-8ECC-4604-8B64-37EE3865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C8BACC-6AED-4132-B175-58A9B609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57450"/>
            <a:ext cx="3143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可信赖的科学知识迁移框架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强 baseline 与冻结协议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负迁移审计与 exact fallback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• 成功和失败共同进入 SkillBank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42F91-4AC2-4545-B9AB-1B48C26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F097B-FD81-4AF2-8DFD-48166311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历史实验可以形成可执行、可拒绝、可验证的迁移 skill；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但每一个泛化结论都必须由冻结后的新任务来支持。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2B1FFE-B858-4F06-930B-04BA9F82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4620534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BF7A85-B8B9-472F-93A5-B6B78CB6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NEXT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05B56-A66D-4130-BC6A-5ACA8EF7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667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4D09F-0638-4200-9DCF-C289190D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 LLM prompt 与 compiler，在全新 target 上做确认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5A8B2-E045-4794-9C47-7DD395CF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F6866-F49A-479E-A85A-230F48B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CD72C-F803-4CEF-AE7E-8ED108E4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43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扩大 external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F0FBC-0669-4604-AAAC-DA671F1C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43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冻结同一 v2 skill family，在更多未参与开发的 C-N、Suzuki 或其他 reaction campaigns 上执行。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A73A5-4F06-4B81-871A-F320563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14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2EFA4-9CFF-4877-B0BB-3F9785F4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C94D4D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CC708-4796-4A50-A967-0E1AD564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003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冻结统一 Confirmation 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F573A-FF92-49B2-9763-E0695843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固定任务根列表、预算、primary metric、selection hash 和 skill fingerprint。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47592-DE08-43FC-B052-06C9A3A3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4B855-1598-4422-9D02-4F30E511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BCDB2-78BF-4535-907A-551B92D3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冻结 LLM Confirmation Protocol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0BA98-C245-4CCC-9198-0B29CEE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固定 prompt、compiler、route、模型版本和 trace schema，再接触新的 target outcome。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06666-947C-410F-AB6C-B7257DAC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290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61160-1A0C-42BA-AAFD-0A43153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D99A33"/>
                </a:solidFill>
                <a:latin typeface="Arial Unicode MS"/>
                <a:ea typeface="Arial Unicode MS"/>
                <a:cs typeface="Arial Unicode MS"/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3EF2B4-065F-4B23-A5C3-8001F412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验证 skill accumulation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87F7E-164B-44B7-B3FE-ADFB730C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148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completed target 进入 SkillBank，研究连续任务中的更新、复用和 abstention。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37410F-07A1-43AF-9E43-9CF5E919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8630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7EB4E-45A4-4E74-BF27-21864F6D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F6FB6"/>
                </a:solidFill>
                <a:latin typeface="Arial Unicode MS"/>
                <a:ea typeface="Arial Unicode MS"/>
                <a:cs typeface="Arial Unicode MS"/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F99A68-12DA-4D05-A891-ABAF56F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72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7232E"/>
                </a:solidFill>
                <a:latin typeface="Arial Unicode MS"/>
                <a:ea typeface="Arial Unicode MS"/>
                <a:cs typeface="Arial Unicode MS"/>
              </a:rPr>
              <a:t>扩展相邻领域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8FE9E-128E-4B78-996A-B1F140A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87681"/>
                </a:solidFill>
                <a:latin typeface="Arial Unicode MS"/>
                <a:ea typeface="Arial Unicode MS"/>
                <a:cs typeface="Arial Unicode MS"/>
              </a:rPr>
              <a:t>优先 reaction→reaction、molecule→molecule、materials→materials，再进入远距离迁移。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DA6B4-235F-433A-985F-AF00EB9D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43550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E6BA85-956A-4E5B-83EC-0512D0AD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00825"/>
            <a:ext cx="10896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8B959D"/>
                </a:solidFill>
                <a:latin typeface="Arial Unicode MS"/>
                <a:ea typeface="Arial Unicode MS"/>
                <a:cs typeface="Arial Unicode MS"/>
              </a:rPr>
              <a:t>CARE 2.0 · frozen evidence update · 2026-08-12</a:t>
            </a:r>
          </a:p>
        </p:txBody>
      </p:sp>
    </p:spTree>
    <p:extLst>
      <p:ext uri="{BB962C8B-B14F-4D97-AF65-F5344CB8AC3E}">
        <p14:creationId xmlns:p14="http://schemas.microsoft.com/office/powerpoint/2010/main" val="292501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2026-08-13T06:11:12.0620000Z</dcterms:created>
  <dcterms:modified xsi:type="dcterms:W3CDTF">2026-08-13T06:11:12.0620000Z</dcterms:modified>
</coreProperties>
</file>