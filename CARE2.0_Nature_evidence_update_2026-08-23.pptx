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748e38bb5344db" /><Relationship Type="http://schemas.openxmlformats.org/officeDocument/2006/relationships/extended-properties" Target="/docProps/app.xml" Id="R668fc1acb5e34e30" /><Relationship Type="http://schemas.openxmlformats.org/officeDocument/2006/relationships/officeDocument" Target="/ppt/presentation.xml" Id="R601d13fb1379457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5fde6a86394190"/>
  </p:sldMasterIdLst>
  <p:notesMasterIdLst>
    <p:notesMasterId xmlns:r="http://schemas.openxmlformats.org/officeDocument/2006/relationships" r:id="R372e691b6a684f7c"/>
  </p:notesMasterIdLst>
  <p:sldIdLst>
    <p:sldId xmlns:r="http://schemas.openxmlformats.org/officeDocument/2006/relationships" id="256" r:id="R9f82da3149464481"/>
    <p:sldId xmlns:r="http://schemas.openxmlformats.org/officeDocument/2006/relationships" id="257" r:id="Rb9c382a4e2184730"/>
    <p:sldId xmlns:r="http://schemas.openxmlformats.org/officeDocument/2006/relationships" id="258" r:id="R447fd42427ec4d93"/>
    <p:sldId xmlns:r="http://schemas.openxmlformats.org/officeDocument/2006/relationships" id="259" r:id="Raac42eeaec7346e7"/>
    <p:sldId xmlns:r="http://schemas.openxmlformats.org/officeDocument/2006/relationships" id="260" r:id="R84e48c17e5064842"/>
    <p:sldId xmlns:r="http://schemas.openxmlformats.org/officeDocument/2006/relationships" id="261" r:id="Rdfbe113b226f47c0"/>
    <p:sldId xmlns:r="http://schemas.openxmlformats.org/officeDocument/2006/relationships" id="262" r:id="R2f79a5881c444b43"/>
    <p:sldId xmlns:r="http://schemas.openxmlformats.org/officeDocument/2006/relationships" id="263" r:id="R32705afeb31d4fb4"/>
    <p:sldId xmlns:r="http://schemas.openxmlformats.org/officeDocument/2006/relationships" id="264" r:id="R8467e1d973c14162"/>
    <p:sldId xmlns:r="http://schemas.openxmlformats.org/officeDocument/2006/relationships" id="265" r:id="Rad58a4d7baa04682"/>
    <p:sldId xmlns:r="http://schemas.openxmlformats.org/officeDocument/2006/relationships" id="266" r:id="Ra6b076d7d771451f"/>
    <p:sldId xmlns:r="http://schemas.openxmlformats.org/officeDocument/2006/relationships" id="267" r:id="Rf5799cb0bc7c435b"/>
    <p:sldId xmlns:r="http://schemas.openxmlformats.org/officeDocument/2006/relationships" id="268" r:id="R442c462d768d47a7"/>
    <p:sldId xmlns:r="http://schemas.openxmlformats.org/officeDocument/2006/relationships" id="269" r:id="R2a35a5ec02ec405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5a53b99429c4977" /><Relationship Type="http://schemas.openxmlformats.org/officeDocument/2006/relationships/slideMaster" Target="/ppt/slideMasters/slideMaster1.xml" Id="Rf55fde6a86394190" /><Relationship Type="http://schemas.openxmlformats.org/officeDocument/2006/relationships/notesMaster" Target="/ppt/notesMasters/notesMaster1.xml" Id="R372e691b6a684f7c" /><Relationship Type="http://schemas.openxmlformats.org/officeDocument/2006/relationships/presProps" Target="/ppt/presProps.xml" Id="R92f1898371fc44df" /><Relationship Type="http://schemas.openxmlformats.org/officeDocument/2006/relationships/tableStyles" Target="/ppt/tableStyles.xml" Id="R637f802ee8a048fd" /><Relationship Type="http://schemas.openxmlformats.org/officeDocument/2006/relationships/slide" Target="/ppt/slides/slide1.xml" Id="R9f82da3149464481" /><Relationship Type="http://schemas.openxmlformats.org/officeDocument/2006/relationships/slide" Target="/ppt/slides/slide2.xml" Id="Rb9c382a4e2184730" /><Relationship Type="http://schemas.openxmlformats.org/officeDocument/2006/relationships/slide" Target="/ppt/slides/slide3.xml" Id="R447fd42427ec4d93" /><Relationship Type="http://schemas.openxmlformats.org/officeDocument/2006/relationships/slide" Target="/ppt/slides/slide4.xml" Id="Raac42eeaec7346e7" /><Relationship Type="http://schemas.openxmlformats.org/officeDocument/2006/relationships/slide" Target="/ppt/slides/slide5.xml" Id="R84e48c17e5064842" /><Relationship Type="http://schemas.openxmlformats.org/officeDocument/2006/relationships/slide" Target="/ppt/slides/slide6.xml" Id="Rdfbe113b226f47c0" /><Relationship Type="http://schemas.openxmlformats.org/officeDocument/2006/relationships/slide" Target="/ppt/slides/slide7.xml" Id="R2f79a5881c444b43" /><Relationship Type="http://schemas.openxmlformats.org/officeDocument/2006/relationships/slide" Target="/ppt/slides/slide8.xml" Id="R32705afeb31d4fb4" /><Relationship Type="http://schemas.openxmlformats.org/officeDocument/2006/relationships/slide" Target="/ppt/slides/slide9.xml" Id="R8467e1d973c14162" /><Relationship Type="http://schemas.openxmlformats.org/officeDocument/2006/relationships/slide" Target="/ppt/slides/slide10.xml" Id="Rad58a4d7baa04682" /><Relationship Type="http://schemas.openxmlformats.org/officeDocument/2006/relationships/slide" Target="/ppt/slides/slide11.xml" Id="Ra6b076d7d771451f" /><Relationship Type="http://schemas.openxmlformats.org/officeDocument/2006/relationships/slide" Target="/ppt/slides/slide12.xml" Id="Rf5799cb0bc7c435b" /><Relationship Type="http://schemas.openxmlformats.org/officeDocument/2006/relationships/slide" Target="/ppt/slides/slide13.xml" Id="R442c462d768d47a7" /><Relationship Type="http://schemas.openxmlformats.org/officeDocument/2006/relationships/slide" Target="/ppt/slides/slide14.xml" Id="R2a35a5ec02ec40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50b619a3ea04a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28ce68a2c6743b6" /><Relationship Type="http://schemas.openxmlformats.org/officeDocument/2006/relationships/notesMaster" Target="/ppt/notesMasters/notesMaster1.xml" Id="R1e174b35a8454d5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4cf02d90b242b2" /><Relationship Type="http://schemas.openxmlformats.org/officeDocument/2006/relationships/notesMaster" Target="/ppt/notesMasters/notesMaster1.xml" Id="Rba8fccde138340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783b34de884304" /><Relationship Type="http://schemas.openxmlformats.org/officeDocument/2006/relationships/notesMaster" Target="/ppt/notesMasters/notesMaster1.xml" Id="Rc69f90bcf45e410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0d735e70463474d" /><Relationship Type="http://schemas.openxmlformats.org/officeDocument/2006/relationships/notesMaster" Target="/ppt/notesMasters/notesMaster1.xml" Id="Re75e9a912832488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d430b6840f4df8" /><Relationship Type="http://schemas.openxmlformats.org/officeDocument/2006/relationships/notesMaster" Target="/ppt/notesMasters/notesMaster1.xml" Id="R1d49c62eb72744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59c5c6987b944f2" /><Relationship Type="http://schemas.openxmlformats.org/officeDocument/2006/relationships/notesMaster" Target="/ppt/notesMasters/notesMaster1.xml" Id="Rdc42bd609bb24e6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0110976e094548" /><Relationship Type="http://schemas.openxmlformats.org/officeDocument/2006/relationships/notesMaster" Target="/ppt/notesMasters/notesMaster1.xml" Id="Ra84c2e1dec28415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15046bdee0469d" /><Relationship Type="http://schemas.openxmlformats.org/officeDocument/2006/relationships/notesMaster" Target="/ppt/notesMasters/notesMaster1.xml" Id="Rc541551f965d45e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bb51e7f0de4ae3" /><Relationship Type="http://schemas.openxmlformats.org/officeDocument/2006/relationships/notesMaster" Target="/ppt/notesMasters/notesMaster1.xml" Id="R633f5988f1e44a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0c8565b13734679" /><Relationship Type="http://schemas.openxmlformats.org/officeDocument/2006/relationships/notesMaster" Target="/ppt/notesMasters/notesMaster1.xml" Id="R3ad474f2fbe74db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93e6288467248f3" /><Relationship Type="http://schemas.openxmlformats.org/officeDocument/2006/relationships/notesMaster" Target="/ppt/notesMasters/notesMaster1.xml" Id="Rc77cdf745a4649a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f5ee2fcc98c42ef" /><Relationship Type="http://schemas.openxmlformats.org/officeDocument/2006/relationships/notesMaster" Target="/ppt/notesMasters/notesMaster1.xml" Id="Rf78747ed2683461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fc101131c554ebb" /><Relationship Type="http://schemas.openxmlformats.org/officeDocument/2006/relationships/notesMaster" Target="/ppt/notesMasters/notesMaster1.xml" Id="R93946e1149924f9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882036740d64515" /><Relationship Type="http://schemas.openxmlformats.org/officeDocument/2006/relationships/notesMaster" Target="/ppt/notesMasters/notesMaster1.xml" Id="R68d7d6962b23410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CARE 2.0 的重点不是让大模型一次性猜答案，而是让它在每一轮新证据出现后修正假设并决定下一次实验。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系统先读取旧任务的数据和规律，把它们变成对新任务的可检验假设。新任务开始后，每次只执行一个实验；真实结果回来以后，模型要重新判断旧经验是否还适用。这样，迁移不是固定规则，而是一个可以被证据支持、削弱或拒绝的在线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/Users/rentamac/Documents/Codex/2026-05-12/app-llm-a5labs-tools/care2-opus/experiments/care_replay/CARE2_METHOD.md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最新证据包含 11 条真实数据 source-target 路线。平均 best-so-far AUC 增益为 +1.01，6 条胜、2 条平、3 条负。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这里的 +1.01 是与“同样初始观测、同样预算、只用 target 数据的 GP-UCB”相比的平均搜索效率变化。LLM 在每条路线的 10 个在线轮次都参与了最终候选选择。需要同时强调证据边界：route-level bootstrap 95% 区间为 [-0.44, +2.78]，跨过 0；每条路线目前只有一条在线 LLM trajectory，所以这是描述性信号，不是统计确认。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/Users/rentamac/Documents/Codex/2026-05-12/app-llm-a5labs-tools/care2-opus/experiments/care_replay/results/2026-08-22-submission-evidence-audit/submission_evidence.json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/Users/rentamac/Documents/Codex/2026-05-12/app-llm-a5labs-tools/care2-opus/experiments/care_replay/results/2026-08-22-submission-evidence-audit/route_evidence.csv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问题被定义成一个严格的 sequential decision problem：同起点、同候选、同预算，比较谁更早找到高值条件。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target 中未执行候选的结果始终隐藏。系统只知道 source 历史、target 的变量结构、已经揭示的 target 结果和剩余预算。评价重点不是大模型解释得是否好听，而是它的选择是否让 best-so-far 曲线更早上升。这个定义也让方法能在化学、分子性质和材料任务中使用同一套接口。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/Users/rentamac/Documents/Codex/2026-05-12/app-llm-a5labs-tools/care2-opus/experiments/care_replay/CARE2_METHOD.md</a:t>
            </a:r>
          </a:p>
          <a:p xmlns:a="http://schemas.openxmlformats.org/drawingml/2006/main">
            <a:r>
              <a:t>- /Users/rentamac/Documents/Codex/2026-05-12/app-llm-a5labs-tools/care2-opus/experiments/care_replay/replay.py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在每一轮都有决策权。Proposer 先提案，Critic 再检查，最终只执行一个候选。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候选菜单同时包含 target-only GP 的高分点、source prior 支持的点、共识点和覆盖点。Proposer 要更新一个可证伪假设并选一个实验；Critic 可以接受，也可以退回 GP rank 1，或在合格菜单中改选。真实结果揭示后，GP 后验、当前 best、假设状态和下一轮菜单一起更新。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  <a:p xmlns:a="http://schemas.openxmlformats.org/drawingml/2006/main">
            <a:r>
              <a:t>- /Users/rentamac/Documents/Codex/2026-05-12/app-llm-a5labs-tools/care2-opus/experiments/care_replay/tests/test_online_llm_scientist.py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Replay harness 用完整历史数据模拟“每做一个实验才知道一个结果”的过程。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虽然数据表里保存了所有真实结果，但控制器在第 t 轮只能读取此前执行过的 target 结果。未选择候选的标签不会进入 prompt、GP 训练或候选评分。在线 LLM 和对照组从相同的三个 target 观测开始，各有 10 次揭示机会，因此预算严格匹配。每一轮选择、响应、模型和揭示结果都会写入审计文件。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/Users/rentamac/Documents/Codex/2026-05-12/app-llm-a5labs-tools/care2-opus/experiments/care_replay/replay.py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Reward 是 best-so-far 曲线下面积，不是强化学习的训练奖励。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第 t 轮结果记为 y_t，当前最好值 b_t=max(y_1,...,y_t)。一条长度为 T 的轨迹得分 R=(1/T)Σb_t。好结果越早出现，它会在更多后续轮次中贡献高 best，因此 R 更高。每轮新结果会更新 target 历史、GP 后验、候选排序和科学假设；它不会更新 Claude 的模型权重，也不会自动把本轮经验蒸馏成永久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/Users/rentamac/Documents/Codex/2026-05-12/app-llm-a5labs-tools/care2-opus/experiments/care_replay/replay.py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主比较用同开局 target-only GP 隔离在线 LLM 增量，并用 RGPE 与 multitask GP 做同条件压力测试。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在线 LLM Scientist 和所有 baseline 使用完全相同的三个初始 target 观测、候选空间和 10 轮预算。重放程序首先要求 target-only GP 精确复现在线 runner 保存的 AUC 和 final，确认开局与预算一致。FreeSolv→Lipophilicity 的在线 LLM 比三者中最强的 target GP 高 +6.325 AUC；phonons→bulk modulus 比最强的 RGPE 高 +1.922；Suzuki 则比 multisource ICM-BMA 低 1.960。三条路线相对事后最强 baseline 的等权平均为 +2.096，2/3 路线获胜。这里的“最强”是看完结果后的 oracle stress test，不是预先 calibration 的确认性比较。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/Users/rentamac/Documents/Codex/2026-05-12/app-llm-a5labs-tools/care2-opus/experiments/care_replay/configs/online_llm_matched_classical_audit_v1.json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/Users/rentamac/Documents/Codex/2026-05-12/app-llm-a5labs-tools/care2-opus/experiments/care_replay/results/2026-08-24-online-llm-matched-classical-audit-v1/aggregate.json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/Users/rentamac/Documents/Codex/2026-05-12/app-llm-a5labs-tools/care2-opus/experiments/care_replay/results/2026-08-24-online-llm-matched-classical-audit-v1/comparisons.csv</a:t>
            </a:r>
          </a:p>
          <a:p xmlns:a="http://schemas.openxmlformats.org/drawingml/2006/main">
            <a:r>
              <a:t>- /Users/rentamac/Documents/Codex/2026-05-12/app-llm-a5labs-tools/care2-opus/experiments/care_replay/configs/classical_transfer_benchmark_v1.json</a:t>
            </a:r>
          </a:p>
          <a:p xmlns:a="http://schemas.openxmlformats.org/drawingml/2006/main">
            <a:r>
              <a:t>- https://www.nature.com/articles/s41524-025-01851-8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LLM 的输入和输出都是结构化、可审计并能直接执行的。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每一轮输入包括已揭示 target 历史、当前 best、source evidence、冻结初始假设、GP posterior mean/std/EI 和一个合格候选菜单。输出必须包含 hypothesis_status、更新后的假设、一个 candidate_id、预期结果、改善概率、支持和反对证据、是否继续 source transfer，以及与 GP rank 1 的比较。Critic 对 proposer 的输出做第二次审查。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/Users/rentamac/Documents/Codex/2026-05-12/app-llm-a5labs-tools/care2-opus/experiments/care_replay/scripts/run_online_llm_scientist.py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/Users/rentamac/Documents/Codex/2026-05-12/app-llm-a5labs-tools/care2-opus/experiments/care_replay/results/2026-08-16-opus48-bounded-ei-development-v2/molecular_freesolv_to_lipophilicity/llm_trace.jsonl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这是保存下来的真实 trace，不是为了讲解而编的例子。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FreeSolv 到 Lipophilicity 路线上，初始 best 为 67.25。第 0 轮的 GP rank 1 是 lipo_2256，但 proposer 和 critic 选择了 GP rank 4 的 lipo_0635：它的 expected improvement 略高，而且“卤素丰富、低极性的芳香酰胺”与已观测的高 lipophilicity 分子一致。该候选真正揭示后得到 86.875，使 best 一轮提高 19.625。整个路线相对同开局 target-only GP 的 AUC 增益为 +6.325。需要提醒：这是成功案例，用来展示机制和 trace，不代表所有路线。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/Users/rentamac/Documents/Codex/2026-05-12/app-llm-a5labs-tools/care2-opus/experiments/care_replay/results/2026-08-16-opus48-bounded-ei-development-v2/molecular_freesolv_to_lipophilicity/llm_trace.jsonl</a:t>
            </a:r>
          </a:p>
          <a:p xmlns:a="http://schemas.openxmlformats.org/drawingml/2006/main">
            <a:r>
              <a:t>- /Users/rentamac/Documents/Codex/2026-05-12/app-llm-a5labs-tools/care2-opus/experiments/care_replay/results/2026-08-16-opus48-bounded-ei-development-v2/molecular_freesolv_to_lipophilicity/summary.json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真实路线结果高度异质：既有明显正迁移，也有负迁移。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横轴是在线 LLM Scientist 相对同开局 target-only GP 的 best-so-far AUC 差值。正值表示更早找到好条件，负值表示迁移拖慢了搜索。11 条路线中 6 条正向、2 条持平、3 条负向。最大的正向包括 materials expt gap→dielectric（+6.75）和 FreeSolv→Lipophilicity（+6.33）；最大负向是 materials expt gap→mp gap（-2.45）。红色为冻结后化学扩展，蓝绿色为开发路线。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/Users/rentamac/Documents/Codex/2026-05-12/app-llm-a5labs-tools/care2-opus/experiments/care_replay/results/2026-08-22-submission-evidence-audit/route_evidence.csv</a:t>
            </a:r>
          </a:p>
          <a:p xmlns:a="http://schemas.openxmlformats.org/drawingml/2006/main">
            <a:r>
              <a:t>- /Users/rentamac/Documents/Codex/2026-05-12/app-llm-a5labs-tools/care2-opus/experiments/care_replay/results/2026-08-22-submission-evidence-audit/route_level_auc_deltas.svg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两批调用的总体胜平负都为 6 / 2 / 3，但 11 条配对路线中有 4 条严格翻转正负号。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空心点是早期审计调用，蓝绿色点是第一次冻结重复，橙色菱形是 Suzuki 的第二次冻结重复。材料 expt gap→mp gap、两条 phenethylamine 路线和 aniline→benzamide 路线发生了严格符号翻转。Suzuki 三次观察为 +0.28、+1.38 和 +0.32，方向一致但幅度仍有波动。早期调用发生在确认协议冻结前，因此本页只是 stochasticity audit，不是正式重复检验；它证明了为什么不能用单次 LLM 结果给路线贴上“可迁移/不可迁移”的稳定标签。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/Users/rentamac/Documents/Codex/2026-05-12/app-llm-a5labs-tools/care2-opus/experiments/care_replay/results/2026-08-23-llm-trajectory-stability-audit/paired_route_stability.csv</a:t>
            </a:r>
          </a:p>
          <a:p xmlns:a="http://schemas.openxmlformats.org/drawingml/2006/main">
            <a:r>
              <a:t>- /Users/rentamac/Documents/Codex/2026-05-12/app-llm-a5labs-tools/care2-opus/experiments/care_replay/results/2026-08-23-llm-trajectory-stability-audit/paired_route_stability.svg</a:t>
            </a:r>
          </a:p>
          <a:p xmlns:a="http://schemas.openxmlformats.org/drawingml/2006/main">
            <a:r>
              <a:t>- /Users/rentamac/Documents/Codex/2026-05-12/app-llm-a5labs-tools/care2-opus/experiments/care_replay/results/2026-08-23-llm-trajectory-stability-audit/stability_audit.json</a:t>
            </a:r>
          </a:p>
          <a:p xmlns:a="http://schemas.openxmlformats.org/drawingml/2006/main">
            <a:r>
              <a:t>- https://arxiv.org/abs/2410.03492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材料案例说明 LLM 的价值也包括识别“不应该直接迁移”，并且 trace 能暴露和修复解释错误。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在 phonons→bulk modulus 路线上，LLM 十轮都关闭 direct source transfer，因为 target 证据不支持把声子峰排名直接搬到体模量。但它仍根据材料组成语义和已揭示 target 结果，在 4/10 轮选择了非 GP rank 1 候选。CARE 最终找到 normalized score 77.6127 的 O8Pt6；同开局 GP 最终为 73.2886。AUC 增益 +3.240，final 增益 +4.324。这里应讲成“负迁移识别 + target 自适应”，不能讲成 phonon outcome 正向迁移。早期 trace 有 5 次把无量纲 replay score 写成 GPa；加入 outcome-scale contract 后，新轨迹 20 个 proposer/critic 响应中该错误为 0。新轨迹的 AUC 增益为 +3.083，但它与旧轨迹不是配对调用，因此只用于验证语义修复，不用于声称性能提升。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/Users/rentamac/Documents/Codex/2026-05-12/app-llm-a5labs-tools/care2-opus/experiments/care_replay/results/2026-08-24-online-llm-transport-context-robustness-v3/materials_phonons_to_bulk_modulus/trajectory_5000/summary.json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/Users/rentamac/Documents/Codex/2026-05-12/app-llm-a5labs-tools/care2-opus/experiments/care_replay/results/2026-08-24-online-llm-transport-context-robustness-v3/materials_phonons_to_bulk_modulus/trajectory_5000/llm_trace.jsonl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/Users/rentamac/Documents/Codex/2026-05-12/app-llm-a5labs-tools/care2-opus/experiments/care_replay/results/2026-08-24-online-llm-transport-context-robustness-v3/materials_phonons_to_bulk_modulus/trajectory_5000/audit/materials_online_trace_audit.json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/Users/rentamac/Documents/Codex/2026-05-12/app-llm-a5labs-tools/care2-opus/experiments/care_replay/results/2026-08-24-online-llm-outcome-semantics-robustness-v1/materials_phonons_to_bulk_modulus/trajectory_6000/summary.json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/Users/rentamac/Documents/Codex/2026-05-12/app-llm-a5labs-tools/care2-opus/experiments/care_replay/results/2026-08-24-online-llm-outcome-semantics-robustness-v1/materials_phonons_to_bulk_modulus/trajectory_6000/audit/outcome_semantics_audit.json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这页把已完成的工程能力和仍缺失的科学证据分开。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context-preserving 协议下的分子、材料和 Suzuki 三条单轨迹均相对同开局 GP 为正，但只有分子和 Suzuki 保留了部分 direct source transfer；材料结果来自 abstention 后的 target 自适应。三条都只是 n=1 development evidence。当前系统更新 run-level state、GP 和假设，不训练模型参数，也没有自动把 trace 蒸馏成可复用 skill。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/Users/rentamac/Documents/Codex/2026-05-12/app-llm-a5labs-tools/care2-opus/docs/NATURE_SUBMISSION_READINESS.md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/Users/rentamac/Documents/Codex/2026-05-12/app-llm-a5labs-tools/care2-opus/experiments/care_replay/results/2026-08-24-online-llm-transport-context-robustness-v3/aggregate/repeated_confirmation.json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本页核心</a:t>
            </a:r>
          </a:p>
          <a:p xmlns:a="http://schemas.openxmlformats.org/drawingml/2006/main">
            <a:r>
              <a:t>下一步必须同时完成重复、预先选型的强 transfer baseline 和前瞻实验。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讲解</a:t>
            </a:r>
          </a:p>
          <a:p xmlns:a="http://schemas.openxmlformats.org/drawingml/2006/main">
            <a:r>
              <a:t>Opus 冻结 v1 已完成 11/330；context-preserving development 协议另完成分子、材料和 Suzuki 各一条。GLM 仍没有完整轨迹，因此不能报告跨模型效果。同开局 classical stress test 已经完成三条路线，说明分子和材料案例能超过 RGPE/ICM，但 Suzuki 的 multisource ICM-BMA 仍更强。下一步要在看结果前固定 baseline 选择规则，把在线 LLM、RGPE、multitask GP-ICM 和 target-only GP 放进同一个重复协议。最终还需要未参与调参的任务家族和至少一条真实 prospective/wet-lab campaign。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/Users/rentamac/Documents/Codex/2026-05-12/app-llm-a5labs-tools/care2-opus/docs/NATURE_SUBMISSION_READINESS.md</a:t>
            </a:r>
          </a:p>
          <a:p xmlns:a="http://schemas.openxmlformats.org/drawingml/2006/main">
            <a:r>
              <a:t>- /Users/rentamac/Documents/Codex/2026-05-12/app-llm-a5labs-tools/care2-opus/docs/GLM53_CROSS_MODEL_PROTOCOL.md</a:t>
            </a:r>
          </a:p>
          <a:p xmlns:a="http://schemas.openxmlformats.org/drawingml/2006/main">
            <a:r>
              <a:t>- /Users/rentamac/Documents/Codex/2026-05-12/app-llm-a5labs-tools/care2-opus/experiments/care_replay/configs/online_llm_transport_context_robustness_v2.json</a:t>
            </a:r>
          </a:p>
          <a:p xmlns:a="http://schemas.openxmlformats.org/drawingml/2006/main">
            <a:r>
              <a:t>- /Users/rentamac/Documents/Codex/2026-05-12/app-llm-a5labs-tools/care2-opus/experiments/care_replay/configs/online_llm_matched_classical_audit_v1.json</a:t>
            </a:r>
          </a:p>
          <a:p xmlns:a="http://schemas.openxmlformats.org/drawingml/2006/main">
            <a:r>
              <a:t>- /Users/rentamac/Documents/Codex/2026-05-12/app-llm-a5labs-tools/care2-opus/experiments/care_replay/results/2026-08-24-online-llm-matched-classical-audit-v1/aggregate.json</a:t>
            </a:r>
          </a:p>
          <a:p xmlns:a="http://schemas.openxmlformats.org/drawingml/2006/main">
            <a:r>
              <a:t>- https://www.nature.com/articles/s41524-025-01851-8</a:t>
            </a:r>
          </a:p>
          <a:p xmlns:a="http://schemas.openxmlformats.org/drawingml/2006/main">
            <a:r>
              <a:t>- https://www.nature.com/articles/s41467-025-64105-7</a:t>
            </a:r>
          </a:p>
          <a:p xmlns:a="http://schemas.openxmlformats.org/drawingml/2006/main">
            <a:r>
              <a:t>- https://www.nature.com/nphys/editorial-policies/reporting-standards</a:t>
            </a:r>
          </a:p>
          <a:p xmlns:a="http://schemas.openxmlformats.org/drawingml/2006/main">
            <a:r>
              <a:t>- https://www.nature.com/nature/editorial-policies/ai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c26844b36447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ab63caf39748e1" /><Relationship Type="http://schemas.openxmlformats.org/officeDocument/2006/relationships/slideLayout" Target="/ppt/slideLayouts/slideLayout1.xml" Id="Rc076f4bc98944c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076f4bc98944c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9034cff6f427a" /><Relationship Type="http://schemas.openxmlformats.org/officeDocument/2006/relationships/notesSlide" Target="/ppt/notesSlides/notesSlide1.xml" Id="Rf1be886a385e45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52c3fcee894270" /><Relationship Type="http://schemas.openxmlformats.org/officeDocument/2006/relationships/notesSlide" Target="/ppt/notesSlides/notesSlide2.xml" Id="Rf64d810f3cf54da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70e1427824285" /><Relationship Type="http://schemas.openxmlformats.org/officeDocument/2006/relationships/notesSlide" Target="/ppt/notesSlides/notesSlide3.xml" Id="R26b9aa6463ff48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31c67f2dd84fa7" /><Relationship Type="http://schemas.openxmlformats.org/officeDocument/2006/relationships/notesSlide" Target="/ppt/notesSlides/notesSlide4.xml" Id="Reb125a19756c480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a402bf4eb9473a" /><Relationship Type="http://schemas.openxmlformats.org/officeDocument/2006/relationships/notesSlide" Target="/ppt/notesSlides/notesSlide5.xml" Id="R395a78e884f5422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54bdd8ba064f34" /><Relationship Type="http://schemas.openxmlformats.org/officeDocument/2006/relationships/notesSlide" Target="/ppt/notesSlides/notesSlide6.xml" Id="Rb2104beec1004ca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6570660c946fb" /><Relationship Type="http://schemas.openxmlformats.org/officeDocument/2006/relationships/notesSlide" Target="/ppt/notesSlides/notesSlide7.xml" Id="R0dffcf1d83e946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00807a46a64066" /><Relationship Type="http://schemas.openxmlformats.org/officeDocument/2006/relationships/notesSlide" Target="/ppt/notesSlides/notesSlide8.xml" Id="R02eecc559e5f4d0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d647b7e3a24d90" /><Relationship Type="http://schemas.openxmlformats.org/officeDocument/2006/relationships/notesSlide" Target="/ppt/notesSlides/notesSlide9.xml" Id="Rb5085e75c6be4c3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a9043e60f4300" /><Relationship Type="http://schemas.openxmlformats.org/officeDocument/2006/relationships/image" Target="/ppt/media/image.png" Id="R70bda5fc7ead4032" /><Relationship Type="http://schemas.openxmlformats.org/officeDocument/2006/relationships/image" Target="/ppt/media/image2.png" Id="R47dcf87f9b094a72" /><Relationship Type="http://schemas.openxmlformats.org/officeDocument/2006/relationships/notesSlide" Target="/ppt/notesSlides/notesSlide10.xml" Id="R7332cb4621704f5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f65155240463a" /><Relationship Type="http://schemas.openxmlformats.org/officeDocument/2006/relationships/image" Target="/ppt/media/image.png" Id="Re94e502aaaf24c3a" /><Relationship Type="http://schemas.openxmlformats.org/officeDocument/2006/relationships/image" Target="/ppt/media/image3.png" Id="Race971ece4344f7b" /><Relationship Type="http://schemas.openxmlformats.org/officeDocument/2006/relationships/notesSlide" Target="/ppt/notesSlides/notesSlide11.xml" Id="R096c3518ee3141a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78bf5f2b5f4aec" /><Relationship Type="http://schemas.openxmlformats.org/officeDocument/2006/relationships/image" Target="/ppt/media/image.png" Id="Rcd633a3dcea948e5" /><Relationship Type="http://schemas.openxmlformats.org/officeDocument/2006/relationships/image" Target="/ppt/media/image4.png" Id="Rb184f924b9ef40c2" /><Relationship Type="http://schemas.openxmlformats.org/officeDocument/2006/relationships/notesSlide" Target="/ppt/notesSlides/notesSlide12.xml" Id="Rd9c361a718234f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7df54a76694c6a" /><Relationship Type="http://schemas.openxmlformats.org/officeDocument/2006/relationships/notesSlide" Target="/ppt/notesSlides/notesSlide13.xml" Id="R5565a83942844cd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a42f2a22e7479f" /><Relationship Type="http://schemas.openxmlformats.org/officeDocument/2006/relationships/notesSlide" Target="/ppt/notesSlides/notesSlide14.xml" Id="R1e3aa8285b8f438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8E2C15-6ABA-42B1-B457-E524007CF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858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19C9C7-C4E3-4DD7-951D-59BDBFDE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762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让 LLM 在证据中持续修正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CARE 2.0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3DFA49-E869-4316-82E0-AE7932D8D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历史知识提供假设，新实验逐轮决定是否继续迁移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28DD5B-E903-4D1B-AC27-C8E2DE49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38600"/>
            <a:ext cx="571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9B407-CB14-42D1-BD2A-C68115EE9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00550"/>
            <a:ext cx="609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在线 LLM Scientist · 真实重放证据 · 2026-08-24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30DA70-6A3F-4935-B39E-B5A0F4072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0"/>
            <a:ext cx="3619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A793F9-1E81-4BBA-906C-76088DA9B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2001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历史证据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5CE5F-8B09-4518-852C-BA0377A5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4307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6E7B0A-73F5-49FF-BA20-6558F1CD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LLM 提假设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7E8628-C659-424B-BC29-2C7A7FD27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2876550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9DB5D6-297E-4D79-9009-DCAFFE63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6710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逐轮实验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A37260-74A6-423C-B523-29AA57BA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4010025"/>
            <a:ext cx="85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↓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5FB91B-0953-4F09-A37F-D7065E70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591050"/>
            <a:ext cx="209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保存证据</a:t>
            </a:r>
          </a:p>
        </p:txBody>
      </p:sp>
    </p:spTree>
    <p:extLst>
      <p:ext uri="{BB962C8B-B14F-4D97-AF65-F5344CB8AC3E}">
        <p14:creationId xmlns:p14="http://schemas.microsoft.com/office/powerpoint/2010/main" val="12095946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09C1D-BC24-4D97-B373-8187A6B87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最新证据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E7B76D-3714-4077-9E5A-5434E3D1C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313817-9B8F-4473-95A8-03DE65683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全程参与 11 条真实路线，跨模型独立重复已经启动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430172-89CA-4BEE-99B9-7ADFB7725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EDF4B-1E23-407A-8648-DB6CE2E9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2362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+1.01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7321D6-D098-45E3-B508-A69735778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平均搜索效率变化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9EB89-3EE1-453C-9061-76076E9C9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194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 条路线 · 同预算对照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B03CB-DD3D-45D2-A755-F331C5B84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6 / 2 /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BA55B1-D00B-440C-A77B-46BBCE141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胜 / 平 / 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37F159-6D89-4813-ADEE-6519E85B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相对 target-only GP-UCB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CA0859-E9DD-4993-BE56-F8C1226B7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100%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96B0A9-9811-41FC-AF0C-EE2B2D7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逐轮参与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3580269-F7AD-4ED9-B495-B8D3DA26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每条路线 10 轮在线决策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D5F63A-31DA-446D-BA11-3C45B128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1790700"/>
            <a:ext cx="2190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4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95% CI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E66E54-348A-405C-82CB-B016762B3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4193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[-0.44, +2.78]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0BF330-35A5-482E-B532-B6A2BD231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6325" y="281940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区间仍跨过 0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9E76F5-A7CC-4337-A863-FA3176F8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108966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129EB-5840-4AA8-85DE-F1F6CB5B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053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目前最准确的结论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36D7B4-429C-468B-B182-198490743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267200"/>
            <a:ext cx="7562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结果总体偏正，但具有明显路线差异；每条路线目前只有一条在线轨迹。</a:t>
            </a:r>
          </a:p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95% 区间跨过 0，因此不能称为统计确认或普遍跨领域提升。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D202BF-2C18-4A93-AFFA-C3484446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21318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2041906-50A8-4C88-8F91-09AB2CDC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为什么要做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6C5AC5-2A53-41C7-9FB9-51BF2602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321F2-78BB-49E9-939C-B85FF9A56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真正的问题不是让 LLM 会说，而是让它在有限预算里做对实验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67C0D-AE39-49BA-B9EF-35AB06AAD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9EEC39-F19B-4FCD-8A2B-6AF1EF5AF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F7DB6-67B7-44E2-A912-46847EFB1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BC7772-0453-4652-AEF5-9755DDEF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迁移前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E4F1-3A93-4BE3-83DB-14527C946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source 任务的历史证据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的变量和候选空间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固定的实验预算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target 未执行条件的答案隐藏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7678EA-112E-4AA7-985C-3730B2229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10F5D5-9E09-45F3-A766-0353F71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C4442-D55B-4631-B209-517CE9A61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C5AD0A-FD2A-44C7-AF68-070F74C1B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生成候选菜单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Proposer 提案，Critic 复核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只执行并揭示一个条件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更新 GP、假设和下一轮选择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610776-5923-4272-B87F-28B3DA7A3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16954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4966F-7C0E-41A6-A23B-DDBC0A39F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95500"/>
            <a:ext cx="342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6E0208-808E-4259-B9EE-C18402E1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28850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判断标准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01106B-F8A9-40CC-BA2B-F18C9B35D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705100"/>
            <a:ext cx="285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好结果是否更早出现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起点、候选和预算完全匹配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全过程无 target 泄漏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• 正迁移和负迁移都保留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D30987-0E9D-42AB-92EE-A91CE84F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0F8D78-8BF7-4E24-A37B-A65ACB738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91150"/>
            <a:ext cx="10439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问题定义：同起点、同预算下，LLM 能否利用旧证据，比 target-only GP 更早找到高值条件？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E0C2BC-16C0-4CA7-B0A6-F9F9D0C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7881056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4EA91A-0C71-41B5-9F6A-1371C6419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系统怎么工作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EFAA52-3472-4747-8A66-6E3D8CDEE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40953B-3723-4283-AD49-59F47D3DA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每一轮都由 LLM 提议和复核，不是只参与开局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A64387-B85D-499F-8906-42356A933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C7EDE-8671-4F76-8570-F70C5A7B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47A4F-522A-4D8C-83A4-D9355C375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DA645-3FC2-4444-9C7B-0613294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3BBB91-1B98-478D-9736-863589287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整理证据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3D7F38-69FD-4B19-B2EE-0CE56FF28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读取 source 规律与 target 结果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61BA78-D401-4D2D-A379-96D4F076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4CABB9-96DA-493C-8EED-00D34FF3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56B480-FFAB-4DEE-B978-30020CE7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B456A2-CFE4-4979-8267-C9DBF45C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建立候选菜单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000609-21B6-49A6-AADB-CAEF0B4EB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GP 估计 + source prior + 覆盖点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F2CEEE-06FE-435E-B6F8-7A5CFF0BB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5F4E04-C00D-42E1-AFA8-612F0F590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40D6DE-6CF6-4EE1-8982-12A67D8B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7F43F0-A0D4-4037-B559-2ADC9C65A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提案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9E9ECE-5994-40A1-A4EA-A5190A582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提出可证伪假设并选一个候选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4CD9CB-10D5-4BEB-88A5-BF397A64B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781300"/>
            <a:ext cx="361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22BD03-C3CB-44E5-A60E-A4531D86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A621A9-5112-4621-BE71-6F6DF2E2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E29FBD-CE46-4DB3-A51B-3B99AAE6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Critic 复核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CD6AD94-2B65-4A35-97D0-236D414A5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接受、退回 GP 或改选候选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20CF36D-1E5E-47CE-A928-CF0E31CD8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190750"/>
            <a:ext cx="1809750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E8C420-CC90-413E-A20E-8D367B045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362200"/>
            <a:ext cx="342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6F3CA4-6C91-4BA4-B71E-81A551E2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743200"/>
            <a:ext cx="146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执行并更新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7FBD1-5656-44D6-8E58-A9EC03845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219450"/>
            <a:ext cx="14668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揭示一个结果，刷新状态和下一轮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A00B26-63E8-4C48-9F6A-CB62AFD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91050"/>
            <a:ext cx="108966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9450D6-FB40-4501-AC39-0DDEFBBC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LLM 的真实权限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11D509-589E-478E-B7D5-C39EE06EC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705350"/>
            <a:ext cx="8420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10 / 10 轮都参与最终选择；可以改选非 rank 1 候选，也可以在证据不足时回退。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07E802E-DEBB-4C8D-98AA-0F502308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9049526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E7EB9-9CB2-40F0-8056-440E5CCF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实验模拟器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93C756-59DF-4E29-B5F4-D9784B1C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A8AE39-D587-440D-9353-10948A24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未选择条件的答案始终隐藏，直到该轮真正执行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A8F62-1AA7-4F31-BC8D-24651C2CD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514EB0-C1EE-4141-9AC0-891636B4E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79D7ED-1BAA-451A-930C-4B042667B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035900-0BDB-4147-8D0E-726D314A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固定 source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和 target 表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ED183-DA66-4D66-BEE6-06A022AD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F1249-A40C-4C5D-B560-8421D09E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D8D6F9-15A9-4483-81BD-B2B26771E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相同初始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 个观测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9BF9-11A5-4576-867D-8912604E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DF4A9-CFB9-4AE8-8D31-FE3A5700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DE32EB-587C-485A-B45D-977080901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各自选择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下一个候选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DC8EB4-A599-4EF6-9B31-10369B95B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552700"/>
            <a:ext cx="3619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E2984-AEEA-4195-94FB-94F519208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AF0B10-56BE-4E44-8428-4583F12A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候选真实值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A1974B-E987-446B-BF26-EA871FCBD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52650"/>
            <a:ext cx="18097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C9D0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34EF49-2600-44CB-9F8E-195C2C43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2428875"/>
            <a:ext cx="154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保存选择、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结果和 trace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ECD50E-F61C-4375-A3AD-E5F9B1A69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00500"/>
            <a:ext cx="108966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E224A4-7D1A-4FB5-B12A-677523D32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229100"/>
            <a:ext cx="171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6DCBF4"/>
                </a:solidFill>
                <a:latin typeface="Arial Unicode MS"/>
                <a:ea typeface="Arial Unicode MS"/>
                <a:cs typeface="Arial Unicode MS"/>
              </a:rPr>
              <a:t>匹配条件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1379F2-B5F6-4C37-B1ED-10276BEF6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71950"/>
            <a:ext cx="8496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相同 target 初始观测 · 相同候选空间 · 相同 10 轮预算 · 对照组不使用 source transfer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B554A0-6388-4FB3-B979-12C11104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62600"/>
            <a:ext cx="10896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Replay harness 不能替代湿实验，但能无泄漏地比较搜索效率，并复现每一次决策。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885C35-75DB-412A-BBD2-4B7D75629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426485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116A57-FCEB-41A4-BF66-70A2F385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Reward 和更新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7BD812-A2FD-424A-B8A5-26A885D3A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E7BF9-60DA-407B-9735-F12F0501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Reward 衡量“多快找到好结果”，不会训练 LLM 权重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B4E107-1CB8-4C6E-85A8-C3DE7C34F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874E46-562C-4F15-995F-BE24C1AEC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当轮状态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871AA0-787F-42E7-A526-7A1F28CD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F1D52E-47C4-4CF6-9D22-687ADCDF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第 t 轮揭示结果 yₜ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当前最好 bₜ=max(y₁…yₜ)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越早提高 bₜ，后续轮次受益越多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• 最终 best 相同，AUC 仍可能不同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255CD-25CF-431D-8006-C9121BB8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184C89-E296-420E-AE9B-C01752CB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Reward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302063-7693-42AD-B79E-C84D57E39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076450"/>
            <a:ext cx="31432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9525">
            <a:solidFill>
              <a:srgbClr val="D99A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AF34CA-94DA-4C15-9938-65854985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400300"/>
            <a:ext cx="26479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R=(1/T) Σ bₜ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R 越高，搜索效率越好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只在相同 T 和起点下比较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报告 ΔAUC、CI 和胜/平/负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67D1DC-80CE-4B56-8FF6-77691319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514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0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C3F9133-806F-4BBD-B562-5135189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6192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0375BC-FED0-4128-880B-4DDF0774C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076450"/>
            <a:ext cx="24193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9525">
            <a:solidFill>
              <a:srgbClr val="2C8A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CC88A4-3A37-4069-859C-41308623A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00300"/>
            <a:ext cx="19621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1. target 观测历史和当前 best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2. GP 后验与候选排序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3. 假设和是否继续迁移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4. trace；不更新 LLM 参数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51388B-2F5E-4262-86FA-3EB069767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108966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475CFB-B2DF-4C19-BBDA-88CFA1F13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76875"/>
            <a:ext cx="1055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新结果更新实验状态和下一轮决策，不做梯度训练，也不会自动写成永久 skill。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8FF976-9DA9-4AE9-AB3D-F19F5FF0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6009740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9316DA5-6090-4013-9E1C-55245BC3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主对照怎么做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5FA57B-2012-4D8D-A9A6-B636070F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7D01F-D80B-4FC3-A304-E1829017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主比较固定相同开局和预算，只改变后续是否使用 LLM + source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05A7CD-4ECA-4779-BCF5-62C0DD17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3F7A94-B933-4CFC-BA8E-C2D7083A6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2A6B82-64C2-4098-B592-523210E4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比较内容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105C2-D714-4BA9-91EA-CAD35269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1676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3812E-89B6-42FD-8819-946FC68D6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1743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在线 LLM Scientist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CB9698-69C9-4EA3-8000-E8A4277C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601350-CBDA-4D7A-8AEF-C76845D41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同开局 target-only GP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7F56C2-34D3-484E-9CE5-8487CCED0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1676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7E64EF-4279-4716-A7B4-764ECB77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1743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传统 transfer BO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EC3E96-FE5C-4181-A8D5-D339165D3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26E05-04C5-4A84-A924-06F907C8F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526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 3 个观测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0BB42-C90A-41EB-9039-75D5CCE69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2860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217B52-38A7-4423-B476-C9ABF36BA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3526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相同 LLM compiled initial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83A7EA-47AE-4E30-A719-96B4B12C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2ECE8-7BBC-49C7-8235-2496B1700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与在线 LLM 完全相同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1355DB-0151-4D18-B87F-8443CC8DB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2860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A48FD73-F62F-4623-8534-478C08EF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3526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与主对照匹配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595F24-3E15-4235-9EEF-0295939A5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956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2948AEE-63E8-464C-84A4-E1825F42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622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后续候选选择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F004391-874D-4A52-A05A-DEDA3619C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28956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154744B-1E00-459B-B730-27DEA40BA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29622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72A0F7-4990-460A-9BA3-7396609E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03FBDD-D77C-4E3D-9926-821AE31C3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target-only GP-UCB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EA819F-BA07-4E1A-8FF0-E0CCBB67B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28956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5217BD-A7BA-4AC8-BDA9-2835F686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29622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RGPE / multitask GP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4D5A29E-B109-45EC-98D2-61B18727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052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272FFF0-6F09-4CD3-A2B1-347C8648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718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在线揭示轮数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BDD43B-087A-4D1C-B0DE-3CDE4F3C9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35052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52CD380-8FCC-4148-905F-D4321EE3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35718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50DC822-AAE4-456A-A447-C854A765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954C3D-6A16-4248-9F4A-EC5DA6DE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0AB038-13AC-41DF-84D8-30405B286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35052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011AF6-A466-4959-980D-6BFBE991A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35718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9A422C5-BCBB-4FC3-AB7C-DC526522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148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81277C-D279-4462-A04E-9661536E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814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未执行 target 标签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66BDFB9-AD9B-4964-BB1A-BB985F2B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1148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94CEE-0819-452B-86B6-32E68594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1814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7FDB1DA-43BB-4D51-9C6D-8D962898F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5FABCD-6DC4-4ADD-8965-99E8426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3B9BB95-2DA2-49AC-A570-371821CA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1148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928D59B-4907-4D09-B4FB-E8D9E8C2A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1814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F7C17D-F6DF-43BF-9246-271B21BDA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31569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E3F91E-1087-45EE-83B1-4DF2B20DD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91075"/>
            <a:ext cx="1879169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用途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8810AD-8977-4B37-A95A-952A7692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9269" y="4724400"/>
            <a:ext cx="2585634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45D6699-05A5-4ABD-BC91-EC551282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5469" y="4791075"/>
            <a:ext cx="2433234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主方法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D67305D-A5C0-479A-A0F0-A8E72D78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4903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001F28-DA98-4FBB-AEC6-A2612331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1103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主对照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B6D4199-91DD-4AE0-9FD4-34F86062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4602" y="4724400"/>
            <a:ext cx="313969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E424F5-85B0-4F49-8D1A-E489DC1D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0802" y="4791075"/>
            <a:ext cx="2987298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传统 transfer 对照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51F7BA0-D474-4259-B40B-EB003CE75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81650"/>
            <a:ext cx="108966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C5FE808-E011-4276-A9AF-0C176B1D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705475"/>
            <a:ext cx="10553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同开局压力测试：分子、材料路线超过全部 baseline；Suzuki 的 ICM-BMA 更强。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364DE0A-44DA-4D23-BDF7-4D1909BD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61335563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B0C712-9166-4268-BF7C-A7EE819BE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LLM 每轮看什么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FAE2C-83B5-4A9B-A9ED-BFC9030CB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A01709-35DF-4429-8B29-E56234D10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是在线策略专家：读证据、提出假设、选择下一次实验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BCD916-EC9A-457D-8E9F-23F6A27D2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3AFBC8-29CF-4F75-A347-7DDD591D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输入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7F0B4-8F9E-47E6-AC51-6E62A124E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28575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08E008-983E-4DD6-881B-288E5B633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24100"/>
            <a:ext cx="24003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已揭示 target 历史与当前 best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source 证据和冻结初始假设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GP 均值、不确定性和 EI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候选菜单；隐藏真实答案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839534-B171-4647-B0C6-EE8060FC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0DC9BC-EE20-4D00-B848-C56686B0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81150"/>
            <a:ext cx="316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5B2257-FBFD-496D-9AE0-CC0A0DA1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019300"/>
            <a:ext cx="31623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14DB55-8B6F-431B-A43D-AFD3268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286000"/>
            <a:ext cx="27051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Opus 4.8 / GLM 5.3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5A1C2B-99C9-4CFF-BD8F-1491D0B63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33675"/>
            <a:ext cx="2400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A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E06BE8-EF7E-4E4C-BF44-F11C50C3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90850"/>
            <a:ext cx="2705100" cy="1504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更新一个可证伪假设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选择一个候选并说明理由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列出支持和反对证据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决定继续迁移或回退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C09F23-5885-4F70-AE41-C3D17A3A9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124200"/>
            <a:ext cx="514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51F37C-BD49-4A82-A36B-EBAD84C05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81150"/>
            <a:ext cx="2971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执行与反馈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2C1B29-AC8F-4AE1-8721-5CE7207A8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19300"/>
            <a:ext cx="297180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0F128A-D26B-4F6D-B031-2E4C23FE4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3050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56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执行一个候选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130E07-6AAB-4406-B614-254C0139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只揭示该候选的真实 target 值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253578-1FCA-495E-B628-99C384C9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432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更新下一轮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527D9D-ABE8-4362-89A5-2559C29A2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486150"/>
            <a:ext cx="2400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重训 GP，刷新菜单与当前 best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C5C985-AD09-46DB-98D8-712D4893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229100"/>
            <a:ext cx="2400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324D"/>
                </a:solidFill>
                <a:latin typeface="Arial Unicode MS"/>
                <a:ea typeface="Arial Unicode MS"/>
                <a:cs typeface="Arial Unicode MS"/>
              </a:rPr>
              <a:t>保存完整 trace；进入下一轮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C508B0-F200-4EA0-BB37-A68F266E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0065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75B3E-6DCF-46F9-AA6D-1CB84E11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34000"/>
            <a:ext cx="10401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完整保存：prompt、原始回答、模型、token 用量、选择者、候选条件、揭示结果和文件哈希。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API 密钥不会写入代码、PPT 或实验结果。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E7681-229E-47D3-BAFE-C24840D7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2641903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CFDDDBF-D3E5-46A9-B61A-783EB606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真实推理案例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B8BDA2-AC0D-422E-A5A0-0A7DE1B15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FA2215-0D8E-4BB8-8291-73445664F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LLM 没照搬 GP rank 1，第一轮把 best 从 67.25 提到 86.875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F2DAF-4BD5-4C32-A84C-A21A1F665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385EEB-98CA-443B-BC8B-EC2DCE9F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108966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53249D-42FE-4F5E-8608-52EFE3E99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3830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冻结假设 · FreeSolv → Lipophilicity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6DC657-F311-4C2B-ACFA-3FE9EDED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600200"/>
            <a:ext cx="697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2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溶剂化偏好与脂溶性沿相反轴变化：卤素丰富、低极性的芳香分子可能在 target 中更好。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7CD4E2-F8A6-4271-AC8F-5AC39C33F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E6A499-BF02-4D70-A65B-DED612212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146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阶段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9A0BB8-821E-4D1C-B5A5-68308216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26479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646089-5773-485E-AB8E-068F02C24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27146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选择 / 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995DE2-F2D8-482E-91FF-17A8CDE69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D7EAC0-D2D5-4489-BF99-308E097A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模型信息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43A55A-890E-48BC-B00A-F3FDB6DF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26479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253BC-A893-425B-9CD8-DD494BF73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27146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真实揭示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47A0BD-EDAD-4B2D-854A-EE91CF0D1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26479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E20673-AD04-4B2F-B49D-4957855C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27146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best 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336950-35E5-4FC3-8E3D-3EAEB0E5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8598A-725F-4CD2-BE42-1E622130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670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初始状态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3C6D57-105C-4306-8786-3A1498619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2004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752B35-F759-4C55-BC80-3880C6A5B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2670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best = lipo_3444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76DA0-1F43-489F-BE7B-A6617595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188630-0795-44A3-B452-BE323E50F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A385655-BAD0-43C3-99BD-26CA88585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2004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BB38B5-3B8D-47A0-B419-8ABE7C4B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2670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67.25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40F474-95BA-4671-8A4D-B58315D7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2004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D8E5C62-5247-490A-9B4D-4E04C07A2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2670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—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7E8AE5-AA1A-4355-8969-C6C8D26E5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5285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66D6D-2AE5-4D12-B1B3-C7581378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952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Proposer + Critic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AE50F0-4366-4669-ABC7-3B7EE89F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375285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AD000B9-8EA7-44B5-833B-F1D7BB19B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381952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选择 lipo_0635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10E465-A185-4D56-AC5A-3A8B43A8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242CD3-8552-4F70-BFC1-A9FFF65F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GP rank 4 · EI 3.90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79C250B-7140-4B0D-9265-8469312D3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375285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0800D8-CADC-4A37-8293-0B5A57AA4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381952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隐藏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3829D04-E72E-4FF0-8435-5BF31453F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375285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6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9C689B-12CA-46A2-974B-AE450172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381952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待执行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BA52B3C-4CBE-49E8-AE0E-073D0446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05300"/>
            <a:ext cx="2372647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9C59420-8ADB-4B61-BC88-7FCA893E0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2220247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第 1 轮执行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679A9D-809A-4C46-B0C7-C098FABA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47" y="4305300"/>
            <a:ext cx="2899902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50D8B81-7292-4DE3-B6D7-436934ED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547" y="4371975"/>
            <a:ext cx="2747502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揭示 lipo_0635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9D98D3-181D-4E88-9598-E561FF7D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0248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8BD18E7-E281-45FE-AB11-C9EE9CCA9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6448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模型预期 62.0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615223B-F11A-4853-9870-7CDCA0069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765" y="4305300"/>
            <a:ext cx="1757516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89BF138-860B-4BCF-A804-4EBDCE968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965" y="4371975"/>
            <a:ext cx="1605116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100.000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173B347-F3C6-4AC1-8659-0D0B7260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5281" y="4305300"/>
            <a:ext cx="2109019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B5C1201-B5FC-4E88-8DC5-806D3D1BB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1481" y="4371975"/>
            <a:ext cx="1956619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+19.625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CF5338A-D782-4284-B7E6-E5A849CF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67056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6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2983001-81CC-4F9C-BE72-F0BD4F41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1625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为什么不选 GP rank 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7537A2C-F437-41D9-9C4B-812F9442E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05450"/>
            <a:ext cx="628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该候选 EI 略高，且卤素丰富、低极性结构与已观测赢家一致。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283B97-0EE6-4324-9513-2A14833BA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991100"/>
            <a:ext cx="396240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C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7470470-BEA1-438C-8F4E-76E67B8F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证据边界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96A6D4D-E6A8-4015-9A15-DB5FE44C2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486400"/>
            <a:ext cx="3467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1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这是保存的单条真实 trace，不代表所有路线都会成功。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64EB465-4DD9-4272-9812-883B25E1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1639012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逐路线结果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6 条正向、2 条持平、3 条负向，迁移效果明显异质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bda5fc7ead4032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f87f9b094a72"/>
          <a:srcRect xmlns:a="http://schemas.openxmlformats.org/drawingml/2006/main" l="0" t="0" r="0" b="43396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证据强度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两次调用总体同为 6 / 2 / 3，但 4 条路线翻转正负号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4e502aaaf24c3a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e971ece4344f7b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311705-E0EB-402F-B1A7-C288385A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材料迁移案例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A56E-44FC-448E-B95A-42B221102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589F62-8A06-48D2-A906-6E23C1D2A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拒绝不可靠迁移后仍更早找到高值材料；单位语义错误 5 → 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CEF1D-351C-443E-8CF8-6F33B746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633a3dcea948e5"/>
          <a:stretch xmlns:a="http://schemas.openxmlformats.org/drawingml/2006/main"/>
        </p:blipFill>
        <p:spPr>
          <a:xfrm xmlns:a="http://schemas.openxmlformats.org/drawingml/2006/main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B4F285-B5EF-4E37-9F30-02CAC87F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84f924b9ef40c2"/>
          <a:srcRect xmlns:a="http://schemas.openxmlformats.org/drawingml/2006/main" l="0" t="12000" r="0" b="0"/>
          <a:stretch xmlns:a="http://schemas.openxmlformats.org/drawingml/2006/main"/>
        </p:blipFill>
        <p:spPr>
          <a:xfrm xmlns:a="http://schemas.openxmlformats.org/drawingml/2006/main" flipH="0" flipV="0">
            <a:off x="1462686" y="1257300"/>
            <a:ext cx="9266627" cy="5105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755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116EE-10E9-42CB-87E9-9FFCF69EA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现在能说什么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93BB4F-687E-41EA-880C-DA077418C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C42BAC-7B39-48DE-98FE-F217E9DA9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47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当前证据支持“路线特异的正向信号”，不支持“普遍跨领域提升”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036B3D-8368-4946-B1A4-22E1178B0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D85720-6F57-4F74-A324-0BFA22D53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C8A62"/>
                </a:solidFill>
                <a:latin typeface="Arial Unicode MS"/>
                <a:ea typeface="Arial Unicode MS"/>
                <a:cs typeface="Arial Unicode MS"/>
              </a:rPr>
              <a:t>已经做到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C3C5FB-A495-4A31-9A88-FA2DD403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8A6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A04F9C-2AAB-439F-AAAB-57819E2FB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无泄漏 replay 与同预算对照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覆盖化学、分子和材料任务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三条 context-robust 轨迹均正向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prompt、选择、结果和失败可追溯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871CA-3863-4F0F-AD47-D7F772330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还没有做到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3EDA0F-719B-4FB6-8EF4-3EE305D01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4D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841F36-5B20-49DF-BA94-2CB3D6E69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每条路线足量、独立的 LLM 重复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窄且不跨 0 的确认区间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预先选型后稳定超过 transfer GP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前瞻 wet-lab 独立验证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E01B4-FF74-43B9-836C-866227510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71450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系统边界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C90A63-4DAD-4827-B80E-F6F73DC57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1717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6F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E6C171-175C-4A68-B81C-6F3601CBF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457450"/>
            <a:ext cx="3143250" cy="2266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新结果更新状态、GP 和假设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证据不足时可关闭 source transfer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不训练 LLM 模型权重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• trace 尚未自动蒸馏为永久 skill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5B1B0-A476-4A17-870B-B30AB152A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108966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7E0A7A-9D50-4462-9357-1E2DF1605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12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一句话：LLM 已能在三类真实 replay 中改变搜索并识别不可靠迁移；</a:t>
            </a:r>
          </a:p>
          <a:p xmlns:a="http://schemas.openxmlformats.org/drawingml/2006/main">
            <a:pPr algn="ctr">
              <a:lnSpc>
                <a:spcPct val="106000"/>
              </a:lnSpc>
              <a:buNone/>
              <a:def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FFFFF"/>
                </a:solidFill>
                <a:latin typeface="Arial Unicode MS"/>
                <a:ea typeface="Arial Unicode MS"/>
                <a:cs typeface="Arial Unicode MS"/>
              </a:rPr>
              <a:t>是否稳定泛化，仍必须靠冻结重复、强 baseline 和前瞻实验回答。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3BEB5A-896B-489B-8B8A-474FCA6E0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1901578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F7F2D13-8B4E-4B7B-942E-F0FA2569E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4191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下一步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C6B19-68E6-44C5-A6F5-4D3CDD25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8550" y="266700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0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0DFCA5-FB0C-4D8C-BF5E-A41CE464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108966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550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独立重复、强 baseline 与前瞻验证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4400FA-5A0E-4659-B4E5-4C74DFCCB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200150"/>
            <a:ext cx="4000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3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D7FD66-9A24-4FB5-87EB-78C973CC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78B60-C303-4A01-91CE-F4D4DCA96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543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重复在线轨迹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AAB801-3801-4E2F-AE79-F1F758E6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543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Opus 冻结 v1 为 11/330；另有 3 条 context-robust 轨迹；GLM 暂无完整轨迹。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505906-98D1-4B85-BCFA-0F82B224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114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E8B28E-72F0-4690-AFB0-49ED13510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4193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C94D4D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A1CE00-BFA8-46C9-8F32-DCA9E423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强 transfer baseline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BB517-456F-4165-946E-A92E5395A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同开局审计已完成 3 条；下一步预先选型，并扩大到冻结重复协议。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B76C62-0456-403B-92BC-5458F97BA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9718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66283-39F4-451C-ADD9-AF6C5268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FDF158-CAA5-4D3F-8CC4-6B6B8C52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57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前瞻实验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D931FF-9BA2-45C1-9F7B-E8B41903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2575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完成至少一条真实 wet-lab / prospective campaign，直接比较样本效率。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7788CB-DFEF-4297-A231-3BE4E36F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8290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DC6F96D-97D8-44DB-9E90-E4814818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3385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D99A33"/>
                </a:solidFill>
                <a:latin typeface="Arial Unicode MS"/>
                <a:ea typeface="Arial Unicode MS"/>
                <a:cs typeface="Arial Unicode MS"/>
              </a:rPr>
              <a:t>P1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C505A-A3F2-429F-BC0A-B56CE684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1480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机制与消融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63410-6840-4F49-83CD-46D28A3E0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11480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移除 source evidence、critic 或 gate，定位增益来自哪个模块。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01B31-7FA9-4847-B366-CCF2995B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8630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2C0634-FE0A-4D42-8FDA-CDF1A31B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91100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2F6FB6"/>
                </a:solidFill>
                <a:latin typeface="Arial Unicode MS"/>
                <a:ea typeface="Arial Unicode MS"/>
                <a:cs typeface="Arial Unicode MS"/>
              </a:rPr>
              <a:t>P2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221302-B7E0-4545-B48B-D4BDC88A6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9720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17232E"/>
                </a:solidFill>
                <a:latin typeface="Arial Unicode MS"/>
                <a:ea typeface="Arial Unicode MS"/>
                <a:cs typeface="Arial Unicode MS"/>
              </a:rPr>
              <a:t>开放复现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5FA084-C0BF-4D28-B234-B18299B6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49720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87681"/>
                </a:solidFill>
                <a:latin typeface="Arial Unicode MS"/>
                <a:ea typeface="Arial Unicode MS"/>
                <a:cs typeface="Arial Unicode MS"/>
              </a:rPr>
              <a:t>公开代码、数据、完整 trace、模型版本、失败记录和精确统计口径。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50E354-0DEC-4E1D-B4DA-0E5B094C1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43550"/>
            <a:ext cx="10172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0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FB2D73-A445-4401-9B98-BF6FC9E8A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600825"/>
            <a:ext cx="108966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B959D"/>
                </a:solidFill>
                <a:latin typeface="Arial Unicode MS"/>
                <a:ea typeface="Arial Unicode MS"/>
                <a:cs typeface="Arial Unicode MS"/>
              </a:rPr>
              <a:t>CARE 2.0 · online LLM evidence update · 2026-08-24</a:t>
            </a:r>
          </a:p>
        </p:txBody>
      </p:sp>
    </p:spTree>
    <p:extLst>
      <p:ext uri="{BB962C8B-B14F-4D97-AF65-F5344CB8AC3E}">
        <p14:creationId xmlns:p14="http://schemas.microsoft.com/office/powerpoint/2010/main" val="202850247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2026-08-24T06:40:41.4790000Z</dcterms:created>
  <dcterms:modified xsi:type="dcterms:W3CDTF">2026-08-24T06:40:41.4790000Z</dcterms:modified>
</coreProperties>
</file>