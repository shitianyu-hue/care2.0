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e16654a9eb428c" /><Relationship Type="http://schemas.openxmlformats.org/officeDocument/2006/relationships/extended-properties" Target="/docProps/app.xml" Id="Rce403b97013d407b" /><Relationship Type="http://schemas.openxmlformats.org/officeDocument/2006/relationships/officeDocument" Target="/ppt/presentation.xml" Id="R6d6853d474e248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722290a7ce4a47"/>
  </p:sldMasterIdLst>
  <p:notesMasterIdLst>
    <p:notesMasterId xmlns:r="http://schemas.openxmlformats.org/officeDocument/2006/relationships" r:id="Rf3a66a7514e140e1"/>
  </p:notesMasterIdLst>
  <p:sldIdLst>
    <p:sldId xmlns:r="http://schemas.openxmlformats.org/officeDocument/2006/relationships" id="256" r:id="Rc87333e1941443d6"/>
    <p:sldId xmlns:r="http://schemas.openxmlformats.org/officeDocument/2006/relationships" id="257" r:id="R5b790cd2d7de4c8b"/>
    <p:sldId xmlns:r="http://schemas.openxmlformats.org/officeDocument/2006/relationships" id="258" r:id="Rfb1acfff56f24ba3"/>
    <p:sldId xmlns:r="http://schemas.openxmlformats.org/officeDocument/2006/relationships" id="259" r:id="Rc2a67e10ae544c19"/>
    <p:sldId xmlns:r="http://schemas.openxmlformats.org/officeDocument/2006/relationships" id="260" r:id="Re89366696a694f09"/>
    <p:sldId xmlns:r="http://schemas.openxmlformats.org/officeDocument/2006/relationships" id="261" r:id="R9f9d17cb2654473a"/>
    <p:sldId xmlns:r="http://schemas.openxmlformats.org/officeDocument/2006/relationships" id="262" r:id="Ra671ecd80b45482f"/>
    <p:sldId xmlns:r="http://schemas.openxmlformats.org/officeDocument/2006/relationships" id="263" r:id="R7a6a2d8bddd4426d"/>
    <p:sldId xmlns:r="http://schemas.openxmlformats.org/officeDocument/2006/relationships" id="264" r:id="Rbc6616d7cdbe4290"/>
    <p:sldId xmlns:r="http://schemas.openxmlformats.org/officeDocument/2006/relationships" id="265" r:id="Rbe57048c69de48fc"/>
    <p:sldId xmlns:r="http://schemas.openxmlformats.org/officeDocument/2006/relationships" id="266" r:id="Rf4a852f8d2b542b8"/>
    <p:sldId xmlns:r="http://schemas.openxmlformats.org/officeDocument/2006/relationships" id="267" r:id="R38fcf745562e4084"/>
    <p:sldId xmlns:r="http://schemas.openxmlformats.org/officeDocument/2006/relationships" id="268" r:id="R2939bb70c9744fe1"/>
    <p:sldId xmlns:r="http://schemas.openxmlformats.org/officeDocument/2006/relationships" id="269" r:id="Rd56cbb1c9ea1443a"/>
    <p:sldId xmlns:r="http://schemas.openxmlformats.org/officeDocument/2006/relationships" id="270" r:id="R173633298ecb491a"/>
    <p:sldId xmlns:r="http://schemas.openxmlformats.org/officeDocument/2006/relationships" id="271" r:id="R953ee80655334153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15ce4276414519" /><Relationship Type="http://schemas.openxmlformats.org/officeDocument/2006/relationships/slideMaster" Target="/ppt/slideMasters/slideMaster1.xml" Id="Rae722290a7ce4a47" /><Relationship Type="http://schemas.openxmlformats.org/officeDocument/2006/relationships/notesMaster" Target="/ppt/notesMasters/notesMaster1.xml" Id="Rf3a66a7514e140e1" /><Relationship Type="http://schemas.openxmlformats.org/officeDocument/2006/relationships/presProps" Target="/ppt/presProps.xml" Id="R7c15af80ab844c02" /><Relationship Type="http://schemas.openxmlformats.org/officeDocument/2006/relationships/viewProps" Target="/ppt/viewProps.xml" Id="Rc011a6cbd95b4c28" /><Relationship Type="http://schemas.openxmlformats.org/officeDocument/2006/relationships/tableStyles" Target="/ppt/tableStyles.xml" Id="R36fd4f2e07ce49f1" /><Relationship Type="http://schemas.openxmlformats.org/officeDocument/2006/relationships/slide" Target="/ppt/slides/slide1.xml" Id="Rc87333e1941443d6" /><Relationship Type="http://schemas.openxmlformats.org/officeDocument/2006/relationships/slide" Target="/ppt/slides/slide2.xml" Id="R5b790cd2d7de4c8b" /><Relationship Type="http://schemas.openxmlformats.org/officeDocument/2006/relationships/slide" Target="/ppt/slides/slide3.xml" Id="Rfb1acfff56f24ba3" /><Relationship Type="http://schemas.openxmlformats.org/officeDocument/2006/relationships/slide" Target="/ppt/slides/slide4.xml" Id="Rc2a67e10ae544c19" /><Relationship Type="http://schemas.openxmlformats.org/officeDocument/2006/relationships/slide" Target="/ppt/slides/slide5.xml" Id="Re89366696a694f09" /><Relationship Type="http://schemas.openxmlformats.org/officeDocument/2006/relationships/slide" Target="/ppt/slides/slide6.xml" Id="R9f9d17cb2654473a" /><Relationship Type="http://schemas.openxmlformats.org/officeDocument/2006/relationships/slide" Target="/ppt/slides/slide7.xml" Id="Ra671ecd80b45482f" /><Relationship Type="http://schemas.openxmlformats.org/officeDocument/2006/relationships/slide" Target="/ppt/slides/slide8.xml" Id="R7a6a2d8bddd4426d" /><Relationship Type="http://schemas.openxmlformats.org/officeDocument/2006/relationships/slide" Target="/ppt/slides/slide9.xml" Id="Rbc6616d7cdbe4290" /><Relationship Type="http://schemas.openxmlformats.org/officeDocument/2006/relationships/slide" Target="/ppt/slides/slide10.xml" Id="Rbe57048c69de48fc" /><Relationship Type="http://schemas.openxmlformats.org/officeDocument/2006/relationships/slide" Target="/ppt/slides/slide11.xml" Id="Rf4a852f8d2b542b8" /><Relationship Type="http://schemas.openxmlformats.org/officeDocument/2006/relationships/slide" Target="/ppt/slides/slide12.xml" Id="R38fcf745562e4084" /><Relationship Type="http://schemas.openxmlformats.org/officeDocument/2006/relationships/slide" Target="/ppt/slides/slide13.xml" Id="R2939bb70c9744fe1" /><Relationship Type="http://schemas.openxmlformats.org/officeDocument/2006/relationships/slide" Target="/ppt/slides/slide14.xml" Id="Rd56cbb1c9ea1443a" /><Relationship Type="http://schemas.openxmlformats.org/officeDocument/2006/relationships/slide" Target="/ppt/slides/slide15.xml" Id="R173633298ecb491a" /><Relationship Type="http://schemas.openxmlformats.org/officeDocument/2006/relationships/slide" Target="/ppt/slides/slide16.xml" Id="R953ee806553341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e7d36e84b54f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7cd8de518f4d93" /><Relationship Type="http://schemas.openxmlformats.org/officeDocument/2006/relationships/notesMaster" Target="/ppt/notesMasters/notesMaster1.xml" Id="R41d9c40e610c47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722e7f05ef4192" /><Relationship Type="http://schemas.openxmlformats.org/officeDocument/2006/relationships/notesMaster" Target="/ppt/notesMasters/notesMaster1.xml" Id="Rd4ae913e6d344e7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1fc86af7a34eaa" /><Relationship Type="http://schemas.openxmlformats.org/officeDocument/2006/relationships/notesMaster" Target="/ppt/notesMasters/notesMaster1.xml" Id="Rb21f319632ff49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50c6660942f479f" /><Relationship Type="http://schemas.openxmlformats.org/officeDocument/2006/relationships/notesMaster" Target="/ppt/notesMasters/notesMaster1.xml" Id="R58e0ecca8de649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9bc0f984c104df7" /><Relationship Type="http://schemas.openxmlformats.org/officeDocument/2006/relationships/notesMaster" Target="/ppt/notesMasters/notesMaster1.xml" Id="Rdf423bc93eaa48a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31c116aada54d4d" /><Relationship Type="http://schemas.openxmlformats.org/officeDocument/2006/relationships/notesMaster" Target="/ppt/notesMasters/notesMaster1.xml" Id="R5379c46a58b8471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28b3c6394ad4ffb" /><Relationship Type="http://schemas.openxmlformats.org/officeDocument/2006/relationships/notesMaster" Target="/ppt/notesMasters/notesMaster1.xml" Id="Rb27cfbe7262a47f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fe57ccb82354d58" /><Relationship Type="http://schemas.openxmlformats.org/officeDocument/2006/relationships/notesMaster" Target="/ppt/notesMasters/notesMaster1.xml" Id="Ref8c16acc31f40b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48a67ee86694734" /><Relationship Type="http://schemas.openxmlformats.org/officeDocument/2006/relationships/notesMaster" Target="/ppt/notesMasters/notesMaster1.xml" Id="R8ff40b568bcd4e6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6aa0f30814a4fc1" /><Relationship Type="http://schemas.openxmlformats.org/officeDocument/2006/relationships/notesMaster" Target="/ppt/notesMasters/notesMaster1.xml" Id="R2fafcd64d75b4c0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c4468f6fd464a43" /><Relationship Type="http://schemas.openxmlformats.org/officeDocument/2006/relationships/notesMaster" Target="/ppt/notesMasters/notesMaster1.xml" Id="R32c32f3e7a954dd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e199866d2704dbe" /><Relationship Type="http://schemas.openxmlformats.org/officeDocument/2006/relationships/notesMaster" Target="/ppt/notesMasters/notesMaster1.xml" Id="R3c2794a89e5148f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fa461423e994327" /><Relationship Type="http://schemas.openxmlformats.org/officeDocument/2006/relationships/notesMaster" Target="/ppt/notesMasters/notesMaster1.xml" Id="R4dab168d3ba442e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0f47ffb01834f84" /><Relationship Type="http://schemas.openxmlformats.org/officeDocument/2006/relationships/notesMaster" Target="/ppt/notesMasters/notesMaster1.xml" Id="Rc94a9c960e584a2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95773cccc134ced" /><Relationship Type="http://schemas.openxmlformats.org/officeDocument/2006/relationships/notesMaster" Target="/ppt/notesMasters/notesMaster1.xml" Id="R10c690c6ca8e47e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799105641e942cb" /><Relationship Type="http://schemas.openxmlformats.org/officeDocument/2006/relationships/notesMaster" Target="/ppt/notesMasters/notesMaster1.xml" Id="R47af371827324f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CARE 2.0：可信赖的跨任务科学知识迁移框架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建议时间：1 分钟</a:t>
            </a:r>
          </a:p>
          <a:p xmlns:a="http://schemas.openxmlformats.org/drawingml/2006/main">
            <a:r>
              <a:t>【建议讲稿】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今天汇报 CARE 2.0 的最新进展。我们这一阶段没有把重点放在再做一条针对某个数据集的最优规则，而是在回答一个更一般的问题：一个 AI Scientist 如何把历史实验经验转成可以在新任务中执行的策略，同时能够判断这条经验不该迁移。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所以标题里用了“可信赖”三个字。这里的可信赖不是说系统永远正确，而是指每一次迁移都有明确的 source evidence、结构化 Hypothesis、受约束的执行 patch、独立的 calibration 决策和 held-out 验证。如果证据不足，系统必须回到 target-only，而不是为了追求正结果强行迁移。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整套方法可以概括为三个动作：第一，生成可解释的迁移 Hypothesis；第二，把 Hypothesis 编译成真正能影响实验选择的 acquisition patch；第三，用独立证据决定部署还是回退。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【本页要强调】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贡献对象是一套迁移与拒绝协议，不是单条人工规则。</a:t>
            </a:r>
          </a:p>
          <a:p xmlns:a="http://schemas.openxmlformats.org/drawingml/2006/main">
            <a:r>
              <a:t>• 当前 PPT 汇报的是 8 月 2 日冻结版本对应的结果。</a:t>
            </a:r>
          </a:p>
          <a:p xmlns:a="http://schemas.openxmlformats.org/drawingml/2006/main">
            <a:r>
              <a:t>• 当前“跨任务”主要是同领域中的跨数据集，不是任意学科之间的迁移。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【不要这样讲】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不要说“我们已经实现通用跨领域 AI Scientist”。</a:t>
            </a:r>
          </a:p>
          <a:p xmlns:a="http://schemas.openxmlformats.org/drawingml/2006/main">
            <a:r>
              <a:t>• 不要说“LLM 可以自动发现所有可迁移规律”。</a:t>
            </a:r>
          </a:p>
          <a:p xmlns:a="http://schemas.openxmlformats.org/drawingml/2006/main">
            <a:r>
              <a:t>• 不要把 replay 结果说成新做了数百轮湿实验。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【过渡】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在介绍系统之前，先明确我们对“具备迁移能力的 AI Scientist”到底如何定义。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核心研究问题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建议时间：2-3 分钟</a:t>
            </a:r>
          </a:p>
          <a:p xmlns:a="http://schemas.openxmlformats.org/drawingml/2006/main">
            <a:r>
              <a:t>【建议讲稿】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我们把研究问题定义为一个固定预算下的顺序决策问题。给定一个 source task 的历史实验和 outcome、一个 target task 的公开 schema、固定的候选池和 target 实验预算，系统需要回答四个问题：迁移什么、迁移多少、何时拒绝，以及下一轮在 target 中选择哪个候选。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这里的“通用”不是指 LLM 能谈论很多学科，而是指同一套接口和决策协议可以处理不同类型的科学任务。反应任务的变量可能是底物、催化剂和溶剂；材料任务可能是组成与性质描述符；分子任务可能是结构描述符。只要它们能够被整理成统一的 TaskSpec、变量角色、候选池和目标函数，后面的 Hypothesis、patch、Gate 和 audit 流程就可以复用。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我们的核心贡献分成两层。第一层是 LLM 生成可执行 Hypothesis，并将它落到 acquisition geometry 上，而不是只输出自然语言建议。第二层是 Calibration Gate 使用独立开发 seeds 决定是否部署。也就是说，LLM 可以提出迁移方案，但不能凭一句解释直接控制正式实验。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证据边界需要在这一页讲清楚。目前实验覆盖反应、材料和分子三个领域，证明了框架能在多个领域中运行，也观察到了各领域内部的跨数据集正向迁移。但是化学到材料、材料到分子等 off-diagonal 路线还没有形成正式证据，所以现在不能宣称远距离跨领域迁移已经建立。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【补充解释：实验是怎样运行的】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每个 target 数据集先被冻结为有限候选池。算法只看到 initial observations，之后每轮提出一个候选，系统再从真实数据中揭示它的 outcome。所有方法使用相同 seed、初始点、预算和候选池，因此比较的是算法利用有限实验预算的效率，而不是谁看到了更多数据。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【可能追问】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为什么不把 random search 作为主 baseline？</a:t>
            </a:r>
          </a:p>
          <a:p xmlns:a="http://schemas.openxmlformats.org/drawingml/2006/main">
            <a:r>
              <a:t>Random search 可以保留作最低基准，但它太弱，不能支撑论文的核心结论。主 baseline 必须是 strongest target-only BO 和 matched target-only LLM。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这里的泛化到底是什么？</a:t>
            </a:r>
          </a:p>
          <a:p xmlns:a="http://schemas.openxmlformats.org/drawingml/2006/main">
            <a:r>
              <a:t>目前的泛化是同一套协议跨多个预先固定的 source-target pair 工作，而不是在同一个 pair 上换几个 seed。远距离跨领域泛化还没有验证。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【过渡】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下一页从左到右看一次完整的迁移是如何产生、执行和被审计的。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从历史实验到可验证迁移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建议时间：3 分钟</a:t>
            </a:r>
          </a:p>
          <a:p xmlns:a="http://schemas.openxmlformats.org/drawingml/2006/main">
            <a:r>
              <a:t>【建议讲稿】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[指向左侧] 流程从 Historical Experiments 开始。历史实验不是直接作为一张表丢给 LLM，而是先整理成 TaskSpec、观测结果和 audit。TaskSpec 描述任务目标、变量类型、字段角色、优化方向、约束和预算。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下一步是 Feature and Evidence Extraction。这里提取的不只是字段名，还包括变量角色、descriptor、source outcome 的效应摘要、不确定性和失败记录。这一步的目的，是把某个数据集中的具体列转换成可比较的科学角色。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[指向中间] LLM 在这些证据上生成多个有边界的 Hypothesis。系统随后估计 source-target 的 schema 是否兼容、source 证据是否稳定，并把自然语言假设编译为受约束 patch。LLM 不是直接给出“做第 37 个实验”，而是提出应该改变哪些角色权重、先验或探索参数。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[指向三条分支] Calibration Gate 有三种概念状态：Transfer、Hold 和 Freeze/Reject。当前代码真正实现的是 Transfer 与 Freeze/Fallback。通过 Gate 的路线进入 target replay；未通过的路线精确回退。Hold 目前只是下一版本的设计，用于表示方向合理但证据不够、需要追加 calibration。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[指向下方] 正式 target replay 使用固定预算。统计模块按相同 seeds 计算配对增益、置信区间和稳定性。最后，Hypothesis、patch、Gate decision、held-out outcome、成功案例和失败案例都会写入 memory。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这张图对应三项贡献：LLM 回答“迁移什么”，Calibration Gate 回答“什么时候允许迁移”，held-out 与 memory 回答“结果怎样被复核并沉淀”。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【需要特别说明】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Calibration 与 held-out 使用不重叠 seeds。</a:t>
            </a:r>
          </a:p>
          <a:p xmlns:a="http://schemas.openxmlformats.org/drawingml/2006/main">
            <a:r>
              <a:t>• Held-out 期间不重新选择路线，也不根据结果修改 threshold。</a:t>
            </a:r>
          </a:p>
          <a:p xmlns:a="http://schemas.openxmlformats.org/drawingml/2006/main">
            <a:r>
              <a:t>• Memory 中保留 rejected case，不只保留成功路线，否则知识库会形成幸存者偏差。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【可能追问】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为什么需要 Gate，LLM 自己给置信度不行吗？</a:t>
            </a:r>
          </a:p>
          <a:p xmlns:a="http://schemas.openxmlformats.org/drawingml/2006/main">
            <a:r>
              <a:t>LLM 的语言置信度没有经过当前任务的数值校准。Gate 使用实际 replay 证据比较 transfer 与 matched anchors，承担的是部署层的统计决策，不能由自然语言自信程度替代。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【过渡】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下面分别展开最关键的两个环节：Hypothesis 是如何生成的，以及它如何真正影响 target acquisition。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Hypothesis 生成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建议时间：3 分钟</a:t>
            </a:r>
          </a:p>
          <a:p xmlns:a="http://schemas.openxmlformats.org/drawingml/2006/main">
            <a:r>
              <a:t>【建议讲稿】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这一页最重要的是说明 LLM 看到了什么、没有看到什么，以及最终输出是什么。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[指向左侧] Target 侧只给公开元数据，包括 schema、变量角色、优化方向和预算。Source 侧给已经合法观测到的历史 outcomes、effect summaries 和 uncertainty。Memory 提供经过审计的 SkillCard、失败路线、约束和历史 trace。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LLM 看不到 target held-out outcome。这里的 held-out outcome 是预先保留给最终评估的 target 结果。在 replay 中，某个 target 候选只有被算法选择后，其 outcome 才会揭示给在线模型。未选择候选的结果不能进入 prompt、patch 生成或 calibration 以外的路线调参。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[指向右侧] 当前 Hypothesis 主要分为三类。第一类是 role mapping，例如 source 与 target 中哪些字段都承担底物、溶剂、组成或分子描述符的角色。第二类是 value prior，即 source outcome 是否能作为一个有上限的弱先验。第三类是 exploration hypothesis，即在不确定性较高时是否提高 GP-UCB 的探索程度。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这些候选还要经过 schema compatibility、source evidence stability 和 calibration improvement 三层筛选。最终输出不是一段散文，而是 KernelSkillPatch。它包含 role weight、kernel scale、gp_beta 和 source-prior strength 等结构化字段，原始输出与解析结果都会保存。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【LLM 在系统中的准确角色】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LLM 更接近“策略假设生成器”和“科学角色映射器”，不是 outcome predictor，也不是最终候选打分器。数值 prior 来自真实 source outcomes，target posterior 来自 GP，候选排序和边界约束由确定性代码完成。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【可能追问】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LLM 是否每一轮都调用？</a:t>
            </a:r>
          </a:p>
          <a:p xmlns:a="http://schemas.openxmlformats.org/drawingml/2006/main">
            <a:r>
              <a:t>当前冻结实验不是每个 held-out seed、每一轮重新请求 API。LLM 先生成并冻结候选 patch，随后 replay 重复执行同一结构化策略。这样可以避免 API 波动，也防止 held-out 反馈进入 prompt。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这还算 LLM 方法吗？</a:t>
            </a:r>
          </a:p>
          <a:p xmlns:a="http://schemas.openxmlformats.org/drawingml/2006/main">
            <a:r>
              <a:t>算，但需要准确表述。LLM 的贡献是生成可复用的策略结构，数值执行由可复现代码完成。论文中的 ablation 仍需证明 LLM Hypothesis 优于 similarity-only 或 random patch。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【过渡】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有了 Hypothesis 以后，下一步是把它编译成可以改变 Bayesian optimization 行为的 patch。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Hypothesis 执行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建议时间：3 分钟</a:t>
            </a:r>
          </a:p>
          <a:p xmlns:a="http://schemas.openxmlformats.org/drawingml/2006/main">
            <a:r>
              <a:t>【建议讲稿】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Hypothesis 首先被保存为 HypothesisEntry，其中包含 claim、mechanism、证据来源和适用边界。Patch Compiler 再把它翻译成有上下限的数值参数。这样做的目的，是让同一个 Hypothesis 可以被执行、比较和复现，而不是停留在自然语言层面。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Target-only GP 始终是执行锚点。它根据当前已经揭示的 target observations 计算 posterior mean 和 uncertainty，再通过 UCB、EI 或 portfolio 给候选打分。迁移 patch 可以改变四类内容：变量角色对应的 kernel scale、GP 的探索计划、source prior 的强度，以及 target anchor 与 transfer expert 的混合权重。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可以用一个简化表达帮助听众理解：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CARE acquisition = (1 - M) × target-only acquisition + M × source-informed acquisition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其中 M 是 transfer mass。证据强时，M 可以大于零；证据弱时，它会被限制或直接降为零。这个公式只是解释结构，正式代码还包含不同 prior expert、role weight 和边界约束。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本页右下角列出的内容始终冻结：target 数据集、优化方向、candidate pool、initial observations、总预算、held-out seeds、baseline 身份和评价指标。迁移只能改变允许的 patch 参数，不能偷偷增加实验次数，也不能更换更容易的候选池。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完成 calibration 后，Gate 冻结选中的 route identity。Held-out 阶段只能执行冻结路线，不能重新在多个候选中挑最好结果。每轮 candidate、已揭示 outcome、acquisition diagnostics、Gate decision 和最终指标都会进入 audit。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【需要诚实说明的归因问题】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有些 patch 会影响 initial design，有些会持续影响后续 acquisition。两者都属于知识迁移，但科学解释不同。汇报完整系统结果时，可以说 route 有效；若要声称“持续 source prior 在每轮都产生独立贡献”，必须增加 warm-start-only control。现有报告已经开始做这类归因，但统一七路线 ablation 仍需补齐。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【可能追问】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为什么还要硬编码边界？</a:t>
            </a:r>
          </a:p>
          <a:p xmlns:a="http://schemas.openxmlformats.org/drawingml/2006/main">
            <a:r>
              <a:t>因为 target 实验协议、预算和数值安全约束需要可复现。LLM 提出策略，代码负责把策略限制在合法范围内。这不是削弱 LLM，而是把模型输出变成可以审计的实验干预。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【过渡】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下面先不看抽象模块，直接看反应、材料和分子三类真实路线的结果。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三条代表性链条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建议时间：3 分钟</a:t>
            </a:r>
          </a:p>
          <a:p xmlns:a="http://schemas.openxmlformats.org/drawingml/2006/main">
            <a:r>
              <a:t>【建议讲稿】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这页选了三条代表性路线，分别对应反应、材料和分子任务。它们不是把同一条规则机械复制到三个数据集，而是使用不同的 source evidence 和迁移机制。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第一条是 ChemLex Acid-Amine -&gt; Buchwald-Hartwig。ChemLex 是真实 acid-amine wetlab outcome 数据，target 是 Buchwald-Hartwig 反应 HTE。Hypothesis 是两类反应任务中的反应物角色和 outcome interaction 可以提供迁移信号。完整部署相对 matched LLM 的 final-best 提升 9.20，相对 strongest BO 提升 8.10，达到 matched LLM 最终质量平均节省 2.99 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第二条是 Matbench dielectric -&gt; experimental band gap。这不是把介电常数的高值直接当作带隙高值，而是假设两个材料任务共享 composition/property representation，source 可以改变 kernel geometry 和候选排序。相对 matched LLM 提升 32.70，相对 strongest BO 提升 35.46，节省 6.00 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第三条是 FreeSolv -&gt; Lipophilicity。FreeSolv 的目标是水合自由能，Lipophilicity 反映分子在不同相中的分配倾向。两者并不等价，但共享分子结构描述符，而且溶剂化信号可能帮助排序。系统只允许 bounded outcome prior，不允许 source outcome 覆盖 target observation。结果相对 matched LLM 提升 2.98，相对 strongest BO 提升 4.99，节省 2.23 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【三个数据集族的简要解释】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ChemLex/BH：真实反应组合与条件优化数据。</a:t>
            </a:r>
          </a:p>
          <a:p xmlns:a="http://schemas.openxmlformats.org/drawingml/2006/main">
            <a:r>
              <a:t>• Matbench dielectric、expt_gap、phonons：材料组成到性质的有限池任务。</a:t>
            </a:r>
          </a:p>
          <a:p xmlns:a="http://schemas.openxmlformats.org/drawingml/2006/main">
            <a:r>
              <a:t>• ESOL、FreeSolv、Lipophilicity：共享分子结构表示、但目标性质不同的 MoleculeNet 类任务。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【本页结论】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我们已经证明同一套框架能够承载三类不同的科学任务。数字说明正向迁移存在，但不能代替领域机理审查。特别是材料和分子路线中“共享 representation 导致可迁移”的解释，目前仍是待验证 Hypothesis，不是因果结论。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【过渡】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下一页把三条路线拆开，说明 source evidence 到底被翻译成了什么 patch。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逐路线解释 source evidence、Hypothesis 与 patch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建议时间：2-3 分钟</a:t>
            </a:r>
          </a:p>
          <a:p xmlns:a="http://schemas.openxmlformats.org/drawingml/2006/main">
            <a:r>
              <a:t>【建议讲稿】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这一页与上一页的区别是：上一页强调结果，这一页强调每条路线“具体迁移了什么”。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 ChemLex 到 BH，source evidence 是 acid、amine 等角色和 outcome interaction。LLM 的 Hypothesis 是共享反应角色可以迁移，但 source outcome 只能作为弱 prior。执行层因此使用 role multipliers、kernel scale 和 bounded prior strength。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 dielectric 到 gap，source evidence 是材料 composition/property observations。Hypothesis 不是两个物性相同，而是同一个组成描述空间可能包含可复用的局部几何。执行时主要改变 role-weighted kernel，并加入受约束 prior。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 FreeSolv 到 Lipophilicity，source evidence 是共享 molecular descriptor 和 solvation outcome。Hypothesis 是溶剂化相关信号可以帮助候选排序。执行时使用 bounded outcome prior，并始终保留 target acquisition 作为 anchor。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三条路线都遵循同一冻结协议：target held-out outcome 不进入 Hypothesis 生成；calibration 只使用独立开发 seeds；路线冻结后才运行 100 个 held-out seeds。结果不是从多个 held-out patch 中选出来的最好一个。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【建议现场说法】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“我们迁移的不是一个答案，也不是 source 中的最优样本本身，而是对 target 搜索空间的结构化偏置。这个偏置必须能被编译、限制和独立验证。”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【可能追问】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这些 Hypothesis 是不是人工写出来的？</a:t>
            </a:r>
          </a:p>
          <a:p xmlns:a="http://schemas.openxmlformats.org/drawingml/2006/main">
            <a:r>
              <a:t>当前系统中，LLM 基于 source/target card 生成结构化候选，代码负责解析和约束。部分候选集合、参数范围和字段 vocabulary 是工程上预先定义的。正式论文需要用保存的 model record、prompt hash 和 similarity-only ablation 证明 LLM 生成部分的独立价值。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【过渡】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下面以 ChemLex 到 BH 为例，把证据链完整走一遍。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ChemLex → BH 完整案例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建议时间：3 分钟</a:t>
            </a:r>
          </a:p>
          <a:p xmlns:a="http://schemas.openxmlformats.org/drawingml/2006/main">
            <a:r>
              <a:t>【建议讲稿】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[指向左栏] Source 是 ChemLex Acid-Amine 的真实 wetlab outcomes。系统提取 acid、amine 等角色以及它们与 outcome 的 interaction。Target 是 BH 数据集。在 Hypothesis 阶段，系统知道 BH 的字段角色、优化方向、预算和候选池结构，但不知道 held-out outcome。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[指向中栏] LLM 给出的核心 Hypothesis 有两点。第一，共享反应角色可能具有可迁移结构；第二，source outcome 只能作为弱 prior，不能替代 target observation。Compiler 把它翻译成 role multiplier、kernel scale、gp_beta 和 source_prior_strength。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[指向右栏] 先在 50 个 calibration seeds 上与 matched target-only LLM 和 strongest BO 比较。只有同时满足 Gate 条件，route 才被冻结为 transfer。随后使用 100 个不重叠的 held-out seeds 评估。最终 final-best 相对 matched LLM 为 +9.20，相对 strongest BO 为 +8.10；达到 matched LLM 最终质量平均节省 2.99 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这里需要提醒听众：本页证明的是完整 frozen route 有效，不应仅凭这张图断言所有增益都来自每轮连续 prior adjustment。反应路线中的 initial design、role kernel 和持续 prior 分别贡献多少，需要通过 warm-start-only、without-prior 和 without-kernel ablation 进一步拆分。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【领域专家需要审查的问题】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Acid-Amine 与 BH 的角色对齐是否有反应机理依据？</a:t>
            </a:r>
          </a:p>
          <a:p xmlns:a="http://schemas.openxmlformats.org/drawingml/2006/main">
            <a:r>
              <a:t>• Source interaction 是否可能只是数据集采样偏差？</a:t>
            </a:r>
          </a:p>
          <a:p xmlns:a="http://schemas.openxmlformats.org/drawingml/2006/main">
            <a:r>
              <a:t>• 哪些角色应该允许迁移，哪些条件应保持 target-specific？</a:t>
            </a:r>
          </a:p>
          <a:p xmlns:a="http://schemas.openxmlformats.org/drawingml/2006/main">
            <a:r>
              <a:t>• 是否需要加入反应指纹、官能团或催化剂 descriptor，替代纯 schema 对齐？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【过渡】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一个案例只能说明可行性，下一页看七条预先固定路线的整体 held-out 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[Internal evidence]</a:t>
            </a:r>
          </a:p>
          <a:p xmlns:a="http://schemas.openxmlformats.org/drawingml/2006/main">
            <a:r>
              <a:t>experiments/care_replay/results/2026-07-24-source-outcome-transfer/headline_results.csv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四条路线同时超过 matched LLM 与 strongest BO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建议时间：3 分钟</a:t>
            </a:r>
          </a:p>
          <a:p xmlns:a="http://schemas.openxmlformats.org/drawingml/2006/main">
            <a:r>
              <a:t>【建议讲稿】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这页有左右两个 forest plot，必须分别解释。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[指向左图] 左图比较的是 CARE 完整部署与每个 target 的 strongest target-only BO。绿色表示部署 transfer 的路线，灰色表示 Gate 拒绝后部署 matched target-only LLM 的 fallback。七条完整部署路线相对 strongest BO 都为正，但这里包含 fallback 的贡献，所以不能解释成七条 source transfer 都成功。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[指向右图] 右图比较 source transfer deployment 与 matched target-only LLM，目的是隔离 source outcome 的净贡献。四条绿色路线的配对 final-best 置信区间在零以上；三条灰色路线因为 exact fallback，与 matched LLM 的差值严格为零。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七条路线的最终部署情况是：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Transfer：ChemLex -&gt; BH、Dielectric -&gt; Gap、Gap -&gt; Dielectric、FreeSolv -&gt; Lipophilicity。</a:t>
            </a:r>
          </a:p>
          <a:p xmlns:a="http://schemas.openxmlformats.org/drawingml/2006/main">
            <a:r>
              <a:t>• Exact fallback：Phonons -&gt; Dielectric、ESOL -&gt; Lipophilicity、Lipophilicity -&gt; FreeSolv。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实验协议是 50 个 calibration seeds 冻结路线，100 个不重叠 held-out seeds 做最终评估。结果可以表述为：4/7 获得 source transfer 净增益，3/7 精确打平，正式部署中 0/7 负向。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【一定要说明的统计边界】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当前主图使用配对 held-out delta 与 95% CI。论文级 confirm run 还应补 paired permutation test、BH-FDR 和预先定义的 MDE。因此现在可以说“区间稳定高于零”或“在当前冻结 replay 中稳定为正”，但不要把所有结果直接称为已经通过最终多重比较校正的统计显著。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【可能追问】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为什么 fallback 路线在左图仍然超过 BO？</a:t>
            </a:r>
          </a:p>
          <a:p xmlns:a="http://schemas.openxmlformats.org/drawingml/2006/main">
            <a:r>
              <a:t>因为 fallback 是 matched target-only LLM，而 matched LLM 本身可能优于 GP-UCB 或 GP-EI。左图评价完整部署性能；右图才评价 source transfer 的额外贡献。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Gate 是不是看完 held-out 才决定的？</a:t>
            </a:r>
          </a:p>
          <a:p xmlns:a="http://schemas.openxmlformats.org/drawingml/2006/main">
            <a:r>
              <a:t>不是。Route 在 calibration 上决定并冻结，held-out 只执行冻结策略。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【过渡】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把这些结果放进 source-target 矩阵后，可以更直观看到哪些迁移关系已有证据，哪些仍是空白。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[Internal evidence]</a:t>
            </a:r>
          </a:p>
          <a:p xmlns:a="http://schemas.openxmlformats.org/drawingml/2006/main">
            <a:r>
              <a:t>experiments/care_replay/results/2026-07-28-evaluation-completion/baseline_comparison.csv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迁移矩阵与证据边界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建议时间：3 分钟</a:t>
            </a:r>
          </a:p>
          <a:p xmlns:a="http://schemas.openxmlformats.org/drawingml/2006/main">
            <a:r>
              <a:t>【建议讲稿】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矩阵纵轴是 source task，横轴是 target task。绿色表示 raw route 通过 Gate，并在 held-out 上部署正向迁移；红色表示 raw source route 出现负向信号，被 Gate 拒绝；灰色表示证据不稳定或没有实验覆盖。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当前四个正例全部在领域内部：一个 Reaction -&gt; Reaction，两个 Materials -&gt; Materials，一个 Molecular -&gt; Molecular。三个 fallback 包括一个材料路线和两个分子路线。ESOL -&gt; Lipophilicity 与 Lipophilicity -&gt; FreeSolv 的 raw transfer 是负向，Phonons -&gt; Dielectric 的 raw signal 略正但区间跨零，因此都没有部署。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矩阵中的空白不能解释成迁移失败，它只表示还没有按冻结协议运行。Reaction -&gt; Materials、Reaction -&gt; Molecular、Materials -&gt; Molecular 等 off-diagonal 路线仍未验证。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右下角给出了一个机制 Hypothesis：材料和分子任务可能因为共享 representation、相近 objective 或参数空间重叠而更容易迁移。但这只是解释候选。要验证它，需要增加 representation ablation、descriptor overlap 指标和不同 task-distance 分层实验。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【这页应得出的结论】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可以说：“CARE 2.0 已经在三个科学领域中得到同领域跨数据集证据。”  </a:t>
            </a:r>
          </a:p>
          <a:p xmlns:a="http://schemas.openxmlformats.org/drawingml/2006/main">
            <a:r>
              <a:t>不能说：“CARE 2.0 已经证明跨学科知识可以普遍迁移。”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【可能追问】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为什么叫通用框架，但还没有跨领域结果？</a:t>
            </a:r>
          </a:p>
          <a:p xmlns:a="http://schemas.openxmlformats.org/drawingml/2006/main">
            <a:r>
              <a:t>“通用”首先指统一接口、统一验证协议和跨任务复用能力。远距离跨领域是这个框架要检验的下一层问题，而不是由框架名称自动成立的结论。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【过渡】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有了正负路线之后，下一步需要明确我们用什么指标判断提升、稳定性和实际意义。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[Internal evidence]</a:t>
            </a:r>
          </a:p>
          <a:p xmlns:a="http://schemas.openxmlformats.org/drawingml/2006/main">
            <a:r>
              <a:t>experiments/care_replay/results/2026-07-25-transfer-visualizations/transfer_matrix.png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评价指标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建议时间：3 分钟</a:t>
            </a:r>
          </a:p>
          <a:p xmlns:a="http://schemas.openxmlformats.org/drawingml/2006/main">
            <a:r>
              <a:t>【建议讲稿】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我们不只看最终提升百分比，而是从性能、过程、稳定性和实际成本四个方面评价。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第一，paired final-best delta 衡量预算结束时最好结果的差值。第二，best-so-far AUC 衡量整个搜索过程，能够区分“最后一轮偶然找到好点”和“前几轮就持续找到好点”。第三，non-loss rate 和五个 seed block 检查正向结果是否只由少数 seeds 拉高。第四，rounds saved 把算法增益转换成少做多少次 target 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为什么使用 paired comparison？因为 CARE 与 baseline 在同一个 seed 下共享 initial observations、candidate pool 和预算。先做逐 seed 差值，再对差值做统计，可以消除很多由初始化难度带来的方差。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当前报告使用 paired bootstrap 95% CI。置信区间跨过零，表示方向仍不稳定。对于论文 confirm run，我们计划使用 paired permutation test，并对多条路线做 Benjamini-Hochberg FDR 校正。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还需要区分统计显著和实际有意义。样本量很大时，极小差异也可能得到很小的 p 值。因此每个任务应在运行前定义 task-specific MDE，也就是对真实实验有意义的最低效果。最终报告应同时给 effect、95% CI、q-value 和 MDE。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【如何解释 2%、17% 和 100% 提升】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2% 可能很稳定，也可能完全被方差淹没，不能只看百分比。</a:t>
            </a:r>
          </a:p>
          <a:p xmlns:a="http://schemas.openxmlformats.org/drawingml/2006/main">
            <a:r>
              <a:t>• 17% 如果在独立 seeds 上区间稳定，通常比 2% 更有实际意义，但仍需检验。</a:t>
            </a:r>
          </a:p>
          <a:p xmlns:a="http://schemas.openxmlformats.org/drawingml/2006/main">
            <a:r>
              <a:t>• 100% 如果 baseline 很小、重复次数很少或由极端值驱动，也可能不稳定。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【当前完成与下一步的区别】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当前已经完成 paired delta、AUC、bootstrap CI、non-loss 和 block stability。Permutation test、BH-FDR 和 task-specific MDE 应作为冻结 confirm protocol 的正式组成部分，不要在汇报中误说成所有路线已经完成最终论文统计。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【过渡】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评价指标告诉我们结果是否稳定，Calibration Gate 则决定一条迁移路线是否允许部署。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Efron &amp; Tibshirani (1993), An Introduction to the Bootstrap.</a:t>
            </a:r>
          </a:p>
          <a:p xmlns:a="http://schemas.openxmlformats.org/drawingml/2006/main">
            <a:r>
              <a:t>Benjamini &amp; Hochberg (1995), Controlling the False Discovery Rate.</a:t>
            </a:r>
          </a:p>
          <a:p xmlns:a="http://schemas.openxmlformats.org/drawingml/2006/main">
            <a:r>
              <a:t>Lakens (2013), Calculating and reporting effect sizes.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什么时候该迁移：Calibration Gate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建议时间：3-4 分钟</a:t>
            </a:r>
          </a:p>
          <a:p xmlns:a="http://schemas.openxmlformats.org/drawingml/2006/main">
            <a:r>
              <a:t>【建议讲稿】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Gate 的作用可以概括为一句话：证据够强才迁移，否则回到 target-only。它不是用来把负结果隐藏掉，而是一个预先定义的部署安全层。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一条候选 route 要同时与两个 anchor 比较：matched target-only LLM 和 strongest target-only BO。当前规则要求六项全部通过：final mean 不亏、AUC mean 不亏、final non-loss rate 至少 0.60、五个 blocks 中至少四个为正、composite mean - standard error 至少 0.25，以及 composite 95% CI 下界不低于零。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只要任一条件失败，系统就 Freeze 并部署 exact target-only fallback。当前版本没有“差不多就迁移”的灰色策略，因此正式 held-out 中不会把一个 calibration 证据不足的 raw route 强行上线。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参数来源也要坦诚说明。Paired comparison、confidence interval、强 baseline anchor 是通用统计原则；0.60、0.80 和 0.25 是在开发阶段固定的 calibrated defaults，不是某篇文献规定的普适阈值。它们必须在 held-out 前冻结，并接受 sensitivity analysis。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下一轮应对 final/AUC 权重、block 数量、non-loss threshold 和 risk-adjusted threshold 做 grid 或 bootstrap sweep。更严格的做法是 leave-one-route-out calibration：用其他路线确定 threshold，再看被留出的路线，以减少 pair-specific 调参嫌疑。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【Gate 与统计检验的区别】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Gate 是部署规则，回答“要不要使用 source route”。统计检验是结果报告，回答“冻结后的效果有多确定”。二者相关，但不能把 Gate 通过直接等同于论文统计显著。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【可能追问】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这是不是在挑正结果？</a:t>
            </a:r>
          </a:p>
          <a:p xmlns:a="http://schemas.openxmlformats.org/drawingml/2006/main">
            <a:r>
              <a:t>模型部署本来就需要 validation。只要 calibration 与 held-out 严格分离、threshold 与 route list 在 held-out 前冻结，这属于合法的模型选择。真正不允许的是看完 held-out 后不断改 Gate，再把同一 held-out 当成最终测试。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为什么当前没有 Hold？</a:t>
            </a:r>
          </a:p>
          <a:p xmlns:a="http://schemas.openxmlformats.org/drawingml/2006/main">
            <a:r>
              <a:t>为了让当前证据链清楚，代码只实现 Transfer 与 Freeze。Hold 可以在下一版表示“需要额外 calibration 数据”，但不能把它写成已经完成的功能。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【过渡】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有了 Gate 以后，还需要通过 baseline 和 ablation 证明增益究竟来自哪个模块。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[Internal evidence]</a:t>
            </a:r>
          </a:p>
          <a:p xmlns:a="http://schemas.openxmlformats.org/drawingml/2006/main">
            <a:r>
              <a:t>experiments/care_replay/scripts/run_calibrated_source_outcome_portfolio.py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Baseline 与贡献验证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建议时间：4 分钟</a:t>
            </a:r>
          </a:p>
          <a:p xmlns:a="http://schemas.openxmlformats.org/drawingml/2006/main">
            <a:r>
              <a:t>【建议讲稿】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这一页是回答“我们的提升到底来自哪里”。目前证据最完整的是两类强 baseline。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第一类是 matched target-only LLM。它与 CARE 使用相同 target 预算和 seeds，但拿不到 source outcome。四条路线相对它提升，三条 exact fallback，因此 source transfer 的净结果是 4/7 正向、3/7 打平。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第二类是 strongest target-only BO，包括 GP-UCB、GP-EI 或 target acquisition portfolio。完整 CARE deployment 在七条路线中都超过对应的 strongest BO。但再次强调，其中三条依靠的是 target-only LLM fallback，不是 source transfer 本身。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第三类是 raw transfer/no Gate。它强制部署 source route，用于衡量 Gate 的安全贡献。结果出现两条明确负迁移和一条不确定路线，说明 Gate 不是装饰模块；它确实阻止了不可靠 prior 进入正式部署。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Random-transfer 用随机 source 或随机 patch，目的是排除“只要增加一种 prior 形式就会变好”。Similarity-only 只使用 schema 或 descriptor overlap，目的是判断浅层相似度能否替代 LLM Hypothesis。当前这两类只完成了局部路线或历史控制，尚未在同一七路线、同一 split、同一预算下全部完成，所以状态必须写 PARTIAL。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CARE 2.0 包括 Hypothesis、patch 和 Gate。当前可以证明完整系统有可审计部署和 exact fallback，但还不能说 LLM Hypothesis 的独立贡献已经被完整消融证明。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【两个代表性结果】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ChemLex -&gt; BH：+9.20 vs matched LLM，+8.10 vs strongest BO。</a:t>
            </a:r>
          </a:p>
          <a:p xmlns:a="http://schemas.openxmlformats.org/drawingml/2006/main">
            <a:r>
              <a:t>• FreeSolv -&gt; Lipophilicity：+2.98 vs matched LLM，+4.99 vs strongest BO。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【这页最重要的诚实口径】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“我们已经证明完整系统在当前冻结套件中有效，并证明 Gate 能阻止负迁移；但 Random-transfer、Similarity-only 和 Without-validation 还需要统一 confirm run，才能完成每个模块的因果归因。”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【可能追问】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LLM 有没有打过确定性规则？</a:t>
            </a:r>
          </a:p>
          <a:p xmlns:a="http://schemas.openxmlformats.org/drawingml/2006/main">
            <a:r>
              <a:t>在当前四条部署路线中，完整 source-informed route 超过 matched target-only LLM；但 LLM Hypothesis 是否优于同结构的人工或 similarity-only patch，还没有在统一协议下完全证明。不要回避这一点，这正是下一轮 ablation 的核心。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7/7 是否说明 CARE 总能变好？</a:t>
            </a:r>
          </a:p>
          <a:p xmlns:a="http://schemas.openxmlformats.org/drawingml/2006/main">
            <a:r>
              <a:t>不说明。它说明“带安全回退的完整部署”在这七条预设路线中不低于 matched LLM，并高于 strongest BO。原始 source route 仍然会失败。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【过渡】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除了最终质量，我们还关心同样的实验目标能不能用更少轮数达到。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[Internal evidence]</a:t>
            </a:r>
          </a:p>
          <a:p xmlns:a="http://schemas.openxmlformats.org/drawingml/2006/main">
            <a:r>
              <a:t>experiments/care_replay/results/2026-07-28-evaluation-completion/baseline_protocol_coverage.csv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预算效率与节省实验轮数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建议时间：3 分钟</a:t>
            </a:r>
          </a:p>
          <a:p xmlns:a="http://schemas.openxmlformats.org/drawingml/2006/main">
            <a:r>
              <a:t>【建议讲稿】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在真实科学任务中，最终最优值只是一个方面。更实际的问题是：达到同样质量需要做多少次 target 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左图 A 计算达到 matched target-only LLM 最终质量时节省的轮数。四条部署路线分别节省：ChemLex -&gt; BH 2.99 轮，95% CI [2.05, 3.93]；Dielectric -&gt; Gap 6.00 轮，区间 [5.14, 6.86]；Gap -&gt; Dielectric 5.03 轮，区间 [4.27, 5.79]；FreeSolv -&gt; Lipophilicity 2.23 轮，区间 [1.37, 3.09]。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左图 B 看更严格的 global top-10 候选，四条路线分别节省 3.62、9.57、8.46 和 4.80 轮。左图 C 展示不同 round 的 best-so-far delta，可以看出迁移价值发生在早期还是主要出现在预算末端。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Round 0 是 initial observations，不计作 acquisition round。如果某条轨迹在预算内没有达到比较阈值，按 budget + 1 做右删失。Fallback 路线与 matched LLM 完全一致，因此 rounds saved 为零。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这页目前可以支持的结论是：四条通过 Gate 的路线更早达到 matched baseline 的最终质量，说明 source experience 有潜力减少 target 实验成本。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【不要过度解释边际收益递减】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一张按 round 展示的热图不能直接证明“历史经验越多，边际收益越低”。要证明边际收益递减，需要控制 source-history size，例如使用 10%、25%、50%、100% 历史数据分别重跑，再比较线性模型和饱和模型。当前只能说增益在不同轮次分布不均。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【可能追问】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为什么用达到 baseline 最终质量，而不是全局最优？</a:t>
            </a:r>
          </a:p>
          <a:p xmlns:a="http://schemas.openxmlformats.org/drawingml/2006/main">
            <a:r>
              <a:t>Matched-final 对应一个现实问题：要达到不迁移方法最终能达到的质量，CARE 少做多少实验。Global top-10 是补充指标，两者一起报告比只看某一个阈值更稳妥。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【过渡】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当前结果说明框架值得继续，但论文级结论还需要一轮冻结协议下的完整模块归因。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[Internal evidence]</a:t>
            </a:r>
          </a:p>
          <a:p xmlns:a="http://schemas.openxmlformats.org/drawingml/2006/main">
            <a:r>
              <a:t>experiments/care_replay/results/2026-07-28-evaluation-completion/iteration_efficiency.csv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下一轮统一协议与消融实验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建议时间：3-4 分钟</a:t>
            </a:r>
          </a:p>
          <a:p xmlns:a="http://schemas.openxmlformats.org/drawingml/2006/main">
            <a:r>
              <a:t>【建议讲稿】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下一轮不应该继续根据结果临时挑 pair 或改规则，而是先冻结 Confirmation Protocol。Confirm run 开始前需要固定 route list、calibration/held-out split、candidate pool、initial observations、预算、Gate thresholds、primary metric 和各任务 MDE。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表格中的每一行回答一个不同问题。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transfer 给出完全不使用 source 的 target-only 表现。Random transfer 排除“只是多加一个 prior 就会变好”。Similarity-only 检查 schema 或 descriptor 相似度是否已经足够，不需要 LLM。Without Gate 量化强制迁移造成的负迁移。Without validation 检查独立 calibration 是否必要。最后用 Full CARE 2.0 得到完整系统的净效果。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所有方法必须共享同样的 target budget、initial observations、candidate pool 和 held-out seeds；除了被消融的模块，其余代码路径应保持一致。否则结果可能来自不同预算或不同初始难度，而不是模块贡献。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Confirm run 开始后，不能根据 held-out 结果修改 prompt、threshold 或 route。若发现协议问题，需要生成新的开发版本和新的独立 confirm split，并保留旧结果，不能覆盖。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【这一轮最终要回答的五个问题】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LLM Hypothesis 是否优于 similarity-only？</a:t>
            </a:r>
          </a:p>
          <a:p xmlns:a="http://schemas.openxmlformats.org/drawingml/2006/main">
            <a:r>
              <a:t>2. Source outcome 是否提供超出 schema 的信息？</a:t>
            </a:r>
          </a:p>
          <a:p xmlns:a="http://schemas.openxmlformats.org/drawingml/2006/main">
            <a:r>
              <a:t>3. Gate 是否显著降低负迁移率？</a:t>
            </a:r>
          </a:p>
          <a:p xmlns:a="http://schemas.openxmlformats.org/drawingml/2006/main">
            <a:r>
              <a:t>4. 增益来自 warm start、kernel geometry 还是持续 prior？</a:t>
            </a:r>
          </a:p>
          <a:p xmlns:a="http://schemas.openxmlformats.org/drawingml/2006/main">
            <a:r>
              <a:t>5. 同一协议能否在未参与开发的新 source-target pair 上复现？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【还需要补的跨领域实验】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应把领域内路线与 off-diagonal 路线分层报告。先根据表示重叠程度构造近距离跨领域路线，再测试远距离路线。无论结果正负都保留，用 task distance、descriptor overlap 和 route outcome 分析迁移边界。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【过渡】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最后总结当前已经成立的三条结论，以及我们暂时不能越过的边界。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建议时间：2 分钟</a:t>
            </a:r>
          </a:p>
          <a:p xmlns:a="http://schemas.openxmlformats.org/drawingml/2006/main">
            <a:r>
              <a:t>【建议讲稿】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目前可以给出三条结论。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第一，同领域迁移已经得到初步且可复核的支持。反应、材料和分子三个领域内都出现了跨数据集正向路线。七条冻结路线中四条部署了 transfer，并在 100 个 held-out seeds 上超过 matched target-only LLM。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第二，Gate 在当前套件中阻止了负迁移。其余三条 raw route 中，两条明确负向、一条不稳定；它们都被拒绝并精确回退。正式 held-out 部署没有把这些已知不可靠路线上线。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第三，远距离跨领域迁移还没有验证。下一轮需要冻结统一协议，补齐 Random、Similarity-only、Without Gate、Without validation 等消融，并扩展 Reaction、Materials、Molecular 之间的 off-diagonal pairs。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CARE 2.0 当前最扎实的贡献不是“LLM 总能给出更好的实验”，而是建立了一条完整的可信迁移链：LLM 生成可解释 Hypothesis，Compiler 把它变成可执行 patch，Gate 用独立证据决定是否部署，held-out 验证效果，最后把成功路线、失败路线和审计记录沉淀进知识库。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【建议收尾】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“我们希望 CARE 2.0 最终回答的不是某一条经验能不能迁移，而是科学智能体如何系统地提出迁移假设、验证假设、拒绝不可靠迁移，并把这些结果变成下一项任务可复用的知识。”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5e16891723407c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963874e179420e" /><Relationship Type="http://schemas.openxmlformats.org/officeDocument/2006/relationships/slideLayout" Target="/ppt/slideLayouts/slideLayout1.xml" Id="R0b55b09e34fe496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55b09e34fe496b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6331c597654082" /><Relationship Type="http://schemas.openxmlformats.org/officeDocument/2006/relationships/image" Target="/ppt/media/image.jpeg" Id="R4c988e3149f4479a" /><Relationship Type="http://schemas.openxmlformats.org/officeDocument/2006/relationships/notesSlide" Target="/ppt/notesSlides/notesSlide1.xml" Id="Rdc86b6db49f842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928c829f7d4379" /><Relationship Type="http://schemas.openxmlformats.org/officeDocument/2006/relationships/image" Target="/ppt/media/image2.jpeg" Id="Rd08dcef4d1884db1" /><Relationship Type="http://schemas.openxmlformats.org/officeDocument/2006/relationships/notesSlide" Target="/ppt/notesSlides/notesSlide2.xml" Id="R67f5cbebbc5144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c29e8b4c6c4514" /><Relationship Type="http://schemas.openxmlformats.org/officeDocument/2006/relationships/image" Target="/ppt/media/image3.jpeg" Id="Rae79f07463e94dfb" /><Relationship Type="http://schemas.openxmlformats.org/officeDocument/2006/relationships/image" Target="/ppt/media/image.png" Id="R855a516009064b94" /><Relationship Type="http://schemas.openxmlformats.org/officeDocument/2006/relationships/image" Target="/ppt/media/image2.png" Id="R017e3549f0974f41" /><Relationship Type="http://schemas.openxmlformats.org/officeDocument/2006/relationships/notesSlide" Target="/ppt/notesSlides/notesSlide3.xml" Id="Rf1c0b715237d43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daa3d16a064e28" /><Relationship Type="http://schemas.openxmlformats.org/officeDocument/2006/relationships/image" Target="/ppt/media/image3.jpeg" Id="R19101376962d4444" /><Relationship Type="http://schemas.openxmlformats.org/officeDocument/2006/relationships/image" Target="/ppt/media/image3.png" Id="Re11e646b13a64e02" /><Relationship Type="http://schemas.openxmlformats.org/officeDocument/2006/relationships/image" Target="/ppt/media/image4.png" Id="R1fd4b1cd7c3b40b5" /><Relationship Type="http://schemas.openxmlformats.org/officeDocument/2006/relationships/notesSlide" Target="/ppt/notesSlides/notesSlide4.xml" Id="Rf4fd4acf80b9445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5c0d03de314417" /><Relationship Type="http://schemas.openxmlformats.org/officeDocument/2006/relationships/image" Target="/ppt/media/image3.jpeg" Id="R888107eead0e49a8" /><Relationship Type="http://schemas.openxmlformats.org/officeDocument/2006/relationships/image" Target="/ppt/media/image3.png" Id="R0bb9e4f80005488d" /><Relationship Type="http://schemas.openxmlformats.org/officeDocument/2006/relationships/image" Target="/ppt/media/image4.png" Id="Rdc3c84dfc1d5466f" /><Relationship Type="http://schemas.openxmlformats.org/officeDocument/2006/relationships/notesSlide" Target="/ppt/notesSlides/notesSlide5.xml" Id="Rfcf78393e6b84d8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68f65f667247ee" /><Relationship Type="http://schemas.openxmlformats.org/officeDocument/2006/relationships/image" Target="/ppt/media/image2.jpeg" Id="Re9390bd028204970" /><Relationship Type="http://schemas.openxmlformats.org/officeDocument/2006/relationships/notesSlide" Target="/ppt/notesSlides/notesSlide6.xml" Id="Rddb7879b1b134ba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5437f0370544fb" /><Relationship Type="http://schemas.openxmlformats.org/officeDocument/2006/relationships/notesSlide" Target="/ppt/notesSlides/notesSlide7.xml" Id="Ree7eb44dd189476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b9f08a065f4651" /><Relationship Type="http://schemas.openxmlformats.org/officeDocument/2006/relationships/image" Target="/ppt/media/image2.jpeg" Id="R72e410f3c09d4bc0" /><Relationship Type="http://schemas.openxmlformats.org/officeDocument/2006/relationships/notesSlide" Target="/ppt/notesSlides/notesSlide8.xml" Id="R9cd7c9ddf39d4af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5208e168bd409f" /><Relationship Type="http://schemas.openxmlformats.org/officeDocument/2006/relationships/image" Target="/ppt/media/image4.jpeg" Id="R3fadba2415994ffa" /><Relationship Type="http://schemas.openxmlformats.org/officeDocument/2006/relationships/image" Target="/ppt/media/image5.png" Id="Raff3a341bdff4b82" /><Relationship Type="http://schemas.openxmlformats.org/officeDocument/2006/relationships/image" Target="/ppt/media/image6.png" Id="R5987c6e7fdf646f6" /><Relationship Type="http://schemas.openxmlformats.org/officeDocument/2006/relationships/notesSlide" Target="/ppt/notesSlides/notesSlide9.xml" Id="Rb2fe37828e264e5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9a938500cd43b7" /><Relationship Type="http://schemas.openxmlformats.org/officeDocument/2006/relationships/image" Target="/ppt/media/image3.jpeg" Id="R9284996653ee46af" /><Relationship Type="http://schemas.openxmlformats.org/officeDocument/2006/relationships/image" Target="/ppt/media/image7.png" Id="R0f5a9da2c86d43a3" /><Relationship Type="http://schemas.openxmlformats.org/officeDocument/2006/relationships/image" Target="/ppt/media/image8.png" Id="R4165c13ba71b4f5f" /><Relationship Type="http://schemas.openxmlformats.org/officeDocument/2006/relationships/image" Target="/ppt/media/image9.png" Id="R0672212b2a3c4ef2" /><Relationship Type="http://schemas.openxmlformats.org/officeDocument/2006/relationships/image" Target="/ppt/media/image10.png" Id="R26e710ee270b40fc" /><Relationship Type="http://schemas.openxmlformats.org/officeDocument/2006/relationships/image" Target="/ppt/media/image11.png" Id="R2098caff2f9c4b58" /><Relationship Type="http://schemas.openxmlformats.org/officeDocument/2006/relationships/image" Target="/ppt/media/image12.png" Id="R6808748c2ead4552" /><Relationship Type="http://schemas.openxmlformats.org/officeDocument/2006/relationships/notesSlide" Target="/ppt/notesSlides/notesSlide10.xml" Id="R8d259b6db4a240c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64fd2f71394a5b" /><Relationship Type="http://schemas.openxmlformats.org/officeDocument/2006/relationships/image" Target="/ppt/media/image5.jpeg" Id="R29f0b9d11e0f4940" /><Relationship Type="http://schemas.openxmlformats.org/officeDocument/2006/relationships/image" Target="/ppt/media/image13.png" Id="Rf6455da14b4f4061" /><Relationship Type="http://schemas.openxmlformats.org/officeDocument/2006/relationships/image" Target="/ppt/media/image14.png" Id="Rf395e0473d4a4ee5" /><Relationship Type="http://schemas.openxmlformats.org/officeDocument/2006/relationships/notesSlide" Target="/ppt/notesSlides/notesSlide11.xml" Id="R992ed61370f2422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20a419044b4874" /><Relationship Type="http://schemas.openxmlformats.org/officeDocument/2006/relationships/image" Target="/ppt/media/image3.jpeg" Id="R471426b68e814ec5" /><Relationship Type="http://schemas.openxmlformats.org/officeDocument/2006/relationships/image" Target="/ppt/media/image7.png" Id="Rea221b7d0c8e46a4" /><Relationship Type="http://schemas.openxmlformats.org/officeDocument/2006/relationships/image" Target="/ppt/media/image8.png" Id="Ra1c61b06291f4574" /><Relationship Type="http://schemas.openxmlformats.org/officeDocument/2006/relationships/image" Target="/ppt/media/image9.png" Id="Rb6cc9cce44fd4b28" /><Relationship Type="http://schemas.openxmlformats.org/officeDocument/2006/relationships/image" Target="/ppt/media/image10.png" Id="R1fde94dcab2e465b" /><Relationship Type="http://schemas.openxmlformats.org/officeDocument/2006/relationships/image" Target="/ppt/media/image11.png" Id="R59110d62b1834a01" /><Relationship Type="http://schemas.openxmlformats.org/officeDocument/2006/relationships/notesSlide" Target="/ppt/notesSlides/notesSlide12.xml" Id="R186b6d647cb94cc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62cc99532f4d28" /><Relationship Type="http://schemas.openxmlformats.org/officeDocument/2006/relationships/image" Target="/ppt/media/image15.png" Id="R78e7bd1e779840c9" /><Relationship Type="http://schemas.openxmlformats.org/officeDocument/2006/relationships/image" Target="/ppt/media/image16.png" Id="R71062688f55f4fda" /><Relationship Type="http://schemas.openxmlformats.org/officeDocument/2006/relationships/image" Target="/ppt/media/image17.png" Id="Rc0b94ba04e15422b" /><Relationship Type="http://schemas.openxmlformats.org/officeDocument/2006/relationships/image" Target="/ppt/media/image18.png" Id="R3058f204d9604cb2" /><Relationship Type="http://schemas.openxmlformats.org/officeDocument/2006/relationships/notesSlide" Target="/ppt/notesSlides/notesSlide13.xml" Id="R2fcdd119b2fe48f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a2db1a34a840dc" /><Relationship Type="http://schemas.openxmlformats.org/officeDocument/2006/relationships/image" Target="/ppt/media/image6.jpeg" Id="R605ed253e0804048" /><Relationship Type="http://schemas.openxmlformats.org/officeDocument/2006/relationships/image" Target="/ppt/media/image19.png" Id="R571eb5c85e2b4801" /><Relationship Type="http://schemas.openxmlformats.org/officeDocument/2006/relationships/image" Target="/ppt/media/image20.png" Id="R10e840c34a4f416e" /><Relationship Type="http://schemas.openxmlformats.org/officeDocument/2006/relationships/image" Target="/ppt/media/image21.png" Id="R0b50ceb546c14780" /><Relationship Type="http://schemas.openxmlformats.org/officeDocument/2006/relationships/notesSlide" Target="/ppt/notesSlides/notesSlide14.xml" Id="Rbf7ac6df20224ef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3fe4c7e1b940ce" /><Relationship Type="http://schemas.openxmlformats.org/officeDocument/2006/relationships/image" Target="/ppt/media/image7.jpeg" Id="R46dc1b724aa0475b" /><Relationship Type="http://schemas.openxmlformats.org/officeDocument/2006/relationships/notesSlide" Target="/ppt/notesSlides/notesSlide15.xml" Id="Red10876a85c249b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1687d8d6dc42f5" /><Relationship Type="http://schemas.openxmlformats.org/officeDocument/2006/relationships/image" Target="/ppt/media/image7.jpeg" Id="R6be937827a1b4b24" /><Relationship Type="http://schemas.openxmlformats.org/officeDocument/2006/relationships/notesSlide" Target="/ppt/notesSlides/notesSlide16.xml" Id="R2f48451ec60c40d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988e3149f447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985680AA-4A9A-4519-9220-17D731C9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171240"/>
            <a:ext cx="7429500" cy="1964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CARE 2.0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167367A8-FAE6-4538-836D-143F4B8D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39143"/>
            <a:ext cx="7429500" cy="4136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</a:pPr>
            <a:r>
              <a:rPr sz="2800" b="1"/>
              <a:t>CARE 2.0: 可信赖的跨任务科学知识迁移框架</a:t>
            </a:r>
            <a:r>
              <a:rPr sz="2800"/>
              <a:t> 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325EF4FA-D446-4D74-BC9A-2C871226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64979"/>
            <a:ext cx="7429500" cy="2321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>
                <a:solidFill>
                  <a:srgbClr val="5B6168"/>
                </a:solidFill>
                <a:latin typeface="-apple-system"/>
                <a:ea typeface="-apple-system"/>
                <a:cs typeface="-apple-system"/>
              </a:rPr>
              <a:t>Hypothesis generation · calibrated routing · held-out verification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D69048D-1199-46C1-B7D0-B83AA928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1525"/>
            <a:ext cx="7429500" cy="16073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B6168"/>
                </a:solidFill>
                <a:latin typeface="-apple-system"/>
                <a:ea typeface="-apple-system"/>
                <a:cs typeface="-apple-system"/>
              </a:rPr>
              <a:t>Project update · 2026-07-29</a:t>
            </a:r>
          </a:p>
        </p:txBody>
      </p:sp>
    </p:spTree>
    <p:extLst>
      <p:ext uri="{BB962C8B-B14F-4D97-AF65-F5344CB8AC3E}">
        <p14:creationId xmlns:p14="http://schemas.microsoft.com/office/powerpoint/2010/main" val="164176811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8dcef4d1884d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F8F12AE9-ECF3-4937-A4FB-79ACE290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1500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CORE QUESTION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C34C5384-D49C-4B9B-BA49-E654CE48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92944"/>
            <a:ext cx="7882414" cy="3446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250" b="1">
                <a:solidFill>
                  <a:srgbClr val="111111"/>
                </a:solidFill>
                <a:latin typeface="-apple-system"/>
                <a:ea typeface="-apple-system"/>
                <a:cs typeface="-apple-system"/>
              </a:rPr>
              <a:t>核心研究问题：如何定义一个具备迁移能力的通用</a:t>
            </a:r>
            <a:r>
              <a:rPr sz="2250" b="1">
                <a:solidFill>
                  <a:srgbClr val="111111"/>
                </a:solidFill>
                <a:latin typeface="-apple-system"/>
                <a:ea typeface="-apple-system"/>
                <a:cs typeface="-apple-system"/>
              </a:rPr>
              <a:t> AI Scientist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BA878A7C-B863-4A0B-B5E2-5A6C7B0C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364" y="428625"/>
            <a:ext cx="127136" cy="1321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5B6168"/>
                </a:solidFill>
                <a:latin typeface="-apple-system"/>
                <a:ea typeface="-apple-system"/>
                <a:cs typeface="-apple-system"/>
              </a:rPr>
              <a:t>02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36F3FEE-8ED2-49DD-9C9A-F2B1D55A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117EBA2-9591-43DF-B3E2-C94BB7A3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4456C7B3-08FD-43D4-B40A-CD452B5A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4FB1F2D-6BE1-4504-9864-75A0D25B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E5BBD2C-EE94-451A-9537-568CA268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FFD746C5-D99B-4975-AB86-02F37DDE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69BE7B14-358A-4DB2-8C3D-79ADE0A5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F61E8D2-B69B-48CC-9760-756190D2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5383A96-B2EF-401F-BD7E-2B0CEF9F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6917AFD9-139A-4849-AE16-A6E88778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E85C7CE3-E900-40BA-92FF-25FD1DE1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DCCF1F94-2C8A-4594-85EF-56DE4E9C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69BFFDA0-C016-47A8-8152-EF08D718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20" name="problem-num-0">
            <a:extLst xmlns:a="http://schemas.openxmlformats.org/drawingml/2006/main">
              <a:ext uri="{FF2B5EF4-FFF2-40B4-BE49-F238E27FC236}">
                <a16:creationId xmlns:a16="http://schemas.microsoft.com/office/drawing/2014/main" id="{A5E1FF53-E9BD-453D-88F4-104E1B50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defRPr>
            </a:pPr>
            <a:r>
              <a:rPr sz="20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01</a:t>
            </a:r>
          </a:p>
        </p:txBody>
      </p:sp>
      <p:sp>
        <p:nvSpPr>
          <p:cNvPr id="21" name="problem-title-0">
            <a:extLst xmlns:a="http://schemas.openxmlformats.org/drawingml/2006/main">
              <a:ext uri="{FF2B5EF4-FFF2-40B4-BE49-F238E27FC236}">
                <a16:creationId xmlns:a16="http://schemas.microsoft.com/office/drawing/2014/main" id="{B329625F-BA44-47A2-99A2-259D5481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135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决策对象</a:t>
            </a:r>
          </a:p>
        </p:txBody>
      </p:sp>
      <p:sp>
        <p:nvSpPr>
          <p:cNvPr id="22" name="problem-body-0">
            <a:extLst xmlns:a="http://schemas.openxmlformats.org/drawingml/2006/main">
              <a:ext uri="{FF2B5EF4-FFF2-40B4-BE49-F238E27FC236}">
                <a16:creationId xmlns:a16="http://schemas.microsoft.com/office/drawing/2014/main" id="{76D74621-7DB7-49A0-8D30-3C8CA4E5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003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0">
                <a:solidFill>
                  <a:srgbClr val="5D6874"/>
                </a:solidFill>
                <a:latin typeface="-apple-system"/>
                <a:ea typeface="-apple-system"/>
                <a:cs typeface="-apple-system"/>
              </a:rPr>
              <a:t>给定 source task、历史 outcome、target schema 与固定实验预算，决定：迁移什么、迁移多少、何时拒绝，以及下一轮测哪个候选。</a:t>
            </a:r>
          </a:p>
        </p:txBody>
      </p:sp>
      <p:sp>
        <p:nvSpPr>
          <p:cNvPr id="23" name="problem-num-1">
            <a:extLst xmlns:a="http://schemas.openxmlformats.org/drawingml/2006/main">
              <a:ext uri="{FF2B5EF4-FFF2-40B4-BE49-F238E27FC236}">
                <a16:creationId xmlns:a16="http://schemas.microsoft.com/office/drawing/2014/main" id="{432B3F22-FF9D-4378-8759-302E9F52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19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defRPr>
            </a:pPr>
            <a:r>
              <a:rPr sz="20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02</a:t>
            </a:r>
          </a:p>
        </p:txBody>
      </p:sp>
      <p:sp>
        <p:nvSpPr>
          <p:cNvPr id="24" name="problem-title-1">
            <a:extLst xmlns:a="http://schemas.openxmlformats.org/drawingml/2006/main">
              <a:ext uri="{FF2B5EF4-FFF2-40B4-BE49-F238E27FC236}">
                <a16:creationId xmlns:a16="http://schemas.microsoft.com/office/drawing/2014/main" id="{8CFCFF2A-D603-4EA1-9244-EDF1E96F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135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核心贡献</a:t>
            </a:r>
          </a:p>
        </p:txBody>
      </p:sp>
      <p:sp>
        <p:nvSpPr>
          <p:cNvPr id="25" name="problem-body-1">
            <a:extLst xmlns:a="http://schemas.openxmlformats.org/drawingml/2006/main">
              <a:ext uri="{FF2B5EF4-FFF2-40B4-BE49-F238E27FC236}">
                <a16:creationId xmlns:a16="http://schemas.microsoft.com/office/drawing/2014/main" id="{E42EA507-BE68-4148-A558-93A9B839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003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0">
                <a:solidFill>
                  <a:srgbClr val="5D6874"/>
                </a:solidFill>
                <a:latin typeface="-apple-system"/>
                <a:ea typeface="-apple-system"/>
                <a:cs typeface="-apple-system"/>
              </a:rPr>
              <a:t>LLM 生成可执行 Hypothesis；编译器把它映射到 acquisition geometry；Calibration Gate 用独立开发种子决定部署或回退。</a:t>
            </a:r>
          </a:p>
        </p:txBody>
      </p:sp>
      <p:sp>
        <p:nvSpPr>
          <p:cNvPr id="26" name="problem-num-2">
            <a:extLst xmlns:a="http://schemas.openxmlformats.org/drawingml/2006/main">
              <a:ext uri="{FF2B5EF4-FFF2-40B4-BE49-F238E27FC236}">
                <a16:creationId xmlns:a16="http://schemas.microsoft.com/office/drawing/2014/main" id="{A88681A7-FCD8-4BC6-95A0-41CC38F3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defRPr>
            </a:pPr>
            <a:r>
              <a:rPr sz="20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03</a:t>
            </a:r>
          </a:p>
        </p:txBody>
      </p:sp>
      <p:sp>
        <p:nvSpPr>
          <p:cNvPr id="27" name="problem-title-2">
            <a:extLst xmlns:a="http://schemas.openxmlformats.org/drawingml/2006/main">
              <a:ext uri="{FF2B5EF4-FFF2-40B4-BE49-F238E27FC236}">
                <a16:creationId xmlns:a16="http://schemas.microsoft.com/office/drawing/2014/main" id="{33144959-3080-4B74-B91C-3648A1DD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135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证据边界</a:t>
            </a:r>
          </a:p>
        </p:txBody>
      </p:sp>
      <p:sp>
        <p:nvSpPr>
          <p:cNvPr id="28" name="problem-body-2">
            <a:extLst xmlns:a="http://schemas.openxmlformats.org/drawingml/2006/main">
              <a:ext uri="{FF2B5EF4-FFF2-40B4-BE49-F238E27FC236}">
                <a16:creationId xmlns:a16="http://schemas.microsoft.com/office/drawing/2014/main" id="{528E1232-54A4-436B-8146-85259B9B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003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0">
                <a:solidFill>
                  <a:srgbClr val="5D6874"/>
                </a:solidFill>
                <a:latin typeface="-apple-system"/>
                <a:ea typeface="-apple-system"/>
                <a:cs typeface="-apple-system"/>
              </a:rPr>
              <a:t>目前支持反应、材料、分子三个领域内的跨数据集迁移。真正的跨领域迁移仍是探索性目标，不能写成已验证结论。</a:t>
            </a:r>
          </a:p>
        </p:txBody>
      </p:sp>
      <p:sp>
        <p:nvSpPr>
          <p:cNvPr id="29" name="problem-synthesis">
            <a:extLst xmlns:a="http://schemas.openxmlformats.org/drawingml/2006/main">
              <a:ext uri="{FF2B5EF4-FFF2-40B4-BE49-F238E27FC236}">
                <a16:creationId xmlns:a16="http://schemas.microsoft.com/office/drawing/2014/main" id="{5316D94F-D815-441A-9A3B-378B0BC1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76675"/>
            <a:ext cx="800100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9FC2E8"/>
            </a:solidFill>
            <a:prstDash val="solid"/>
          </a:ln>
        </p:spPr>
        <p:txBody>
          <a:bodyPr xmlns:a="http://schemas.openxmlformats.org/drawingml/2006/main" wrap="square" lIns="266700" tIns="171450" rIns="266700" bIns="171450" anchor="ctr">
            <a:normAutofit fontScale="9610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defRPr>
            </a:pPr>
            <a:r>
              <a:rPr sz="165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可信赖 = 能迁移，也能拒绝迁移。每一个决定都要有冻结协议、可复核证据和完整 audit trace。</a:t>
            </a:r>
          </a:p>
        </p:txBody>
      </p:sp>
    </p:spTree>
    <p:extLst>
      <p:ext uri="{BB962C8B-B14F-4D97-AF65-F5344CB8AC3E}">
        <p14:creationId xmlns:p14="http://schemas.microsoft.com/office/powerpoint/2010/main" val="173154457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4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79f07463e94d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ED159CAF-DEFD-4A90-B3A6-8C4861DD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8001000" cy="1500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TRUSTED TRANSFER FRAMEWORK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B8D1C7CB-4264-4D23-B79D-0C8EC637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494"/>
            <a:ext cx="8001000" cy="3343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800" b="1">
                <a:solidFill>
                  <a:srgbClr val="111111"/>
                </a:solidFill>
                <a:latin typeface="-apple-system"/>
                <a:ea typeface="-apple-system"/>
                <a:cs typeface="-apple-system"/>
              </a:rPr>
              <a:t>从历史实验到可验证迁移：生成、路由、执行、反馈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344AC5FD-3E59-47CD-9DC3-388527D7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364" y="285750"/>
            <a:ext cx="127136" cy="1321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5B6168"/>
                </a:solidFill>
                <a:latin typeface="-apple-system"/>
                <a:ea typeface="-apple-system"/>
                <a:cs typeface="-apple-system"/>
              </a:rPr>
              <a:t>03</a:t>
            </a:r>
          </a:p>
        </p:txBody>
      </p:sp>
      <p:pic>
        <p:nvPicPr>
          <p:cNvPr id="64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5a516009064b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A1CDB0A6-8A00-496E-AC96-3C97B253C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8" name="Shape 4">
            <a:extLst xmlns:a="http://schemas.openxmlformats.org/drawingml/2006/main">
              <a:ext uri="{FF2B5EF4-FFF2-40B4-BE49-F238E27FC236}">
                <a16:creationId xmlns:a16="http://schemas.microsoft.com/office/drawing/2014/main" id="{FAD6D10A-B59E-4475-8830-FCA8E26D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1EB599F2-CDC0-4D2B-B327-A59A5663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36017" tIns="136017" rIns="136017" bIns="136017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3C060327-AD03-46C1-8952-74EDF784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29947125-96A3-43AC-A2EF-AB50DB521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36017" tIns="136017" rIns="136017" bIns="136017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9813327B-8B4A-4B3F-B5FF-0AA94AD3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5FA164F3-1146-4F34-9E89-4DFDA2A4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36017" tIns="136017" rIns="136017" bIns="136017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81CA4ADB-E170-41C8-AFC1-91EE0593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418ED45C-D3A9-4071-ACB9-3EAD00F0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36017" tIns="136017" rIns="136017" bIns="136017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8BA6554A-B665-49B7-B74D-21441A826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776DD86E-BE23-42B4-8EB7-F275E725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36017" tIns="136017" rIns="136017" bIns="136017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912372C0-D106-4AE6-BB44-35568C10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2CF42E4F-4E48-467A-AA7A-CF726BC61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36017" tIns="136017" rIns="136017" bIns="136017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F58D38D8-FF21-40B6-8B75-D79C1B405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B171C747-B284-4603-B671-0714043B6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36017" tIns="136017" rIns="136017" bIns="136017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9A8F48CE-1E82-441D-9A26-63572876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D36C86F4-32D1-4044-AC08-AFFE8681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36017" tIns="136017" rIns="136017" bIns="136017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24B4F55E-9B27-4EB0-9255-DA7EF44D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FF03BD79-E080-4BF9-8242-60850B52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36017" tIns="136017" rIns="136017" bIns="136017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294D3691-F503-4873-A0F0-6ACA93F2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09A70CA4-E3AF-43CB-B301-D1CF97A0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6C6C55C1-FE95-419E-BCE6-00CAB33C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7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7e3549f0974f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D9AF64B3-494E-4D42-943B-3BF90767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31" name="Shape 26">
            <a:extLst xmlns:a="http://schemas.openxmlformats.org/drawingml/2006/main">
              <a:ext uri="{FF2B5EF4-FFF2-40B4-BE49-F238E27FC236}">
                <a16:creationId xmlns:a16="http://schemas.microsoft.com/office/drawing/2014/main" id="{E9A09C44-CD48-41C4-8BF9-9E720F8B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Shape 27">
            <a:extLst xmlns:a="http://schemas.openxmlformats.org/drawingml/2006/main">
              <a:ext uri="{FF2B5EF4-FFF2-40B4-BE49-F238E27FC236}">
                <a16:creationId xmlns:a16="http://schemas.microsoft.com/office/drawing/2014/main" id="{2C7F3DC7-AA66-46BD-AB20-26804F7F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Shape 28">
            <a:extLst xmlns:a="http://schemas.openxmlformats.org/drawingml/2006/main">
              <a:ext uri="{FF2B5EF4-FFF2-40B4-BE49-F238E27FC236}">
                <a16:creationId xmlns:a16="http://schemas.microsoft.com/office/drawing/2014/main" id="{17F89D4D-92A8-42EB-9020-376664C0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Shape 29">
            <a:extLst xmlns:a="http://schemas.openxmlformats.org/drawingml/2006/main">
              <a:ext uri="{FF2B5EF4-FFF2-40B4-BE49-F238E27FC236}">
                <a16:creationId xmlns:a16="http://schemas.microsoft.com/office/drawing/2014/main" id="{3E80345B-BB36-4224-B8A3-A23C18F6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0">
            <a:extLst xmlns:a="http://schemas.openxmlformats.org/drawingml/2006/main">
              <a:ext uri="{FF2B5EF4-FFF2-40B4-BE49-F238E27FC236}">
                <a16:creationId xmlns:a16="http://schemas.microsoft.com/office/drawing/2014/main" id="{8CDC7844-EF08-4EBA-8113-32C68537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1">
            <a:extLst xmlns:a="http://schemas.openxmlformats.org/drawingml/2006/main">
              <a:ext uri="{FF2B5EF4-FFF2-40B4-BE49-F238E27FC236}">
                <a16:creationId xmlns:a16="http://schemas.microsoft.com/office/drawing/2014/main" id="{0148626B-1502-4426-A907-4E007EF2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37" name="Text 32">
            <a:extLst xmlns:a="http://schemas.openxmlformats.org/drawingml/2006/main">
              <a:ext uri="{FF2B5EF4-FFF2-40B4-BE49-F238E27FC236}">
                <a16:creationId xmlns:a16="http://schemas.microsoft.com/office/drawing/2014/main" id="{E5F903FE-3AFD-45EE-88FF-073B7181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38" name="Text 33">
            <a:extLst xmlns:a="http://schemas.openxmlformats.org/drawingml/2006/main">
              <a:ext uri="{FF2B5EF4-FFF2-40B4-BE49-F238E27FC236}">
                <a16:creationId xmlns:a16="http://schemas.microsoft.com/office/drawing/2014/main" id="{972633EC-CD93-4B24-97C4-444109667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39" name="Text 34">
            <a:extLst xmlns:a="http://schemas.openxmlformats.org/drawingml/2006/main">
              <a:ext uri="{FF2B5EF4-FFF2-40B4-BE49-F238E27FC236}">
                <a16:creationId xmlns:a16="http://schemas.microsoft.com/office/drawing/2014/main" id="{7BD4F2F7-30D6-4033-92EB-E2523601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40" name="Shape 35">
            <a:extLst xmlns:a="http://schemas.openxmlformats.org/drawingml/2006/main">
              <a:ext uri="{FF2B5EF4-FFF2-40B4-BE49-F238E27FC236}">
                <a16:creationId xmlns:a16="http://schemas.microsoft.com/office/drawing/2014/main" id="{D50E1449-A437-4659-BF82-706D1B75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Shape 36">
            <a:extLst xmlns:a="http://schemas.openxmlformats.org/drawingml/2006/main">
              <a:ext uri="{FF2B5EF4-FFF2-40B4-BE49-F238E27FC236}">
                <a16:creationId xmlns:a16="http://schemas.microsoft.com/office/drawing/2014/main" id="{8DDA31BA-119E-4EE4-A986-BB6A84C2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Shape 37">
            <a:extLst xmlns:a="http://schemas.openxmlformats.org/drawingml/2006/main">
              <a:ext uri="{FF2B5EF4-FFF2-40B4-BE49-F238E27FC236}">
                <a16:creationId xmlns:a16="http://schemas.microsoft.com/office/drawing/2014/main" id="{BC9EF208-1A7B-42AB-94DB-248EF0C6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Shape 38">
            <a:extLst xmlns:a="http://schemas.openxmlformats.org/drawingml/2006/main">
              <a:ext uri="{FF2B5EF4-FFF2-40B4-BE49-F238E27FC236}">
                <a16:creationId xmlns:a16="http://schemas.microsoft.com/office/drawing/2014/main" id="{04CD6DBA-D284-4185-8CF3-6334BCE3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Shape 39">
            <a:extLst xmlns:a="http://schemas.openxmlformats.org/drawingml/2006/main">
              <a:ext uri="{FF2B5EF4-FFF2-40B4-BE49-F238E27FC236}">
                <a16:creationId xmlns:a16="http://schemas.microsoft.com/office/drawing/2014/main" id="{512DE1FA-276A-4144-8159-481128D9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Text 40">
            <a:extLst xmlns:a="http://schemas.openxmlformats.org/drawingml/2006/main">
              <a:ext uri="{FF2B5EF4-FFF2-40B4-BE49-F238E27FC236}">
                <a16:creationId xmlns:a16="http://schemas.microsoft.com/office/drawing/2014/main" id="{FF65D1E9-97D0-4275-9052-3EA56231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46" name="Text 41">
            <a:extLst xmlns:a="http://schemas.openxmlformats.org/drawingml/2006/main">
              <a:ext uri="{FF2B5EF4-FFF2-40B4-BE49-F238E27FC236}">
                <a16:creationId xmlns:a16="http://schemas.microsoft.com/office/drawing/2014/main" id="{276AB000-21A1-4042-9788-B1914AB6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47" name="Text 42">
            <a:extLst xmlns:a="http://schemas.openxmlformats.org/drawingml/2006/main">
              <a:ext uri="{FF2B5EF4-FFF2-40B4-BE49-F238E27FC236}">
                <a16:creationId xmlns:a16="http://schemas.microsoft.com/office/drawing/2014/main" id="{651271A4-F2B3-4DCA-892F-2BC74511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48" name="Text 43">
            <a:extLst xmlns:a="http://schemas.openxmlformats.org/drawingml/2006/main">
              <a:ext uri="{FF2B5EF4-FFF2-40B4-BE49-F238E27FC236}">
                <a16:creationId xmlns:a16="http://schemas.microsoft.com/office/drawing/2014/main" id="{676CB99D-BB24-4717-9283-E1A399F2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49" name="Shape 44">
            <a:extLst xmlns:a="http://schemas.openxmlformats.org/drawingml/2006/main">
              <a:ext uri="{FF2B5EF4-FFF2-40B4-BE49-F238E27FC236}">
                <a16:creationId xmlns:a16="http://schemas.microsoft.com/office/drawing/2014/main" id="{2C1FEAC1-41A2-43E5-AC9E-620057CC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Shape 45">
            <a:extLst xmlns:a="http://schemas.openxmlformats.org/drawingml/2006/main">
              <a:ext uri="{FF2B5EF4-FFF2-40B4-BE49-F238E27FC236}">
                <a16:creationId xmlns:a16="http://schemas.microsoft.com/office/drawing/2014/main" id="{0CDA5014-435C-426E-9145-51FEDB6F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Shape 46">
            <a:extLst xmlns:a="http://schemas.openxmlformats.org/drawingml/2006/main">
              <a:ext uri="{FF2B5EF4-FFF2-40B4-BE49-F238E27FC236}">
                <a16:creationId xmlns:a16="http://schemas.microsoft.com/office/drawing/2014/main" id="{68AE135F-2F6E-4B97-A6BE-88AF8BA3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2" name="Shape 47">
            <a:extLst xmlns:a="http://schemas.openxmlformats.org/drawingml/2006/main">
              <a:ext uri="{FF2B5EF4-FFF2-40B4-BE49-F238E27FC236}">
                <a16:creationId xmlns:a16="http://schemas.microsoft.com/office/drawing/2014/main" id="{AAE18213-0645-4595-8EF2-63AF042F8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3" name="Shape 48">
            <a:extLst xmlns:a="http://schemas.openxmlformats.org/drawingml/2006/main">
              <a:ext uri="{FF2B5EF4-FFF2-40B4-BE49-F238E27FC236}">
                <a16:creationId xmlns:a16="http://schemas.microsoft.com/office/drawing/2014/main" id="{DF1160AB-F6B4-4AD6-BA6E-0198BFAA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Text 49">
            <a:extLst xmlns:a="http://schemas.openxmlformats.org/drawingml/2006/main">
              <a:ext uri="{FF2B5EF4-FFF2-40B4-BE49-F238E27FC236}">
                <a16:creationId xmlns:a16="http://schemas.microsoft.com/office/drawing/2014/main" id="{79B351AA-0D58-463E-B5A7-50271939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55" name="Text 50">
            <a:extLst xmlns:a="http://schemas.openxmlformats.org/drawingml/2006/main">
              <a:ext uri="{FF2B5EF4-FFF2-40B4-BE49-F238E27FC236}">
                <a16:creationId xmlns:a16="http://schemas.microsoft.com/office/drawing/2014/main" id="{1B8CAC1E-B898-4D59-A824-34E64F00F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56" name="Text 51">
            <a:extLst xmlns:a="http://schemas.openxmlformats.org/drawingml/2006/main">
              <a:ext uri="{FF2B5EF4-FFF2-40B4-BE49-F238E27FC236}">
                <a16:creationId xmlns:a16="http://schemas.microsoft.com/office/drawing/2014/main" id="{7BD35B93-48F2-4BEE-B10F-0579C9BB1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57" name="Text 52">
            <a:extLst xmlns:a="http://schemas.openxmlformats.org/drawingml/2006/main">
              <a:ext uri="{FF2B5EF4-FFF2-40B4-BE49-F238E27FC236}">
                <a16:creationId xmlns:a16="http://schemas.microsoft.com/office/drawing/2014/main" id="{E6D0943E-074D-4183-B3AD-405784F3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58" name="Shape 53">
            <a:extLst xmlns:a="http://schemas.openxmlformats.org/drawingml/2006/main">
              <a:ext uri="{FF2B5EF4-FFF2-40B4-BE49-F238E27FC236}">
                <a16:creationId xmlns:a16="http://schemas.microsoft.com/office/drawing/2014/main" id="{8DEACAE0-FEB3-494C-8147-A2765D7B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9" name="Shape 54">
            <a:extLst xmlns:a="http://schemas.openxmlformats.org/drawingml/2006/main">
              <a:ext uri="{FF2B5EF4-FFF2-40B4-BE49-F238E27FC236}">
                <a16:creationId xmlns:a16="http://schemas.microsoft.com/office/drawing/2014/main" id="{E9F399B8-EB96-4D34-8715-68D98524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0" name="Shape 55">
            <a:extLst xmlns:a="http://schemas.openxmlformats.org/drawingml/2006/main">
              <a:ext uri="{FF2B5EF4-FFF2-40B4-BE49-F238E27FC236}">
                <a16:creationId xmlns:a16="http://schemas.microsoft.com/office/drawing/2014/main" id="{8A8998D1-9844-4D00-8C74-A2359F8F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1" name="Shape 56">
            <a:extLst xmlns:a="http://schemas.openxmlformats.org/drawingml/2006/main">
              <a:ext uri="{FF2B5EF4-FFF2-40B4-BE49-F238E27FC236}">
                <a16:creationId xmlns:a16="http://schemas.microsoft.com/office/drawing/2014/main" id="{EA40FD4D-7C27-48BE-9530-E542B9ACF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2" name="Shape 57">
            <a:extLst xmlns:a="http://schemas.openxmlformats.org/drawingml/2006/main">
              <a:ext uri="{FF2B5EF4-FFF2-40B4-BE49-F238E27FC236}">
                <a16:creationId xmlns:a16="http://schemas.microsoft.com/office/drawing/2014/main" id="{F30F8F54-0F2A-4C1E-8418-C0861518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3" name="Text 58">
            <a:extLst xmlns:a="http://schemas.openxmlformats.org/drawingml/2006/main">
              <a:ext uri="{FF2B5EF4-FFF2-40B4-BE49-F238E27FC236}">
                <a16:creationId xmlns:a16="http://schemas.microsoft.com/office/drawing/2014/main" id="{86A39385-085F-477E-A795-7FEA3C92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64" name="Text 59">
            <a:extLst xmlns:a="http://schemas.openxmlformats.org/drawingml/2006/main">
              <a:ext uri="{FF2B5EF4-FFF2-40B4-BE49-F238E27FC236}">
                <a16:creationId xmlns:a16="http://schemas.microsoft.com/office/drawing/2014/main" id="{EF68050B-0333-4254-B695-0DE3B05D1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65" name="Text 60">
            <a:extLst xmlns:a="http://schemas.openxmlformats.org/drawingml/2006/main">
              <a:ext uri="{FF2B5EF4-FFF2-40B4-BE49-F238E27FC236}">
                <a16:creationId xmlns:a16="http://schemas.microsoft.com/office/drawing/2014/main" id="{C3DB49D4-0605-4E33-A19F-78C2128A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66" name="Text 61">
            <a:extLst xmlns:a="http://schemas.openxmlformats.org/drawingml/2006/main">
              <a:ext uri="{FF2B5EF4-FFF2-40B4-BE49-F238E27FC236}">
                <a16:creationId xmlns:a16="http://schemas.microsoft.com/office/drawing/2014/main" id="{B50052EF-9060-499B-9036-0062AA3D1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70" name="framework-top-0">
            <a:extLst xmlns:a="http://schemas.openxmlformats.org/drawingml/2006/main">
              <a:ext uri="{FF2B5EF4-FFF2-40B4-BE49-F238E27FC236}">
                <a16:creationId xmlns:a16="http://schemas.microsoft.com/office/drawing/2014/main" id="{199B6E16-A1E0-46E8-80C6-41F89390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381125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1430">
            <a:solidFill>
              <a:srgbClr val="9FC2E8"/>
            </a:solidFill>
            <a:prstDash val="solid"/>
          </a:ln>
        </p:spPr>
        <p:txBody>
          <a:bodyPr xmlns:a="http://schemas.openxmlformats.org/drawingml/2006/main" wrap="square" lIns="76200" tIns="85725" rIns="76200" bIns="85725" anchor="ctr">
            <a:normAutofit fontScale="9946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Historical Experiments</a:t>
            </a:r>
          </a:p>
          <a:p xmlns:a="http://schemas.openxmlformats.org/drawingml/2006/main">
            <a:pPr algn="ctr">
              <a:buNone/>
              <a:def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TaskSpec · outcomes · audit</a:t>
            </a:r>
          </a:p>
        </p:txBody>
      </p:sp>
      <p:sp>
        <p:nvSpPr>
          <p:cNvPr id="71" name="framework-top-1">
            <a:extLst xmlns:a="http://schemas.openxmlformats.org/drawingml/2006/main">
              <a:ext uri="{FF2B5EF4-FFF2-40B4-BE49-F238E27FC236}">
                <a16:creationId xmlns:a16="http://schemas.microsoft.com/office/drawing/2014/main" id="{405953BD-2125-4B0C-BEDD-6BB11D32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1333500"/>
            <a:ext cx="1381125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1430">
            <a:solidFill>
              <a:srgbClr val="9FC2E8"/>
            </a:solidFill>
            <a:prstDash val="solid"/>
          </a:ln>
        </p:spPr>
        <p:txBody>
          <a:bodyPr xmlns:a="http://schemas.openxmlformats.org/drawingml/2006/main" wrap="square" lIns="76200" tIns="85725" rIns="76200" bIns="857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Feature &amp; Evidence</a:t>
            </a:r>
          </a:p>
          <a:p xmlns:a="http://schemas.openxmlformats.org/drawingml/2006/main">
            <a:pPr algn="ctr">
              <a:buNone/>
              <a:def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roles · descriptors · uncertainty</a:t>
            </a:r>
          </a:p>
        </p:txBody>
      </p:sp>
      <p:sp>
        <p:nvSpPr>
          <p:cNvPr id="72" name="framework-top-2">
            <a:extLst xmlns:a="http://schemas.openxmlformats.org/drawingml/2006/main">
              <a:ext uri="{FF2B5EF4-FFF2-40B4-BE49-F238E27FC236}">
                <a16:creationId xmlns:a16="http://schemas.microsoft.com/office/drawing/2014/main" id="{FBAA4DF2-898B-4BB3-B10B-19419696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333500"/>
            <a:ext cx="1381125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1430">
            <a:solidFill>
              <a:srgbClr val="9FC2E8"/>
            </a:solidFill>
            <a:prstDash val="solid"/>
          </a:ln>
        </p:spPr>
        <p:txBody>
          <a:bodyPr xmlns:a="http://schemas.openxmlformats.org/drawingml/2006/main" wrap="square" lIns="76200" tIns="85725" rIns="76200" bIns="85725" anchor="ctr">
            <a:normAutofit fontScale="940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Hypothesis Generation</a:t>
            </a:r>
          </a:p>
          <a:p xmlns:a="http://schemas.openxmlformats.org/drawingml/2006/main">
            <a:pPr algn="ctr">
              <a:buNone/>
              <a:def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multiple bounded candidates</a:t>
            </a:r>
          </a:p>
        </p:txBody>
      </p:sp>
      <p:sp>
        <p:nvSpPr>
          <p:cNvPr id="73" name="framework-top-3">
            <a:extLst xmlns:a="http://schemas.openxmlformats.org/drawingml/2006/main">
              <a:ext uri="{FF2B5EF4-FFF2-40B4-BE49-F238E27FC236}">
                <a16:creationId xmlns:a16="http://schemas.microsoft.com/office/drawing/2014/main" id="{6FFD81F1-5B76-4240-BB18-953E0B46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1333500"/>
            <a:ext cx="1381125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1430">
            <a:solidFill>
              <a:srgbClr val="9FC2E8"/>
            </a:solidFill>
            <a:prstDash val="solid"/>
          </a:ln>
        </p:spPr>
        <p:txBody>
          <a:bodyPr xmlns:a="http://schemas.openxmlformats.org/drawingml/2006/main" wrap="square" lIns="76200" tIns="85725" rIns="76200" bIns="85725" anchor="ctr">
            <a:normAutofit fontScale="9727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Transferability Estimate</a:t>
            </a:r>
          </a:p>
          <a:p xmlns:a="http://schemas.openxmlformats.org/drawingml/2006/main">
            <a:pPr algn="ctr">
              <a:buNone/>
              <a:def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schema + source evidence</a:t>
            </a:r>
          </a:p>
        </p:txBody>
      </p:sp>
      <p:sp>
        <p:nvSpPr>
          <p:cNvPr id="74" name="framework-top-4">
            <a:extLst xmlns:a="http://schemas.openxmlformats.org/drawingml/2006/main">
              <a:ext uri="{FF2B5EF4-FFF2-40B4-BE49-F238E27FC236}">
                <a16:creationId xmlns:a16="http://schemas.microsoft.com/office/drawing/2014/main" id="{98EA5819-3CA0-4C69-8720-51C8C13A3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333500"/>
            <a:ext cx="1381125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1430">
            <a:solidFill>
              <a:srgbClr val="E0B45C"/>
            </a:solidFill>
            <a:prstDash val="solid"/>
          </a:ln>
        </p:spPr>
        <p:txBody>
          <a:bodyPr xmlns:a="http://schemas.openxmlformats.org/drawingml/2006/main" wrap="square" lIns="76200" tIns="85725" rIns="76200" bIns="857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Calibration Gate</a:t>
            </a:r>
          </a:p>
          <a:p xmlns:a="http://schemas.openxmlformats.org/drawingml/2006/main">
            <a:pPr algn="ctr">
              <a:buNone/>
              <a:def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independent dev seeds</a:t>
            </a:r>
          </a:p>
        </p:txBody>
      </p:sp>
      <p:cxnSp>
        <p:nvCxnSpPr>
          <p:cNvPr id="713" name="Straight Arrow Connector 165"/>
          <p:cNvCxnSpPr>
            <a:stCxn xmlns:a="http://schemas.openxmlformats.org/drawingml/2006/main" id="70" idx="3"/>
            <a:endCxn xmlns:a="http://schemas.openxmlformats.org/drawingml/2006/main" id="71" idx="1"/>
          </p:cNvCxnSpPr>
          <p:nvPr/>
        </p:nvCxnSpPr>
        <p:spPr>
          <a:xfrm xmlns:a="http://schemas.openxmlformats.org/drawingml/2006/main">
            <a:off x="1952625" y="170497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C2E8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714" name="Straight Arrow Connector 166"/>
          <p:cNvCxnSpPr>
            <a:stCxn xmlns:a="http://schemas.openxmlformats.org/drawingml/2006/main" id="71" idx="3"/>
            <a:endCxn xmlns:a="http://schemas.openxmlformats.org/drawingml/2006/main" id="72" idx="1"/>
          </p:cNvCxnSpPr>
          <p:nvPr/>
        </p:nvCxnSpPr>
        <p:spPr>
          <a:xfrm xmlns:a="http://schemas.openxmlformats.org/drawingml/2006/main">
            <a:off x="3505200" y="170497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C2E8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715" name="Straight Arrow Connector 167"/>
          <p:cNvCxnSpPr>
            <a:stCxn xmlns:a="http://schemas.openxmlformats.org/drawingml/2006/main" id="72" idx="3"/>
            <a:endCxn xmlns:a="http://schemas.openxmlformats.org/drawingml/2006/main" id="73" idx="1"/>
          </p:cNvCxnSpPr>
          <p:nvPr/>
        </p:nvCxnSpPr>
        <p:spPr>
          <a:xfrm xmlns:a="http://schemas.openxmlformats.org/drawingml/2006/main">
            <a:off x="5057775" y="170497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C2E8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716" name="Straight Arrow Connector 168"/>
          <p:cNvCxnSpPr>
            <a:stCxn xmlns:a="http://schemas.openxmlformats.org/drawingml/2006/main" id="73" idx="3"/>
            <a:endCxn xmlns:a="http://schemas.openxmlformats.org/drawingml/2006/main" id="74" idx="1"/>
          </p:cNvCxnSpPr>
          <p:nvPr/>
        </p:nvCxnSpPr>
        <p:spPr>
          <a:xfrm xmlns:a="http://schemas.openxmlformats.org/drawingml/2006/main">
            <a:off x="6610350" y="170497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C2E8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79" name="framework-transfer">
            <a:extLst xmlns:a="http://schemas.openxmlformats.org/drawingml/2006/main">
              <a:ext uri="{FF2B5EF4-FFF2-40B4-BE49-F238E27FC236}">
                <a16:creationId xmlns:a16="http://schemas.microsoft.com/office/drawing/2014/main" id="{5CFFF29A-260F-4CB1-8082-A84CA1594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76500"/>
            <a:ext cx="9525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11430">
            <a:solidFill>
              <a:srgbClr val="19875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rPr>
              <a:t>TRANSFER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rPr>
              <a:t>M &gt; 0</a:t>
            </a:r>
          </a:p>
        </p:txBody>
      </p:sp>
      <p:sp>
        <p:nvSpPr>
          <p:cNvPr id="80" name="framework-hold">
            <a:extLst xmlns:a="http://schemas.openxmlformats.org/drawingml/2006/main">
              <a:ext uri="{FF2B5EF4-FFF2-40B4-BE49-F238E27FC236}">
                <a16:creationId xmlns:a16="http://schemas.microsoft.com/office/drawing/2014/main" id="{1BBD49EB-F67B-4D25-843A-7272E5D1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9525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1430">
            <a:solidFill>
              <a:srgbClr val="B7791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8977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B7791F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B7791F"/>
                </a:solidFill>
                <a:latin typeface="-apple-system"/>
                <a:ea typeface="-apple-system"/>
                <a:cs typeface="-apple-system"/>
              </a:rPr>
              <a:t>HOLD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B7791F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B7791F"/>
                </a:solidFill>
                <a:latin typeface="-apple-system"/>
                <a:ea typeface="-apple-system"/>
                <a:cs typeface="-apple-system"/>
              </a:rPr>
              <a:t>collect evidence</a:t>
            </a:r>
          </a:p>
        </p:txBody>
      </p:sp>
      <p:sp>
        <p:nvSpPr>
          <p:cNvPr id="81" name="framework-freeze">
            <a:extLst xmlns:a="http://schemas.openxmlformats.org/drawingml/2006/main">
              <a:ext uri="{FF2B5EF4-FFF2-40B4-BE49-F238E27FC236}">
                <a16:creationId xmlns:a16="http://schemas.microsoft.com/office/drawing/2014/main" id="{06820836-C98F-4D49-9D43-2239385B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76500"/>
            <a:ext cx="9525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CECEC"/>
          </a:solidFill>
          <a:ln xmlns:a="http://schemas.openxmlformats.org/drawingml/2006/main" w="11430">
            <a:solidFill>
              <a:srgbClr val="D64545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9825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D64545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D64545"/>
                </a:solidFill>
                <a:latin typeface="-apple-system"/>
                <a:ea typeface="-apple-system"/>
                <a:cs typeface="-apple-system"/>
              </a:rPr>
              <a:t>FREEZE / REJECT</a:t>
            </a:r>
          </a:p>
          <a:p xmlns:a="http://schemas.openxmlformats.org/drawingml/2006/main">
            <a:pPr algn="ctr">
              <a:buNone/>
              <a:defRPr sz="863" b="1">
                <a:solidFill>
                  <a:srgbClr val="D64545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D64545"/>
                </a:solidFill>
                <a:latin typeface="-apple-system"/>
                <a:ea typeface="-apple-system"/>
                <a:cs typeface="-apple-system"/>
              </a:rPr>
              <a:t>exact fallback</a:t>
            </a:r>
          </a:p>
        </p:txBody>
      </p:sp>
      <p:cxnSp>
        <p:nvCxnSpPr>
          <p:cNvPr id="720" name="Elbow Connector 172"/>
          <p:cNvCxnSpPr>
            <a:stCxn xmlns:a="http://schemas.openxmlformats.org/drawingml/2006/main" id="74" idx="2"/>
            <a:endCxn xmlns:a="http://schemas.openxmlformats.org/drawingml/2006/main" id="79" idx="0"/>
          </p:cNvCxnSpPr>
          <p:nvPr/>
        </p:nvCxnSpPr>
        <p:spPr>
          <a:xfrm xmlns:a="http://schemas.openxmlformats.org/drawingml/2006/main" flipH="1">
            <a:off x="5905500" y="2076450"/>
            <a:ext cx="1566863" cy="4000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98754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721" name="Elbow Connector 173"/>
          <p:cNvCxnSpPr>
            <a:stCxn xmlns:a="http://schemas.openxmlformats.org/drawingml/2006/main" id="74" idx="2"/>
            <a:endCxn xmlns:a="http://schemas.openxmlformats.org/drawingml/2006/main" id="80" idx="0"/>
          </p:cNvCxnSpPr>
          <p:nvPr/>
        </p:nvCxnSpPr>
        <p:spPr>
          <a:xfrm xmlns:a="http://schemas.openxmlformats.org/drawingml/2006/main" flipH="1">
            <a:off x="7048500" y="2076450"/>
            <a:ext cx="423863" cy="4000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7791F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722" name="Elbow Connector 174"/>
          <p:cNvCxnSpPr>
            <a:stCxn xmlns:a="http://schemas.openxmlformats.org/drawingml/2006/main" id="74" idx="2"/>
            <a:endCxn xmlns:a="http://schemas.openxmlformats.org/drawingml/2006/main" id="81" idx="0"/>
          </p:cNvCxnSpPr>
          <p:nvPr/>
        </p:nvCxnSpPr>
        <p:spPr>
          <a:xfrm xmlns:a="http://schemas.openxmlformats.org/drawingml/2006/main">
            <a:off x="7472363" y="2076450"/>
            <a:ext cx="719138" cy="4000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D64545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85" name="framework-bottom-0">
            <a:extLst xmlns:a="http://schemas.openxmlformats.org/drawingml/2006/main">
              <a:ext uri="{FF2B5EF4-FFF2-40B4-BE49-F238E27FC236}">
                <a16:creationId xmlns:a16="http://schemas.microsoft.com/office/drawing/2014/main" id="{D652F557-32F0-4439-B2B8-9679D86D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29000"/>
            <a:ext cx="17145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FC2E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Target Experiment</a:t>
            </a:r>
          </a:p>
          <a:p xmlns:a="http://schemas.openxmlformats.org/drawingml/2006/main">
            <a:pPr algn="ctr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fixed budget replay</a:t>
            </a:r>
          </a:p>
        </p:txBody>
      </p:sp>
      <p:sp>
        <p:nvSpPr>
          <p:cNvPr id="86" name="framework-bottom-1">
            <a:extLst xmlns:a="http://schemas.openxmlformats.org/drawingml/2006/main">
              <a:ext uri="{FF2B5EF4-FFF2-40B4-BE49-F238E27FC236}">
                <a16:creationId xmlns:a16="http://schemas.microsoft.com/office/drawing/2014/main" id="{B8DA8B1C-1806-4519-BACE-A0D4E523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429000"/>
            <a:ext cx="17145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FC2E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Statistical Evaluation</a:t>
            </a:r>
          </a:p>
          <a:p xmlns:a="http://schemas.openxmlformats.org/drawingml/2006/main">
            <a:pPr algn="ctr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paired Δ · CI · stability</a:t>
            </a:r>
          </a:p>
        </p:txBody>
      </p:sp>
      <p:sp>
        <p:nvSpPr>
          <p:cNvPr id="87" name="framework-bottom-2">
            <a:extLst xmlns:a="http://schemas.openxmlformats.org/drawingml/2006/main">
              <a:ext uri="{FF2B5EF4-FFF2-40B4-BE49-F238E27FC236}">
                <a16:creationId xmlns:a16="http://schemas.microsoft.com/office/drawing/2014/main" id="{762176D5-4791-4DF9-9108-E1C18239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429000"/>
            <a:ext cx="17145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FC2E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Feedback &amp; Memory</a:t>
            </a:r>
          </a:p>
          <a:p xmlns:a="http://schemas.openxmlformats.org/drawingml/2006/main">
            <a:pPr algn="ctr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trace · outcome · route card</a:t>
            </a:r>
          </a:p>
        </p:txBody>
      </p:sp>
      <p:cxnSp>
        <p:nvCxnSpPr>
          <p:cNvPr id="726" name="Elbow Connector 178"/>
          <p:cNvCxnSpPr>
            <a:stCxn xmlns:a="http://schemas.openxmlformats.org/drawingml/2006/main" id="79" idx="2"/>
            <a:endCxn xmlns:a="http://schemas.openxmlformats.org/drawingml/2006/main" id="85" idx="0"/>
          </p:cNvCxnSpPr>
          <p:nvPr/>
        </p:nvCxnSpPr>
        <p:spPr>
          <a:xfrm xmlns:a="http://schemas.openxmlformats.org/drawingml/2006/main" flipH="1">
            <a:off x="2571750" y="2990850"/>
            <a:ext cx="3333750" cy="4381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98754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727" name="Elbow Connector 179"/>
          <p:cNvCxnSpPr>
            <a:stCxn xmlns:a="http://schemas.openxmlformats.org/drawingml/2006/main" id="81" idx="2"/>
            <a:endCxn xmlns:a="http://schemas.openxmlformats.org/drawingml/2006/main" id="85" idx="0"/>
          </p:cNvCxnSpPr>
          <p:nvPr/>
        </p:nvCxnSpPr>
        <p:spPr>
          <a:xfrm xmlns:a="http://schemas.openxmlformats.org/drawingml/2006/main" flipH="1">
            <a:off x="2571750" y="2990850"/>
            <a:ext cx="5619750" cy="4381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D64545"/>
            </a:solidFill>
            <a:prstDash val="dash"/>
            <a:headEnd type="none" w="med" len="med"/>
            <a:tailEnd type="arrow" w="sm" len="sm"/>
          </a:ln>
        </p:spPr>
      </p:cxnSp>
      <p:cxnSp>
        <p:nvCxnSpPr>
          <p:cNvPr id="728" name="Straight Arrow Connector 180"/>
          <p:cNvCxnSpPr>
            <a:stCxn xmlns:a="http://schemas.openxmlformats.org/drawingml/2006/main" id="85" idx="3"/>
            <a:endCxn xmlns:a="http://schemas.openxmlformats.org/drawingml/2006/main" id="86" idx="1"/>
          </p:cNvCxnSpPr>
          <p:nvPr/>
        </p:nvCxnSpPr>
        <p:spPr>
          <a:xfrm xmlns:a="http://schemas.openxmlformats.org/drawingml/2006/main">
            <a:off x="3429000" y="37623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C2E8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729" name="Straight Arrow Connector 181"/>
          <p:cNvCxnSpPr>
            <a:stCxn xmlns:a="http://schemas.openxmlformats.org/drawingml/2006/main" id="86" idx="3"/>
            <a:endCxn xmlns:a="http://schemas.openxmlformats.org/drawingml/2006/main" id="87" idx="1"/>
          </p:cNvCxnSpPr>
          <p:nvPr/>
        </p:nvCxnSpPr>
        <p:spPr>
          <a:xfrm xmlns:a="http://schemas.openxmlformats.org/drawingml/2006/main">
            <a:off x="5524500" y="37623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C2E8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730" name="Elbow Connector 182"/>
          <p:cNvCxnSpPr>
            <a:stCxn xmlns:a="http://schemas.openxmlformats.org/drawingml/2006/main" id="87" idx="0"/>
            <a:endCxn xmlns:a="http://schemas.openxmlformats.org/drawingml/2006/main" id="70" idx="2"/>
          </p:cNvCxnSpPr>
          <p:nvPr/>
        </p:nvCxnSpPr>
        <p:spPr>
          <a:xfrm xmlns:a="http://schemas.openxmlformats.org/drawingml/2006/main" flipH="1" flipV="1">
            <a:off x="1262063" y="2076450"/>
            <a:ext cx="5500688" cy="1352550"/>
          </a:xfrm>
          <a:prstGeom xmlns:a="http://schemas.openxmlformats.org/drawingml/2006/main" prst="bentConnector4">
            <a:avLst>
              <a:gd name="adj1" fmla="val 0"/>
              <a:gd name="adj2" fmla="val 16901"/>
            </a:avLst>
          </a:prstGeom>
          <a:ln xmlns:a="http://schemas.openxmlformats.org/drawingml/2006/main" w="19050">
            <a:solidFill>
              <a:srgbClr val="2B6CB0"/>
            </a:solidFill>
            <a:prstDash val="dash"/>
            <a:headEnd type="none" w="med" len="med"/>
            <a:tailEnd type="arrow" w="sm" len="sm"/>
          </a:ln>
        </p:spPr>
      </p:cxnSp>
      <p:sp>
        <p:nvSpPr>
          <p:cNvPr id="93" name="framework-contrib-1">
            <a:extLst xmlns:a="http://schemas.openxmlformats.org/drawingml/2006/main">
              <a:ext uri="{FF2B5EF4-FFF2-40B4-BE49-F238E27FC236}">
                <a16:creationId xmlns:a16="http://schemas.microsoft.com/office/drawing/2014/main" id="{209D8928-9092-4EF9-95CA-E01F0895F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90750"/>
            <a:ext cx="24765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47625" tIns="9525" rIns="47625" bIns="9525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defRPr>
            </a:pPr>
            <a:r>
              <a:rPr sz="8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贡献 1 · LLM 生成可解释 Hypothesis</a:t>
            </a:r>
          </a:p>
        </p:txBody>
      </p:sp>
      <p:sp>
        <p:nvSpPr>
          <p:cNvPr id="94" name="framework-contrib-2">
            <a:extLst xmlns:a="http://schemas.openxmlformats.org/drawingml/2006/main">
              <a:ext uri="{FF2B5EF4-FFF2-40B4-BE49-F238E27FC236}">
                <a16:creationId xmlns:a16="http://schemas.microsoft.com/office/drawing/2014/main" id="{CA35FE5E-F375-43EB-A519-E6543358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143250"/>
            <a:ext cx="24765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0">
            <a:solidFill>
              <a:srgbClr val="FFF7E6"/>
            </a:solidFill>
            <a:prstDash val="solid"/>
          </a:ln>
        </p:spPr>
        <p:txBody>
          <a:bodyPr xmlns:a="http://schemas.openxmlformats.org/drawingml/2006/main" wrap="square" lIns="47625" tIns="9525" rIns="47625" bIns="9525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B7791F"/>
                </a:solidFill>
                <a:latin typeface="-apple-system"/>
                <a:ea typeface="-apple-system"/>
                <a:cs typeface="-apple-system"/>
              </a:defRPr>
            </a:pPr>
            <a:r>
              <a:rPr sz="825" b="1">
                <a:solidFill>
                  <a:srgbClr val="B7791F"/>
                </a:solidFill>
                <a:latin typeface="-apple-system"/>
                <a:ea typeface="-apple-system"/>
                <a:cs typeface="-apple-system"/>
              </a:rPr>
              <a:t>贡献 2 · 独立 calibration 冻结路由</a:t>
            </a:r>
          </a:p>
        </p:txBody>
      </p:sp>
      <p:sp>
        <p:nvSpPr>
          <p:cNvPr id="95" name="framework-caption">
            <a:extLst xmlns:a="http://schemas.openxmlformats.org/drawingml/2006/main">
              <a:ext uri="{FF2B5EF4-FFF2-40B4-BE49-F238E27FC236}">
                <a16:creationId xmlns:a16="http://schemas.microsoft.com/office/drawing/2014/main" id="{30FD3BBF-233E-4E03-9B4E-93EF387D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624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5D6874"/>
                </a:solidFill>
                <a:latin typeface="-apple-system"/>
                <a:ea typeface="-apple-system"/>
                <a:cs typeface="-apple-system"/>
              </a:defRPr>
            </a:pPr>
            <a:r>
              <a:rPr sz="1050" b="1">
                <a:solidFill>
                  <a:srgbClr val="5D6874"/>
                </a:solidFill>
                <a:latin typeface="-apple-system"/>
                <a:ea typeface="-apple-system"/>
                <a:cs typeface="-apple-system"/>
              </a:rPr>
              <a:t>三项贡献分别回答：迁移什么、什么时候迁移，以及结果怎样被复核和沉淀。</a:t>
            </a:r>
          </a:p>
        </p:txBody>
      </p:sp>
      <p:sp>
        <p:nvSpPr>
          <p:cNvPr id="460" name="framework-contrib-3">
            <a:extLst xmlns:a="http://schemas.openxmlformats.org/drawingml/2006/main">
              <a:ext uri="{FF2B5EF4-FFF2-40B4-BE49-F238E27FC236}">
                <a16:creationId xmlns:a16="http://schemas.microsoft.com/office/drawing/2014/main" id="{93AC559E-B061-4BB4-9650-9199D1A8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261937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B9D6F5"/>
            </a:solidFill>
            <a:prstDash val="solid"/>
          </a:ln>
        </p:spPr>
        <p:txBody>
          <a:bodyPr xmlns:a="http://schemas.openxmlformats.org/drawingml/2006/main" wrap="square" lIns="47625" tIns="9525" rIns="476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defRPr>
            </a:pPr>
            <a:r>
              <a:rPr sz="8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贡献 3 · held-out 验证并回写知识库</a:t>
            </a:r>
          </a:p>
        </p:txBody>
      </p:sp>
    </p:spTree>
    <p:extLst>
      <p:ext uri="{BB962C8B-B14F-4D97-AF65-F5344CB8AC3E}">
        <p14:creationId xmlns:p14="http://schemas.microsoft.com/office/powerpoint/2010/main" val="174054089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101376962d44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6A3FF65E-8C09-4E37-981F-8360CA66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8001000" cy="1500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HYPOTHESIS GENERATION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659951B-6973-4FE2-8386-DE156EB3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494"/>
            <a:ext cx="10093789" cy="2852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800" b="1">
                <a:solidFill>
                  <a:srgbClr val="111111"/>
                </a:solidFill>
                <a:latin typeface="-apple-system"/>
                <a:ea typeface="-apple-system"/>
                <a:cs typeface="-apple-system"/>
              </a:rPr>
              <a:t>LLM 提出候选假设；held-out outcome 只用于最终评估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9D733FD-8014-43D7-B7BE-87A423A8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364" y="285750"/>
            <a:ext cx="127136" cy="1321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5B6168"/>
                </a:solidFill>
                <a:latin typeface="-apple-system"/>
                <a:ea typeface="-apple-system"/>
                <a:cs typeface="-apple-system"/>
              </a:rPr>
              <a:t>04</a:t>
            </a:r>
          </a:p>
        </p:txBody>
      </p:sp>
      <p:pic>
        <p:nvPicPr>
          <p:cNvPr id="27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1e646b13a64e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C4E00280-A438-42ED-B08F-980CCDB2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8" name="Shape 4">
            <a:extLst xmlns:a="http://schemas.openxmlformats.org/drawingml/2006/main">
              <a:ext uri="{FF2B5EF4-FFF2-40B4-BE49-F238E27FC236}">
                <a16:creationId xmlns:a16="http://schemas.microsoft.com/office/drawing/2014/main" id="{C79BEB0E-2A5E-4AE0-AFCF-9BB34F07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22286AC4-C329-481E-A3DD-0E1C01EAC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02108" tIns="102108" rIns="102108" bIns="102108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C03B5AC4-8D0A-434A-B7B3-4BA0C974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pic>
        <p:nvPicPr>
          <p:cNvPr id="27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d4b1cd7c3b40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5596AD4D-1E26-4ED4-AA58-45D6C811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3" name="Shape 8">
            <a:extLst xmlns:a="http://schemas.openxmlformats.org/drawingml/2006/main">
              <a:ext uri="{FF2B5EF4-FFF2-40B4-BE49-F238E27FC236}">
                <a16:creationId xmlns:a16="http://schemas.microsoft.com/office/drawing/2014/main" id="{25E54477-9FEE-4D8F-B34A-7E823DE4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9">
            <a:extLst xmlns:a="http://schemas.openxmlformats.org/drawingml/2006/main">
              <a:ext uri="{FF2B5EF4-FFF2-40B4-BE49-F238E27FC236}">
                <a16:creationId xmlns:a16="http://schemas.microsoft.com/office/drawing/2014/main" id="{65FF3786-F724-4552-9B20-17CBE747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583D5E0B-C6A8-4BC3-9A6D-AA4DBA20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024586E2-6273-4294-BF38-32EC59E2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6C74077E-48F8-4071-B5B0-3EF0D4AF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3">
            <a:extLst xmlns:a="http://schemas.openxmlformats.org/drawingml/2006/main">
              <a:ext uri="{FF2B5EF4-FFF2-40B4-BE49-F238E27FC236}">
                <a16:creationId xmlns:a16="http://schemas.microsoft.com/office/drawing/2014/main" id="{6F331F56-4AC5-408B-9A42-C5903351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4">
            <a:extLst xmlns:a="http://schemas.openxmlformats.org/drawingml/2006/main">
              <a:ext uri="{FF2B5EF4-FFF2-40B4-BE49-F238E27FC236}">
                <a16:creationId xmlns:a16="http://schemas.microsoft.com/office/drawing/2014/main" id="{104704D4-F558-4111-826F-7BED0DD6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929F11A3-90FE-4FCD-8B6E-39C00E9B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21" name="Shape 16">
            <a:extLst xmlns:a="http://schemas.openxmlformats.org/drawingml/2006/main">
              <a:ext uri="{FF2B5EF4-FFF2-40B4-BE49-F238E27FC236}">
                <a16:creationId xmlns:a16="http://schemas.microsoft.com/office/drawing/2014/main" id="{7BC6371B-7436-4F34-AEC1-A04C3E2A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FD651BB9-7EFF-4746-BEC3-024D7186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02108" tIns="102108" rIns="102108" bIns="102108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</a:p>
        </p:txBody>
      </p:sp>
      <p:sp>
        <p:nvSpPr>
          <p:cNvPr id="23" name="Shape 18">
            <a:extLst xmlns:a="http://schemas.openxmlformats.org/drawingml/2006/main">
              <a:ext uri="{FF2B5EF4-FFF2-40B4-BE49-F238E27FC236}">
                <a16:creationId xmlns:a16="http://schemas.microsoft.com/office/drawing/2014/main" id="{96B3E414-8E61-4A02-9F54-95E88A6D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19">
            <a:extLst xmlns:a="http://schemas.openxmlformats.org/drawingml/2006/main">
              <a:ext uri="{FF2B5EF4-FFF2-40B4-BE49-F238E27FC236}">
                <a16:creationId xmlns:a16="http://schemas.microsoft.com/office/drawing/2014/main" id="{2C497133-DC43-47EC-B665-BA9E410B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5BD459B9-90B4-43A8-8A26-F531B6B1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20EF5A0E-158C-4418-854A-46E6CBAB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30" name="hyp-input-title">
            <a:extLst xmlns:a="http://schemas.openxmlformats.org/drawingml/2006/main">
              <a:ext uri="{FF2B5EF4-FFF2-40B4-BE49-F238E27FC236}">
                <a16:creationId xmlns:a16="http://schemas.microsoft.com/office/drawing/2014/main" id="{BBC83CD6-B2D6-4F6F-8E7C-50FE9C9F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811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defRPr>
            </a:pPr>
            <a:r>
              <a:rPr sz="12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LLM 看到什么</a:t>
            </a:r>
          </a:p>
        </p:txBody>
      </p:sp>
      <p:sp>
        <p:nvSpPr>
          <p:cNvPr id="31" name="hyp-input-code">
            <a:extLst xmlns:a="http://schemas.openxmlformats.org/drawingml/2006/main">
              <a:ext uri="{FF2B5EF4-FFF2-40B4-BE49-F238E27FC236}">
                <a16:creationId xmlns:a16="http://schemas.microsoft.com/office/drawing/2014/main" id="{9458AD11-DA6A-4BAB-81E7-71F92697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3667125" cy="2571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  <p:txBody>
          <a:bodyPr xmlns:a="http://schemas.openxmlformats.org/drawingml/2006/main" wrap="square" lIns="171450" tIns="171450" rIns="171450" bIns="1714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TARGET（只看公开描述）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schema / variable roles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objective direction / budget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SOURCE（历史已观测）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TaskSpec / outcomes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effect summaries / uncertainty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MEMORY（已审计经验）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SkillCards / failed routes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constraints / prior traces</a:t>
            </a:r>
          </a:p>
        </p:txBody>
      </p:sp>
      <p:sp>
        <p:nvSpPr>
          <p:cNvPr id="32" name="hyp-output-title">
            <a:extLst xmlns:a="http://schemas.openxmlformats.org/drawingml/2006/main">
              <a:ext uri="{FF2B5EF4-FFF2-40B4-BE49-F238E27FC236}">
                <a16:creationId xmlns:a16="http://schemas.microsoft.com/office/drawing/2014/main" id="{258173B6-0327-4FCC-A19C-556E42C7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181100"/>
            <a:ext cx="3952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defRPr>
            </a:pPr>
            <a:r>
              <a:rPr sz="12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LLM 产出什么</a:t>
            </a:r>
          </a:p>
        </p:txBody>
      </p:sp>
      <p:sp>
        <p:nvSpPr>
          <p:cNvPr id="33" name="hyp-candidate-1">
            <a:extLst xmlns:a="http://schemas.openxmlformats.org/drawingml/2006/main">
              <a:ext uri="{FF2B5EF4-FFF2-40B4-BE49-F238E27FC236}">
                <a16:creationId xmlns:a16="http://schemas.microsoft.com/office/drawing/2014/main" id="{E3892933-DF07-4DA9-BEDD-71796E57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524000"/>
            <a:ext cx="1857375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9FC2E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H1 · role mapping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共享角色应提高哪些特征的权重</a:t>
            </a:r>
          </a:p>
        </p:txBody>
      </p:sp>
      <p:sp>
        <p:nvSpPr>
          <p:cNvPr id="34" name="hyp-candidate-2">
            <a:extLst xmlns:a="http://schemas.openxmlformats.org/drawingml/2006/main">
              <a:ext uri="{FF2B5EF4-FFF2-40B4-BE49-F238E27FC236}">
                <a16:creationId xmlns:a16="http://schemas.microsoft.com/office/drawing/2014/main" id="{DD4850C8-9D5A-49F5-B726-D16BA7DE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524000"/>
            <a:ext cx="1952625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9FC2E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H2 · value prior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source outcome 只作弱先验，不替代 target observation</a:t>
            </a:r>
          </a:p>
        </p:txBody>
      </p:sp>
      <p:sp>
        <p:nvSpPr>
          <p:cNvPr id="35" name="hyp-candidate-3">
            <a:extLst xmlns:a="http://schemas.openxmlformats.org/drawingml/2006/main">
              <a:ext uri="{FF2B5EF4-FFF2-40B4-BE49-F238E27FC236}">
                <a16:creationId xmlns:a16="http://schemas.microsoft.com/office/drawing/2014/main" id="{3886FF35-BBCD-420F-B5E7-3A8E8221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05075"/>
            <a:ext cx="1857375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H3 · explore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不确定时提高 GP-UCB 探索；不能改预算</a:t>
            </a:r>
          </a:p>
        </p:txBody>
      </p:sp>
      <p:sp>
        <p:nvSpPr>
          <p:cNvPr id="36" name="hyp-rank">
            <a:extLst xmlns:a="http://schemas.openxmlformats.org/drawingml/2006/main">
              <a:ext uri="{FF2B5EF4-FFF2-40B4-BE49-F238E27FC236}">
                <a16:creationId xmlns:a16="http://schemas.microsoft.com/office/drawing/2014/main" id="{BADB61A8-9928-4935-9FDC-92722DDAF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505075"/>
            <a:ext cx="1952625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E0B45C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筛选顺序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Schema 是否兼容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Source 证据是否稳定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Calibration 是否改善</a:t>
            </a:r>
          </a:p>
        </p:txBody>
      </p:sp>
      <p:cxnSp>
        <p:nvCxnSpPr>
          <p:cNvPr id="302" name="Straight Arrow Connector 73"/>
          <p:cNvCxnSpPr>
            <a:stCxn xmlns:a="http://schemas.openxmlformats.org/drawingml/2006/main" id="33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6477000" y="1943100"/>
            <a:ext cx="142875" cy="9810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C2E8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303" name="Straight Arrow Connector 74"/>
          <p:cNvCxnSpPr>
            <a:stCxn xmlns:a="http://schemas.openxmlformats.org/drawingml/2006/main" id="34" idx="2"/>
            <a:endCxn xmlns:a="http://schemas.openxmlformats.org/drawingml/2006/main" id="36" idx="0"/>
          </p:cNvCxnSpPr>
          <p:nvPr/>
        </p:nvCxnSpPr>
        <p:spPr>
          <a:xfrm xmlns:a="http://schemas.openxmlformats.org/drawingml/2006/main">
            <a:off x="7596188" y="2362200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C2E8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304" name="Straight Arrow Connector 75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6477000" y="2924175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C2E8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40" name="hyp-contract">
            <a:extLst xmlns:a="http://schemas.openxmlformats.org/drawingml/2006/main">
              <a:ext uri="{FF2B5EF4-FFF2-40B4-BE49-F238E27FC236}">
                <a16:creationId xmlns:a16="http://schemas.microsoft.com/office/drawing/2014/main" id="{C4D079BC-1C24-4E96-9BE2-7AC1D62A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524250"/>
            <a:ext cx="3952875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9525">
            <a:solidFill>
              <a:srgbClr val="198754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9357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输出：KernelSkillPatch（可执行策略补丁）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role weight · kernel scale · gp_beta · source-prior strength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held-out outcome = 留作最终检验的 target 结果；LLM、Gate 与调参阶段均不可见。</a:t>
            </a:r>
          </a:p>
        </p:txBody>
      </p:sp>
      <p:sp>
        <p:nvSpPr>
          <p:cNvPr id="41" name="hyp-trace">
            <a:extLst xmlns:a="http://schemas.openxmlformats.org/drawingml/2006/main">
              <a:ext uri="{FF2B5EF4-FFF2-40B4-BE49-F238E27FC236}">
                <a16:creationId xmlns:a16="http://schemas.microsoft.com/office/drawing/2014/main" id="{E14D75DF-E57B-4C7E-B844-B804B10C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67200"/>
            <a:ext cx="3048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0">
            <a:solidFill>
              <a:srgbClr val="F5F8FB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90611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5D6874"/>
                </a:solidFill>
                <a:latin typeface="-apple-system"/>
                <a:ea typeface="-apple-system"/>
                <a:cs typeface="-apple-system"/>
              </a:defRPr>
            </a:pPr>
            <a:r>
              <a:rPr sz="825" b="1">
                <a:solidFill>
                  <a:srgbClr val="5D6874"/>
                </a:solidFill>
                <a:latin typeface="-apple-system"/>
                <a:ea typeface="-apple-system"/>
                <a:cs typeface="-apple-system"/>
              </a:rPr>
              <a:t>TRACE · input metadata / raw output / parsed patch / gate decision</a:t>
            </a:r>
          </a:p>
        </p:txBody>
      </p:sp>
    </p:spTree>
    <p:extLst>
      <p:ext uri="{BB962C8B-B14F-4D97-AF65-F5344CB8AC3E}">
        <p14:creationId xmlns:p14="http://schemas.microsoft.com/office/powerpoint/2010/main" val="21528501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8107eead0e49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6A3FF65E-8C09-4E37-981F-8360CA66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8001000" cy="1500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HYPOTHESIS EXECUTION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659951B-6973-4FE2-8386-DE156EB3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494"/>
            <a:ext cx="8001000" cy="3343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800" b="1">
                <a:solidFill>
                  <a:srgbClr val="111111"/>
                </a:solidFill>
                <a:latin typeface="-apple-system"/>
                <a:ea typeface="-apple-system"/>
                <a:cs typeface="-apple-system"/>
              </a:rPr>
              <a:t>Hypothesis 被编译成 acquisition patch，再由 Gate 决定是否部署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9D733FD-8014-43D7-B7BE-87A423A8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364" y="285750"/>
            <a:ext cx="127136" cy="1321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5B6168"/>
                </a:solidFill>
                <a:latin typeface="-apple-system"/>
                <a:ea typeface="-apple-system"/>
                <a:cs typeface="-apple-system"/>
              </a:rPr>
              <a:t>05</a:t>
            </a:r>
          </a:p>
        </p:txBody>
      </p:sp>
      <p:pic>
        <p:nvPicPr>
          <p:cNvPr id="28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b9e4f8000548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C4E00280-A438-42ED-B08F-980CCDB2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8" name="Shape 4">
            <a:extLst xmlns:a="http://schemas.openxmlformats.org/drawingml/2006/main">
              <a:ext uri="{FF2B5EF4-FFF2-40B4-BE49-F238E27FC236}">
                <a16:creationId xmlns:a16="http://schemas.microsoft.com/office/drawing/2014/main" id="{C79BEB0E-2A5E-4AE0-AFCF-9BB34F07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22286AC4-C329-481E-A3DD-0E1C01EAC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02108" tIns="102108" rIns="102108" bIns="102108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C03B5AC4-8D0A-434A-B7B3-4BA0C974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pic>
        <p:nvPicPr>
          <p:cNvPr id="28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3c84dfc1d5466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5596AD4D-1E26-4ED4-AA58-45D6C811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3" name="Shape 8">
            <a:extLst xmlns:a="http://schemas.openxmlformats.org/drawingml/2006/main">
              <a:ext uri="{FF2B5EF4-FFF2-40B4-BE49-F238E27FC236}">
                <a16:creationId xmlns:a16="http://schemas.microsoft.com/office/drawing/2014/main" id="{25E54477-9FEE-4D8F-B34A-7E823DE4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9">
            <a:extLst xmlns:a="http://schemas.openxmlformats.org/drawingml/2006/main">
              <a:ext uri="{FF2B5EF4-FFF2-40B4-BE49-F238E27FC236}">
                <a16:creationId xmlns:a16="http://schemas.microsoft.com/office/drawing/2014/main" id="{65FF3786-F724-4552-9B20-17CBE747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583D5E0B-C6A8-4BC3-9A6D-AA4DBA20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024586E2-6273-4294-BF38-32EC59E2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6C74077E-48F8-4071-B5B0-3EF0D4AF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3">
            <a:extLst xmlns:a="http://schemas.openxmlformats.org/drawingml/2006/main">
              <a:ext uri="{FF2B5EF4-FFF2-40B4-BE49-F238E27FC236}">
                <a16:creationId xmlns:a16="http://schemas.microsoft.com/office/drawing/2014/main" id="{6F331F56-4AC5-408B-9A42-C5903351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4">
            <a:extLst xmlns:a="http://schemas.openxmlformats.org/drawingml/2006/main">
              <a:ext uri="{FF2B5EF4-FFF2-40B4-BE49-F238E27FC236}">
                <a16:creationId xmlns:a16="http://schemas.microsoft.com/office/drawing/2014/main" id="{104704D4-F558-4111-826F-7BED0DD6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929F11A3-90FE-4FCD-8B6E-39C00E9B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21" name="Shape 16">
            <a:extLst xmlns:a="http://schemas.openxmlformats.org/drawingml/2006/main">
              <a:ext uri="{FF2B5EF4-FFF2-40B4-BE49-F238E27FC236}">
                <a16:creationId xmlns:a16="http://schemas.microsoft.com/office/drawing/2014/main" id="{7BC6371B-7436-4F34-AEC1-A04C3E2A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FD651BB9-7EFF-4746-BEC3-024D7186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02108" tIns="102108" rIns="102108" bIns="102108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</a:p>
        </p:txBody>
      </p:sp>
      <p:sp>
        <p:nvSpPr>
          <p:cNvPr id="23" name="Shape 18">
            <a:extLst xmlns:a="http://schemas.openxmlformats.org/drawingml/2006/main">
              <a:ext uri="{FF2B5EF4-FFF2-40B4-BE49-F238E27FC236}">
                <a16:creationId xmlns:a16="http://schemas.microsoft.com/office/drawing/2014/main" id="{96B3E414-8E61-4A02-9F54-95E88A6D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19">
            <a:extLst xmlns:a="http://schemas.openxmlformats.org/drawingml/2006/main">
              <a:ext uri="{FF2B5EF4-FFF2-40B4-BE49-F238E27FC236}">
                <a16:creationId xmlns:a16="http://schemas.microsoft.com/office/drawing/2014/main" id="{2C497133-DC43-47EC-B665-BA9E410B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5BD459B9-90B4-43A8-8A26-F531B6B1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20EF5A0E-158C-4418-854A-46E6CBAB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30" name="exec-0">
            <a:extLst xmlns:a="http://schemas.openxmlformats.org/drawingml/2006/main">
              <a:ext uri="{FF2B5EF4-FFF2-40B4-BE49-F238E27FC236}">
                <a16:creationId xmlns:a16="http://schemas.microsoft.com/office/drawing/2014/main" id="{E5EBABD4-6B0B-4423-8E4E-D25602350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57325"/>
            <a:ext cx="1238250" cy="71437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9FC2E8"/>
            </a:solidFill>
            <a:prstDash val="solid"/>
          </a:ln>
        </p:spPr>
        <p:txBody>
          <a:bodyPr xmlns:a="http://schemas.openxmlformats.org/drawingml/2006/main" wrap="square" lIns="57150" tIns="76200" rIns="571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HypothesisEntry</a:t>
            </a:r>
          </a:p>
          <a:p xmlns:a="http://schemas.openxmlformats.org/drawingml/2006/main">
            <a:pPr algn="ctr">
              <a:buNone/>
              <a:def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claim + mechanism</a:t>
            </a:r>
          </a:p>
        </p:txBody>
      </p:sp>
      <p:sp>
        <p:nvSpPr>
          <p:cNvPr id="31" name="exec-1">
            <a:extLst xmlns:a="http://schemas.openxmlformats.org/drawingml/2006/main">
              <a:ext uri="{FF2B5EF4-FFF2-40B4-BE49-F238E27FC236}">
                <a16:creationId xmlns:a16="http://schemas.microsoft.com/office/drawing/2014/main" id="{465E922F-D1BE-405C-A473-B8A527F3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457325"/>
            <a:ext cx="1238250" cy="71437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9FC2E8"/>
            </a:solidFill>
            <a:prstDash val="solid"/>
          </a:ln>
        </p:spPr>
        <p:txBody>
          <a:bodyPr xmlns:a="http://schemas.openxmlformats.org/drawingml/2006/main" wrap="square" lIns="57150" tIns="76200" rIns="571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Patch Compiler</a:t>
            </a:r>
          </a:p>
          <a:p xmlns:a="http://schemas.openxmlformats.org/drawingml/2006/main">
            <a:pPr algn="ctr">
              <a:buNone/>
              <a:def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bounded parameters</a:t>
            </a:r>
          </a:p>
        </p:txBody>
      </p:sp>
      <p:sp>
        <p:nvSpPr>
          <p:cNvPr id="32" name="exec-2">
            <a:extLst xmlns:a="http://schemas.openxmlformats.org/drawingml/2006/main">
              <a:ext uri="{FF2B5EF4-FFF2-40B4-BE49-F238E27FC236}">
                <a16:creationId xmlns:a16="http://schemas.microsoft.com/office/drawing/2014/main" id="{2A240009-3AF2-4BDE-96A2-7014B250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57325"/>
            <a:ext cx="1238250" cy="71437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9FC2E8"/>
            </a:solidFill>
            <a:prstDash val="solid"/>
          </a:ln>
        </p:spPr>
        <p:txBody>
          <a:bodyPr xmlns:a="http://schemas.openxmlformats.org/drawingml/2006/main" wrap="square" lIns="57150" tIns="76200" rIns="571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GP / Acquisition</a:t>
            </a:r>
          </a:p>
          <a:p xmlns:a="http://schemas.openxmlformats.org/drawingml/2006/main">
            <a:pPr algn="ctr">
              <a:buNone/>
              <a:def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UCB / EI + prior</a:t>
            </a:r>
          </a:p>
        </p:txBody>
      </p:sp>
      <p:sp>
        <p:nvSpPr>
          <p:cNvPr id="33" name="exec-3">
            <a:extLst xmlns:a="http://schemas.openxmlformats.org/drawingml/2006/main">
              <a:ext uri="{FF2B5EF4-FFF2-40B4-BE49-F238E27FC236}">
                <a16:creationId xmlns:a16="http://schemas.microsoft.com/office/drawing/2014/main" id="{3794358F-0D47-44C8-B20D-3BD22854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57325"/>
            <a:ext cx="1238250" cy="71437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  <p:txBody>
          <a:bodyPr xmlns:a="http://schemas.openxmlformats.org/drawingml/2006/main" wrap="square" lIns="57150" tIns="76200" rIns="571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Calibration Gate</a:t>
            </a:r>
          </a:p>
          <a:p xmlns:a="http://schemas.openxmlformats.org/drawingml/2006/main">
            <a:pPr algn="ctr">
              <a:buNone/>
              <a:def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50 dev seeds</a:t>
            </a:r>
          </a:p>
        </p:txBody>
      </p:sp>
      <p:sp>
        <p:nvSpPr>
          <p:cNvPr id="34" name="exec-4">
            <a:extLst xmlns:a="http://schemas.openxmlformats.org/drawingml/2006/main">
              <a:ext uri="{FF2B5EF4-FFF2-40B4-BE49-F238E27FC236}">
                <a16:creationId xmlns:a16="http://schemas.microsoft.com/office/drawing/2014/main" id="{74CF5F6B-2055-4A8A-B2DF-7842348D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57325"/>
            <a:ext cx="1238250" cy="71437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9FC2E8"/>
            </a:solidFill>
            <a:prstDash val="solid"/>
          </a:ln>
        </p:spPr>
        <p:txBody>
          <a:bodyPr xmlns:a="http://schemas.openxmlformats.org/drawingml/2006/main" wrap="square" lIns="57150" tIns="76200" rIns="571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Target Replay</a:t>
            </a:r>
          </a:p>
          <a:p xmlns:a="http://schemas.openxmlformats.org/drawingml/2006/main">
            <a:pPr algn="ctr">
              <a:buNone/>
              <a:def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100 held-out seeds</a:t>
            </a:r>
          </a:p>
        </p:txBody>
      </p:sp>
      <p:sp>
        <p:nvSpPr>
          <p:cNvPr id="35" name="exec-5">
            <a:extLst xmlns:a="http://schemas.openxmlformats.org/drawingml/2006/main">
              <a:ext uri="{FF2B5EF4-FFF2-40B4-BE49-F238E27FC236}">
                <a16:creationId xmlns:a16="http://schemas.microsoft.com/office/drawing/2014/main" id="{7A3BFA8C-D49A-474C-9992-72882B07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457325"/>
            <a:ext cx="1238250" cy="71437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9525">
            <a:solidFill>
              <a:srgbClr val="198754"/>
            </a:solidFill>
            <a:prstDash val="solid"/>
          </a:ln>
        </p:spPr>
        <p:txBody>
          <a:bodyPr xmlns:a="http://schemas.openxmlformats.org/drawingml/2006/main" wrap="square" lIns="57150" tIns="76200" rIns="571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Metrics &amp; Audit</a:t>
            </a:r>
          </a:p>
          <a:p xmlns:a="http://schemas.openxmlformats.org/drawingml/2006/main">
            <a:pPr algn="ctr">
              <a:buNone/>
              <a:def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Δ / CI / rounds</a:t>
            </a:r>
          </a:p>
        </p:txBody>
      </p:sp>
      <p:cxnSp>
        <p:nvCxnSpPr>
          <p:cNvPr id="309" name="Straight Arrow Connector 74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714500" y="1814513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C2E8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310" name="Straight Arrow Connector 75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3143250" y="1814513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C2E8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311" name="Straight Arrow Connector 76"/>
          <p:cNvCxnSpPr>
            <a:stCxn xmlns:a="http://schemas.openxmlformats.org/drawingml/2006/main" id="32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4572000" y="1814513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C2E8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312" name="Straight Arrow Connector 77"/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6000750" y="1814513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C2E8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313" name="Straight Arrow Connector 78"/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7429500" y="1814513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C2E8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41" name="exec-transfer-params">
            <a:extLst xmlns:a="http://schemas.openxmlformats.org/drawingml/2006/main">
              <a:ext uri="{FF2B5EF4-FFF2-40B4-BE49-F238E27FC236}">
                <a16:creationId xmlns:a16="http://schemas.microsoft.com/office/drawing/2014/main" id="{6B5CACBE-A700-4F08-A8A8-AB1E1B03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3714750" cy="135255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9525">
            <a:solidFill>
              <a:srgbClr val="198754"/>
            </a:solidFill>
            <a:prstDash val="solid"/>
          </a:ln>
        </p:spPr>
        <p:txBody>
          <a:bodyPr xmlns:a="http://schemas.openxmlformats.org/drawingml/2006/main" wrap="square" lIns="152400" tIns="133350" rIns="152400" bIns="1333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允许迁移的参数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• kernel scales / role multipliers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• GP beta schedule / source-prior strength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• source-neighbor or interaction prior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• transfer mass M 与候选混合权重</a:t>
            </a:r>
          </a:p>
        </p:txBody>
      </p:sp>
      <p:sp>
        <p:nvSpPr>
          <p:cNvPr id="42" name="exec-frozen-params">
            <a:extLst xmlns:a="http://schemas.openxmlformats.org/drawingml/2006/main">
              <a:ext uri="{FF2B5EF4-FFF2-40B4-BE49-F238E27FC236}">
                <a16:creationId xmlns:a16="http://schemas.microsoft.com/office/drawing/2014/main" id="{F411B852-FFCB-4B5F-98D5-754D98F6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67000"/>
            <a:ext cx="3714750" cy="135255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FCECEC"/>
          </a:solidFill>
          <a:ln xmlns:a="http://schemas.openxmlformats.org/drawingml/2006/main" w="9525">
            <a:solidFill>
              <a:srgbClr val="D64545"/>
            </a:solidFill>
            <a:prstDash val="solid"/>
          </a:ln>
        </p:spPr>
        <p:txBody>
          <a:bodyPr xmlns:a="http://schemas.openxmlformats.org/drawingml/2006/main" wrap="square" lIns="152400" tIns="133350" rIns="152400" bIns="1333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保持冻结的实验条件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• target dataset / objective / candidate pool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• initial observations / total budget / held-out seeds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• comparator identities / evaluation metrics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• selected route identity after calibration</a:t>
            </a:r>
          </a:p>
        </p:txBody>
      </p:sp>
      <p:sp>
        <p:nvSpPr>
          <p:cNvPr id="43" name="exec-feedback">
            <a:extLst xmlns:a="http://schemas.openxmlformats.org/drawingml/2006/main">
              <a:ext uri="{FF2B5EF4-FFF2-40B4-BE49-F238E27FC236}">
                <a16:creationId xmlns:a16="http://schemas.microsoft.com/office/drawing/2014/main" id="{FE10CF0D-AE9B-4992-A68F-9669386E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05300"/>
            <a:ext cx="63817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9795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Feedback → Task Card · source-target role map · accepted/rejected case · LLM trace · gate decision · held-out outcome</a:t>
            </a:r>
          </a:p>
        </p:txBody>
      </p:sp>
    </p:spTree>
    <p:extLst>
      <p:ext uri="{BB962C8B-B14F-4D97-AF65-F5344CB8AC3E}">
        <p14:creationId xmlns:p14="http://schemas.microsoft.com/office/powerpoint/2010/main" val="21528501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390bd0282049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F8F12AE9-ECF3-4937-A4FB-79ACE290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1500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END-TO-END CASES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C34C5384-D49C-4B9B-BA49-E654CE48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92944"/>
            <a:ext cx="8001000" cy="40858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250" b="1">
                <a:solidFill>
                  <a:srgbClr val="111111"/>
                </a:solidFill>
                <a:latin typeface="-apple-system"/>
                <a:ea typeface="-apple-system"/>
                <a:cs typeface="-apple-system"/>
              </a:rPr>
              <a:t>三条代表性链条：证据、Hypothesis、执行与</a:t>
            </a:r>
            <a:r>
              <a:rPr sz="2250" b="1">
                <a:solidFill>
                  <a:srgbClr val="111111"/>
                </a:solidFill>
                <a:latin typeface="-apple-system"/>
                <a:ea typeface="-apple-system"/>
                <a:cs typeface="-apple-system"/>
              </a:rPr>
              <a:t> held-out </a:t>
            </a:r>
            <a:r>
              <a:rPr sz="2250" b="1">
                <a:solidFill>
                  <a:srgbClr val="111111"/>
                </a:solidFill>
                <a:latin typeface="-apple-system"/>
                <a:ea typeface="-apple-system"/>
                <a:cs typeface="-apple-system"/>
              </a:rPr>
              <a:t>结果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BA878A7C-B863-4A0B-B5E2-5A6C7B0C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364" y="428625"/>
            <a:ext cx="127136" cy="1321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5B6168"/>
                </a:solidFill>
                <a:latin typeface="-apple-system"/>
                <a:ea typeface="-apple-system"/>
                <a:cs typeface="-apple-system"/>
              </a:rPr>
              <a:t>06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36F3FEE-8ED2-49DD-9C9A-F2B1D55A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117EBA2-9591-43DF-B3E2-C94BB7A3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4456C7B3-08FD-43D4-B40A-CD452B5A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4FB1F2D-6BE1-4504-9864-75A0D25B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E5BBD2C-EE94-451A-9537-568CA268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FFD746C5-D99B-4975-AB86-02F37DDE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69BE7B14-358A-4DB2-8C3D-79ADE0A5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F61E8D2-B69B-48CC-9760-756190D2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5383A96-B2EF-401F-BD7E-2B0CEF9F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6917AFD9-139A-4849-AE16-A6E88778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E85C7CE3-E900-40BA-92FF-25FD1DE1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DCCF1F94-2C8A-4594-85EF-56DE4E9C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69BFFDA0-C016-47A8-8152-EF08D718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20" name="case-tag-0">
            <a:extLst xmlns:a="http://schemas.openxmlformats.org/drawingml/2006/main">
              <a:ext uri="{FF2B5EF4-FFF2-40B4-BE49-F238E27FC236}">
                <a16:creationId xmlns:a16="http://schemas.microsoft.com/office/drawing/2014/main" id="{0EDDAA3F-7949-4BE4-9200-B807FD4D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100012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90611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defRPr>
            </a:pPr>
            <a:r>
              <a:rPr sz="8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REACTION</a:t>
            </a:r>
          </a:p>
        </p:txBody>
      </p:sp>
      <p:sp>
        <p:nvSpPr>
          <p:cNvPr id="21" name="case-card-0">
            <a:extLst xmlns:a="http://schemas.openxmlformats.org/drawingml/2006/main">
              <a:ext uri="{FF2B5EF4-FFF2-40B4-BE49-F238E27FC236}">
                <a16:creationId xmlns:a16="http://schemas.microsoft.com/office/drawing/2014/main" id="{8E3E6BE8-97D5-4899-B75A-DCC207A5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33550"/>
            <a:ext cx="2476500" cy="2324100"/>
          </a:xfrm>
          <a:prstGeom xmlns:a="http://schemas.openxmlformats.org/drawingml/2006/main" prst="roundRect">
            <a:avLst>
              <a:gd name="adj" fmla="val 24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B6CB0"/>
            </a:solidFill>
            <a:prstDash val="solid"/>
          </a:ln>
        </p:spPr>
        <p:txBody>
          <a:bodyPr xmlns:a="http://schemas.openxmlformats.org/drawingml/2006/main" wrap="square" lIns="152400" tIns="152400" rIns="152400" bIns="152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ChemLex → BH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证据：Acid-Amine wetlab outcomes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假设：反应角色与 outcome interaction 可迁移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执行：source prior + target acquisition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结果：+9.20 vs matched LLM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　　　+8.10 vs strongest BO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效率：2.99 rounds saved</a:t>
            </a:r>
          </a:p>
        </p:txBody>
      </p:sp>
      <p:sp>
        <p:nvSpPr>
          <p:cNvPr id="22" name="case-tag-1">
            <a:extLst xmlns:a="http://schemas.openxmlformats.org/drawingml/2006/main">
              <a:ext uri="{FF2B5EF4-FFF2-40B4-BE49-F238E27FC236}">
                <a16:creationId xmlns:a16="http://schemas.microsoft.com/office/drawing/2014/main" id="{A2D8C4AB-2E2F-4080-B878-B2202132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09700"/>
            <a:ext cx="100012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0">
            <a:solidFill>
              <a:srgbClr val="FFF7E6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90611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B7791F"/>
                </a:solidFill>
                <a:latin typeface="-apple-system"/>
                <a:ea typeface="-apple-system"/>
                <a:cs typeface="-apple-system"/>
              </a:defRPr>
            </a:pPr>
            <a:r>
              <a:rPr sz="825" b="1">
                <a:solidFill>
                  <a:srgbClr val="B7791F"/>
                </a:solidFill>
                <a:latin typeface="-apple-system"/>
                <a:ea typeface="-apple-system"/>
                <a:cs typeface="-apple-system"/>
              </a:rPr>
              <a:t>MATERIALS</a:t>
            </a:r>
          </a:p>
        </p:txBody>
      </p:sp>
      <p:sp>
        <p:nvSpPr>
          <p:cNvPr id="23" name="case-card-1">
            <a:extLst xmlns:a="http://schemas.openxmlformats.org/drawingml/2006/main">
              <a:ext uri="{FF2B5EF4-FFF2-40B4-BE49-F238E27FC236}">
                <a16:creationId xmlns:a16="http://schemas.microsoft.com/office/drawing/2014/main" id="{34301771-6EAF-44BD-BD92-D30936D0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33550"/>
            <a:ext cx="2476500" cy="2324100"/>
          </a:xfrm>
          <a:prstGeom xmlns:a="http://schemas.openxmlformats.org/drawingml/2006/main" prst="roundRect">
            <a:avLst>
              <a:gd name="adj" fmla="val 24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791F"/>
            </a:solidFill>
            <a:prstDash val="solid"/>
          </a:ln>
        </p:spPr>
        <p:txBody>
          <a:bodyPr xmlns:a="http://schemas.openxmlformats.org/drawingml/2006/main" wrap="square" lIns="152400" tIns="152400" rIns="152400" bIns="152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Dielectric → Gap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证据：composition/property observations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假设：共享表示可改变 kernel geometry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执行：role-weighted kernel + prior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结果：+32.70 vs matched LLM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　　　+35.46 vs strongest BO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效率：6.00 rounds saved</a:t>
            </a:r>
          </a:p>
        </p:txBody>
      </p:sp>
      <p:sp>
        <p:nvSpPr>
          <p:cNvPr id="24" name="case-tag-2">
            <a:extLst xmlns:a="http://schemas.openxmlformats.org/drawingml/2006/main">
              <a:ext uri="{FF2B5EF4-FFF2-40B4-BE49-F238E27FC236}">
                <a16:creationId xmlns:a16="http://schemas.microsoft.com/office/drawing/2014/main" id="{128C6DF0-FFF3-455E-B801-A0FA086B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09700"/>
            <a:ext cx="100012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0">
            <a:solidFill>
              <a:srgbClr val="E7F5EE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90611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defRPr>
            </a:pPr>
            <a:r>
              <a:rPr sz="825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rPr>
              <a:t>MOLECULAR</a:t>
            </a:r>
          </a:p>
        </p:txBody>
      </p:sp>
      <p:sp>
        <p:nvSpPr>
          <p:cNvPr id="25" name="case-card-2">
            <a:extLst xmlns:a="http://schemas.openxmlformats.org/drawingml/2006/main">
              <a:ext uri="{FF2B5EF4-FFF2-40B4-BE49-F238E27FC236}">
                <a16:creationId xmlns:a16="http://schemas.microsoft.com/office/drawing/2014/main" id="{D358FD8E-7306-4712-BE0D-B8A448AA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33550"/>
            <a:ext cx="2476500" cy="2324100"/>
          </a:xfrm>
          <a:prstGeom xmlns:a="http://schemas.openxmlformats.org/drawingml/2006/main" prst="roundRect">
            <a:avLst>
              <a:gd name="adj" fmla="val 24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98754"/>
            </a:solidFill>
            <a:prstDash val="solid"/>
          </a:ln>
        </p:spPr>
        <p:txBody>
          <a:bodyPr xmlns:a="http://schemas.openxmlformats.org/drawingml/2006/main" wrap="square" lIns="152400" tIns="152400" rIns="152400" bIns="152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FreeSolv → Lipo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证据：shared molecular descriptor pool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假设：solvation signal 可辅助排序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执行：bounded source-outcome prior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结果：+2.98 vs matched LLM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　　　+4.99 vs strongest BO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效率：2.23 rounds saved</a:t>
            </a:r>
          </a:p>
        </p:txBody>
      </p:sp>
      <p:sp>
        <p:nvSpPr>
          <p:cNvPr id="26" name="case-review">
            <a:extLst xmlns:a="http://schemas.openxmlformats.org/drawingml/2006/main">
              <a:ext uri="{FF2B5EF4-FFF2-40B4-BE49-F238E27FC236}">
                <a16:creationId xmlns:a16="http://schemas.microsoft.com/office/drawing/2014/main" id="{121D109E-0191-4285-A0DF-14AE31C19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14825"/>
            <a:ext cx="8001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105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每条路线均按同一证据链审阅：source evidence → hypothesis → patch → gate → independent held-out result。</a:t>
            </a:r>
          </a:p>
          <a:p xmlns:a="http://schemas.openxmlformats.org/drawingml/2006/main">
            <a:pPr algn="ctr">
              <a:buNone/>
              <a:defRPr sz="105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F57D781-AD36-3DEA-9687-D82A2117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49" y="294468"/>
            <a:ext cx="4260419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73154457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 0">
            <a:extLst xmlns:a="http://schemas.openxmlformats.org/drawingml/2006/main">
              <a:ext uri="{FF2B5EF4-FFF2-40B4-BE49-F238E27FC236}">
                <a16:creationId xmlns:a16="http://schemas.microsoft.com/office/drawing/2014/main" id="{EC0132E9-FA80-46CC-BA55-B3E087CE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defRPr>
            </a:pPr>
            <a:r>
              <a:rPr sz="8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ROUTE-BY-ROUTE CASES</a:t>
            </a:r>
          </a:p>
        </p:txBody>
      </p:sp>
      <p:sp>
        <p:nvSpPr>
          <p:cNvPr id="2" name="Text 1">
            <a:extLst xmlns:a="http://schemas.openxmlformats.org/drawingml/2006/main">
              <a:ext uri="{FF2B5EF4-FFF2-40B4-BE49-F238E27FC236}">
                <a16:creationId xmlns:a16="http://schemas.microsoft.com/office/drawing/2014/main" id="{B0F91A5F-E91E-4EA6-A6CF-456ACDE5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11111"/>
                </a:solidFill>
                <a:latin typeface="-apple-system"/>
                <a:ea typeface="-apple-system"/>
                <a:cs typeface="-apple-system"/>
              </a:defRPr>
            </a:pPr>
            <a:r>
              <a:rPr sz="1800" b="1">
                <a:solidFill>
                  <a:srgbClr val="111111"/>
                </a:solidFill>
                <a:latin typeface="-apple-system"/>
                <a:ea typeface="-apple-system"/>
                <a:cs typeface="-apple-system"/>
              </a:rPr>
              <a:t>三条迁移路线分别做了什么：从 source 证据到 held-out 结果</a:t>
            </a:r>
          </a:p>
        </p:txBody>
      </p:sp>
      <p:sp>
        <p:nvSpPr>
          <p:cNvPr id="3" name="Text 2">
            <a:extLst xmlns:a="http://schemas.openxmlformats.org/drawingml/2006/main">
              <a:ext uri="{FF2B5EF4-FFF2-40B4-BE49-F238E27FC236}">
                <a16:creationId xmlns:a16="http://schemas.microsoft.com/office/drawing/2014/main" id="{E0F84989-17A3-435E-9E5F-10210A59A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5B6168"/>
                </a:solidFill>
                <a:latin typeface="-apple-system"/>
                <a:ea typeface="-apple-system"/>
                <a:cs typeface="-apple-system"/>
              </a:defRPr>
            </a:pPr>
            <a:r>
              <a:rPr sz="750">
                <a:solidFill>
                  <a:srgbClr val="5B6168"/>
                </a:solidFill>
                <a:latin typeface="-apple-system"/>
                <a:ea typeface="-apple-system"/>
                <a:cs typeface="-apple-system"/>
              </a:rPr>
              <a:t>07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83FB3C95-E02B-4C87-9FF9-3941E782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715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5" name="header-路线">
            <a:extLst xmlns:a="http://schemas.openxmlformats.org/drawingml/2006/main">
              <a:ext uri="{FF2B5EF4-FFF2-40B4-BE49-F238E27FC236}">
                <a16:creationId xmlns:a16="http://schemas.microsoft.com/office/drawing/2014/main" id="{1F7FC282-A9E8-411E-A7B3-2A823BE4A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5D6874"/>
                </a:solidFill>
                <a:latin typeface="-apple-system"/>
                <a:ea typeface="-apple-system"/>
                <a:cs typeface="-apple-system"/>
              </a:defRPr>
            </a:pPr>
            <a:r>
              <a:rPr sz="750" b="1">
                <a:solidFill>
                  <a:srgbClr val="5D6874"/>
                </a:solidFill>
                <a:latin typeface="-apple-system"/>
                <a:ea typeface="-apple-system"/>
                <a:cs typeface="-apple-system"/>
              </a:rPr>
              <a:t>路线</a:t>
            </a:r>
          </a:p>
        </p:txBody>
      </p:sp>
      <p:sp>
        <p:nvSpPr>
          <p:cNvPr id="6" name="header-SOURCE 证据">
            <a:extLst xmlns:a="http://schemas.openxmlformats.org/drawingml/2006/main">
              <a:ext uri="{FF2B5EF4-FFF2-40B4-BE49-F238E27FC236}">
                <a16:creationId xmlns:a16="http://schemas.microsoft.com/office/drawing/2014/main" id="{DD4CDB4D-C673-47DB-B1EC-D6FD62C6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066800"/>
            <a:ext cx="157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5D6874"/>
                </a:solidFill>
                <a:latin typeface="-apple-system"/>
                <a:ea typeface="-apple-system"/>
                <a:cs typeface="-apple-system"/>
              </a:defRPr>
            </a:pPr>
            <a:r>
              <a:rPr sz="750" b="1">
                <a:solidFill>
                  <a:srgbClr val="5D6874"/>
                </a:solidFill>
                <a:latin typeface="-apple-system"/>
                <a:ea typeface="-apple-system"/>
                <a:cs typeface="-apple-system"/>
              </a:rPr>
              <a:t>SOURCE 证据</a:t>
            </a:r>
          </a:p>
        </p:txBody>
      </p:sp>
      <p:sp>
        <p:nvSpPr>
          <p:cNvPr id="7" name="header-HYPOTHESIS">
            <a:extLst xmlns:a="http://schemas.openxmlformats.org/drawingml/2006/main">
              <a:ext uri="{FF2B5EF4-FFF2-40B4-BE49-F238E27FC236}">
                <a16:creationId xmlns:a16="http://schemas.microsoft.com/office/drawing/2014/main" id="{99151F26-0679-4B44-BBBF-A24BB5D0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066800"/>
            <a:ext cx="1666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5D6874"/>
                </a:solidFill>
                <a:latin typeface="-apple-system"/>
                <a:ea typeface="-apple-system"/>
                <a:cs typeface="-apple-system"/>
              </a:defRPr>
            </a:pPr>
            <a:r>
              <a:rPr sz="750" b="1">
                <a:solidFill>
                  <a:srgbClr val="5D6874"/>
                </a:solidFill>
                <a:latin typeface="-apple-system"/>
                <a:ea typeface="-apple-system"/>
                <a:cs typeface="-apple-system"/>
              </a:rPr>
              <a:t>HYPOTHESIS</a:t>
            </a:r>
          </a:p>
        </p:txBody>
      </p:sp>
      <p:sp>
        <p:nvSpPr>
          <p:cNvPr id="8" name="header-执行 PATCH">
            <a:extLst xmlns:a="http://schemas.openxmlformats.org/drawingml/2006/main">
              <a:ext uri="{FF2B5EF4-FFF2-40B4-BE49-F238E27FC236}">
                <a16:creationId xmlns:a16="http://schemas.microsoft.com/office/drawing/2014/main" id="{BC980092-821F-4C13-940E-2539BA8B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066800"/>
            <a:ext cx="157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5D6874"/>
                </a:solidFill>
                <a:latin typeface="-apple-system"/>
                <a:ea typeface="-apple-system"/>
                <a:cs typeface="-apple-system"/>
              </a:defRPr>
            </a:pPr>
            <a:r>
              <a:rPr sz="750" b="1">
                <a:solidFill>
                  <a:srgbClr val="5D6874"/>
                </a:solidFill>
                <a:latin typeface="-apple-system"/>
                <a:ea typeface="-apple-system"/>
                <a:cs typeface="-apple-system"/>
              </a:rPr>
              <a:t>执行 PATCH</a:t>
            </a:r>
          </a:p>
        </p:txBody>
      </p:sp>
      <p:sp>
        <p:nvSpPr>
          <p:cNvPr id="9" name="header-HELD-OUT 结果">
            <a:extLst xmlns:a="http://schemas.openxmlformats.org/drawingml/2006/main">
              <a:ext uri="{FF2B5EF4-FFF2-40B4-BE49-F238E27FC236}">
                <a16:creationId xmlns:a16="http://schemas.microsoft.com/office/drawing/2014/main" id="{D351CCB7-2BBD-4F20-B11A-72355CBB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0668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5D6874"/>
                </a:solidFill>
                <a:latin typeface="-apple-system"/>
                <a:ea typeface="-apple-system"/>
                <a:cs typeface="-apple-system"/>
              </a:defRPr>
            </a:pPr>
            <a:r>
              <a:rPr sz="750" b="1">
                <a:solidFill>
                  <a:srgbClr val="5D6874"/>
                </a:solidFill>
                <a:latin typeface="-apple-system"/>
                <a:ea typeface="-apple-system"/>
                <a:cs typeface="-apple-system"/>
              </a:rPr>
              <a:t>HELD-OUT 结果</a:t>
            </a:r>
          </a:p>
        </p:txBody>
      </p:sp>
      <p:sp>
        <p:nvSpPr>
          <p:cNvPr id="10" name="route-0">
            <a:extLst xmlns:a="http://schemas.openxmlformats.org/drawingml/2006/main">
              <a:ext uri="{FF2B5EF4-FFF2-40B4-BE49-F238E27FC236}">
                <a16:creationId xmlns:a16="http://schemas.microsoft.com/office/drawing/2014/main" id="{07AEB631-F2A5-4BDD-A343-686BA42B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190625" cy="87630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8DB9EA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REACTION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ChemLex → BH</a:t>
            </a:r>
          </a:p>
        </p:txBody>
      </p:sp>
      <p:sp>
        <p:nvSpPr>
          <p:cNvPr id="11" name="evidence-0">
            <a:extLst xmlns:a="http://schemas.openxmlformats.org/drawingml/2006/main">
              <a:ext uri="{FF2B5EF4-FFF2-40B4-BE49-F238E27FC236}">
                <a16:creationId xmlns:a16="http://schemas.microsoft.com/office/drawing/2014/main" id="{950E03B4-A231-4377-A621-69385D6F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333500"/>
            <a:ext cx="1571625" cy="87630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C9D9E8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Acid-Amine wetlab</a:t>
            </a:r>
          </a:p>
          <a:p xmlns:a="http://schemas.openxmlformats.org/drawingml/2006/main">
            <a:pPr algn="ctr">
              <a:buNone/>
              <a:def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acid / amine 角色与 outcome interaction</a:t>
            </a:r>
          </a:p>
        </p:txBody>
      </p:sp>
      <p:sp>
        <p:nvSpPr>
          <p:cNvPr id="12" name="hypothesis-0">
            <a:extLst xmlns:a="http://schemas.openxmlformats.org/drawingml/2006/main">
              <a:ext uri="{FF2B5EF4-FFF2-40B4-BE49-F238E27FC236}">
                <a16:creationId xmlns:a16="http://schemas.microsoft.com/office/drawing/2014/main" id="{809D8B59-6852-408B-AC14-CD7F9564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333500"/>
            <a:ext cx="1666875" cy="87630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FFF9ED"/>
          </a:solidFill>
          <a:ln xmlns:a="http://schemas.openxmlformats.org/drawingml/2006/main" w="9525">
            <a:solidFill>
              <a:srgbClr val="E7C36B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共享反应角色可迁移；</a:t>
            </a:r>
          </a:p>
          <a:p xmlns:a="http://schemas.openxmlformats.org/drawingml/2006/main">
            <a:pPr algn="ctr">
              <a:buNone/>
              <a:def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source outcome 只作弱 prior</a:t>
            </a:r>
          </a:p>
        </p:txBody>
      </p:sp>
      <p:sp>
        <p:nvSpPr>
          <p:cNvPr id="13" name="patch-0">
            <a:extLst xmlns:a="http://schemas.openxmlformats.org/drawingml/2006/main">
              <a:ext uri="{FF2B5EF4-FFF2-40B4-BE49-F238E27FC236}">
                <a16:creationId xmlns:a16="http://schemas.microsoft.com/office/drawing/2014/main" id="{6FD5B9EF-EA82-4E0C-A965-D80E58F1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333500"/>
            <a:ext cx="1571625" cy="87630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BFD3E6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role multipliers</a:t>
            </a:r>
          </a:p>
          <a:p xmlns:a="http://schemas.openxmlformats.org/drawingml/2006/main">
            <a:pPr algn="ctr">
              <a:buNone/>
              <a:def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kernel scale + prior strength</a:t>
            </a:r>
          </a:p>
        </p:txBody>
      </p:sp>
      <p:sp>
        <p:nvSpPr>
          <p:cNvPr id="14" name="result-0">
            <a:extLst xmlns:a="http://schemas.openxmlformats.org/drawingml/2006/main">
              <a:ext uri="{FF2B5EF4-FFF2-40B4-BE49-F238E27FC236}">
                <a16:creationId xmlns:a16="http://schemas.microsoft.com/office/drawing/2014/main" id="{49394FEB-F268-477B-A5F4-83D8A8C3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333500"/>
            <a:ext cx="1619250" cy="87630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77C79A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66534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66534"/>
                </a:solidFill>
                <a:latin typeface="-apple-system"/>
                <a:ea typeface="-apple-system"/>
                <a:cs typeface="-apple-system"/>
              </a:rPr>
              <a:t>+9.20 vs LLM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166534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66534"/>
                </a:solidFill>
                <a:latin typeface="-apple-system"/>
                <a:ea typeface="-apple-system"/>
                <a:cs typeface="-apple-system"/>
              </a:rPr>
              <a:t>+8.10 vs BO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166534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66534"/>
                </a:solidFill>
                <a:latin typeface="-apple-system"/>
                <a:ea typeface="-apple-system"/>
                <a:cs typeface="-apple-system"/>
              </a:rPr>
              <a:t>省 2.99 轮</a:t>
            </a:r>
          </a:p>
        </p:txBody>
      </p:sp>
      <p:sp>
        <p:nvSpPr>
          <p:cNvPr id="15" name="route-1">
            <a:extLst xmlns:a="http://schemas.openxmlformats.org/drawingml/2006/main">
              <a:ext uri="{FF2B5EF4-FFF2-40B4-BE49-F238E27FC236}">
                <a16:creationId xmlns:a16="http://schemas.microsoft.com/office/drawing/2014/main" id="{1FBC476C-2E9F-4447-8F20-8A3780EF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1190625" cy="87630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9525">
            <a:solidFill>
              <a:srgbClr val="E7BE65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MATERIALS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Dielectric → Gap</a:t>
            </a:r>
          </a:p>
        </p:txBody>
      </p:sp>
      <p:sp>
        <p:nvSpPr>
          <p:cNvPr id="16" name="evidence-1">
            <a:extLst xmlns:a="http://schemas.openxmlformats.org/drawingml/2006/main">
              <a:ext uri="{FF2B5EF4-FFF2-40B4-BE49-F238E27FC236}">
                <a16:creationId xmlns:a16="http://schemas.microsoft.com/office/drawing/2014/main" id="{E2F76F87-8A19-4B48-8D50-075CB1802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381250"/>
            <a:ext cx="1571625" cy="87630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C9D9E8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composition / property observations</a:t>
            </a:r>
          </a:p>
          <a:p xmlns:a="http://schemas.openxmlformats.org/drawingml/2006/main">
            <a:pPr algn="ctr">
              <a:buNone/>
              <a:def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共享材料表示空间</a:t>
            </a:r>
          </a:p>
        </p:txBody>
      </p:sp>
      <p:sp>
        <p:nvSpPr>
          <p:cNvPr id="17" name="hypothesis-1">
            <a:extLst xmlns:a="http://schemas.openxmlformats.org/drawingml/2006/main">
              <a:ext uri="{FF2B5EF4-FFF2-40B4-BE49-F238E27FC236}">
                <a16:creationId xmlns:a16="http://schemas.microsoft.com/office/drawing/2014/main" id="{B2EE66A0-D54F-4648-96CB-A308A07E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81250"/>
            <a:ext cx="1666875" cy="87630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FFF9ED"/>
          </a:solidFill>
          <a:ln xmlns:a="http://schemas.openxmlformats.org/drawingml/2006/main" w="9525">
            <a:solidFill>
              <a:srgbClr val="E7C36B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共享表示可改变</a:t>
            </a:r>
          </a:p>
          <a:p xmlns:a="http://schemas.openxmlformats.org/drawingml/2006/main">
            <a:pPr algn="ctr">
              <a:buNone/>
              <a:def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kernel geometry</a:t>
            </a:r>
          </a:p>
        </p:txBody>
      </p:sp>
      <p:sp>
        <p:nvSpPr>
          <p:cNvPr id="18" name="patch-1">
            <a:extLst xmlns:a="http://schemas.openxmlformats.org/drawingml/2006/main">
              <a:ext uri="{FF2B5EF4-FFF2-40B4-BE49-F238E27FC236}">
                <a16:creationId xmlns:a16="http://schemas.microsoft.com/office/drawing/2014/main" id="{61240CE4-365A-4A20-82D5-45B6FB45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381250"/>
            <a:ext cx="1571625" cy="87630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BFD3E6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role-weighted kernel</a:t>
            </a:r>
          </a:p>
          <a:p xmlns:a="http://schemas.openxmlformats.org/drawingml/2006/main">
            <a:pPr algn="ctr">
              <a:buNone/>
              <a:def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+ bounded prior</a:t>
            </a:r>
          </a:p>
        </p:txBody>
      </p:sp>
      <p:sp>
        <p:nvSpPr>
          <p:cNvPr id="19" name="result-1">
            <a:extLst xmlns:a="http://schemas.openxmlformats.org/drawingml/2006/main">
              <a:ext uri="{FF2B5EF4-FFF2-40B4-BE49-F238E27FC236}">
                <a16:creationId xmlns:a16="http://schemas.microsoft.com/office/drawing/2014/main" id="{3C6DC981-6C84-4ED4-ABCA-2254B07F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81250"/>
            <a:ext cx="1619250" cy="87630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77C79A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66534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66534"/>
                </a:solidFill>
                <a:latin typeface="-apple-system"/>
                <a:ea typeface="-apple-system"/>
                <a:cs typeface="-apple-system"/>
              </a:rPr>
              <a:t>+32.70 vs LLM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166534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66534"/>
                </a:solidFill>
                <a:latin typeface="-apple-system"/>
                <a:ea typeface="-apple-system"/>
                <a:cs typeface="-apple-system"/>
              </a:rPr>
              <a:t>+35.46 vs BO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166534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66534"/>
                </a:solidFill>
                <a:latin typeface="-apple-system"/>
                <a:ea typeface="-apple-system"/>
                <a:cs typeface="-apple-system"/>
              </a:rPr>
              <a:t>省 6.00 轮</a:t>
            </a:r>
          </a:p>
        </p:txBody>
      </p:sp>
      <p:sp>
        <p:nvSpPr>
          <p:cNvPr id="20" name="route-2">
            <a:extLst xmlns:a="http://schemas.openxmlformats.org/drawingml/2006/main">
              <a:ext uri="{FF2B5EF4-FFF2-40B4-BE49-F238E27FC236}">
                <a16:creationId xmlns:a16="http://schemas.microsoft.com/office/drawing/2014/main" id="{F7D26AC3-7277-4FBF-9D1C-F3806B029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0"/>
            <a:ext cx="1190625" cy="87630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77C79A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MOLECULAR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FreeSolv → Lipo</a:t>
            </a:r>
          </a:p>
        </p:txBody>
      </p:sp>
      <p:sp>
        <p:nvSpPr>
          <p:cNvPr id="21" name="evidence-2">
            <a:extLst xmlns:a="http://schemas.openxmlformats.org/drawingml/2006/main">
              <a:ext uri="{FF2B5EF4-FFF2-40B4-BE49-F238E27FC236}">
                <a16:creationId xmlns:a16="http://schemas.microsoft.com/office/drawing/2014/main" id="{C43B8683-95A3-4757-BBD9-0E5B16C7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429000"/>
            <a:ext cx="1571625" cy="87630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C9D9E8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shared molecular descriptors</a:t>
            </a:r>
          </a:p>
          <a:p xmlns:a="http://schemas.openxmlformats.org/drawingml/2006/main">
            <a:pPr algn="ctr">
              <a:buNone/>
              <a:def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solvation outcomes</a:t>
            </a:r>
          </a:p>
        </p:txBody>
      </p:sp>
      <p:sp>
        <p:nvSpPr>
          <p:cNvPr id="22" name="hypothesis-2">
            <a:extLst xmlns:a="http://schemas.openxmlformats.org/drawingml/2006/main">
              <a:ext uri="{FF2B5EF4-FFF2-40B4-BE49-F238E27FC236}">
                <a16:creationId xmlns:a16="http://schemas.microsoft.com/office/drawing/2014/main" id="{E04C247D-2919-403C-8F80-DBD208AC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29000"/>
            <a:ext cx="1666875" cy="87630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FFF9ED"/>
          </a:solidFill>
          <a:ln xmlns:a="http://schemas.openxmlformats.org/drawingml/2006/main" w="9525">
            <a:solidFill>
              <a:srgbClr val="E7C36B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溶剂化信号可辅助</a:t>
            </a:r>
          </a:p>
          <a:p xmlns:a="http://schemas.openxmlformats.org/drawingml/2006/main">
            <a:pPr algn="ctr">
              <a:buNone/>
              <a:def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目标候选排序</a:t>
            </a:r>
          </a:p>
        </p:txBody>
      </p:sp>
      <p:sp>
        <p:nvSpPr>
          <p:cNvPr id="23" name="patch-2">
            <a:extLst xmlns:a="http://schemas.openxmlformats.org/drawingml/2006/main">
              <a:ext uri="{FF2B5EF4-FFF2-40B4-BE49-F238E27FC236}">
                <a16:creationId xmlns:a16="http://schemas.microsoft.com/office/drawing/2014/main" id="{8CEBDD3C-6D3F-418B-ACD3-75871DA8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429000"/>
            <a:ext cx="1571625" cy="87630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BFD3E6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bounded outcome prior</a:t>
            </a:r>
          </a:p>
          <a:p xmlns:a="http://schemas.openxmlformats.org/drawingml/2006/main">
            <a:pPr algn="ctr">
              <a:buNone/>
              <a:def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+ target acquisition</a:t>
            </a:r>
          </a:p>
        </p:txBody>
      </p:sp>
      <p:sp>
        <p:nvSpPr>
          <p:cNvPr id="24" name="result-2">
            <a:extLst xmlns:a="http://schemas.openxmlformats.org/drawingml/2006/main">
              <a:ext uri="{FF2B5EF4-FFF2-40B4-BE49-F238E27FC236}">
                <a16:creationId xmlns:a16="http://schemas.microsoft.com/office/drawing/2014/main" id="{BC759FB5-0F68-41FA-8F41-A616E163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619250" cy="87630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77C79A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66534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66534"/>
                </a:solidFill>
                <a:latin typeface="-apple-system"/>
                <a:ea typeface="-apple-system"/>
                <a:cs typeface="-apple-system"/>
              </a:rPr>
              <a:t>+2.98 vs LLM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166534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66534"/>
                </a:solidFill>
                <a:latin typeface="-apple-system"/>
                <a:ea typeface="-apple-system"/>
                <a:cs typeface="-apple-system"/>
              </a:rPr>
              <a:t>+4.99 vs BO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166534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66534"/>
                </a:solidFill>
                <a:latin typeface="-apple-system"/>
                <a:ea typeface="-apple-system"/>
                <a:cs typeface="-apple-system"/>
              </a:rPr>
              <a:t>省 2.23 轮</a:t>
            </a:r>
          </a:p>
        </p:txBody>
      </p:sp>
      <p:sp>
        <p:nvSpPr>
          <p:cNvPr id="25" name="route-footnote">
            <a:extLst xmlns:a="http://schemas.openxmlformats.org/drawingml/2006/main">
              <a:ext uri="{FF2B5EF4-FFF2-40B4-BE49-F238E27FC236}">
                <a16:creationId xmlns:a16="http://schemas.microsoft.com/office/drawing/2014/main" id="{8C70210D-7911-41F8-9447-E2C6F1AF2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0"/>
            <a:ext cx="8001000" cy="3429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EEF5FC"/>
          </a:solidFill>
          <a:ln xmlns:a="http://schemas.openxmlformats.org/drawingml/2006/main" w="9525">
            <a:solidFill>
              <a:srgbClr val="B9D6F5"/>
            </a:solidFill>
            <a:prstDash val="solid"/>
          </a:ln>
        </p:spPr>
        <p:txBody>
          <a:bodyPr xmlns:a="http://schemas.openxmlformats.org/drawingml/2006/main" wrap="square" lIns="95250" tIns="38100" rIns="952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>
                <a:solidFill>
                  <a:srgbClr val="35516D"/>
                </a:solidFill>
                <a:latin typeface="-apple-system"/>
                <a:ea typeface="-apple-system"/>
                <a:cs typeface="-apple-system"/>
              </a:defRPr>
            </a:pPr>
            <a:r>
              <a:rPr sz="825">
                <a:solidFill>
                  <a:srgbClr val="35516D"/>
                </a:solidFill>
                <a:latin typeface="-apple-system"/>
                <a:ea typeface="-apple-system"/>
                <a:cs typeface="-apple-system"/>
              </a:rPr>
              <a:t>三条路线使用同一冻结协议：target held-out outcome 不参与 Hypothesis 生成或 calibration；路线冻结后才做独立评估。</a:t>
            </a:r>
          </a:p>
        </p:txBody>
      </p:sp>
    </p:spTree>
    <p:extLst>
      <p:ext uri="{BB962C8B-B14F-4D97-AF65-F5344CB8AC3E}">
        <p14:creationId xmlns:p14="http://schemas.microsoft.com/office/powerpoint/2010/main" val="192161541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e410f3c09d4b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F8F12AE9-ECF3-4937-A4FB-79ACE290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1500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END-TO-END CASES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C34C5384-D49C-4B9B-BA49-E654CE48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92944"/>
            <a:ext cx="8001000" cy="40858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250" b="1">
                <a:solidFill>
                  <a:srgbClr val="111111"/>
                </a:solidFill>
                <a:latin typeface="-apple-system"/>
                <a:ea typeface="-apple-system"/>
                <a:cs typeface="-apple-system"/>
              </a:rPr>
              <a:t>案例：ChemLex → BH 的 Hypothesis 如何被执行和验证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BA878A7C-B863-4A0B-B5E2-5A6C7B0C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364" y="428625"/>
            <a:ext cx="127136" cy="1321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5B6168"/>
                </a:solidFill>
                <a:latin typeface="-apple-system"/>
                <a:ea typeface="-apple-system"/>
                <a:cs typeface="-apple-system"/>
              </a:rPr>
              <a:t>08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36F3FEE-8ED2-49DD-9C9A-F2B1D55A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117EBA2-9591-43DF-B3E2-C94BB7A3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4456C7B3-08FD-43D4-B40A-CD452B5A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4FB1F2D-6BE1-4504-9864-75A0D25B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E5BBD2C-EE94-451A-9537-568CA268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FFD746C5-D99B-4975-AB86-02F37DDE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69BE7B14-358A-4DB2-8C3D-79ADE0A5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F61E8D2-B69B-48CC-9760-756190D2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5383A96-B2EF-401F-BD7E-2B0CEF9F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6917AFD9-139A-4849-AE16-A6E88778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E85C7CE3-E900-40BA-92FF-25FD1DE1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DCCF1F94-2C8A-4594-85EF-56DE4E9C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69BFFDA0-C016-47A8-8152-EF08D718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20" name="case-tag-0">
            <a:extLst xmlns:a="http://schemas.openxmlformats.org/drawingml/2006/main">
              <a:ext uri="{FF2B5EF4-FFF2-40B4-BE49-F238E27FC236}">
                <a16:creationId xmlns:a16="http://schemas.microsoft.com/office/drawing/2014/main" id="{0EDDAA3F-7949-4BE4-9200-B807FD4D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100012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8415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defRPr>
            </a:pPr>
            <a:r>
              <a:rPr sz="8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SOURCE EVIDENCE</a:t>
            </a:r>
          </a:p>
        </p:txBody>
      </p:sp>
      <p:sp>
        <p:nvSpPr>
          <p:cNvPr id="21" name="case-card-0">
            <a:extLst xmlns:a="http://schemas.openxmlformats.org/drawingml/2006/main">
              <a:ext uri="{FF2B5EF4-FFF2-40B4-BE49-F238E27FC236}">
                <a16:creationId xmlns:a16="http://schemas.microsoft.com/office/drawing/2014/main" id="{8E3E6BE8-97D5-4899-B75A-DCC207A5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33550"/>
            <a:ext cx="2476500" cy="2324100"/>
          </a:xfrm>
          <a:prstGeom xmlns:a="http://schemas.openxmlformats.org/drawingml/2006/main" prst="roundRect">
            <a:avLst>
              <a:gd name="adj" fmla="val 24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B6CB0"/>
            </a:solidFill>
            <a:prstDash val="solid"/>
          </a:ln>
        </p:spPr>
        <p:txBody>
          <a:bodyPr xmlns:a="http://schemas.openxmlformats.org/drawingml/2006/main" wrap="square" lIns="152400" tIns="152400" rIns="152400" bIns="152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ChemLex Acid-Amine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历史 wetlab outcomes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acid / amine 角色 + outcome interaction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Target boundary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BH schema / budget / seeds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候选池预先冻结；target outcome 对 LLM 不可见。</a:t>
            </a:r>
          </a:p>
        </p:txBody>
      </p:sp>
      <p:sp>
        <p:nvSpPr>
          <p:cNvPr id="22" name="case-tag-1">
            <a:extLst xmlns:a="http://schemas.openxmlformats.org/drawingml/2006/main">
              <a:ext uri="{FF2B5EF4-FFF2-40B4-BE49-F238E27FC236}">
                <a16:creationId xmlns:a16="http://schemas.microsoft.com/office/drawing/2014/main" id="{A2D8C4AB-2E2F-4080-B878-B2202132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09700"/>
            <a:ext cx="100012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0">
            <a:solidFill>
              <a:srgbClr val="FFF7E6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90611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B7791F"/>
                </a:solidFill>
                <a:latin typeface="-apple-system"/>
                <a:ea typeface="-apple-system"/>
                <a:cs typeface="-apple-system"/>
              </a:defRPr>
            </a:pPr>
            <a:r>
              <a:rPr sz="825" b="1">
                <a:solidFill>
                  <a:srgbClr val="B7791F"/>
                </a:solidFill>
                <a:latin typeface="-apple-system"/>
                <a:ea typeface="-apple-system"/>
                <a:cs typeface="-apple-system"/>
              </a:rPr>
              <a:t>LLM HYPOTHESIS</a:t>
            </a:r>
          </a:p>
        </p:txBody>
      </p:sp>
      <p:sp>
        <p:nvSpPr>
          <p:cNvPr id="23" name="case-card-1">
            <a:extLst xmlns:a="http://schemas.openxmlformats.org/drawingml/2006/main">
              <a:ext uri="{FF2B5EF4-FFF2-40B4-BE49-F238E27FC236}">
                <a16:creationId xmlns:a16="http://schemas.microsoft.com/office/drawing/2014/main" id="{34301771-6EAF-44BD-BD92-D30936D0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33550"/>
            <a:ext cx="2476500" cy="2324100"/>
          </a:xfrm>
          <a:prstGeom xmlns:a="http://schemas.openxmlformats.org/drawingml/2006/main" prst="roundRect">
            <a:avLst>
              <a:gd name="adj" fmla="val 24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791F"/>
            </a:solidFill>
            <a:prstDash val="solid"/>
          </a:ln>
        </p:spPr>
        <p:txBody>
          <a:bodyPr xmlns:a="http://schemas.openxmlformats.org/drawingml/2006/main" wrap="square" lIns="152400" tIns="152400" rIns="152400" bIns="152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Generated patch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H1：共享反应角色可迁移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H2：source outcome 只作弱 prior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Compiled parameters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role multipliers / kernel scale / gp_beta / source_prior_strength</a:t>
            </a:r>
          </a:p>
        </p:txBody>
      </p:sp>
      <p:sp>
        <p:nvSpPr>
          <p:cNvPr id="24" name="case-tag-2">
            <a:extLst xmlns:a="http://schemas.openxmlformats.org/drawingml/2006/main">
              <a:ext uri="{FF2B5EF4-FFF2-40B4-BE49-F238E27FC236}">
                <a16:creationId xmlns:a16="http://schemas.microsoft.com/office/drawing/2014/main" id="{128C6DF0-FFF3-455E-B801-A0FA086B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09700"/>
            <a:ext cx="100012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0">
            <a:solidFill>
              <a:srgbClr val="E7F5EE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77105" lnSpcReduction="2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defRPr>
            </a:pPr>
            <a:r>
              <a:rPr sz="825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rPr>
              <a:t>FROZEN EVALUATION</a:t>
            </a:r>
          </a:p>
        </p:txBody>
      </p:sp>
      <p:sp>
        <p:nvSpPr>
          <p:cNvPr id="25" name="case-card-2">
            <a:extLst xmlns:a="http://schemas.openxmlformats.org/drawingml/2006/main">
              <a:ext uri="{FF2B5EF4-FFF2-40B4-BE49-F238E27FC236}">
                <a16:creationId xmlns:a16="http://schemas.microsoft.com/office/drawing/2014/main" id="{D358FD8E-7306-4712-BE0D-B8A448AA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33550"/>
            <a:ext cx="2476500" cy="2324100"/>
          </a:xfrm>
          <a:prstGeom xmlns:a="http://schemas.openxmlformats.org/drawingml/2006/main" prst="roundRect">
            <a:avLst>
              <a:gd name="adj" fmla="val 24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98754"/>
            </a:solidFill>
            <a:prstDash val="solid"/>
          </a:ln>
        </p:spPr>
        <p:txBody>
          <a:bodyPr xmlns:a="http://schemas.openxmlformats.org/drawingml/2006/main" wrap="square" lIns="152400" tIns="152400" rIns="152400" bIns="152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Calibration → held-out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50 dev seeds：同时胜过两类 anchor → route frozen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100 independent held-out seeds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+9.20 vs matched LLM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+8.10 vs strongest BO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2.99 rounds saved</a:t>
            </a:r>
          </a:p>
        </p:txBody>
      </p:sp>
      <p:sp>
        <p:nvSpPr>
          <p:cNvPr id="26" name="case-review">
            <a:extLst xmlns:a="http://schemas.openxmlformats.org/drawingml/2006/main">
              <a:ext uri="{FF2B5EF4-FFF2-40B4-BE49-F238E27FC236}">
                <a16:creationId xmlns:a16="http://schemas.microsoft.com/office/drawing/2014/main" id="{121D109E-0191-4285-A0DF-14AE31C19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14825"/>
            <a:ext cx="8001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105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专家要判断：这种“角色映射 + 弱先验”的假设是否符合反应机理，而不是只看最终增益。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F57D781-AD36-3DEA-9687-D82A2117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49" y="294468"/>
            <a:ext cx="4260419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73154457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adba2415994f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C9A9E5D0-5652-4628-9DF3-7B554E71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8001000" cy="1500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HELD-OUT EVIDENCE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656DC98-371C-429F-82E7-A380B476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494"/>
            <a:ext cx="8001000" cy="668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800" b="1">
                <a:solidFill>
                  <a:srgbClr val="111111"/>
                </a:solidFill>
                <a:latin typeface="-apple-system"/>
                <a:ea typeface="-apple-system"/>
                <a:cs typeface="-apple-system"/>
              </a:rPr>
              <a:t>四条迁移路线同时超过 matched LLM 与 strongest target-only BO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DD53CD7-0A12-4FBA-81D4-22703226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364" y="285750"/>
            <a:ext cx="127136" cy="1321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5B6168"/>
                </a:solidFill>
                <a:latin typeface="-apple-system"/>
                <a:ea typeface="-apple-system"/>
                <a:cs typeface="-apple-system"/>
              </a:rPr>
              <a:t>09</a:t>
            </a:r>
          </a:p>
        </p:txBody>
      </p:sp>
      <p:pic>
        <p:nvPicPr>
          <p:cNvPr id="2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f3a341bdff4b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DF39B1A7-8C2C-464F-BF6E-8682173A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hape 4">
            <a:extLst xmlns:a="http://schemas.openxmlformats.org/drawingml/2006/main">
              <a:ext uri="{FF2B5EF4-FFF2-40B4-BE49-F238E27FC236}">
                <a16:creationId xmlns:a16="http://schemas.microsoft.com/office/drawing/2014/main" id="{CFC4EBB6-FE9E-44B4-A124-984E3C14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170E8D51-6A9B-418F-AA8C-2C7EA895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E1AB6B34-6E09-4415-BB7C-06046E9D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FC76F773-962D-44AC-BEA3-8EC96508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B95D514E-1A71-4003-86E3-AE15ABB5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258272E7-D13F-4B68-946D-574813A6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EEBF8AC9-4AA8-4321-A26E-F85B1925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62F9E4A9-E2E9-4832-8E3E-A0A48274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D478172E-2B3D-41F8-B65E-2A0479D6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</a:p>
        </p:txBody>
      </p:sp>
      <p:pic>
        <p:nvPicPr>
          <p:cNvPr id="39" name="Picture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87c6e7fdf646f6"/>
          <a:stretch xmlns:a="http://schemas.openxmlformats.org/drawingml/2006/main"/>
        </p:blipFill>
        <p:spPr>
          <a:xfrm xmlns:a="http://schemas.openxmlformats.org/drawingml/2006/main">
            <a:off x="571500" y="1187782"/>
            <a:ext cx="8001000" cy="3320387"/>
          </a:xfrm>
          <a:prstGeom xmlns:a="http://schemas.openxmlformats.org/drawingml/2006/main" prst="rect">
            <a:avLst/>
          </a:prstGeom>
        </p:spPr>
      </p:pic>
      <p:sp>
        <p:nvSpPr>
          <p:cNvPr id="20" name="results-summary">
            <a:extLst xmlns:a="http://schemas.openxmlformats.org/drawingml/2006/main">
              <a:ext uri="{FF2B5EF4-FFF2-40B4-BE49-F238E27FC236}">
                <a16:creationId xmlns:a16="http://schemas.microsoft.com/office/drawing/2014/main" id="{0A4DC387-DFA6-4ECE-8DC1-2760F0F00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52950"/>
            <a:ext cx="800100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9525">
            <a:solidFill>
              <a:srgbClr val="19875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9793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15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defRPr>
            </a:pPr>
            <a:r>
              <a:rPr sz="915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rPr>
              <a:t>50 calibration seeds freeze the route · 100 disjoint held-out seeds evaluate it · 4/7 deploy transfer · 3/7 exact fallback · 0 negative deployed route</a:t>
            </a:r>
          </a:p>
        </p:txBody>
      </p:sp>
    </p:spTree>
    <p:extLst>
      <p:ext uri="{BB962C8B-B14F-4D97-AF65-F5344CB8AC3E}">
        <p14:creationId xmlns:p14="http://schemas.microsoft.com/office/powerpoint/2010/main" val="106769168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84996653ee46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D91C9427-528F-47F0-AD93-32CF18CF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8001000" cy="1500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TRANSFERABILITY MATRIX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F110D987-7891-40FF-9835-71774F83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494"/>
            <a:ext cx="8001000" cy="3343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800" b="1">
                <a:solidFill>
                  <a:srgbClr val="111111"/>
                </a:solidFill>
                <a:latin typeface="-apple-system"/>
                <a:ea typeface="-apple-system"/>
                <a:cs typeface="-apple-system"/>
              </a:rPr>
              <a:t>当前证据支持同领域跨数据集迁移，跨领域仍未建立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29A4BCC-63E9-466D-B1DF-F3125F20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364" y="285750"/>
            <a:ext cx="127136" cy="1321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5B6168"/>
                </a:solidFill>
                <a:latin typeface="-apple-system"/>
                <a:ea typeface="-apple-system"/>
                <a:cs typeface="-apple-system"/>
              </a:rPr>
              <a:t>10</a:t>
            </a:r>
          </a:p>
        </p:txBody>
      </p:sp>
      <p:pic>
        <p:nvPicPr>
          <p:cNvPr id="6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5a9da2c86d43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pic>
        <p:nvPicPr>
          <p:cNvPr id="6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65c13ba71b4f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8" name="Text 3">
            <a:extLst xmlns:a="http://schemas.openxmlformats.org/drawingml/2006/main">
              <a:ext uri="{FF2B5EF4-FFF2-40B4-BE49-F238E27FC236}">
                <a16:creationId xmlns:a16="http://schemas.microsoft.com/office/drawing/2014/main" id="{80491B41-5EE4-45F9-82BA-73A296D1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9" name="Text 4">
            <a:extLst xmlns:a="http://schemas.openxmlformats.org/drawingml/2006/main">
              <a:ext uri="{FF2B5EF4-FFF2-40B4-BE49-F238E27FC236}">
                <a16:creationId xmlns:a16="http://schemas.microsoft.com/office/drawing/2014/main" id="{14075786-AF16-4583-9C93-82D4320E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D1CF2999-8305-4036-ADA5-A33CF96D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6">
            <a:extLst xmlns:a="http://schemas.openxmlformats.org/drawingml/2006/main">
              <a:ext uri="{FF2B5EF4-FFF2-40B4-BE49-F238E27FC236}">
                <a16:creationId xmlns:a16="http://schemas.microsoft.com/office/drawing/2014/main" id="{1CE33483-FFD5-4349-8FE2-5EFBB055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0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72212b2a3c4e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3" name="Text 7">
            <a:extLst xmlns:a="http://schemas.openxmlformats.org/drawingml/2006/main">
              <a:ext uri="{FF2B5EF4-FFF2-40B4-BE49-F238E27FC236}">
                <a16:creationId xmlns:a16="http://schemas.microsoft.com/office/drawing/2014/main" id="{007A3873-C300-4D8A-8730-E9A6DD4E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4" name="Shape 8">
            <a:extLst xmlns:a="http://schemas.openxmlformats.org/drawingml/2006/main">
              <a:ext uri="{FF2B5EF4-FFF2-40B4-BE49-F238E27FC236}">
                <a16:creationId xmlns:a16="http://schemas.microsoft.com/office/drawing/2014/main" id="{5C87AC45-4A21-48CC-BBAE-B1A013C2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3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e710ee270b40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6" name="Text 9">
            <a:extLst xmlns:a="http://schemas.openxmlformats.org/drawingml/2006/main">
              <a:ext uri="{FF2B5EF4-FFF2-40B4-BE49-F238E27FC236}">
                <a16:creationId xmlns:a16="http://schemas.microsoft.com/office/drawing/2014/main" id="{9215B3F0-4619-46F3-B645-910AEF10D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7" name="Shape 10">
            <a:extLst xmlns:a="http://schemas.openxmlformats.org/drawingml/2006/main">
              <a:ext uri="{FF2B5EF4-FFF2-40B4-BE49-F238E27FC236}">
                <a16:creationId xmlns:a16="http://schemas.microsoft.com/office/drawing/2014/main" id="{C93B43A0-26A7-43CD-9E87-22A305EA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6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98caff2f9c4b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9" name="Text 11">
            <a:extLst xmlns:a="http://schemas.openxmlformats.org/drawingml/2006/main">
              <a:ext uri="{FF2B5EF4-FFF2-40B4-BE49-F238E27FC236}">
                <a16:creationId xmlns:a16="http://schemas.microsoft.com/office/drawing/2014/main" id="{9EB62C6A-9987-423C-A913-16001795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0" name="Shape 12">
            <a:extLst xmlns:a="http://schemas.openxmlformats.org/drawingml/2006/main">
              <a:ext uri="{FF2B5EF4-FFF2-40B4-BE49-F238E27FC236}">
                <a16:creationId xmlns:a16="http://schemas.microsoft.com/office/drawing/2014/main" id="{7902E673-31E7-408C-ACC8-32F6A794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9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e710ee270b40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22" name="Text 13">
            <a:extLst xmlns:a="http://schemas.openxmlformats.org/drawingml/2006/main">
              <a:ext uri="{FF2B5EF4-FFF2-40B4-BE49-F238E27FC236}">
                <a16:creationId xmlns:a16="http://schemas.microsoft.com/office/drawing/2014/main" id="{2D773A90-655B-4F0D-B90E-94B71C75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3" name="Shape 14">
            <a:extLst xmlns:a="http://schemas.openxmlformats.org/drawingml/2006/main">
              <a:ext uri="{FF2B5EF4-FFF2-40B4-BE49-F238E27FC236}">
                <a16:creationId xmlns:a16="http://schemas.microsoft.com/office/drawing/2014/main" id="{15A03FB4-3DA8-45D8-8B65-6F4138FC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2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98caff2f9c4b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25" name="Text 15">
            <a:extLst xmlns:a="http://schemas.openxmlformats.org/drawingml/2006/main">
              <a:ext uri="{FF2B5EF4-FFF2-40B4-BE49-F238E27FC236}">
                <a16:creationId xmlns:a16="http://schemas.microsoft.com/office/drawing/2014/main" id="{EB6A484C-740F-41EA-ACC3-09E8CF0D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6" name="Shape 16">
            <a:extLst xmlns:a="http://schemas.openxmlformats.org/drawingml/2006/main">
              <a:ext uri="{FF2B5EF4-FFF2-40B4-BE49-F238E27FC236}">
                <a16:creationId xmlns:a16="http://schemas.microsoft.com/office/drawing/2014/main" id="{C038DD82-A225-46E9-8715-75EAAAD8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5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e710ee270b40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28" name="Text 17">
            <a:extLst xmlns:a="http://schemas.openxmlformats.org/drawingml/2006/main">
              <a:ext uri="{FF2B5EF4-FFF2-40B4-BE49-F238E27FC236}">
                <a16:creationId xmlns:a16="http://schemas.microsoft.com/office/drawing/2014/main" id="{0C53CEA0-D1A1-4CC1-9B44-3E97DC9E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9" name="Shape 18">
            <a:extLst xmlns:a="http://schemas.openxmlformats.org/drawingml/2006/main">
              <a:ext uri="{FF2B5EF4-FFF2-40B4-BE49-F238E27FC236}">
                <a16:creationId xmlns:a16="http://schemas.microsoft.com/office/drawing/2014/main" id="{2E6DD216-90A1-4192-A7F1-4EA327E3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8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98caff2f9c4b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31" name="Text 19">
            <a:extLst xmlns:a="http://schemas.openxmlformats.org/drawingml/2006/main">
              <a:ext uri="{FF2B5EF4-FFF2-40B4-BE49-F238E27FC236}">
                <a16:creationId xmlns:a16="http://schemas.microsoft.com/office/drawing/2014/main" id="{C4283D29-4D2A-4BA2-846C-BDE2036B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32" name="Text 20">
            <a:extLst xmlns:a="http://schemas.openxmlformats.org/drawingml/2006/main">
              <a:ext uri="{FF2B5EF4-FFF2-40B4-BE49-F238E27FC236}">
                <a16:creationId xmlns:a16="http://schemas.microsoft.com/office/drawing/2014/main" id="{1229E245-BB99-4280-BA18-BD319D36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pic>
        <p:nvPicPr>
          <p:cNvPr id="91" name="Picture 7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08748c2ead4552"/>
          <a:stretch xmlns:a="http://schemas.openxmlformats.org/drawingml/2006/main"/>
        </p:blipFill>
        <p:spPr>
          <a:xfrm xmlns:a="http://schemas.openxmlformats.org/drawingml/2006/main">
            <a:off x="1216263" y="1162050"/>
            <a:ext cx="3568225" cy="3476625"/>
          </a:xfrm>
          <a:prstGeom xmlns:a="http://schemas.openxmlformats.org/drawingml/2006/main" prst="rect">
            <a:avLst/>
          </a:prstGeom>
        </p:spPr>
      </p:pic>
      <p:sp>
        <p:nvSpPr>
          <p:cNvPr id="44" name="matrix-supported">
            <a:extLst xmlns:a="http://schemas.openxmlformats.org/drawingml/2006/main">
              <a:ext uri="{FF2B5EF4-FFF2-40B4-BE49-F238E27FC236}">
                <a16:creationId xmlns:a16="http://schemas.microsoft.com/office/drawing/2014/main" id="{3056718D-3D88-4EF5-8902-3593B64A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285875"/>
            <a:ext cx="13335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0">
            <a:solidFill>
              <a:srgbClr val="E7F5EE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90611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defRPr>
            </a:pPr>
            <a:r>
              <a:rPr sz="825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rPr>
              <a:t>SUPPORTED NOW</a:t>
            </a:r>
          </a:p>
        </p:txBody>
      </p:sp>
      <p:sp>
        <p:nvSpPr>
          <p:cNvPr id="45" name="matrix-supported-list">
            <a:extLst xmlns:a="http://schemas.openxmlformats.org/drawingml/2006/main">
              <a:ext uri="{FF2B5EF4-FFF2-40B4-BE49-F238E27FC236}">
                <a16:creationId xmlns:a16="http://schemas.microsoft.com/office/drawing/2014/main" id="{FA447F7E-425A-4A81-B0E1-9384EC8F0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38300"/>
            <a:ext cx="27146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15" indent="-9" algn="l">
              <a:spcAft>
                <a:spcPts val="5"/>
              </a:spcAft>
              <a:buChar char="•"/>
              <a:def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Reaction → Reaction: 1 positive route</a:t>
            </a:r>
          </a:p>
          <a:p xmlns:a="http://schemas.openxmlformats.org/drawingml/2006/main">
            <a:pPr marL="15" indent="-9" algn="l">
              <a:spcAft>
                <a:spcPts val="5"/>
              </a:spcAft>
              <a:buChar char="•"/>
              <a:def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Materials → Materials: 2 positive, 1 fallback</a:t>
            </a:r>
          </a:p>
          <a:p xmlns:a="http://schemas.openxmlformats.org/drawingml/2006/main">
            <a:pPr marL="15" indent="-9" algn="l">
              <a:spcAft>
                <a:spcPts val="5"/>
              </a:spcAft>
              <a:buChar char="•"/>
              <a:def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Molecular → Molecular: 1 positive, 2 fallback</a:t>
            </a:r>
          </a:p>
        </p:txBody>
      </p:sp>
      <p:sp>
        <p:nvSpPr>
          <p:cNvPr id="46" name="matrix-unverified">
            <a:extLst xmlns:a="http://schemas.openxmlformats.org/drawingml/2006/main">
              <a:ext uri="{FF2B5EF4-FFF2-40B4-BE49-F238E27FC236}">
                <a16:creationId xmlns:a16="http://schemas.microsoft.com/office/drawing/2014/main" id="{6C87124D-FD0F-4001-ADFE-EA50BF92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62250"/>
            <a:ext cx="14287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CEC"/>
          </a:solidFill>
          <a:ln xmlns:a="http://schemas.openxmlformats.org/drawingml/2006/main" w="0">
            <a:solidFill>
              <a:srgbClr val="FCECEC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90611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D64545"/>
                </a:solidFill>
                <a:latin typeface="-apple-system"/>
                <a:ea typeface="-apple-system"/>
                <a:cs typeface="-apple-system"/>
              </a:defRPr>
            </a:pPr>
            <a:r>
              <a:rPr sz="825" b="1">
                <a:solidFill>
                  <a:srgbClr val="D64545"/>
                </a:solidFill>
                <a:latin typeface="-apple-system"/>
                <a:ea typeface="-apple-system"/>
                <a:cs typeface="-apple-system"/>
              </a:rPr>
              <a:t>NOT YET VERIFIED</a:t>
            </a:r>
          </a:p>
        </p:txBody>
      </p:sp>
      <p:sp>
        <p:nvSpPr>
          <p:cNvPr id="47" name="matrix-unverified-list">
            <a:extLst xmlns:a="http://schemas.openxmlformats.org/drawingml/2006/main">
              <a:ext uri="{FF2B5EF4-FFF2-40B4-BE49-F238E27FC236}">
                <a16:creationId xmlns:a16="http://schemas.microsoft.com/office/drawing/2014/main" id="{01995625-C1BE-455D-83E6-2F4CA162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14675"/>
            <a:ext cx="2571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15" indent="-9" algn="l">
              <a:spcAft>
                <a:spcPts val="5"/>
              </a:spcAft>
              <a:buChar char="•"/>
              <a:def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Reaction ↔ Materials</a:t>
            </a:r>
          </a:p>
          <a:p xmlns:a="http://schemas.openxmlformats.org/drawingml/2006/main">
            <a:pPr marL="15" indent="-9" algn="l">
              <a:spcAft>
                <a:spcPts val="5"/>
              </a:spcAft>
              <a:buChar char="•"/>
              <a:def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Reaction ↔ Molecular</a:t>
            </a:r>
          </a:p>
          <a:p xmlns:a="http://schemas.openxmlformats.org/drawingml/2006/main">
            <a:pPr marL="15" indent="-9" algn="l">
              <a:spcAft>
                <a:spcPts val="5"/>
              </a:spcAft>
              <a:buChar char="•"/>
              <a:def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Materials ↔ Molecular</a:t>
            </a:r>
          </a:p>
        </p:txBody>
      </p:sp>
      <p:sp>
        <p:nvSpPr>
          <p:cNvPr id="48" name="matrix-mechanism">
            <a:extLst xmlns:a="http://schemas.openxmlformats.org/drawingml/2006/main">
              <a:ext uri="{FF2B5EF4-FFF2-40B4-BE49-F238E27FC236}">
                <a16:creationId xmlns:a16="http://schemas.microsoft.com/office/drawing/2014/main" id="{116EA708-C375-4EC7-86FC-ED00B8E7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048125"/>
            <a:ext cx="28384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t">
            <a:normAutofit fontScale="98648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机制假设（尚非因果结论）</a:t>
            </a:r>
          </a:p>
          <a:p xmlns:a="http://schemas.openxmlformats.org/drawingml/2006/main">
            <a:pPr algn="l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共享 representation、相近 objective、参数空间重叠可能解释材料与分子任务的可迁移性。</a:t>
            </a:r>
          </a:p>
        </p:txBody>
      </p:sp>
    </p:spTree>
    <p:extLst>
      <p:ext uri="{BB962C8B-B14F-4D97-AF65-F5344CB8AC3E}">
        <p14:creationId xmlns:p14="http://schemas.microsoft.com/office/powerpoint/2010/main" val="14449087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f0b9d11e0f49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0805036F-08CD-41BA-AE98-3749BFC28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1500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EVALUATION METRICS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3CFCFA09-95BD-47E9-9C5E-F69FC76FF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92944"/>
            <a:ext cx="8001000" cy="371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000" b="1">
                <a:solidFill>
                  <a:srgbClr val="111111"/>
                </a:solidFill>
                <a:latin typeface="-apple-system"/>
                <a:ea typeface="-apple-system"/>
                <a:cs typeface="-apple-system"/>
              </a:rPr>
              <a:t>评价指标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B0CB45FB-09F8-4A37-BAA0-3C5B01FC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364" y="428625"/>
            <a:ext cx="127136" cy="1321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5B6168"/>
                </a:solidFill>
                <a:latin typeface="-apple-system"/>
                <a:ea typeface="-apple-system"/>
                <a:cs typeface="-apple-system"/>
              </a:rPr>
              <a:t>11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84CC8D8-38C0-46C2-8C44-44913871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102108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A20B47E7-3B67-49A4-A772-0153BE789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D39EBFF5-66C6-4993-9494-C33BA00A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77CA3E8-42F0-4291-BDD7-49CD8A0F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pic>
        <p:nvPicPr>
          <p:cNvPr id="5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455da14b4f40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7D34184A-9E07-4344-846F-7845B6A3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AF9AF63A-5928-4B00-871C-E72F5335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0053" tIns="170053" rIns="170053" bIns="170053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44000"/>
              </a:lnSpc>
              <a:buNone/>
            </a:pPr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3200F606-6165-4722-B7DE-C318BCA3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102108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EF962692-0721-4CB5-A8D1-C1AC53870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F0928568-7973-441C-950D-5E7D8471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68072" tIns="34036" rIns="68072" bIns="34036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60D8635C-FFB3-4859-849B-4FD881C9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2BDA21DA-77C1-49F9-9E3E-5242FE03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768BA74F-5CB9-4FD0-8DC7-2F97516B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02108" tIns="51054" rIns="102108" bIns="51054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95e0473d4a4e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D5253139-1933-49C3-81FB-027CF1E5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1" name="Shape 16">
            <a:extLst xmlns:a="http://schemas.openxmlformats.org/drawingml/2006/main">
              <a:ext uri="{FF2B5EF4-FFF2-40B4-BE49-F238E27FC236}">
                <a16:creationId xmlns:a16="http://schemas.microsoft.com/office/drawing/2014/main" id="{230971F0-0E80-446C-827D-E7FE529B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22D02163-60A3-406A-AFBB-7299ECDA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68072" tIns="34036" rIns="68072" bIns="34036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A64A5331-0FCC-4447-B1B3-A0FC4BA5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4" name="Shape 19">
            <a:extLst xmlns:a="http://schemas.openxmlformats.org/drawingml/2006/main">
              <a:ext uri="{FF2B5EF4-FFF2-40B4-BE49-F238E27FC236}">
                <a16:creationId xmlns:a16="http://schemas.microsoft.com/office/drawing/2014/main" id="{A99C0D1F-D60A-4AFA-AF29-8747FE23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3FF935E2-107E-411F-A5A4-4748EE32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02108" tIns="51054" rIns="102108" bIns="51054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pic>
        <p:nvPicPr>
          <p:cNvPr id="67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95e0473d4a4e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C85FBE6E-2726-4659-A0C1-254B1A4F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32" name="stats-current-title">
            <a:extLst xmlns:a="http://schemas.openxmlformats.org/drawingml/2006/main">
              <a:ext uri="{FF2B5EF4-FFF2-40B4-BE49-F238E27FC236}">
                <a16:creationId xmlns:a16="http://schemas.microsoft.com/office/drawing/2014/main" id="{D9578CCA-FE50-42CC-BD95-BE22DBCD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85875"/>
            <a:ext cx="3762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defRPr>
            </a:pPr>
            <a:r>
              <a:rPr sz="127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性能与稳定性</a:t>
            </a:r>
          </a:p>
        </p:txBody>
      </p:sp>
      <p:sp>
        <p:nvSpPr>
          <p:cNvPr id="33" name="stats-current">
            <a:extLst xmlns:a="http://schemas.openxmlformats.org/drawingml/2006/main">
              <a:ext uri="{FF2B5EF4-FFF2-40B4-BE49-F238E27FC236}">
                <a16:creationId xmlns:a16="http://schemas.microsoft.com/office/drawing/2014/main" id="{CE9ABC14-29A2-4842-A906-BFF4418D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3762375" cy="2124075"/>
          </a:xfrm>
          <a:prstGeom xmlns:a="http://schemas.openxmlformats.org/drawingml/2006/main" prst="roundRect">
            <a:avLst>
              <a:gd name="adj" fmla="val 2691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9FC2E8"/>
            </a:solidFill>
            <a:prstDash val="solid"/>
          </a:ln>
        </p:spPr>
        <p:txBody>
          <a:bodyPr xmlns:a="http://schemas.openxmlformats.org/drawingml/2006/main" wrap="square" lIns="114300" tIns="114300" rIns="114300" bIns="95250" anchor="t">
            <a:normAutofit fontScale="100000"/>
          </a:bodyPr>
          <a:lstStyle xmlns:a="http://schemas.openxmlformats.org/drawingml/2006/main"/>
          <a:p xmlns:a="http://schemas.openxmlformats.org/drawingml/2006/main">
            <a:pPr marL="16" indent="-9">
              <a:spcAft>
                <a:spcPts val="7"/>
              </a:spcAft>
              <a:buChar char="•"/>
              <a:defRPr sz="1125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1125" b="1">
                <a:solidFill>
                  <a:srgbClr val="D64545"/>
                </a:solidFill>
                <a:latin typeface="-apple-system"/>
                <a:ea typeface="-apple-system"/>
                <a:cs typeface="-apple-system"/>
              </a:rPr>
              <a:t>终点增益：</a:t>
            </a:r>
            <a:r>
              <a:rPr sz="1125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paired final-best Δ</a:t>
            </a:r>
          </a:p>
          <a:p xmlns:a="http://schemas.openxmlformats.org/drawingml/2006/main">
            <a:pPr marL="16" indent="-9">
              <a:spcAft>
                <a:spcPts val="7"/>
              </a:spcAft>
              <a:buChar char="•"/>
              <a:defRPr sz="1125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1125" b="1">
                <a:solidFill>
                  <a:srgbClr val="D64545"/>
                </a:solidFill>
                <a:latin typeface="-apple-system"/>
                <a:ea typeface="-apple-system"/>
                <a:cs typeface="-apple-system"/>
              </a:rPr>
              <a:t>过程增益：</a:t>
            </a:r>
            <a:r>
              <a:rPr sz="1125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best-so-far AUC</a:t>
            </a:r>
          </a:p>
          <a:p xmlns:a="http://schemas.openxmlformats.org/drawingml/2006/main">
            <a:pPr marL="16" indent="-9">
              <a:spcAft>
                <a:spcPts val="7"/>
              </a:spcAft>
              <a:buChar char="•"/>
              <a:defRPr sz="1125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1125" b="1">
                <a:solidFill>
                  <a:srgbClr val="D64545"/>
                </a:solidFill>
                <a:latin typeface="-apple-system"/>
                <a:ea typeface="-apple-system"/>
                <a:cs typeface="-apple-system"/>
              </a:rPr>
              <a:t>不确定性：</a:t>
            </a:r>
            <a:r>
              <a:rPr sz="1125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paired bootstrap 95% CI</a:t>
            </a:r>
          </a:p>
          <a:p xmlns:a="http://schemas.openxmlformats.org/drawingml/2006/main">
            <a:pPr marL="16" indent="-9">
              <a:spcAft>
                <a:spcPts val="7"/>
              </a:spcAft>
              <a:buChar char="•"/>
              <a:defRPr sz="1125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1125" b="1">
                <a:solidFill>
                  <a:srgbClr val="D64545"/>
                </a:solidFill>
                <a:latin typeface="-apple-system"/>
                <a:ea typeface="-apple-system"/>
                <a:cs typeface="-apple-system"/>
              </a:rPr>
              <a:t>稳定性：</a:t>
            </a:r>
            <a:r>
              <a:rPr sz="1125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non-loss rate + 5-fold blocks</a:t>
            </a:r>
          </a:p>
          <a:p xmlns:a="http://schemas.openxmlformats.org/drawingml/2006/main">
            <a:pPr marL="16" indent="-9">
              <a:spcAft>
                <a:spcPts val="7"/>
              </a:spcAft>
              <a:buChar char="•"/>
              <a:defRPr sz="1125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1125" b="1">
                <a:solidFill>
                  <a:srgbClr val="D64545"/>
                </a:solidFill>
                <a:latin typeface="-apple-system"/>
                <a:ea typeface="-apple-system"/>
                <a:cs typeface="-apple-system"/>
              </a:rPr>
              <a:t>样本规模：</a:t>
            </a:r>
            <a:r>
              <a:rPr sz="1125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100 independent held-out seeds</a:t>
            </a:r>
          </a:p>
        </p:txBody>
      </p:sp>
      <p:sp>
        <p:nvSpPr>
          <p:cNvPr id="34" name="stats-paper-title">
            <a:extLst xmlns:a="http://schemas.openxmlformats.org/drawingml/2006/main">
              <a:ext uri="{FF2B5EF4-FFF2-40B4-BE49-F238E27FC236}">
                <a16:creationId xmlns:a16="http://schemas.microsoft.com/office/drawing/2014/main" id="{6A7306B0-B226-4E0D-94E7-9F46340F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285875"/>
            <a:ext cx="3762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defRPr>
            </a:pPr>
            <a:r>
              <a:rPr sz="1275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rPr>
              <a:t>统计与实际意义</a:t>
            </a:r>
          </a:p>
        </p:txBody>
      </p:sp>
      <p:sp>
        <p:nvSpPr>
          <p:cNvPr id="35" name="stats-paper">
            <a:extLst xmlns:a="http://schemas.openxmlformats.org/drawingml/2006/main">
              <a:ext uri="{FF2B5EF4-FFF2-40B4-BE49-F238E27FC236}">
                <a16:creationId xmlns:a16="http://schemas.microsoft.com/office/drawing/2014/main" id="{2426F13F-69A1-4A27-9711-3E162D2D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657350"/>
            <a:ext cx="3762375" cy="2124075"/>
          </a:xfrm>
          <a:prstGeom xmlns:a="http://schemas.openxmlformats.org/drawingml/2006/main" prst="roundRect">
            <a:avLst>
              <a:gd name="adj" fmla="val 2691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9525">
            <a:solidFill>
              <a:srgbClr val="198754"/>
            </a:solidFill>
            <a:prstDash val="solid"/>
          </a:ln>
        </p:spPr>
        <p:txBody>
          <a:bodyPr xmlns:a="http://schemas.openxmlformats.org/drawingml/2006/main" wrap="square" lIns="114300" tIns="114300" rIns="114300" bIns="95250" anchor="t">
            <a:normAutofit fontScale="100000"/>
          </a:bodyPr>
          <a:lstStyle xmlns:a="http://schemas.openxmlformats.org/drawingml/2006/main"/>
          <a:p xmlns:a="http://schemas.openxmlformats.org/drawingml/2006/main">
            <a:pPr marL="16" indent="-9">
              <a:spcAft>
                <a:spcPts val="7"/>
              </a:spcAft>
              <a:buChar char="•"/>
              <a:defRPr sz="1125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1125" b="1">
                <a:solidFill>
                  <a:srgbClr val="D64545"/>
                </a:solidFill>
                <a:latin typeface="-apple-system"/>
                <a:ea typeface="-apple-system"/>
                <a:cs typeface="-apple-system"/>
              </a:rPr>
              <a:t>统计检验：</a:t>
            </a:r>
            <a:r>
              <a:rPr sz="1125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paired permutation test</a:t>
            </a:r>
          </a:p>
          <a:p xmlns:a="http://schemas.openxmlformats.org/drawingml/2006/main">
            <a:pPr marL="16" indent="-9">
              <a:spcAft>
                <a:spcPts val="7"/>
              </a:spcAft>
              <a:buChar char="•"/>
              <a:defRPr sz="1125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1125" b="1">
                <a:solidFill>
                  <a:srgbClr val="D64545"/>
                </a:solidFill>
                <a:latin typeface="-apple-system"/>
                <a:ea typeface="-apple-system"/>
                <a:cs typeface="-apple-system"/>
              </a:rPr>
              <a:t>多重比较：</a:t>
            </a:r>
            <a:r>
              <a:rPr sz="1125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BH-FDR q &lt; 0.05</a:t>
            </a:r>
          </a:p>
          <a:p xmlns:a="http://schemas.openxmlformats.org/drawingml/2006/main">
            <a:pPr marL="16" indent="-9">
              <a:spcAft>
                <a:spcPts val="7"/>
              </a:spcAft>
              <a:buChar char="•"/>
              <a:defRPr sz="1125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1125" b="1">
                <a:solidFill>
                  <a:srgbClr val="D64545"/>
                </a:solidFill>
                <a:latin typeface="-apple-system"/>
                <a:ea typeface="-apple-system"/>
                <a:cs typeface="-apple-system"/>
              </a:rPr>
              <a:t>实际意义：</a:t>
            </a:r>
            <a:r>
              <a:rPr sz="1125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effect ≥ 预先定义的 task-specific MDE</a:t>
            </a:r>
          </a:p>
          <a:p xmlns:a="http://schemas.openxmlformats.org/drawingml/2006/main">
            <a:pPr marL="16" indent="-9">
              <a:spcAft>
                <a:spcPts val="7"/>
              </a:spcAft>
              <a:buChar char="•"/>
              <a:defRPr sz="1125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1125" b="1">
                <a:solidFill>
                  <a:srgbClr val="D64545"/>
                </a:solidFill>
                <a:latin typeface="-apple-system"/>
                <a:ea typeface="-apple-system"/>
                <a:cs typeface="-apple-system"/>
              </a:rPr>
              <a:t>一致性：</a:t>
            </a:r>
            <a:r>
              <a:rPr sz="1125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seed blocks、预算点和 comparator 方向一致</a:t>
            </a:r>
          </a:p>
          <a:p xmlns:a="http://schemas.openxmlformats.org/drawingml/2006/main">
            <a:pPr marL="16" indent="-9">
              <a:spcAft>
                <a:spcPts val="7"/>
              </a:spcAft>
              <a:buChar char="•"/>
              <a:defRPr sz="1125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1125" b="1">
                <a:solidFill>
                  <a:srgbClr val="D64545"/>
                </a:solidFill>
                <a:latin typeface="-apple-system"/>
                <a:ea typeface="-apple-system"/>
                <a:cs typeface="-apple-system"/>
              </a:rPr>
              <a:t>报告格式：</a:t>
            </a:r>
            <a:r>
              <a:rPr sz="1125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effect + 95% CI + q-value + MDE</a:t>
            </a:r>
          </a:p>
        </p:txBody>
      </p:sp>
      <p:sp>
        <p:nvSpPr>
          <p:cNvPr id="36" name="stats-example-0">
            <a:extLst xmlns:a="http://schemas.openxmlformats.org/drawingml/2006/main">
              <a:ext uri="{FF2B5EF4-FFF2-40B4-BE49-F238E27FC236}">
                <a16:creationId xmlns:a16="http://schemas.microsoft.com/office/drawing/2014/main" id="{62DC7788-3243-420D-99F9-9F16BC49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57650"/>
            <a:ext cx="247650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95% CI</a:t>
            </a:r>
          </a:p>
          <a:p xmlns:a="http://schemas.openxmlformats.org/drawingml/2006/main">
            <a:pPr algn="ctr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paired bootstrap</a:t>
            </a:r>
          </a:p>
          <a:p xmlns:a="http://schemas.openxmlformats.org/drawingml/2006/main">
            <a:pPr algn="ctr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Efron &amp; Tibshirani, 1993</a:t>
            </a:r>
          </a:p>
        </p:txBody>
      </p:sp>
      <p:sp>
        <p:nvSpPr>
          <p:cNvPr id="37" name="stats-example-1">
            <a:extLst xmlns:a="http://schemas.openxmlformats.org/drawingml/2006/main">
              <a:ext uri="{FF2B5EF4-FFF2-40B4-BE49-F238E27FC236}">
                <a16:creationId xmlns:a16="http://schemas.microsoft.com/office/drawing/2014/main" id="{6D751D4B-1BC1-48C4-BA66-2801874F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57650"/>
            <a:ext cx="247650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q &lt; 0.05</a:t>
            </a:r>
          </a:p>
          <a:p xmlns:a="http://schemas.openxmlformats.org/drawingml/2006/main">
            <a:pPr algn="ctr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BH-FDR</a:t>
            </a:r>
          </a:p>
          <a:p xmlns:a="http://schemas.openxmlformats.org/drawingml/2006/main">
            <a:pPr algn="ctr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Benjamini &amp; Hochberg, 1995</a:t>
            </a:r>
          </a:p>
        </p:txBody>
      </p:sp>
      <p:sp>
        <p:nvSpPr>
          <p:cNvPr id="38" name="stats-example-2">
            <a:extLst xmlns:a="http://schemas.openxmlformats.org/drawingml/2006/main">
              <a:ext uri="{FF2B5EF4-FFF2-40B4-BE49-F238E27FC236}">
                <a16:creationId xmlns:a16="http://schemas.microsoft.com/office/drawing/2014/main" id="{EBB8F7ED-627F-4BBA-AFF9-A76E7DC2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57650"/>
            <a:ext cx="247650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MDE</a:t>
            </a:r>
          </a:p>
          <a:p xmlns:a="http://schemas.openxmlformats.org/drawingml/2006/main">
            <a:pPr algn="ctr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practical effect</a:t>
            </a:r>
          </a:p>
          <a:p xmlns:a="http://schemas.openxmlformats.org/drawingml/2006/main">
            <a:pPr algn="ctr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Lakens, 2013</a:t>
            </a:r>
          </a:p>
        </p:txBody>
      </p:sp>
    </p:spTree>
    <p:extLst>
      <p:ext uri="{BB962C8B-B14F-4D97-AF65-F5344CB8AC3E}">
        <p14:creationId xmlns:p14="http://schemas.microsoft.com/office/powerpoint/2010/main" val="112075364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1426b68e814e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D91C9427-528F-47F0-AD93-32CF18CF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8001000" cy="1500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CALIBRATION GATE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F110D987-7891-40FF-9835-71774F83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494"/>
            <a:ext cx="7275133" cy="2852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800" b="1">
                <a:solidFill>
                  <a:srgbClr val="111111"/>
                </a:solidFill>
                <a:latin typeface="-apple-system"/>
                <a:ea typeface="-apple-system"/>
                <a:cs typeface="-apple-system"/>
              </a:rPr>
              <a:t>什么时候该迁移？证据够强就用，否则回到 target-only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29A4BCC-63E9-466D-B1DF-F3125F20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364" y="285750"/>
            <a:ext cx="127136" cy="1321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5B6168"/>
                </a:solidFill>
                <a:latin typeface="-apple-system"/>
                <a:ea typeface="-apple-system"/>
                <a:cs typeface="-apple-system"/>
              </a:rPr>
              <a:t>12</a:t>
            </a:r>
          </a:p>
        </p:txBody>
      </p:sp>
      <p:pic>
        <p:nvPicPr>
          <p:cNvPr id="7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221b7d0c8e46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pic>
        <p:nvPicPr>
          <p:cNvPr id="73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c61b06291f45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8" name="Text 3">
            <a:extLst xmlns:a="http://schemas.openxmlformats.org/drawingml/2006/main">
              <a:ext uri="{FF2B5EF4-FFF2-40B4-BE49-F238E27FC236}">
                <a16:creationId xmlns:a16="http://schemas.microsoft.com/office/drawing/2014/main" id="{80491B41-5EE4-45F9-82BA-73A296D1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9" name="Text 4">
            <a:extLst xmlns:a="http://schemas.openxmlformats.org/drawingml/2006/main">
              <a:ext uri="{FF2B5EF4-FFF2-40B4-BE49-F238E27FC236}">
                <a16:creationId xmlns:a16="http://schemas.microsoft.com/office/drawing/2014/main" id="{14075786-AF16-4583-9C93-82D4320E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D1CF2999-8305-4036-ADA5-A33CF96D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6">
            <a:extLst xmlns:a="http://schemas.openxmlformats.org/drawingml/2006/main">
              <a:ext uri="{FF2B5EF4-FFF2-40B4-BE49-F238E27FC236}">
                <a16:creationId xmlns:a16="http://schemas.microsoft.com/office/drawing/2014/main" id="{1CE33483-FFD5-4349-8FE2-5EFBB055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8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cc9cce44fd4b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3" name="Text 7">
            <a:extLst xmlns:a="http://schemas.openxmlformats.org/drawingml/2006/main">
              <a:ext uri="{FF2B5EF4-FFF2-40B4-BE49-F238E27FC236}">
                <a16:creationId xmlns:a16="http://schemas.microsoft.com/office/drawing/2014/main" id="{007A3873-C300-4D8A-8730-E9A6DD4E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4" name="Shape 8">
            <a:extLst xmlns:a="http://schemas.openxmlformats.org/drawingml/2006/main">
              <a:ext uri="{FF2B5EF4-FFF2-40B4-BE49-F238E27FC236}">
                <a16:creationId xmlns:a16="http://schemas.microsoft.com/office/drawing/2014/main" id="{5C87AC45-4A21-48CC-BBAE-B1A013C2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1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de94dcab2e46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6" name="Text 9">
            <a:extLst xmlns:a="http://schemas.openxmlformats.org/drawingml/2006/main">
              <a:ext uri="{FF2B5EF4-FFF2-40B4-BE49-F238E27FC236}">
                <a16:creationId xmlns:a16="http://schemas.microsoft.com/office/drawing/2014/main" id="{9215B3F0-4619-46F3-B645-910AEF10D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7" name="Shape 10">
            <a:extLst xmlns:a="http://schemas.openxmlformats.org/drawingml/2006/main">
              <a:ext uri="{FF2B5EF4-FFF2-40B4-BE49-F238E27FC236}">
                <a16:creationId xmlns:a16="http://schemas.microsoft.com/office/drawing/2014/main" id="{C93B43A0-26A7-43CD-9E87-22A305EA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4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110d62b1834a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9" name="Text 11">
            <a:extLst xmlns:a="http://schemas.openxmlformats.org/drawingml/2006/main">
              <a:ext uri="{FF2B5EF4-FFF2-40B4-BE49-F238E27FC236}">
                <a16:creationId xmlns:a16="http://schemas.microsoft.com/office/drawing/2014/main" id="{9EB62C6A-9987-423C-A913-16001795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0" name="Shape 12">
            <a:extLst xmlns:a="http://schemas.openxmlformats.org/drawingml/2006/main">
              <a:ext uri="{FF2B5EF4-FFF2-40B4-BE49-F238E27FC236}">
                <a16:creationId xmlns:a16="http://schemas.microsoft.com/office/drawing/2014/main" id="{7902E673-31E7-408C-ACC8-32F6A794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7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de94dcab2e46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22" name="Text 13">
            <a:extLst xmlns:a="http://schemas.openxmlformats.org/drawingml/2006/main">
              <a:ext uri="{FF2B5EF4-FFF2-40B4-BE49-F238E27FC236}">
                <a16:creationId xmlns:a16="http://schemas.microsoft.com/office/drawing/2014/main" id="{2D773A90-655B-4F0D-B90E-94B71C75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3" name="Shape 14">
            <a:extLst xmlns:a="http://schemas.openxmlformats.org/drawingml/2006/main">
              <a:ext uri="{FF2B5EF4-FFF2-40B4-BE49-F238E27FC236}">
                <a16:creationId xmlns:a16="http://schemas.microsoft.com/office/drawing/2014/main" id="{15A03FB4-3DA8-45D8-8B65-6F4138FC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0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110d62b1834a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25" name="Text 15">
            <a:extLst xmlns:a="http://schemas.openxmlformats.org/drawingml/2006/main">
              <a:ext uri="{FF2B5EF4-FFF2-40B4-BE49-F238E27FC236}">
                <a16:creationId xmlns:a16="http://schemas.microsoft.com/office/drawing/2014/main" id="{EB6A484C-740F-41EA-ACC3-09E8CF0D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6" name="Shape 16">
            <a:extLst xmlns:a="http://schemas.openxmlformats.org/drawingml/2006/main">
              <a:ext uri="{FF2B5EF4-FFF2-40B4-BE49-F238E27FC236}">
                <a16:creationId xmlns:a16="http://schemas.microsoft.com/office/drawing/2014/main" id="{C038DD82-A225-46E9-8715-75EAAAD8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3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de94dcab2e46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28" name="Text 17">
            <a:extLst xmlns:a="http://schemas.openxmlformats.org/drawingml/2006/main">
              <a:ext uri="{FF2B5EF4-FFF2-40B4-BE49-F238E27FC236}">
                <a16:creationId xmlns:a16="http://schemas.microsoft.com/office/drawing/2014/main" id="{0C53CEA0-D1A1-4CC1-9B44-3E97DC9E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9" name="Shape 18">
            <a:extLst xmlns:a="http://schemas.openxmlformats.org/drawingml/2006/main">
              <a:ext uri="{FF2B5EF4-FFF2-40B4-BE49-F238E27FC236}">
                <a16:creationId xmlns:a16="http://schemas.microsoft.com/office/drawing/2014/main" id="{2E6DD216-90A1-4192-A7F1-4EA327E3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6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110d62b1834a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31" name="Text 19">
            <a:extLst xmlns:a="http://schemas.openxmlformats.org/drawingml/2006/main">
              <a:ext uri="{FF2B5EF4-FFF2-40B4-BE49-F238E27FC236}">
                <a16:creationId xmlns:a16="http://schemas.microsoft.com/office/drawing/2014/main" id="{C4283D29-4D2A-4BA2-846C-BDE2036B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32" name="Text 20">
            <a:extLst xmlns:a="http://schemas.openxmlformats.org/drawingml/2006/main">
              <a:ext uri="{FF2B5EF4-FFF2-40B4-BE49-F238E27FC236}">
                <a16:creationId xmlns:a16="http://schemas.microsoft.com/office/drawing/2014/main" id="{1229E245-BB99-4280-BA18-BD319D36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43" name="gate-protocol">
            <a:extLst xmlns:a="http://schemas.openxmlformats.org/drawingml/2006/main">
              <a:ext uri="{FF2B5EF4-FFF2-40B4-BE49-F238E27FC236}">
                <a16:creationId xmlns:a16="http://schemas.microsoft.com/office/drawing/2014/main" id="{681504AC-DE91-4E80-9E81-520C888E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80010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9FC2E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50 calibration seeds：比较 transfer 与两类 matched anchor → 固定路由 → 100 个不重叠 held-out seeds：只评估冻结策略</a:t>
            </a:r>
          </a:p>
        </p:txBody>
      </p:sp>
      <p:sp>
        <p:nvSpPr>
          <p:cNvPr id="44" name="gate-criteria-title">
            <a:extLst xmlns:a="http://schemas.openxmlformats.org/drawingml/2006/main">
              <a:ext uri="{FF2B5EF4-FFF2-40B4-BE49-F238E27FC236}">
                <a16:creationId xmlns:a16="http://schemas.microsoft.com/office/drawing/2014/main" id="{F3B23FCF-38DC-423A-AC7E-A5C7E37B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464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defRPr>
            </a:pPr>
            <a:r>
              <a:rPr sz="1163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当前规则：六项全部通过才 Transfer；任一项失败就 Freeze 并精确回退</a:t>
            </a:r>
          </a:p>
        </p:txBody>
      </p:sp>
      <p:sp>
        <p:nvSpPr>
          <p:cNvPr id="45" name="gate-criterion-0">
            <a:extLst xmlns:a="http://schemas.openxmlformats.org/drawingml/2006/main">
              <a:ext uri="{FF2B5EF4-FFF2-40B4-BE49-F238E27FC236}">
                <a16:creationId xmlns:a16="http://schemas.microsoft.com/office/drawing/2014/main" id="{791DCDA0-788B-43A4-93AE-E5C3D6FD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0"/>
            <a:ext cx="219075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8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8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final mean ≥ 0 · 终点不亏</a:t>
            </a:r>
          </a:p>
        </p:txBody>
      </p:sp>
      <p:sp>
        <p:nvSpPr>
          <p:cNvPr id="46" name="gate-criterion-1">
            <a:extLst xmlns:a="http://schemas.openxmlformats.org/drawingml/2006/main">
              <a:ext uri="{FF2B5EF4-FFF2-40B4-BE49-F238E27FC236}">
                <a16:creationId xmlns:a16="http://schemas.microsoft.com/office/drawing/2014/main" id="{706289A8-C8E7-4D5B-87D9-7D544E67B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86000"/>
            <a:ext cx="219075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8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8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AUC mean ≥ 0 · 全程不亏</a:t>
            </a:r>
          </a:p>
        </p:txBody>
      </p:sp>
      <p:sp>
        <p:nvSpPr>
          <p:cNvPr id="47" name="gate-criterion-2">
            <a:extLst xmlns:a="http://schemas.openxmlformats.org/drawingml/2006/main">
              <a:ext uri="{FF2B5EF4-FFF2-40B4-BE49-F238E27FC236}">
                <a16:creationId xmlns:a16="http://schemas.microsoft.com/office/drawing/2014/main" id="{25A90865-42E1-421F-B36F-C168483B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00350"/>
            <a:ext cx="219075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8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8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non-loss ≥ 0.60 · ≥60% seeds 不亏</a:t>
            </a:r>
          </a:p>
        </p:txBody>
      </p:sp>
      <p:sp>
        <p:nvSpPr>
          <p:cNvPr id="48" name="gate-criterion-3">
            <a:extLst xmlns:a="http://schemas.openxmlformats.org/drawingml/2006/main">
              <a:ext uri="{FF2B5EF4-FFF2-40B4-BE49-F238E27FC236}">
                <a16:creationId xmlns:a16="http://schemas.microsoft.com/office/drawing/2014/main" id="{D74A92EA-1BD6-4A10-BFE6-6B43478B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00350"/>
            <a:ext cx="219075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8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8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5-fold ≥ 0.80 · ≥4/5 blocks 为正</a:t>
            </a:r>
          </a:p>
        </p:txBody>
      </p:sp>
      <p:sp>
        <p:nvSpPr>
          <p:cNvPr id="49" name="gate-criterion-4">
            <a:extLst xmlns:a="http://schemas.openxmlformats.org/drawingml/2006/main">
              <a:ext uri="{FF2B5EF4-FFF2-40B4-BE49-F238E27FC236}">
                <a16:creationId xmlns:a16="http://schemas.microsoft.com/office/drawing/2014/main" id="{11C52446-3400-49D1-8204-737B4E89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14700"/>
            <a:ext cx="219075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8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8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composite − SE ≥ 0.25 · 风险缓冲</a:t>
            </a:r>
          </a:p>
        </p:txBody>
      </p:sp>
      <p:sp>
        <p:nvSpPr>
          <p:cNvPr id="50" name="gate-criterion-5">
            <a:extLst xmlns:a="http://schemas.openxmlformats.org/drawingml/2006/main">
              <a:ext uri="{FF2B5EF4-FFF2-40B4-BE49-F238E27FC236}">
                <a16:creationId xmlns:a16="http://schemas.microsoft.com/office/drawing/2014/main" id="{B0F7A4A7-82DA-4DDC-935C-FF8EF9C4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14700"/>
            <a:ext cx="219075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8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8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CI low ≥ 0 · 下界不为负</a:t>
            </a:r>
          </a:p>
        </p:txBody>
      </p:sp>
      <p:sp>
        <p:nvSpPr>
          <p:cNvPr id="51" name="gate-provenance-title">
            <a:extLst xmlns:a="http://schemas.openxmlformats.org/drawingml/2006/main">
              <a:ext uri="{FF2B5EF4-FFF2-40B4-BE49-F238E27FC236}">
                <a16:creationId xmlns:a16="http://schemas.microsoft.com/office/drawing/2014/main" id="{7BEBBAA3-092A-4EE5-BFC9-DF4553F4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526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defRPr>
            </a:pPr>
            <a:r>
              <a:rPr sz="1163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每个参数来自哪里</a:t>
            </a:r>
          </a:p>
        </p:txBody>
      </p:sp>
      <p:sp>
        <p:nvSpPr>
          <p:cNvPr id="52" name="gate-literature">
            <a:extLst xmlns:a="http://schemas.openxmlformats.org/drawingml/2006/main">
              <a:ext uri="{FF2B5EF4-FFF2-40B4-BE49-F238E27FC236}">
                <a16:creationId xmlns:a16="http://schemas.microsoft.com/office/drawing/2014/main" id="{6DB3DEEF-CFE8-4AD5-AB34-72E8D11FB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86000"/>
            <a:ext cx="295275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9525">
            <a:solidFill>
              <a:srgbClr val="19875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EVALUATION CONVENTION</a:t>
            </a:r>
          </a:p>
          <a:p xmlns:a="http://schemas.openxmlformats.org/drawingml/2006/main">
            <a:pPr algn="l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paired comparison · uncertainty interval · matched BO / LLM anchor</a:t>
            </a:r>
          </a:p>
        </p:txBody>
      </p:sp>
      <p:sp>
        <p:nvSpPr>
          <p:cNvPr id="53" name="gate-calibrated">
            <a:extLst xmlns:a="http://schemas.openxmlformats.org/drawingml/2006/main">
              <a:ext uri="{FF2B5EF4-FFF2-40B4-BE49-F238E27FC236}">
                <a16:creationId xmlns:a16="http://schemas.microsoft.com/office/drawing/2014/main" id="{C7168FBB-FAC9-40FA-A4EC-01116821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09900"/>
            <a:ext cx="295275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CALIBRATED DEFAULTS</a:t>
            </a:r>
          </a:p>
          <a:p xmlns:a="http://schemas.openxmlformats.org/drawingml/2006/main">
            <a:pPr algn="l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0.60 / 0.80 / 0.25：在 calibration replay 中固定；不宣称是文献阈值</a:t>
            </a:r>
          </a:p>
        </p:txBody>
      </p:sp>
      <p:sp>
        <p:nvSpPr>
          <p:cNvPr id="54" name="gate-heuristic">
            <a:extLst xmlns:a="http://schemas.openxmlformats.org/drawingml/2006/main">
              <a:ext uri="{FF2B5EF4-FFF2-40B4-BE49-F238E27FC236}">
                <a16:creationId xmlns:a16="http://schemas.microsoft.com/office/drawing/2014/main" id="{D8F87C90-D771-439C-9A6F-A7FB1E68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33800"/>
            <a:ext cx="295275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CECEC"/>
          </a:solidFill>
          <a:ln xmlns:a="http://schemas.openxmlformats.org/drawingml/2006/main" w="9525">
            <a:solidFill>
              <a:srgbClr val="D64545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SENSITIVITY REQUIRED</a:t>
            </a:r>
          </a:p>
          <a:p xmlns:a="http://schemas.openxmlformats.org/drawingml/2006/main">
            <a:pPr algn="l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final + AUC weights · 5 blocks · composite form；下一轮做 grid / bootstrap sweep</a:t>
            </a:r>
          </a:p>
        </p:txBody>
      </p:sp>
      <p:sp>
        <p:nvSpPr>
          <p:cNvPr id="55" name="gate-transfer">
            <a:extLst xmlns:a="http://schemas.openxmlformats.org/drawingml/2006/main">
              <a:ext uri="{FF2B5EF4-FFF2-40B4-BE49-F238E27FC236}">
                <a16:creationId xmlns:a16="http://schemas.microsoft.com/office/drawing/2014/main" id="{0B549344-EF59-48A4-976C-3CFEC814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43375"/>
            <a:ext cx="17145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0">
            <a:solidFill>
              <a:srgbClr val="E7F5EE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90611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defRPr>
            </a:pPr>
            <a:r>
              <a:rPr sz="825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rPr>
              <a:t>TRANSFER · 六项全过</a:t>
            </a:r>
          </a:p>
        </p:txBody>
      </p:sp>
      <p:sp>
        <p:nvSpPr>
          <p:cNvPr id="56" name="gate-freeze">
            <a:extLst xmlns:a="http://schemas.openxmlformats.org/drawingml/2006/main">
              <a:ext uri="{FF2B5EF4-FFF2-40B4-BE49-F238E27FC236}">
                <a16:creationId xmlns:a16="http://schemas.microsoft.com/office/drawing/2014/main" id="{26EFCB50-E6C7-4954-A5A4-C8A06A95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143375"/>
            <a:ext cx="223837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CEC"/>
          </a:solidFill>
          <a:ln xmlns:a="http://schemas.openxmlformats.org/drawingml/2006/main" w="0">
            <a:solidFill>
              <a:srgbClr val="FCECEC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90611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D64545"/>
                </a:solidFill>
                <a:latin typeface="-apple-system"/>
                <a:ea typeface="-apple-system"/>
                <a:cs typeface="-apple-system"/>
              </a:defRPr>
            </a:pPr>
            <a:r>
              <a:rPr sz="825" b="1">
                <a:solidFill>
                  <a:srgbClr val="D64545"/>
                </a:solidFill>
                <a:latin typeface="-apple-system"/>
                <a:ea typeface="-apple-system"/>
                <a:cs typeface="-apple-system"/>
              </a:rPr>
              <a:t>FREEZE · exact target-only fallback</a:t>
            </a:r>
          </a:p>
        </p:txBody>
      </p:sp>
      <p:sp>
        <p:nvSpPr>
          <p:cNvPr id="57" name="gate-hold-note">
            <a:extLst xmlns:a="http://schemas.openxmlformats.org/drawingml/2006/main">
              <a:ext uri="{FF2B5EF4-FFF2-40B4-BE49-F238E27FC236}">
                <a16:creationId xmlns:a16="http://schemas.microsoft.com/office/drawing/2014/main" id="{8A96D726-BB51-497E-B2D2-03C71985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43425"/>
            <a:ext cx="433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D6874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0">
                <a:solidFill>
                  <a:srgbClr val="5D6874"/>
                </a:solidFill>
                <a:latin typeface="-apple-system"/>
                <a:ea typeface="-apple-system"/>
                <a:cs typeface="-apple-system"/>
              </a:rPr>
              <a:t>Hold 是下一版本候选的第三种状态；当前版本没有 Hold。</a:t>
            </a:r>
          </a:p>
        </p:txBody>
      </p:sp>
    </p:spTree>
    <p:extLst>
      <p:ext uri="{BB962C8B-B14F-4D97-AF65-F5344CB8AC3E}">
        <p14:creationId xmlns:p14="http://schemas.microsoft.com/office/powerpoint/2010/main" val="14449087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e7bd1e779840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211254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0FD00398-CD2B-4A15-B5E8-0C2C9F24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8001000" cy="1500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CONTRIBUTION VERIFICATION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EFC33098-45E1-460B-80CF-EF8688CC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494"/>
            <a:ext cx="8001000" cy="3343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800" b="1">
                <a:solidFill>
                  <a:srgbClr val="111111"/>
                </a:solidFill>
                <a:latin typeface="-apple-system"/>
                <a:ea typeface="-apple-system"/>
                <a:cs typeface="-apple-system"/>
              </a:rPr>
              <a:t>完整系统：4/7 超过 matched LLM，3/7 精确回退；7/7 超过 strongest BO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F7DBC18-F29E-41B6-B05F-759D2E10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364" y="285750"/>
            <a:ext cx="127136" cy="1321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5B6168"/>
                </a:solidFill>
                <a:latin typeface="-apple-system"/>
                <a:ea typeface="-apple-system"/>
                <a:cs typeface="-apple-system"/>
              </a:rPr>
              <a:t>13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E7E21E1E-2E61-4837-8952-2A30E70A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B3D1F7CC-E245-42EF-9A43-FEFC72983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062688f55f4f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168D176B-5139-4DAD-8A0B-A4E4C2F5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2BFB57E9-3554-4CA3-8305-320690C9F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18B03D37-5734-4AD4-940A-4C5183D0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919D1750-29FF-4CAB-AD71-04ECB839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585C4B26-A0F3-425E-8422-936B5C74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EFFC192F-CA5E-4DFC-B16E-BD39E01C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5E588DBA-BA89-41D0-B2ED-BA91A633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8DA34166-AD9A-4DB8-96F8-19930F00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102108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pic>
        <p:nvPicPr>
          <p:cNvPr id="9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b94ba04e1542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19AB59FA-7932-483F-84A1-18BBD23E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</a:p>
        </p:txBody>
      </p:sp>
      <p:sp>
        <p:nvSpPr>
          <p:cNvPr id="19" name="Text 14">
            <a:extLst xmlns:a="http://schemas.openxmlformats.org/drawingml/2006/main">
              <a:ext uri="{FF2B5EF4-FFF2-40B4-BE49-F238E27FC236}">
                <a16:creationId xmlns:a16="http://schemas.microsoft.com/office/drawing/2014/main" id="{61CBC67A-6486-4069-A7FE-5F5DC865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</a:p>
        </p:txBody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26D00C74-2B8B-495D-A091-E36B0ECF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</a:p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B7D73C97-F8E2-49C1-A867-E89AB7BA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</a:p>
        </p:txBody>
      </p:sp>
      <p:pic>
        <p:nvPicPr>
          <p:cNvPr id="10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b94ba04e1542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486DC5AA-DFA5-4BBF-B756-A5E07C23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</a:p>
        </p:txBody>
      </p:sp>
      <p:pic>
        <p:nvPicPr>
          <p:cNvPr id="104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b94ba04e1542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25" name="Text 18">
            <a:extLst xmlns:a="http://schemas.openxmlformats.org/drawingml/2006/main">
              <a:ext uri="{FF2B5EF4-FFF2-40B4-BE49-F238E27FC236}">
                <a16:creationId xmlns:a16="http://schemas.microsoft.com/office/drawing/2014/main" id="{A55FF586-E2FF-4CC0-9D78-96FCAC52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</a:p>
        </p:txBody>
      </p:sp>
      <p:sp>
        <p:nvSpPr>
          <p:cNvPr id="26" name="Text 19">
            <a:extLst xmlns:a="http://schemas.openxmlformats.org/drawingml/2006/main">
              <a:ext uri="{FF2B5EF4-FFF2-40B4-BE49-F238E27FC236}">
                <a16:creationId xmlns:a16="http://schemas.microsoft.com/office/drawing/2014/main" id="{124C1D9A-0901-422C-909E-C3452C2C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</a:p>
        </p:txBody>
      </p:sp>
      <p:sp>
        <p:nvSpPr>
          <p:cNvPr id="27" name="Text 20">
            <a:extLst xmlns:a="http://schemas.openxmlformats.org/drawingml/2006/main">
              <a:ext uri="{FF2B5EF4-FFF2-40B4-BE49-F238E27FC236}">
                <a16:creationId xmlns:a16="http://schemas.microsoft.com/office/drawing/2014/main" id="{5D7CC099-38F3-42DA-91BC-03D71116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77475182-B5ED-4D25-8E83-02BED491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</a:p>
        </p:txBody>
      </p:sp>
      <p:sp>
        <p:nvSpPr>
          <p:cNvPr id="29" name="Text 22">
            <a:extLst xmlns:a="http://schemas.openxmlformats.org/drawingml/2006/main">
              <a:ext uri="{FF2B5EF4-FFF2-40B4-BE49-F238E27FC236}">
                <a16:creationId xmlns:a16="http://schemas.microsoft.com/office/drawing/2014/main" id="{6CBC5338-8935-4965-8D1A-094AA4C22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</a:p>
        </p:txBody>
      </p:sp>
      <p:sp>
        <p:nvSpPr>
          <p:cNvPr id="30" name="Text 23">
            <a:extLst xmlns:a="http://schemas.openxmlformats.org/drawingml/2006/main">
              <a:ext uri="{FF2B5EF4-FFF2-40B4-BE49-F238E27FC236}">
                <a16:creationId xmlns:a16="http://schemas.microsoft.com/office/drawing/2014/main" id="{07FAF166-E268-408A-AA67-24F877A62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</a:p>
        </p:txBody>
      </p:sp>
      <p:sp>
        <p:nvSpPr>
          <p:cNvPr id="31" name="Text 24">
            <a:extLst xmlns:a="http://schemas.openxmlformats.org/drawingml/2006/main">
              <a:ext uri="{FF2B5EF4-FFF2-40B4-BE49-F238E27FC236}">
                <a16:creationId xmlns:a16="http://schemas.microsoft.com/office/drawing/2014/main" id="{2BB25614-CCB1-4D83-8DFE-F0B1C984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102108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pic>
        <p:nvPicPr>
          <p:cNvPr id="112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b94ba04e1542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33" name="Text 25">
            <a:extLst xmlns:a="http://schemas.openxmlformats.org/drawingml/2006/main">
              <a:ext uri="{FF2B5EF4-FFF2-40B4-BE49-F238E27FC236}">
                <a16:creationId xmlns:a16="http://schemas.microsoft.com/office/drawing/2014/main" id="{C1CFA854-4258-440D-8A05-B633CFFC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</a:p>
        </p:txBody>
      </p:sp>
      <p:pic>
        <p:nvPicPr>
          <p:cNvPr id="114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58f204d9604c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35" name="Text 26">
            <a:extLst xmlns:a="http://schemas.openxmlformats.org/drawingml/2006/main">
              <a:ext uri="{FF2B5EF4-FFF2-40B4-BE49-F238E27FC236}">
                <a16:creationId xmlns:a16="http://schemas.microsoft.com/office/drawing/2014/main" id="{110B7CB6-A313-4AEC-99B4-67C861CD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</a:p>
        </p:txBody>
      </p:sp>
      <p:sp>
        <p:nvSpPr>
          <p:cNvPr id="36" name="Shape 27">
            <a:extLst xmlns:a="http://schemas.openxmlformats.org/drawingml/2006/main">
              <a:ext uri="{FF2B5EF4-FFF2-40B4-BE49-F238E27FC236}">
                <a16:creationId xmlns:a16="http://schemas.microsoft.com/office/drawing/2014/main" id="{BE04450F-B172-4ADC-9708-839D35A5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28">
            <a:extLst xmlns:a="http://schemas.openxmlformats.org/drawingml/2006/main">
              <a:ext uri="{FF2B5EF4-FFF2-40B4-BE49-F238E27FC236}">
                <a16:creationId xmlns:a16="http://schemas.microsoft.com/office/drawing/2014/main" id="{F8EBF98A-BA59-4F86-BAD0-E65ADAC4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02108" tIns="68072" rIns="102108" bIns="68072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38" name="Text 29">
            <a:extLst xmlns:a="http://schemas.openxmlformats.org/drawingml/2006/main">
              <a:ext uri="{FF2B5EF4-FFF2-40B4-BE49-F238E27FC236}">
                <a16:creationId xmlns:a16="http://schemas.microsoft.com/office/drawing/2014/main" id="{11A183FE-4129-46A6-81B1-7900BC2A5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46" name="abl-head-0">
            <a:extLst xmlns:a="http://schemas.openxmlformats.org/drawingml/2006/main">
              <a:ext uri="{FF2B5EF4-FFF2-40B4-BE49-F238E27FC236}">
                <a16:creationId xmlns:a16="http://schemas.microsoft.com/office/drawing/2014/main" id="{40C07BA2-0929-4753-80B4-63B3B89C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85875"/>
            <a:ext cx="1571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FFFFFF"/>
                </a:solidFill>
                <a:latin typeface="-apple-system"/>
                <a:ea typeface="-apple-system"/>
                <a:cs typeface="-apple-system"/>
              </a:defRPr>
            </a:pPr>
            <a:r>
              <a:rPr sz="810" b="1">
                <a:solidFill>
                  <a:srgbClr val="FFFFFF"/>
                </a:solidFill>
                <a:latin typeface="-apple-system"/>
                <a:ea typeface="-apple-system"/>
                <a:cs typeface="-apple-system"/>
              </a:rPr>
              <a:t>METHOD</a:t>
            </a:r>
          </a:p>
        </p:txBody>
      </p:sp>
      <p:sp>
        <p:nvSpPr>
          <p:cNvPr id="47" name="abl-head-1">
            <a:extLst xmlns:a="http://schemas.openxmlformats.org/drawingml/2006/main">
              <a:ext uri="{FF2B5EF4-FFF2-40B4-BE49-F238E27FC236}">
                <a16:creationId xmlns:a16="http://schemas.microsoft.com/office/drawing/2014/main" id="{C5646A11-C93C-4F9F-A52D-677A0A6C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285875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FFFFFF"/>
                </a:solidFill>
                <a:latin typeface="-apple-system"/>
                <a:ea typeface="-apple-system"/>
                <a:cs typeface="-apple-system"/>
              </a:defRPr>
            </a:pPr>
            <a:r>
              <a:rPr sz="810" b="1">
                <a:solidFill>
                  <a:srgbClr val="FFFFFF"/>
                </a:solidFill>
                <a:latin typeface="-apple-system"/>
                <a:ea typeface="-apple-system"/>
                <a:cs typeface="-apple-system"/>
              </a:rPr>
              <a:t>COMPARATOR / ABLATION</a:t>
            </a:r>
          </a:p>
        </p:txBody>
      </p:sp>
      <p:sp>
        <p:nvSpPr>
          <p:cNvPr id="48" name="abl-head-2">
            <a:extLst xmlns:a="http://schemas.openxmlformats.org/drawingml/2006/main">
              <a:ext uri="{FF2B5EF4-FFF2-40B4-BE49-F238E27FC236}">
                <a16:creationId xmlns:a16="http://schemas.microsoft.com/office/drawing/2014/main" id="{B2ABE88B-731C-4684-A64A-7FDE0BE7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285875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FFFFFF"/>
                </a:solidFill>
                <a:latin typeface="-apple-system"/>
                <a:ea typeface="-apple-system"/>
                <a:cs typeface="-apple-system"/>
              </a:defRPr>
            </a:pPr>
            <a:r>
              <a:rPr sz="810" b="1">
                <a:solidFill>
                  <a:srgbClr val="FFFFFF"/>
                </a:solidFill>
                <a:latin typeface="-apple-system"/>
                <a:ea typeface="-apple-system"/>
                <a:cs typeface="-apple-system"/>
              </a:rPr>
              <a:t>WHAT IT PROVES</a:t>
            </a:r>
          </a:p>
        </p:txBody>
      </p:sp>
      <p:sp>
        <p:nvSpPr>
          <p:cNvPr id="49" name="abl-head-3">
            <a:extLst xmlns:a="http://schemas.openxmlformats.org/drawingml/2006/main">
              <a:ext uri="{FF2B5EF4-FFF2-40B4-BE49-F238E27FC236}">
                <a16:creationId xmlns:a16="http://schemas.microsoft.com/office/drawing/2014/main" id="{EBD526F0-C44D-4943-8E79-87E863F0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285875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FFFFFF"/>
                </a:solidFill>
                <a:latin typeface="-apple-system"/>
                <a:ea typeface="-apple-system"/>
                <a:cs typeface="-apple-system"/>
              </a:defRPr>
            </a:pPr>
            <a:r>
              <a:rPr sz="810" b="1">
                <a:solidFill>
                  <a:srgbClr val="FFFFFF"/>
                </a:solidFill>
                <a:latin typeface="-apple-system"/>
                <a:ea typeface="-apple-system"/>
                <a:cs typeface="-apple-system"/>
              </a:rPr>
              <a:t>STATUS</a:t>
            </a:r>
          </a:p>
        </p:txBody>
      </p:sp>
      <p:sp>
        <p:nvSpPr>
          <p:cNvPr id="50" name="abl-0-0">
            <a:extLst xmlns:a="http://schemas.openxmlformats.org/drawingml/2006/main">
              <a:ext uri="{FF2B5EF4-FFF2-40B4-BE49-F238E27FC236}">
                <a16:creationId xmlns:a16="http://schemas.microsoft.com/office/drawing/2014/main" id="{04DF7076-9C76-44CC-8428-EFAEB561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47825"/>
            <a:ext cx="1571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Target-only LLM</a:t>
            </a:r>
          </a:p>
        </p:txBody>
      </p:sp>
      <p:sp>
        <p:nvSpPr>
          <p:cNvPr id="51" name="abl-0-1">
            <a:extLst xmlns:a="http://schemas.openxmlformats.org/drawingml/2006/main">
              <a:ext uri="{FF2B5EF4-FFF2-40B4-BE49-F238E27FC236}">
                <a16:creationId xmlns:a16="http://schemas.microsoft.com/office/drawing/2014/main" id="{36A14EEC-D3A4-4749-9A34-0527666B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47825"/>
            <a:ext cx="2476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same target budget + seeds</a:t>
            </a:r>
          </a:p>
        </p:txBody>
      </p:sp>
      <p:sp>
        <p:nvSpPr>
          <p:cNvPr id="52" name="abl-0-2">
            <a:extLst xmlns:a="http://schemas.openxmlformats.org/drawingml/2006/main">
              <a:ext uri="{FF2B5EF4-FFF2-40B4-BE49-F238E27FC236}">
                <a16:creationId xmlns:a16="http://schemas.microsoft.com/office/drawing/2014/main" id="{DC58B711-0384-417B-9065-8CE2B526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647825"/>
            <a:ext cx="2476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隔离 source-outcome 净增益</a:t>
            </a:r>
          </a:p>
        </p:txBody>
      </p:sp>
      <p:sp>
        <p:nvSpPr>
          <p:cNvPr id="53" name="abl-0-3">
            <a:extLst xmlns:a="http://schemas.openxmlformats.org/drawingml/2006/main">
              <a:ext uri="{FF2B5EF4-FFF2-40B4-BE49-F238E27FC236}">
                <a16:creationId xmlns:a16="http://schemas.microsoft.com/office/drawing/2014/main" id="{D9CBB120-2A72-4D62-81CD-47E03A94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647825"/>
            <a:ext cx="1143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EE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rPr>
              <a:t>4/7 ↑ · 3/7 =</a:t>
            </a:r>
          </a:p>
        </p:txBody>
      </p:sp>
      <p:sp>
        <p:nvSpPr>
          <p:cNvPr id="54" name="abl-1-0">
            <a:extLst xmlns:a="http://schemas.openxmlformats.org/drawingml/2006/main">
              <a:ext uri="{FF2B5EF4-FFF2-40B4-BE49-F238E27FC236}">
                <a16:creationId xmlns:a16="http://schemas.microsoft.com/office/drawing/2014/main" id="{2999CAB3-88B1-44D0-A4EC-FE07CB5E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1571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Strongest target BO</a:t>
            </a:r>
          </a:p>
        </p:txBody>
      </p:sp>
      <p:sp>
        <p:nvSpPr>
          <p:cNvPr id="55" name="abl-1-1">
            <a:extLst xmlns:a="http://schemas.openxmlformats.org/drawingml/2006/main">
              <a:ext uri="{FF2B5EF4-FFF2-40B4-BE49-F238E27FC236}">
                <a16:creationId xmlns:a16="http://schemas.microsoft.com/office/drawing/2014/main" id="{F84FBF44-58F9-46FB-8053-045395BB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76450"/>
            <a:ext cx="2476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GP-UCB / GP-EI / portfolio</a:t>
            </a:r>
          </a:p>
        </p:txBody>
      </p:sp>
      <p:sp>
        <p:nvSpPr>
          <p:cNvPr id="56" name="abl-1-2">
            <a:extLst xmlns:a="http://schemas.openxmlformats.org/drawingml/2006/main">
              <a:ext uri="{FF2B5EF4-FFF2-40B4-BE49-F238E27FC236}">
                <a16:creationId xmlns:a16="http://schemas.microsoft.com/office/drawing/2014/main" id="{A5375C0E-6905-46F6-A97E-DFA04EF4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76450"/>
            <a:ext cx="2476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检验完整系统是否胜过强 BO</a:t>
            </a:r>
          </a:p>
        </p:txBody>
      </p:sp>
      <p:sp>
        <p:nvSpPr>
          <p:cNvPr id="57" name="abl-1-3">
            <a:extLst xmlns:a="http://schemas.openxmlformats.org/drawingml/2006/main">
              <a:ext uri="{FF2B5EF4-FFF2-40B4-BE49-F238E27FC236}">
                <a16:creationId xmlns:a16="http://schemas.microsoft.com/office/drawing/2014/main" id="{5B05AC95-FC1F-4088-A0B0-78580340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076450"/>
            <a:ext cx="1143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B7791F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1">
                <a:solidFill>
                  <a:srgbClr val="B7791F"/>
                </a:solidFill>
                <a:latin typeface="-apple-system"/>
                <a:ea typeface="-apple-system"/>
                <a:cs typeface="-apple-system"/>
              </a:rPr>
              <a:t>7/7 ↑</a:t>
            </a:r>
          </a:p>
        </p:txBody>
      </p:sp>
      <p:sp>
        <p:nvSpPr>
          <p:cNvPr id="58" name="abl-2-0">
            <a:extLst xmlns:a="http://schemas.openxmlformats.org/drawingml/2006/main">
              <a:ext uri="{FF2B5EF4-FFF2-40B4-BE49-F238E27FC236}">
                <a16:creationId xmlns:a16="http://schemas.microsoft.com/office/drawing/2014/main" id="{47CB666F-2889-4148-9CDA-4F4A14D5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05075"/>
            <a:ext cx="1571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Raw transfer / no Gate</a:t>
            </a:r>
          </a:p>
        </p:txBody>
      </p:sp>
      <p:sp>
        <p:nvSpPr>
          <p:cNvPr id="59" name="abl-2-1">
            <a:extLst xmlns:a="http://schemas.openxmlformats.org/drawingml/2006/main">
              <a:ext uri="{FF2B5EF4-FFF2-40B4-BE49-F238E27FC236}">
                <a16:creationId xmlns:a16="http://schemas.microsoft.com/office/drawing/2014/main" id="{69576DAE-8512-4538-B3D7-269CBCD3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505075"/>
            <a:ext cx="2476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always deploy source route</a:t>
            </a:r>
          </a:p>
        </p:txBody>
      </p:sp>
      <p:sp>
        <p:nvSpPr>
          <p:cNvPr id="60" name="abl-2-2">
            <a:extLst xmlns:a="http://schemas.openxmlformats.org/drawingml/2006/main">
              <a:ext uri="{FF2B5EF4-FFF2-40B4-BE49-F238E27FC236}">
                <a16:creationId xmlns:a16="http://schemas.microsoft.com/office/drawing/2014/main" id="{BA379741-6F6B-4EC9-9583-FB623974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05075"/>
            <a:ext cx="2476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量化 Gate 的负迁移保护</a:t>
            </a:r>
          </a:p>
        </p:txBody>
      </p:sp>
      <p:sp>
        <p:nvSpPr>
          <p:cNvPr id="61" name="abl-2-3">
            <a:extLst xmlns:a="http://schemas.openxmlformats.org/drawingml/2006/main">
              <a:ext uri="{FF2B5EF4-FFF2-40B4-BE49-F238E27FC236}">
                <a16:creationId xmlns:a16="http://schemas.microsoft.com/office/drawing/2014/main" id="{9E821850-D039-491F-BD21-1DE807A5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505075"/>
            <a:ext cx="1143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B7791F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1">
                <a:solidFill>
                  <a:srgbClr val="B7791F"/>
                </a:solidFill>
                <a:latin typeface="-apple-system"/>
                <a:ea typeface="-apple-system"/>
                <a:cs typeface="-apple-system"/>
              </a:rPr>
              <a:t>2 NEG · 1 UNC.</a:t>
            </a:r>
          </a:p>
        </p:txBody>
      </p:sp>
      <p:sp>
        <p:nvSpPr>
          <p:cNvPr id="62" name="abl-3-0">
            <a:extLst xmlns:a="http://schemas.openxmlformats.org/drawingml/2006/main">
              <a:ext uri="{FF2B5EF4-FFF2-40B4-BE49-F238E27FC236}">
                <a16:creationId xmlns:a16="http://schemas.microsoft.com/office/drawing/2014/main" id="{4E23E829-DB73-4E42-9147-A102A39A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33700"/>
            <a:ext cx="1571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Random-transfer</a:t>
            </a:r>
          </a:p>
        </p:txBody>
      </p:sp>
      <p:sp>
        <p:nvSpPr>
          <p:cNvPr id="63" name="abl-3-1">
            <a:extLst xmlns:a="http://schemas.openxmlformats.org/drawingml/2006/main">
              <a:ext uri="{FF2B5EF4-FFF2-40B4-BE49-F238E27FC236}">
                <a16:creationId xmlns:a16="http://schemas.microsoft.com/office/drawing/2014/main" id="{738A0BF8-A96E-47E9-B07A-F894AFBD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933700"/>
            <a:ext cx="2476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matched random rule</a:t>
            </a:r>
          </a:p>
        </p:txBody>
      </p:sp>
      <p:sp>
        <p:nvSpPr>
          <p:cNvPr id="64" name="abl-3-2">
            <a:extLst xmlns:a="http://schemas.openxmlformats.org/drawingml/2006/main">
              <a:ext uri="{FF2B5EF4-FFF2-40B4-BE49-F238E27FC236}">
                <a16:creationId xmlns:a16="http://schemas.microsoft.com/office/drawing/2014/main" id="{03DB6240-2A29-4BAB-AB32-B52A0AEA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933700"/>
            <a:ext cx="2476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排除规则形式本身的红利</a:t>
            </a:r>
          </a:p>
        </p:txBody>
      </p:sp>
      <p:sp>
        <p:nvSpPr>
          <p:cNvPr id="65" name="abl-3-3">
            <a:extLst xmlns:a="http://schemas.openxmlformats.org/drawingml/2006/main">
              <a:ext uri="{FF2B5EF4-FFF2-40B4-BE49-F238E27FC236}">
                <a16:creationId xmlns:a16="http://schemas.microsoft.com/office/drawing/2014/main" id="{6389671C-C684-429F-81A2-BC57A786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933700"/>
            <a:ext cx="1143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PARTIAL</a:t>
            </a:r>
          </a:p>
        </p:txBody>
      </p:sp>
      <p:sp>
        <p:nvSpPr>
          <p:cNvPr id="66" name="abl-4-0">
            <a:extLst xmlns:a="http://schemas.openxmlformats.org/drawingml/2006/main">
              <a:ext uri="{FF2B5EF4-FFF2-40B4-BE49-F238E27FC236}">
                <a16:creationId xmlns:a16="http://schemas.microsoft.com/office/drawing/2014/main" id="{33037348-382C-4203-B8A6-A6CC884FB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62325"/>
            <a:ext cx="1571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Similarity / no validation</a:t>
            </a:r>
          </a:p>
        </p:txBody>
      </p:sp>
      <p:sp>
        <p:nvSpPr>
          <p:cNvPr id="67" name="abl-4-1">
            <a:extLst xmlns:a="http://schemas.openxmlformats.org/drawingml/2006/main">
              <a:ext uri="{FF2B5EF4-FFF2-40B4-BE49-F238E27FC236}">
                <a16:creationId xmlns:a16="http://schemas.microsoft.com/office/drawing/2014/main" id="{5782D3AF-11F6-4E23-9EA1-469678F7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362325"/>
            <a:ext cx="2476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schema-only or direct prior</a:t>
            </a:r>
          </a:p>
        </p:txBody>
      </p:sp>
      <p:sp>
        <p:nvSpPr>
          <p:cNvPr id="68" name="abl-4-2">
            <a:extLst xmlns:a="http://schemas.openxmlformats.org/drawingml/2006/main">
              <a:ext uri="{FF2B5EF4-FFF2-40B4-BE49-F238E27FC236}">
                <a16:creationId xmlns:a16="http://schemas.microsoft.com/office/drawing/2014/main" id="{6C98C910-D68E-4DA7-9BD8-14B3DF9DD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362325"/>
            <a:ext cx="2476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检验 hypothesis 与 evidence</a:t>
            </a:r>
          </a:p>
        </p:txBody>
      </p:sp>
      <p:sp>
        <p:nvSpPr>
          <p:cNvPr id="69" name="abl-4-3">
            <a:extLst xmlns:a="http://schemas.openxmlformats.org/drawingml/2006/main">
              <a:ext uri="{FF2B5EF4-FFF2-40B4-BE49-F238E27FC236}">
                <a16:creationId xmlns:a16="http://schemas.microsoft.com/office/drawing/2014/main" id="{747EBC8F-7107-416A-9F4C-972285CC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362325"/>
            <a:ext cx="1143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B7791F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1">
                <a:solidFill>
                  <a:srgbClr val="B7791F"/>
                </a:solidFill>
                <a:latin typeface="-apple-system"/>
                <a:ea typeface="-apple-system"/>
                <a:cs typeface="-apple-system"/>
              </a:rPr>
              <a:t>PARTIAL</a:t>
            </a:r>
          </a:p>
        </p:txBody>
      </p:sp>
      <p:sp>
        <p:nvSpPr>
          <p:cNvPr id="70" name="abl-5-0">
            <a:extLst xmlns:a="http://schemas.openxmlformats.org/drawingml/2006/main">
              <a:ext uri="{FF2B5EF4-FFF2-40B4-BE49-F238E27FC236}">
                <a16:creationId xmlns:a16="http://schemas.microsoft.com/office/drawing/2014/main" id="{F118A395-F127-4F21-B495-C2EB9BB2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90950"/>
            <a:ext cx="1571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Full CARE 2.0</a:t>
            </a:r>
          </a:p>
        </p:txBody>
      </p:sp>
      <p:sp>
        <p:nvSpPr>
          <p:cNvPr id="71" name="abl-5-1">
            <a:extLst xmlns:a="http://schemas.openxmlformats.org/drawingml/2006/main">
              <a:ext uri="{FF2B5EF4-FFF2-40B4-BE49-F238E27FC236}">
                <a16:creationId xmlns:a16="http://schemas.microsoft.com/office/drawing/2014/main" id="{AA2075D4-B403-42EF-AEFF-0BF5DE1B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790950"/>
            <a:ext cx="2476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hypothesis + patch + gate</a:t>
            </a:r>
          </a:p>
        </p:txBody>
      </p:sp>
      <p:sp>
        <p:nvSpPr>
          <p:cNvPr id="72" name="abl-5-2">
            <a:extLst xmlns:a="http://schemas.openxmlformats.org/drawingml/2006/main">
              <a:ext uri="{FF2B5EF4-FFF2-40B4-BE49-F238E27FC236}">
                <a16:creationId xmlns:a16="http://schemas.microsoft.com/office/drawing/2014/main" id="{2C84BD6D-CA6C-4C91-9404-C37C973C0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790950"/>
            <a:ext cx="2476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可审计部署与 exact fallback</a:t>
            </a:r>
          </a:p>
        </p:txBody>
      </p:sp>
      <p:sp>
        <p:nvSpPr>
          <p:cNvPr id="73" name="abl-5-3">
            <a:extLst xmlns:a="http://schemas.openxmlformats.org/drawingml/2006/main">
              <a:ext uri="{FF2B5EF4-FFF2-40B4-BE49-F238E27FC236}">
                <a16:creationId xmlns:a16="http://schemas.microsoft.com/office/drawing/2014/main" id="{C6D94484-86A0-42FA-9AAE-2C7334A6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790950"/>
            <a:ext cx="1143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EE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rPr>
              <a:t>4 T · 3 FALLBACK</a:t>
            </a:r>
          </a:p>
        </p:txBody>
      </p:sp>
      <p:sp>
        <p:nvSpPr>
          <p:cNvPr id="74" name="abl-report">
            <a:extLst xmlns:a="http://schemas.openxmlformats.org/drawingml/2006/main">
              <a:ext uri="{FF2B5EF4-FFF2-40B4-BE49-F238E27FC236}">
                <a16:creationId xmlns:a16="http://schemas.microsoft.com/office/drawing/2014/main" id="{6AB979F5-D6A1-48F9-A86E-B752AEA6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38650"/>
            <a:ext cx="8001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例：ChemLex→BH +9.20 vs LLM / +8.10 vs BO · FreeSolv→Lipo +2.98 / +4.99 · 100 held-out seeds</a:t>
            </a:r>
          </a:p>
        </p:txBody>
      </p:sp>
    </p:spTree>
    <p:extLst>
      <p:ext uri="{BB962C8B-B14F-4D97-AF65-F5344CB8AC3E}">
        <p14:creationId xmlns:p14="http://schemas.microsoft.com/office/powerpoint/2010/main" val="29687415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5ed253e08040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C2A5C301-4BFB-45C2-AD07-B0371771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8001000" cy="1500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BUDGET EFFICIENCY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77180D91-F80B-4DF3-ABF6-278977F4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494"/>
            <a:ext cx="8001000" cy="3343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800" b="1">
                <a:solidFill>
                  <a:srgbClr val="111111"/>
                </a:solidFill>
                <a:latin typeface="-apple-system"/>
                <a:ea typeface="-apple-system"/>
                <a:cs typeface="-apple-system"/>
              </a:rPr>
              <a:t>迁移的价值不仅是最终最优值，还包括少做多少轮实验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3E96B262-EBB1-4BD7-BED9-C0A7AB83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364" y="285750"/>
            <a:ext cx="127136" cy="1321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5B6168"/>
                </a:solidFill>
                <a:latin typeface="-apple-system"/>
                <a:ea typeface="-apple-system"/>
                <a:cs typeface="-apple-system"/>
              </a:rPr>
              <a:t>14</a:t>
            </a:r>
          </a:p>
        </p:txBody>
      </p:sp>
      <p:pic>
        <p:nvPicPr>
          <p:cNvPr id="5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1eb5c85e2b48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F40D5963-5A1B-4E4A-95D4-DE157791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pic>
        <p:nvPicPr>
          <p:cNvPr id="56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e840c34a4f41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1AB827B5-A027-4090-9420-A5E549B90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158E4277-42AB-48EE-BF6F-5C7B2AD6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3B45A0A3-62C3-4B08-8386-0FD29E50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0126465C-156C-4304-90CE-06794083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0C40CBF3-622C-4FE4-94C3-2FA5A76D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76995B98-5225-47D9-8AD6-C641DCDE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53C5AE6F-5BC1-4DFA-B20D-7CECACDC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0C75F51D-3797-4BE3-BBF3-B13D600C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DCFEF9C4-30A5-4450-ACA0-7FAD60C8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3">
            <a:extLst xmlns:a="http://schemas.openxmlformats.org/drawingml/2006/main">
              <a:ext uri="{FF2B5EF4-FFF2-40B4-BE49-F238E27FC236}">
                <a16:creationId xmlns:a16="http://schemas.microsoft.com/office/drawing/2014/main" id="{79E35827-1C9D-4D6B-B576-CF381ADC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4">
            <a:extLst xmlns:a="http://schemas.openxmlformats.org/drawingml/2006/main">
              <a:ext uri="{FF2B5EF4-FFF2-40B4-BE49-F238E27FC236}">
                <a16:creationId xmlns:a16="http://schemas.microsoft.com/office/drawing/2014/main" id="{5F971E45-0B3E-4351-B8BF-432316F0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68072" tIns="34036" rIns="68072" bIns="34036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57BF00E5-AD8A-4BBE-AC41-3B376801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1F307A9C-CFE6-4FF7-BF4B-752003100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FDE11EC6-E02A-4461-8D50-340F403B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0BB54EF5-3EE6-4005-AC94-0F64CAFD0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</a:pPr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50308EBE-85B3-49D5-9CC1-A6147D1B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0E837C76-3ADF-4738-92F6-F56803AD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4C8D0A3A-449A-44A5-826A-40488361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</a:pP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6784028E-FE47-46AE-AAAD-FCA6141B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8" name="Text 23">
            <a:extLst xmlns:a="http://schemas.openxmlformats.org/drawingml/2006/main">
              <a:ext uri="{FF2B5EF4-FFF2-40B4-BE49-F238E27FC236}">
                <a16:creationId xmlns:a16="http://schemas.microsoft.com/office/drawing/2014/main" id="{F543AFCA-2494-4E41-B5C0-B9BE0B3C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F5864C54-6772-4D8A-B9C7-8E33D5C4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</a:pPr>
          </a:p>
        </p:txBody>
      </p:sp>
      <p:pic>
        <p:nvPicPr>
          <p:cNvPr id="78" name="Picture 7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50ceb546c14780"/>
          <a:stretch xmlns:a="http://schemas.openxmlformats.org/drawingml/2006/main"/>
        </p:blipFill>
        <p:spPr>
          <a:xfrm xmlns:a="http://schemas.openxmlformats.org/drawingml/2006/main">
            <a:off x="428625" y="1502725"/>
            <a:ext cx="5857875" cy="2233300"/>
          </a:xfrm>
          <a:prstGeom xmlns:a="http://schemas.openxmlformats.org/drawingml/2006/main" prst="rect">
            <a:avLst/>
          </a:prstGeom>
        </p:spPr>
      </p:pic>
      <p:sp>
        <p:nvSpPr>
          <p:cNvPr id="34" name="round-title">
            <a:extLst xmlns:a="http://schemas.openxmlformats.org/drawingml/2006/main">
              <a:ext uri="{FF2B5EF4-FFF2-40B4-BE49-F238E27FC236}">
                <a16:creationId xmlns:a16="http://schemas.microsoft.com/office/drawing/2014/main" id="{28DFF991-CA1D-4F01-9F4A-2C5162EFD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382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defRPr>
            </a:pPr>
            <a:r>
              <a:rPr sz="11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节省轮数：matched-final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defRPr>
            </a:pPr>
            <a:r>
              <a:rPr sz="11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paired 95% CI</a:t>
            </a:r>
          </a:p>
        </p:txBody>
      </p:sp>
      <p:sp>
        <p:nvSpPr>
          <p:cNvPr id="35" name="round-label-0">
            <a:extLst xmlns:a="http://schemas.openxmlformats.org/drawingml/2006/main">
              <a:ext uri="{FF2B5EF4-FFF2-40B4-BE49-F238E27FC236}">
                <a16:creationId xmlns:a16="http://schemas.microsoft.com/office/drawing/2014/main" id="{DE1429BE-83B6-4BA4-B714-0AB087B3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3355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ChemLex → BH</a:t>
            </a:r>
          </a:p>
        </p:txBody>
      </p:sp>
      <p:sp>
        <p:nvSpPr>
          <p:cNvPr id="36" name="round-value-0">
            <a:extLst xmlns:a="http://schemas.openxmlformats.org/drawingml/2006/main">
              <a:ext uri="{FF2B5EF4-FFF2-40B4-BE49-F238E27FC236}">
                <a16:creationId xmlns:a16="http://schemas.microsoft.com/office/drawing/2014/main" id="{887635FD-9270-4875-A394-B16A22FA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85925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rPr>
              <a:t>2.99</a:t>
            </a:r>
          </a:p>
          <a:p xmlns:a="http://schemas.openxmlformats.org/drawingml/2006/main">
            <a:pPr algn="r">
              <a:buNone/>
              <a:defRPr sz="90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rPr>
              <a:t>[2.05, 3.93]</a:t>
            </a:r>
          </a:p>
        </p:txBody>
      </p:sp>
      <p:sp>
        <p:nvSpPr>
          <p:cNvPr id="37" name="round-label-1">
            <a:extLst xmlns:a="http://schemas.openxmlformats.org/drawingml/2006/main">
              <a:ext uri="{FF2B5EF4-FFF2-40B4-BE49-F238E27FC236}">
                <a16:creationId xmlns:a16="http://schemas.microsoft.com/office/drawing/2014/main" id="{4E42CB59-FE44-472F-BB3D-F249FA3A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62175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Dielectric → Gap</a:t>
            </a:r>
          </a:p>
        </p:txBody>
      </p:sp>
      <p:sp>
        <p:nvSpPr>
          <p:cNvPr id="38" name="round-value-1">
            <a:extLst xmlns:a="http://schemas.openxmlformats.org/drawingml/2006/main">
              <a:ext uri="{FF2B5EF4-FFF2-40B4-BE49-F238E27FC236}">
                <a16:creationId xmlns:a16="http://schemas.microsoft.com/office/drawing/2014/main" id="{8629AE7D-F5C3-4595-AF3D-DA3A8A3F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1455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rPr>
              <a:t>6.00</a:t>
            </a:r>
          </a:p>
          <a:p xmlns:a="http://schemas.openxmlformats.org/drawingml/2006/main">
            <a:pPr algn="r">
              <a:buNone/>
              <a:defRPr sz="90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rPr>
              <a:t>[5.14, 6.86]</a:t>
            </a:r>
          </a:p>
        </p:txBody>
      </p:sp>
      <p:sp>
        <p:nvSpPr>
          <p:cNvPr id="39" name="round-label-2">
            <a:extLst xmlns:a="http://schemas.openxmlformats.org/drawingml/2006/main">
              <a:ext uri="{FF2B5EF4-FFF2-40B4-BE49-F238E27FC236}">
                <a16:creationId xmlns:a16="http://schemas.microsoft.com/office/drawing/2014/main" id="{08F6BA6B-65FA-4902-9D50-C43DF23FB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9080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Gap → Dielectric</a:t>
            </a:r>
          </a:p>
        </p:txBody>
      </p:sp>
      <p:sp>
        <p:nvSpPr>
          <p:cNvPr id="40" name="round-value-2">
            <a:extLst xmlns:a="http://schemas.openxmlformats.org/drawingml/2006/main">
              <a:ext uri="{FF2B5EF4-FFF2-40B4-BE49-F238E27FC236}">
                <a16:creationId xmlns:a16="http://schemas.microsoft.com/office/drawing/2014/main" id="{69CFAF51-C1C7-40D4-872C-531E7D11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43175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rPr>
              <a:t>5.03</a:t>
            </a:r>
          </a:p>
          <a:p xmlns:a="http://schemas.openxmlformats.org/drawingml/2006/main">
            <a:pPr algn="r">
              <a:buNone/>
              <a:defRPr sz="90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rPr>
              <a:t>[4.27, 5.79]</a:t>
            </a:r>
          </a:p>
        </p:txBody>
      </p:sp>
      <p:sp>
        <p:nvSpPr>
          <p:cNvPr id="41" name="round-label-3">
            <a:extLst xmlns:a="http://schemas.openxmlformats.org/drawingml/2006/main">
              <a:ext uri="{FF2B5EF4-FFF2-40B4-BE49-F238E27FC236}">
                <a16:creationId xmlns:a16="http://schemas.microsoft.com/office/drawing/2014/main" id="{AB86BC24-A58E-4B67-A3BC-FB59CD9C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19425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FreeSolv → Lipo</a:t>
            </a:r>
          </a:p>
        </p:txBody>
      </p:sp>
      <p:sp>
        <p:nvSpPr>
          <p:cNvPr id="42" name="round-value-3">
            <a:extLst xmlns:a="http://schemas.openxmlformats.org/drawingml/2006/main">
              <a:ext uri="{FF2B5EF4-FFF2-40B4-BE49-F238E27FC236}">
                <a16:creationId xmlns:a16="http://schemas.microsoft.com/office/drawing/2014/main" id="{BBAFFDA6-7421-4275-A8B9-412451E9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7180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rPr>
              <a:t>2.23</a:t>
            </a:r>
          </a:p>
          <a:p xmlns:a="http://schemas.openxmlformats.org/drawingml/2006/main">
            <a:pPr algn="r">
              <a:buNone/>
              <a:defRPr sz="90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rPr>
              <a:t>[1.37, 3.09]</a:t>
            </a:r>
          </a:p>
        </p:txBody>
      </p:sp>
      <p:sp>
        <p:nvSpPr>
          <p:cNvPr id="43" name="round-unit">
            <a:extLst xmlns:a="http://schemas.openxmlformats.org/drawingml/2006/main">
              <a:ext uri="{FF2B5EF4-FFF2-40B4-BE49-F238E27FC236}">
                <a16:creationId xmlns:a16="http://schemas.microsoft.com/office/drawing/2014/main" id="{F8A87708-1D29-4485-8670-B8C4D803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337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88" b="0">
                <a:solidFill>
                  <a:srgbClr val="5D6874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0">
                <a:solidFill>
                  <a:srgbClr val="5D6874"/>
                </a:solidFill>
                <a:latin typeface="-apple-system"/>
                <a:ea typeface="-apple-system"/>
                <a:cs typeface="-apple-system"/>
              </a:rPr>
              <a:t>第一行：matched-final saving（95% CI）</a:t>
            </a:r>
          </a:p>
          <a:p xmlns:a="http://schemas.openxmlformats.org/drawingml/2006/main">
            <a:pPr algn="r">
              <a:buNone/>
              <a:defRPr sz="788" b="0">
                <a:solidFill>
                  <a:srgbClr val="5D6874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0">
                <a:solidFill>
                  <a:srgbClr val="5D6874"/>
                </a:solidFill>
                <a:latin typeface="-apple-system"/>
                <a:ea typeface="-apple-system"/>
                <a:cs typeface="-apple-system"/>
              </a:rPr>
              <a:t>另测 global-top10：3.62 / 9.57 / 8.46 / 4.80</a:t>
            </a:r>
          </a:p>
        </p:txBody>
      </p:sp>
      <p:sp>
        <p:nvSpPr>
          <p:cNvPr id="44" name="diminishing-note">
            <a:extLst xmlns:a="http://schemas.openxmlformats.org/drawingml/2006/main">
              <a:ext uri="{FF2B5EF4-FFF2-40B4-BE49-F238E27FC236}">
                <a16:creationId xmlns:a16="http://schemas.microsoft.com/office/drawing/2014/main" id="{687366F9-0A8C-4174-8C7D-BBB69687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62375"/>
            <a:ext cx="20002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1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1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右侧括号已给出 paired 95% CI。当前只能说迁移减少了达到基准质量所需轮数；若要证明“边际收益递减”，还需改变可用历史经验量后重跑并比较饱和模型。</a:t>
            </a:r>
          </a:p>
        </p:txBody>
      </p:sp>
      <p:sp>
        <p:nvSpPr>
          <p:cNvPr id="45" name="round-censor">
            <a:extLst xmlns:a="http://schemas.openxmlformats.org/drawingml/2006/main">
              <a:ext uri="{FF2B5EF4-FFF2-40B4-BE49-F238E27FC236}">
                <a16:creationId xmlns:a16="http://schemas.microsoft.com/office/drawing/2014/main" id="{261F3926-FD7E-4EBF-9F9D-3BC9DFE7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95775"/>
            <a:ext cx="5667375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9665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Round 0 = initial observations；未达到阈值的路径按 budget + 1 右删失；fallback 与 matched LLM 完全一致。</a:t>
            </a:r>
          </a:p>
        </p:txBody>
      </p:sp>
    </p:spTree>
    <p:extLst>
      <p:ext uri="{BB962C8B-B14F-4D97-AF65-F5344CB8AC3E}">
        <p14:creationId xmlns:p14="http://schemas.microsoft.com/office/powerpoint/2010/main" val="11490728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dc1b724aa047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D0520669-97F8-40D0-9B3A-A086F147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1500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MODULE CONTRIBUTION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F62F0640-E4FB-4E07-9C49-6C729F8B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92944"/>
            <a:ext cx="8001000" cy="3169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000" b="1">
                <a:solidFill>
                  <a:srgbClr val="111111"/>
                </a:solidFill>
                <a:latin typeface="-apple-system"/>
                <a:ea typeface="-apple-system"/>
                <a:cs typeface="-apple-system"/>
              </a:rPr>
              <a:t>下一轮：冻结统一协议，用消融实验回答每个模块的贡献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E76441D-59B7-479D-A44F-1C569701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364" y="428625"/>
            <a:ext cx="127136" cy="1321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5B6168"/>
                </a:solidFill>
                <a:latin typeface="-apple-system"/>
                <a:ea typeface="-apple-system"/>
                <a:cs typeface="-apple-system"/>
              </a:rPr>
              <a:t>15</a:t>
            </a:r>
          </a:p>
        </p:txBody>
      </p:sp>
      <p:sp>
        <p:nvSpPr>
          <p:cNvPr id="31" name="confirmation-protocol">
            <a:extLst xmlns:a="http://schemas.openxmlformats.org/drawingml/2006/main">
              <a:ext uri="{FF2B5EF4-FFF2-40B4-BE49-F238E27FC236}">
                <a16:creationId xmlns:a16="http://schemas.microsoft.com/office/drawing/2014/main" id="{81822639-9731-4D47-BAC1-0A35571C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8001000" cy="4191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EEF5FC"/>
          </a:solidFill>
          <a:ln xmlns:a="http://schemas.openxmlformats.org/drawingml/2006/main" w="9525">
            <a:solidFill>
              <a:srgbClr val="A9CBEF"/>
            </a:solidFill>
            <a:prstDash val="solid"/>
          </a:ln>
        </p:spPr>
        <p:txBody>
          <a:bodyPr xmlns:a="http://schemas.openxmlformats.org/drawingml/2006/main" wrap="square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74D73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274D73"/>
                </a:solidFill>
                <a:latin typeface="-apple-system"/>
                <a:ea typeface="-apple-system"/>
                <a:cs typeface="-apple-system"/>
              </a:rPr>
              <a:t>确认协议（confirm run 前冻结）：路线清单 · calibration / held-out split · 候选池 · 预算 · thresholds · primary metric · MDE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1619250"/>
          <a:ext xmlns:a="http://schemas.openxmlformats.org/drawingml/2006/main" cx="8001000" cy="2647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38250"/>
                <a:gridCol w="1714500"/>
                <a:gridCol w="857250"/>
                <a:gridCol w="1143000"/>
                <a:gridCol w="3048000"/>
              </a:tblGrid>
              <a:tr h="378279"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</a:rPr>
                        <a:t>对照 / 消融</a:t>
                      </a:r>
                    </a:p>
                  </a:txBody>
                  <a:tcPr marL="47625" marR="47625" marT="47625" marB="47625" anchor="ctr"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</a:rPr>
                        <a:t>Hypothesis 来源</a:t>
                      </a:r>
                    </a:p>
                  </a:txBody>
                  <a:tcPr marL="47625" marR="47625" marT="47625" marB="47625" anchor="ctr"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</a:rPr>
                        <a:t>Gate</a:t>
                      </a:r>
                    </a:p>
                  </a:txBody>
                  <a:tcPr marL="47625" marR="47625" marT="47625" marB="47625" anchor="ctr"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</a:rPr>
                        <a:t>独立验证</a:t>
                      </a:r>
                    </a:p>
                  </a:txBody>
                  <a:tcPr marL="47625" marR="47625" marT="47625" marB="47625" anchor="ctr"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</a:rPr>
                        <a:t>要回答的问题</a:t>
                      </a:r>
                    </a:p>
                  </a:txBody>
                  <a:tcPr marL="47625" marR="47625" marT="47625" marB="47625" anchor="ctr">
                    <a:solidFill>
                      <a:srgbClr val="2B6CB0"/>
                    </a:solidFill>
                  </a:tcPr>
                </a:tc>
              </a:tr>
              <a:tr h="378279"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212B"/>
                          </a:solidFill>
                        </a:rPr>
                        <a:t>No transfer</a:t>
                      </a:r>
                    </a:p>
                  </a:txBody>
                  <a:tcPr marL="47625" marR="47625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212B"/>
                          </a:solidFill>
                        </a:rPr>
                        <a:t>不使用 source</a:t>
                      </a:r>
                    </a:p>
                  </a:txBody>
                  <a:tcPr marL="47625" marR="47625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212B"/>
                          </a:solidFill>
                        </a:rPr>
                        <a:t>无</a:t>
                      </a:r>
                    </a:p>
                  </a:txBody>
                  <a:tcPr marL="47625" marR="47625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212B"/>
                          </a:solidFill>
                        </a:rPr>
                        <a:t>是</a:t>
                      </a:r>
                    </a:p>
                  </a:txBody>
                  <a:tcPr marL="47625" marR="47625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212B"/>
                          </a:solidFill>
                        </a:rPr>
                        <a:t>完全不迁移时的 target-only 表现</a:t>
                      </a:r>
                    </a:p>
                  </a:txBody>
                  <a:tcPr marL="47625" marR="47625" marT="38100" marB="38100" anchor="ctr">
                    <a:solidFill>
                      <a:srgbClr val="F8FAFC"/>
                    </a:solidFill>
                  </a:tcPr>
                </a:tc>
              </a:tr>
              <a:tr h="378279"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212B"/>
                          </a:solidFill>
                        </a:rPr>
                        <a:t>Random transfer</a:t>
                      </a:r>
                    </a:p>
                  </a:txBody>
                  <a:tcPr marL="47625" marR="47625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212B"/>
                          </a:solidFill>
                        </a:rPr>
                        <a:t>随机 source / patch</a:t>
                      </a:r>
                    </a:p>
                  </a:txBody>
                  <a:tcPr marL="47625" marR="47625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212B"/>
                          </a:solidFill>
                        </a:rPr>
                        <a:t>无</a:t>
                      </a:r>
                    </a:p>
                  </a:txBody>
                  <a:tcPr marL="47625" marR="47625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212B"/>
                          </a:solidFill>
                        </a:rPr>
                        <a:t>是</a:t>
                      </a:r>
                    </a:p>
                  </a:txBody>
                  <a:tcPr marL="47625" marR="47625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212B"/>
                          </a:solidFill>
                        </a:rPr>
                        <a:t>排除“只是增加 prior 就会变好”</a:t>
                      </a:r>
                    </a:p>
                  </a:txBody>
                  <a:tcPr marL="47625" marR="47625" marT="38100" marB="38100" anchor="ctr">
                    <a:solidFill>
                      <a:srgbClr val="F8FAFC"/>
                    </a:solidFill>
                  </a:tcPr>
                </a:tc>
              </a:tr>
              <a:tr h="378279"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212B"/>
                          </a:solidFill>
                        </a:rPr>
                        <a:t>Similarity-only</a:t>
                      </a:r>
                    </a:p>
                  </a:txBody>
                  <a:tcPr marL="47625" marR="47625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212B"/>
                          </a:solidFill>
                        </a:rPr>
                        <a:t>schema similarity</a:t>
                      </a:r>
                    </a:p>
                  </a:txBody>
                  <a:tcPr marL="47625" marR="47625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212B"/>
                          </a:solidFill>
                        </a:rPr>
                        <a:t>有</a:t>
                      </a:r>
                    </a:p>
                  </a:txBody>
                  <a:tcPr marL="47625" marR="47625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212B"/>
                          </a:solidFill>
                        </a:rPr>
                        <a:t>是</a:t>
                      </a:r>
                    </a:p>
                  </a:txBody>
                  <a:tcPr marL="47625" marR="47625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212B"/>
                          </a:solidFill>
                        </a:rPr>
                        <a:t>浅层相似度能否替代 LLM 假设</a:t>
                      </a:r>
                    </a:p>
                  </a:txBody>
                  <a:tcPr marL="47625" marR="47625" marT="38100" marB="38100" anchor="ctr">
                    <a:solidFill>
                      <a:srgbClr val="F8FAFC"/>
                    </a:solidFill>
                  </a:tcPr>
                </a:tc>
              </a:tr>
              <a:tr h="378279"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212B"/>
                          </a:solidFill>
                        </a:rPr>
                        <a:t>Without Gate</a:t>
                      </a:r>
                    </a:p>
                  </a:txBody>
                  <a:tcPr marL="47625" marR="47625" marT="38100" marB="38100" anchor="ctr">
                    <a:solidFill>
                      <a:srgbClr val="FFF1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212B"/>
                          </a:solidFill>
                        </a:rPr>
                        <a:t>LLM 生成 patch</a:t>
                      </a:r>
                    </a:p>
                  </a:txBody>
                  <a:tcPr marL="47625" marR="47625" marT="38100" marB="38100" anchor="ctr">
                    <a:solidFill>
                      <a:srgbClr val="FFF1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212B"/>
                          </a:solidFill>
                        </a:rPr>
                        <a:t>无</a:t>
                      </a:r>
                    </a:p>
                  </a:txBody>
                  <a:tcPr marL="47625" marR="47625" marT="38100" marB="38100" anchor="ctr">
                    <a:solidFill>
                      <a:srgbClr val="FFF1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212B"/>
                          </a:solidFill>
                        </a:rPr>
                        <a:t>是</a:t>
                      </a:r>
                    </a:p>
                  </a:txBody>
                  <a:tcPr marL="47625" marR="47625" marT="38100" marB="38100" anchor="ctr">
                    <a:solidFill>
                      <a:srgbClr val="FFF1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212B"/>
                          </a:solidFill>
                        </a:rPr>
                        <a:t>Gate 是否减少负迁移</a:t>
                      </a:r>
                    </a:p>
                  </a:txBody>
                  <a:tcPr marL="47625" marR="47625" marT="38100" marB="38100" anchor="ctr">
                    <a:solidFill>
                      <a:srgbClr val="FFF1F0"/>
                    </a:solidFill>
                  </a:tcPr>
                </a:tc>
              </a:tr>
              <a:tr h="378279"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212B"/>
                          </a:solidFill>
                        </a:rPr>
                        <a:t>Without validation</a:t>
                      </a:r>
                    </a:p>
                  </a:txBody>
                  <a:tcPr marL="47625" marR="47625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212B"/>
                          </a:solidFill>
                        </a:rPr>
                        <a:t>LLM 生成 patch</a:t>
                      </a:r>
                    </a:p>
                  </a:txBody>
                  <a:tcPr marL="47625" marR="47625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212B"/>
                          </a:solidFill>
                        </a:rPr>
                        <a:t>直接部署</a:t>
                      </a:r>
                    </a:p>
                  </a:txBody>
                  <a:tcPr marL="47625" marR="47625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212B"/>
                          </a:solidFill>
                        </a:rPr>
                        <a:t>仅最终评估</a:t>
                      </a:r>
                    </a:p>
                  </a:txBody>
                  <a:tcPr marL="47625" marR="47625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212B"/>
                          </a:solidFill>
                        </a:rPr>
                        <a:t>独立 calibration 是否必要</a:t>
                      </a:r>
                    </a:p>
                  </a:txBody>
                  <a:tcPr marL="47625" marR="47625" marT="38100" marB="38100" anchor="ctr">
                    <a:solidFill>
                      <a:srgbClr val="F8FAFC"/>
                    </a:solidFill>
                  </a:tcPr>
                </a:tc>
              </a:tr>
              <a:tr h="378279"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7212B"/>
                          </a:solidFill>
                        </a:rPr>
                        <a:t>Full CARE 2.0</a:t>
                      </a:r>
                    </a:p>
                  </a:txBody>
                  <a:tcPr marL="47625" marR="47625" marT="38100" marB="38100" anchor="ctr">
                    <a:solidFill>
                      <a:srgbClr val="E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7212B"/>
                          </a:solidFill>
                        </a:rPr>
                        <a:t>LLM 生成 patch</a:t>
                      </a:r>
                    </a:p>
                  </a:txBody>
                  <a:tcPr marL="47625" marR="47625" marT="38100" marB="38100" anchor="ctr">
                    <a:solidFill>
                      <a:srgbClr val="E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7212B"/>
                          </a:solidFill>
                        </a:rPr>
                        <a:t>有</a:t>
                      </a:r>
                    </a:p>
                  </a:txBody>
                  <a:tcPr marL="47625" marR="47625" marT="38100" marB="38100" anchor="ctr">
                    <a:solidFill>
                      <a:srgbClr val="E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7212B"/>
                          </a:solidFill>
                        </a:rPr>
                        <a:t>是</a:t>
                      </a:r>
                    </a:p>
                  </a:txBody>
                  <a:tcPr marL="47625" marR="47625" marT="38100" marB="38100" anchor="ctr">
                    <a:solidFill>
                      <a:srgbClr val="E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7212B"/>
                          </a:solidFill>
                        </a:rPr>
                        <a:t>完整系统的净贡献</a:t>
                      </a:r>
                    </a:p>
                  </a:txBody>
                  <a:tcPr marL="47625" marR="47625" marT="38100" marB="38100" anchor="ctr">
                    <a:solidFill>
                      <a:srgbClr val="EAF7EF"/>
                    </a:solidFill>
                  </a:tcPr>
                </a:tc>
              </a:tr>
            </a:tbl>
          </a:graphicData>
        </a:graphic>
      </p:graphicFrame>
      <p:sp>
        <p:nvSpPr>
          <p:cNvPr id="33" name="ablation-footnote">
            <a:extLst xmlns:a="http://schemas.openxmlformats.org/drawingml/2006/main">
              <a:ext uri="{FF2B5EF4-FFF2-40B4-BE49-F238E27FC236}">
                <a16:creationId xmlns:a16="http://schemas.microsoft.com/office/drawing/2014/main" id="{DC8F35E1-DEA1-4DBF-A2BE-AFE7CD53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10075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>
                <a:solidFill>
                  <a:srgbClr val="5D6874"/>
                </a:solidFill>
                <a:latin typeface="-apple-system"/>
                <a:ea typeface="-apple-system"/>
                <a:cs typeface="-apple-system"/>
              </a:defRPr>
            </a:pPr>
            <a:r>
              <a:rPr sz="825">
                <a:solidFill>
                  <a:srgbClr val="5D6874"/>
                </a:solidFill>
                <a:latin typeface="-apple-system"/>
                <a:ea typeface="-apple-system"/>
                <a:cs typeface="-apple-system"/>
              </a:rPr>
              <a:t>同一预算、initial observations、candidate pool 与 held-out seeds；除被消融模块外，其余条件保持一致。</a:t>
            </a:r>
          </a:p>
        </p:txBody>
      </p:sp>
    </p:spTree>
    <p:extLst>
      <p:ext uri="{BB962C8B-B14F-4D97-AF65-F5344CB8AC3E}">
        <p14:creationId xmlns:p14="http://schemas.microsoft.com/office/powerpoint/2010/main" val="79950277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e937827a1b4b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D0520669-97F8-40D0-9B3A-A086F147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1500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CONCLUSIONS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F62F0640-E4FB-4E07-9C49-6C729F8B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92944"/>
            <a:ext cx="8001000" cy="6264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000" b="1">
                <a:solidFill>
                  <a:srgbClr val="111111"/>
                </a:solidFill>
                <a:latin typeface="-apple-system"/>
                <a:ea typeface="-apple-system"/>
                <a:cs typeface="-apple-system"/>
              </a:rPr>
              <a:t>结论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E76441D-59B7-479D-A44F-1C569701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364" y="428625"/>
            <a:ext cx="127136" cy="1321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5B6168"/>
                </a:solidFill>
                <a:latin typeface="-apple-system"/>
                <a:ea typeface="-apple-system"/>
                <a:cs typeface="-apple-system"/>
              </a:rPr>
              <a:t>16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A9A8306B-8547-4F89-8132-9D772C1C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0000"/>
              </a:lnSpc>
              <a:buNone/>
            </a:pP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361DC85-59E4-41F2-B8AA-018A915D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5131B836-53AC-4ECB-BF79-198EB4D9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90D826FF-650E-46F0-AEDB-7D7FE226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0000"/>
              </a:lnSpc>
              <a:buNone/>
            </a:pP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A259075-DF7C-4FA4-918A-736CB9CE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F55F4C8C-0A8E-43C4-9DF4-EAB7E000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50F3D8A0-26B1-40FD-9CC3-04188CD2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0000"/>
              </a:lnSpc>
              <a:buNone/>
            </a:pP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758E9362-3885-4144-87C3-A809F668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A20DF3C7-6936-46E4-A9C6-459EABA4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8DC7EB17-5227-4B58-9F7B-FC41CB80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5DA98469-FC9D-491F-A6BF-39DDB367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4490B9D8-A947-4445-BA1F-67DC1C1A7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1B1B1256-95B6-4442-9BD0-F3F586435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</a:p>
        </p:txBody>
      </p:sp>
      <p:sp>
        <p:nvSpPr>
          <p:cNvPr id="20" name="conclusion-num-0">
            <a:extLst xmlns:a="http://schemas.openxmlformats.org/drawingml/2006/main">
              <a:ext uri="{FF2B5EF4-FFF2-40B4-BE49-F238E27FC236}">
                <a16:creationId xmlns:a16="http://schemas.microsoft.com/office/drawing/2014/main" id="{394DDAA5-46B4-447B-A004-7544F172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66875"/>
            <a:ext cx="4762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0">
            <a:solidFill>
              <a:srgbClr val="E7F5EE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90611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defRPr>
            </a:pPr>
            <a:r>
              <a:rPr sz="825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rPr>
              <a:t>01</a:t>
            </a:r>
          </a:p>
        </p:txBody>
      </p:sp>
      <p:sp>
        <p:nvSpPr>
          <p:cNvPr id="21" name="conclusion-title-0">
            <a:extLst xmlns:a="http://schemas.openxmlformats.org/drawingml/2006/main">
              <a:ext uri="{FF2B5EF4-FFF2-40B4-BE49-F238E27FC236}">
                <a16:creationId xmlns:a16="http://schemas.microsoft.com/office/drawing/2014/main" id="{2F8FFD81-0496-498A-BE53-BC040F9A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31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defRPr>
            </a:pPr>
            <a:r>
              <a:rPr sz="135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rPr>
              <a:t>同领域迁移已得到支持</a:t>
            </a:r>
          </a:p>
        </p:txBody>
      </p:sp>
      <p:sp>
        <p:nvSpPr>
          <p:cNvPr id="22" name="conclusion-body-0">
            <a:extLst xmlns:a="http://schemas.openxmlformats.org/drawingml/2006/main">
              <a:ext uri="{FF2B5EF4-FFF2-40B4-BE49-F238E27FC236}">
                <a16:creationId xmlns:a16="http://schemas.microsoft.com/office/drawing/2014/main" id="{648FF907-A03B-4F9B-B36D-B0AD41D2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0">
                <a:solidFill>
                  <a:srgbClr val="5D6874"/>
                </a:solidFill>
                <a:latin typeface="-apple-system"/>
                <a:ea typeface="-apple-system"/>
                <a:cs typeface="-apple-system"/>
              </a:rPr>
              <a:t>反应、材料、分子三个领域内均出现跨数据集正向迁移；4/7 routes 在冻结协议下部署 transfer。</a:t>
            </a:r>
          </a:p>
        </p:txBody>
      </p:sp>
      <p:sp>
        <p:nvSpPr>
          <p:cNvPr id="23" name="conclusion-num-1">
            <a:extLst xmlns:a="http://schemas.openxmlformats.org/drawingml/2006/main">
              <a:ext uri="{FF2B5EF4-FFF2-40B4-BE49-F238E27FC236}">
                <a16:creationId xmlns:a16="http://schemas.microsoft.com/office/drawing/2014/main" id="{0B8B8F48-BDBE-4E42-B78E-B8AD33E40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66875"/>
            <a:ext cx="4762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CEC"/>
          </a:solidFill>
          <a:ln xmlns:a="http://schemas.openxmlformats.org/drawingml/2006/main" w="0">
            <a:solidFill>
              <a:srgbClr val="FCECEC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90611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D64545"/>
                </a:solidFill>
                <a:latin typeface="-apple-system"/>
                <a:ea typeface="-apple-system"/>
                <a:cs typeface="-apple-system"/>
              </a:defRPr>
            </a:pPr>
            <a:r>
              <a:rPr sz="825" b="1">
                <a:solidFill>
                  <a:srgbClr val="D64545"/>
                </a:solidFill>
                <a:latin typeface="-apple-system"/>
                <a:ea typeface="-apple-system"/>
                <a:cs typeface="-apple-system"/>
              </a:rPr>
              <a:t>02</a:t>
            </a:r>
          </a:p>
        </p:txBody>
      </p:sp>
      <p:sp>
        <p:nvSpPr>
          <p:cNvPr id="24" name="conclusion-title-1">
            <a:extLst xmlns:a="http://schemas.openxmlformats.org/drawingml/2006/main">
              <a:ext uri="{FF2B5EF4-FFF2-40B4-BE49-F238E27FC236}">
                <a16:creationId xmlns:a16="http://schemas.microsoft.com/office/drawing/2014/main" id="{3A726547-B2DC-45E4-B485-11FABB4D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431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64545"/>
                </a:solidFill>
                <a:latin typeface="-apple-system"/>
                <a:ea typeface="-apple-system"/>
                <a:cs typeface="-apple-system"/>
              </a:defRPr>
            </a:pPr>
            <a:r>
              <a:rPr sz="1350" b="1">
                <a:solidFill>
                  <a:srgbClr val="D64545"/>
                </a:solidFill>
                <a:latin typeface="-apple-system"/>
                <a:ea typeface="-apple-system"/>
                <a:cs typeface="-apple-system"/>
              </a:rPr>
              <a:t>Gate 拦住了当前负迁移</a:t>
            </a:r>
          </a:p>
        </p:txBody>
      </p:sp>
      <p:sp>
        <p:nvSpPr>
          <p:cNvPr id="25" name="conclusion-body-1">
            <a:extLst xmlns:a="http://schemas.openxmlformats.org/drawingml/2006/main">
              <a:ext uri="{FF2B5EF4-FFF2-40B4-BE49-F238E27FC236}">
                <a16:creationId xmlns:a16="http://schemas.microsoft.com/office/drawing/2014/main" id="{9B232404-F650-47FB-B66F-4AC1E5E5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38425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0">
                <a:solidFill>
                  <a:srgbClr val="5D6874"/>
                </a:solidFill>
                <a:latin typeface="-apple-system"/>
                <a:ea typeface="-apple-system"/>
                <a:cs typeface="-apple-system"/>
              </a:rPr>
              <a:t>其余 3/7 routes 精确回退 target-only；正式 held-out 中没有把已知负向路线部署出去。</a:t>
            </a:r>
          </a:p>
        </p:txBody>
      </p:sp>
      <p:sp>
        <p:nvSpPr>
          <p:cNvPr id="26" name="conclusion-num-2">
            <a:extLst xmlns:a="http://schemas.openxmlformats.org/drawingml/2006/main">
              <a:ext uri="{FF2B5EF4-FFF2-40B4-BE49-F238E27FC236}">
                <a16:creationId xmlns:a16="http://schemas.microsoft.com/office/drawing/2014/main" id="{B00E0C95-DD97-45B9-A286-B1F5BBE0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4762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90611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defRPr>
            </a:pPr>
            <a:r>
              <a:rPr sz="8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03</a:t>
            </a:r>
          </a:p>
        </p:txBody>
      </p:sp>
      <p:sp>
        <p:nvSpPr>
          <p:cNvPr id="27" name="conclusion-title-2">
            <a:extLst xmlns:a="http://schemas.openxmlformats.org/drawingml/2006/main">
              <a:ext uri="{FF2B5EF4-FFF2-40B4-BE49-F238E27FC236}">
                <a16:creationId xmlns:a16="http://schemas.microsoft.com/office/drawing/2014/main" id="{6AA31B4A-F274-45E1-BFA6-2BA7EB65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431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defRPr>
            </a:pPr>
            <a:r>
              <a:rPr sz="135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跨领域泛化尚未验证</a:t>
            </a:r>
          </a:p>
        </p:txBody>
      </p:sp>
      <p:sp>
        <p:nvSpPr>
          <p:cNvPr id="28" name="conclusion-body-2">
            <a:extLst xmlns:a="http://schemas.openxmlformats.org/drawingml/2006/main">
              <a:ext uri="{FF2B5EF4-FFF2-40B4-BE49-F238E27FC236}">
                <a16:creationId xmlns:a16="http://schemas.microsoft.com/office/drawing/2014/main" id="{89D74034-5C61-4CCD-9824-0A66509C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38425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0">
                <a:solidFill>
                  <a:srgbClr val="5D6874"/>
                </a:solidFill>
                <a:latin typeface="-apple-system"/>
                <a:ea typeface="-apple-system"/>
                <a:cs typeface="-apple-system"/>
              </a:rPr>
              <a:t>下一轮冻结路线与数据划分，补 off-diagonal pairs 和完整 ablation，再讨论通用跨领域迁移。</a:t>
            </a:r>
          </a:p>
        </p:txBody>
      </p:sp>
      <p:sp>
        <p:nvSpPr>
          <p:cNvPr id="29" name="conclusion-standard">
            <a:extLst xmlns:a="http://schemas.openxmlformats.org/drawingml/2006/main">
              <a:ext uri="{FF2B5EF4-FFF2-40B4-BE49-F238E27FC236}">
                <a16:creationId xmlns:a16="http://schemas.microsoft.com/office/drawing/2014/main" id="{5C2D6FCE-3C68-440A-BF27-A02463562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48125"/>
            <a:ext cx="80010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  <p:txBody>
          <a:bodyPr xmlns:a="http://schemas.openxmlformats.org/drawingml/2006/main" wrap="square" lIns="228600" tIns="152400" rIns="228600" bIns="1524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-apple-system"/>
                <a:ea typeface="-apple-system"/>
                <a:cs typeface="-apple-system"/>
              </a:defRPr>
            </a:pPr>
            <a:r>
              <a:rPr sz="1200" b="1">
                <a:solidFill>
                  <a:srgbClr val="FFFFFF"/>
                </a:solidFill>
                <a:latin typeface="-apple-system"/>
                <a:ea typeface="-apple-system"/>
                <a:cs typeface="-apple-system"/>
              </a:rPr>
              <a:t>CARE 2.0 的三项贡献：生成可解释 Hypothesis、用独立证据决定是否迁移、把成功与失败路线完整沉淀进知识库。</a:t>
            </a:r>
          </a:p>
        </p:txBody>
      </p:sp>
    </p:spTree>
    <p:extLst>
      <p:ext uri="{BB962C8B-B14F-4D97-AF65-F5344CB8AC3E}">
        <p14:creationId xmlns:p14="http://schemas.microsoft.com/office/powerpoint/2010/main" val="79950277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2026-08-06T02:23:42.5030000Z</dcterms:created>
  <dcterms:modified xsi:type="dcterms:W3CDTF">2026-08-06T02:23:42.5040000Z</dcterms:modified>
</coreProperties>
</file>